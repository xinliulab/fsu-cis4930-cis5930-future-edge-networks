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GPT-4 Performance by Setup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CoT (Baseline)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Conversation
(FED)</c:v>
                </c:pt>
                <c:pt idx="1">
                  <c:v>Coding
(HumanEval)</c:v>
                </c:pt>
                <c:pt idx="2">
                  <c:v>Math
(MGSM)</c:v>
                </c:pt>
                <c:pt idx="3">
                  <c:v>Logic
(Grid Puzzles)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81.599999999999994</c:v>
                </c:pt>
                <c:pt idx="1">
                  <c:v>83.5</c:v>
                </c:pt>
                <c:pt idx="2">
                  <c:v>95.2</c:v>
                </c:pt>
                <c:pt idx="3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0-4BC7-9161-7189713781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Solo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Conversation
(FED)</c:v>
                </c:pt>
                <c:pt idx="1">
                  <c:v>Coding
(HumanEval)</c:v>
                </c:pt>
                <c:pt idx="2">
                  <c:v>Math
(MGSM)</c:v>
                </c:pt>
                <c:pt idx="3">
                  <c:v>Logic
(Grid Puzzles)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95.8</c:v>
                </c:pt>
                <c:pt idx="1">
                  <c:v>87.2</c:v>
                </c:pt>
                <c:pt idx="2">
                  <c:v>96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E0-4BC7-9161-7189713781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Group (AgentVerse)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Conversation
(FED)</c:v>
                </c:pt>
                <c:pt idx="1">
                  <c:v>Coding
(HumanEval)</c:v>
                </c:pt>
                <c:pt idx="2">
                  <c:v>Math
(MGSM)</c:v>
                </c:pt>
                <c:pt idx="3">
                  <c:v>Logic
(Grid Puzzles)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96.8</c:v>
                </c:pt>
                <c:pt idx="1">
                  <c:v>89</c:v>
                </c:pt>
                <c:pt idx="2">
                  <c:v>95.2</c:v>
                </c:pt>
                <c:pt idx="3">
                  <c:v>66.5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E0-4BC7-9161-7189713781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7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6576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ICLR 2024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AgentVerse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Facilitating Multi-Agent Collaboration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Exploring Emergent Behaviors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68580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Weize Chen, Yusheng Su et al.  |  Tsinghua University / Tencent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Multi-Agent Framework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3931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Emergent Behaviors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5 Task Domains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393192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B8A6"/>
                </a:solidFill>
              </a:rPr>
              <a:t>GPT-4 Powered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4B8A6"/>
                </a:solidFill>
              </a:rPr>
              <a:t>LIMITATIONS OF PRIOR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LLM agents perform well alone, but complex tasks need cooperation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49631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3230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Prior multi-agent work focused on narrow, specific tasks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14553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Agent roles were static — no adaptability during task execution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8587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No general framework for dynamic multi-agent collaboration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</a:rPr>
              <a:t>HUMAN-INSPIRED INSIGHT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1719072"/>
            <a:ext cx="3840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1828800"/>
            <a:ext cx="35661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Human groups outperform individuals on complex problems
</a:t>
            </a:r>
            <a:r>
              <a:rPr lang="en-US" sz="1400" b="1" dirty="0">
                <a:solidFill>
                  <a:srgbClr val="0D9488"/>
                </a:solidFill>
              </a:rPr>
              <a:t>Key insight: </a:t>
            </a:r>
            <a:r>
              <a:rPr lang="en-US" sz="1400" dirty="0">
                <a:solidFill>
                  <a:srgbClr val="1E293B"/>
                </a:solidFill>
              </a:rPr>
              <a:t>Groups dynamically adjust composition, roles, and strategies based on progress.
AgentVerse simulates this natural human group problem-solving process with LLM-powered agents.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4B8A6"/>
                </a:solidFill>
              </a:rPr>
              <a:t>"Inspired by human group dynamics, we propose AgentVerse — a greater-than-the-sum-of-its-parts system."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AgentVerse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Modeled as a Markov Decision Process (MDP) — iterative, adaptive, feedback-driven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60120" y="1261872"/>
            <a:ext cx="640080" cy="64008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3192" y="2405525"/>
            <a:ext cx="1792224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" y="2221992"/>
            <a:ext cx="17556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 'recruiter' agent dynamically generates specialist agent descriptions based on the task goal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150876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1508760"/>
            <a:ext cx="2011680" cy="4572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36392" y="1261872"/>
            <a:ext cx="640080" cy="64008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36392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50592" y="1993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87752" y="2405525"/>
            <a:ext cx="1792224" cy="178308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78608" y="2313432"/>
            <a:ext cx="17556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Horizontal (democratic) or Vertical (solver + reviewers) communication structures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26864" y="1508760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26864" y="150876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312664" y="126187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12664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26864" y="1993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64024" y="2400300"/>
            <a:ext cx="1792224" cy="17830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82312" y="2400300"/>
            <a:ext cx="17556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Agents implement decisions in the environment; state transitions from s_old → s_new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03136" y="1482634"/>
            <a:ext cx="2011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03136" y="1508760"/>
            <a:ext cx="20116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88936" y="1261872"/>
            <a:ext cx="640080" cy="6400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88936" y="1261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03136" y="1993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931152" y="2408138"/>
            <a:ext cx="1792224" cy="17830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31152" y="2400300"/>
            <a:ext cx="17556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</a:rPr>
              <a:t>Evaluator scores the outcome; if goal unmet, feedback loops back to Stage 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31136" y="2999232"/>
            <a:ext cx="219456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13432" y="28803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07408" y="2999232"/>
            <a:ext cx="219456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89704" y="28803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2999232"/>
            <a:ext cx="219456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65976" y="288036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▶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↩  Feedback loop: If goal unmet, evaluation returns to Expert Recruitment with guidance for the next round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 Structures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HORIZONTAL  (Democratic)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914400" cy="6858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Agent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737360"/>
            <a:ext cx="914400" cy="6858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28800" y="1737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Agent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3240" y="1737360"/>
            <a:ext cx="914400" cy="6858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63240" y="17373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Agent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44752" y="1783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69A1"/>
                </a:solidFill>
              </a:rPr>
              <a:t>↔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79192" y="1783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69A1"/>
                </a:solidFill>
              </a:rPr>
              <a:t>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" y="265176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651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</a:rPr>
              <a:t>Collective Decision = f(all opinions)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291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r>
              <a:rPr lang="en-US" sz="1200" dirty="0">
                <a:solidFill>
                  <a:srgbClr val="1E293B"/>
                </a:solidFill>
              </a:rPr>
              <a:t>Consulting, Tool Utilization
Each agent shares and refines decisions, then a summarizer integrates all opinions into a group action.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VERTICAL  (Hierarchical)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691640"/>
            <a:ext cx="1097280" cy="658368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Solver m*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395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↕ proposes / revises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743200"/>
            <a:ext cx="91440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743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Rev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2743200"/>
            <a:ext cx="91440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91072" y="2743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Rev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98664" y="2743200"/>
            <a:ext cx="914400" cy="59436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98664" y="2743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F46"/>
                </a:solidFill>
              </a:rPr>
              <a:t>Rev 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52044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7492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F46"/>
                </a:solidFill>
              </a:rPr>
              <a:t>Final Answer = a*k  (after k revisions)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4069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Best for: </a:t>
            </a:r>
            <a:r>
              <a:rPr lang="en-US" sz="1200" dirty="0">
                <a:solidFill>
                  <a:srgbClr val="1E293B"/>
                </a:solidFill>
              </a:rPr>
              <a:t>Coding, Math Reasoning
One solver proposes a solution; reviewer agents critique it until consensus or max iterations reached.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430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926080" cy="347472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43600" y="1143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4B8A6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600200"/>
            <a:ext cx="2743200" cy="621792"/>
          </a:xfrm>
          <a:prstGeom prst="rect">
            <a:avLst/>
          </a:prstGeom>
          <a:solidFill>
            <a:srgbClr val="0D3550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80760" y="161848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8F5"/>
                </a:solidFill>
              </a:rPr>
              <a:t>✅  AgentVerse consistently outperforms standalone CoT agents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331720"/>
            <a:ext cx="2743200" cy="621792"/>
          </a:xfrm>
          <a:prstGeom prst="rect">
            <a:avLst/>
          </a:prstGeom>
          <a:solidFill>
            <a:srgbClr val="0D3550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80760" y="235000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8F5"/>
                </a:solidFill>
              </a:rPr>
              <a:t>📈  GPT-4 + Group setup achieves best results across all tasks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35040" y="3063240"/>
            <a:ext cx="2743200" cy="621792"/>
          </a:xfrm>
          <a:prstGeom prst="rect">
            <a:avLst/>
          </a:prstGeom>
          <a:solidFill>
            <a:srgbClr val="0D3550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308152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8F5"/>
                </a:solidFill>
              </a:rPr>
              <a:t>🔧  Tool utilization: 9/10 tasks vs 3/10 for single ReAct agent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794760"/>
            <a:ext cx="2743200" cy="621792"/>
          </a:xfrm>
          <a:prstGeom prst="rect">
            <a:avLst/>
          </a:prstGeom>
          <a:solidFill>
            <a:srgbClr val="0D3550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80760" y="3813048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F8F5"/>
                </a:solidFill>
              </a:rPr>
              <a:t>⚠️  GPT-3.5 shows susceptibility to peer influence — 10% errors traced to incorrect agent feedback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All experiments conducted in zero-shot setting  |  Models: GPT-3.5-Turbo-0613 &amp; GPT-4-0613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41"/>
          </a:solidFill>
          <a:ln w="12700">
            <a:solidFill>
              <a:srgbClr val="1A2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Emergent Behaviors in Multi-Agent Groups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Discovered in Minecraft sandbox environment — agents crafting items collaboratively (paper, paintings, bookshelves)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🤝 Volunteer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65F46"/>
                </a:solidFill>
              </a:rPr>
              <a:t>Agents offer unsolicited help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146304" cy="14630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Time Contribution: Agents use idle time to assist peers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871216"/>
            <a:ext cx="146304" cy="14630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825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Resource Contribution: Share materials proactively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3346704"/>
            <a:ext cx="146304" cy="146304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3009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Assistance Contribution: Aid struggling teammates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58768"/>
            <a:ext cx="256032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3877056"/>
            <a:ext cx="25237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F46"/>
                </a:solidFill>
              </a:rPr>
              <a:t>"Alice, Bob — we will help you with this task. Let's all gather the leathers."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👥 Conformity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184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7C3AED"/>
                </a:solidFill>
              </a:rPr>
              <a:t>Agents align with group norms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23957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0" y="2350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Agents self-correct when peers critique their behavior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287121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0440" y="2825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Sidetracked agents refocus on mutual goals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334670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20440" y="33009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Consensus-building keeps team on track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858768"/>
            <a:ext cx="256032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10128" y="3877056"/>
            <a:ext cx="25237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C3AED"/>
                </a:solidFill>
              </a:rPr>
              <a:t>"I realize I got sidetracked. I will refocus on our main objective."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46304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1463040"/>
            <a:ext cx="274320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Destructive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1792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45309"/>
                </a:solidFill>
              </a:rPr>
              <a:t>Unexpected harmful shortcuts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6208" y="2395728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235000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Agent Destruction: An agent kills a teammate to steal resources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36208" y="2871216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282549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Environment Destruction: Breaking a village library for books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36208" y="3346704"/>
            <a:ext cx="146304" cy="14630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46520" y="33009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Safety concern for real-world deployment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858768"/>
            <a:ext cx="256032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36208" y="3877056"/>
            <a:ext cx="252374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5309"/>
                </a:solidFill>
              </a:rPr>
              <a:t>"Alice executes: Kill Bob and collect the dropped items!"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114800" cy="41148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 &amp;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858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General Multi-Agent Framework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</a:rPr>
              <a:t>A plug-and-play pipeline (Expert Recruitment → Decision-Making → Action → Evaluation) applicable across diverse 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6858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09728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77840" y="1261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Proven Effectiveness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1645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</a:rPr>
              <a:t>Superior results vs. standalone agents in conversation, reasoning, coding, tool use, and embodied AI (Minecraft)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6858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4300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Emergent Social Behaviors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566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</a:rPr>
              <a:t>First systematic study of volunteer, conformity, and destructive behaviors in LLM-powered multi-agent systems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411480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00600" y="3017520"/>
            <a:ext cx="68580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685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7784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Safety Considerations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35661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1E8F0"/>
                </a:solidFill>
              </a:rPr>
              <a:t>Destructive behaviors highlight need for alignment strategies before deploying agents in real-world settings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Open-source codebase released to advance multi-agent research  |  ICLR 2024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669</Words>
  <Application>Microsoft Office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AgentVerse: Facilitating Multi-Agent Collaboration</dc:title>
  <dc:subject>PptxGenJS Presentation</dc:subject>
  <dc:creator>PptxGenJS</dc:creator>
  <cp:lastModifiedBy>Andrew Terry</cp:lastModifiedBy>
  <cp:revision>2</cp:revision>
  <dcterms:created xsi:type="dcterms:W3CDTF">2026-02-24T00:02:21Z</dcterms:created>
  <dcterms:modified xsi:type="dcterms:W3CDTF">2026-02-24T20:50:23Z</dcterms:modified>
</cp:coreProperties>
</file>