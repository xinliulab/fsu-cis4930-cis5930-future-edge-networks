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7" r:id="rId13"/>
    <p:sldId id="268" r:id="rId14"/>
    <p:sldId id="264" r:id="rId15"/>
    <p:sldId id="265" r:id="rId16"/>
    <p:sldId id="266" r:id="rId17"/>
    <p:sldId id="269" r:id="rId18"/>
    <p:sldId id="270" r:id="rId19"/>
    <p:sldId id="274" r:id="rId20"/>
    <p:sldId id="273" r:id="rId21"/>
    <p:sldId id="271" r:id="rId22"/>
    <p:sldId id="272" r:id="rId23"/>
    <p:sldId id="276" r:id="rId24"/>
    <p:sldId id="275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2932"/>
    <a:srgbClr val="782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C59902-3049-4816-5402-48F72788BA6B}" v="867" dt="2026-03-12T20:33:15.372"/>
    <p1510:client id="{C4C6EBFA-CE39-7DB1-E879-9BD429B63750}" v="49" dt="2026-03-12T14:57:17.072"/>
    <p1510:client id="{F5D1B24C-E00A-4242-AFB8-03B9C9708993}" v="36" dt="2026-03-11T18:50:01.6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7AA9C1-5450-4EA0-85E8-E81182F15E39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1A2121D-F970-4496-B338-E58654CD14B6}">
      <dgm:prSet/>
      <dgm:spPr/>
      <dgm:t>
        <a:bodyPr/>
        <a:lstStyle/>
        <a:p>
          <a:r>
            <a:rPr lang="en-US" b="1"/>
            <a:t>The Paradigm Shift:</a:t>
          </a:r>
          <a:r>
            <a:rPr lang="en-US"/>
            <a:t> LLMs unlock complex, unified motion-language reasoning.</a:t>
          </a:r>
        </a:p>
      </dgm:t>
    </dgm:pt>
    <dgm:pt modelId="{7CA8F9BE-62B2-46C1-825E-9F9243F2E670}" type="parTrans" cxnId="{447D139E-302D-4C62-8E58-72065A1EAE31}">
      <dgm:prSet/>
      <dgm:spPr/>
      <dgm:t>
        <a:bodyPr/>
        <a:lstStyle/>
        <a:p>
          <a:endParaRPr lang="en-US"/>
        </a:p>
      </dgm:t>
    </dgm:pt>
    <dgm:pt modelId="{0A3AAED9-125F-4B42-8F7E-64824F825E33}" type="sibTrans" cxnId="{447D139E-302D-4C62-8E58-72065A1EAE31}">
      <dgm:prSet/>
      <dgm:spPr/>
      <dgm:t>
        <a:bodyPr/>
        <a:lstStyle/>
        <a:p>
          <a:endParaRPr lang="en-US"/>
        </a:p>
      </dgm:t>
    </dgm:pt>
    <dgm:pt modelId="{73AA17EE-B2E5-4198-BED8-58B9D45803EE}">
      <dgm:prSet/>
      <dgm:spPr/>
      <dgm:t>
        <a:bodyPr/>
        <a:lstStyle/>
        <a:p>
          <a:r>
            <a:rPr lang="en-US" b="1"/>
            <a:t>The Bridge (Tokenization):</a:t>
          </a:r>
          <a:r>
            <a:rPr lang="en-US"/>
            <a:t> Quantizing continuous 3D motions into discrete "motion words" (Codebook IDs).</a:t>
          </a:r>
        </a:p>
      </dgm:t>
    </dgm:pt>
    <dgm:pt modelId="{50F0DA16-0527-40E0-A3F4-22A03D81EFB5}" type="parTrans" cxnId="{DC7DC084-8465-41AD-A4EC-0EDABEBBD939}">
      <dgm:prSet/>
      <dgm:spPr/>
      <dgm:t>
        <a:bodyPr/>
        <a:lstStyle/>
        <a:p>
          <a:endParaRPr lang="en-US"/>
        </a:p>
      </dgm:t>
    </dgm:pt>
    <dgm:pt modelId="{2F14DA9B-0C3C-4770-9576-FCAEDB592562}" type="sibTrans" cxnId="{DC7DC084-8465-41AD-A4EC-0EDABEBBD939}">
      <dgm:prSet/>
      <dgm:spPr/>
      <dgm:t>
        <a:bodyPr/>
        <a:lstStyle/>
        <a:p>
          <a:endParaRPr lang="en-US"/>
        </a:p>
      </dgm:t>
    </dgm:pt>
    <dgm:pt modelId="{708CCBD6-F5A0-4058-9E7D-15D81E8CF53E}" type="pres">
      <dgm:prSet presAssocID="{E77AA9C1-5450-4EA0-85E8-E81182F15E39}" presName="root" presStyleCnt="0">
        <dgm:presLayoutVars>
          <dgm:dir/>
          <dgm:resizeHandles val="exact"/>
        </dgm:presLayoutVars>
      </dgm:prSet>
      <dgm:spPr/>
    </dgm:pt>
    <dgm:pt modelId="{60607E14-A48B-44CB-93B1-3567AD10CDDA}" type="pres">
      <dgm:prSet presAssocID="{81A2121D-F970-4496-B338-E58654CD14B6}" presName="compNode" presStyleCnt="0"/>
      <dgm:spPr/>
    </dgm:pt>
    <dgm:pt modelId="{BC71E572-99A5-4976-A868-71EAC8D2DE15}" type="pres">
      <dgm:prSet presAssocID="{81A2121D-F970-4496-B338-E58654CD14B6}" presName="bgRect" presStyleLbl="bgShp" presStyleIdx="0" presStyleCnt="2"/>
      <dgm:spPr/>
    </dgm:pt>
    <dgm:pt modelId="{FFECB16F-E2D4-4EBC-9CB1-7333E9C38983}" type="pres">
      <dgm:prSet presAssocID="{81A2121D-F970-4496-B338-E58654CD14B6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Lock"/>
        </a:ext>
      </dgm:extLst>
    </dgm:pt>
    <dgm:pt modelId="{4EA7F171-78A0-4E9C-9ABA-95EC61E38636}" type="pres">
      <dgm:prSet presAssocID="{81A2121D-F970-4496-B338-E58654CD14B6}" presName="spaceRect" presStyleCnt="0"/>
      <dgm:spPr/>
    </dgm:pt>
    <dgm:pt modelId="{3722334F-B58D-4919-B31D-BACB68F293A9}" type="pres">
      <dgm:prSet presAssocID="{81A2121D-F970-4496-B338-E58654CD14B6}" presName="parTx" presStyleLbl="revTx" presStyleIdx="0" presStyleCnt="2">
        <dgm:presLayoutVars>
          <dgm:chMax val="0"/>
          <dgm:chPref val="0"/>
        </dgm:presLayoutVars>
      </dgm:prSet>
      <dgm:spPr/>
    </dgm:pt>
    <dgm:pt modelId="{8E877EEA-2CD9-4D04-99AF-8B1EC602DC00}" type="pres">
      <dgm:prSet presAssocID="{0A3AAED9-125F-4B42-8F7E-64824F825E33}" presName="sibTrans" presStyleCnt="0"/>
      <dgm:spPr/>
    </dgm:pt>
    <dgm:pt modelId="{3B408011-5BC9-432B-83BB-5DC281E8D94C}" type="pres">
      <dgm:prSet presAssocID="{73AA17EE-B2E5-4198-BED8-58B9D45803EE}" presName="compNode" presStyleCnt="0"/>
      <dgm:spPr/>
    </dgm:pt>
    <dgm:pt modelId="{B1859FD9-768F-4072-8141-8C6214B95D20}" type="pres">
      <dgm:prSet presAssocID="{73AA17EE-B2E5-4198-BED8-58B9D45803EE}" presName="bgRect" presStyleLbl="bgShp" presStyleIdx="1" presStyleCnt="2"/>
      <dgm:spPr/>
    </dgm:pt>
    <dgm:pt modelId="{CBCB1668-C71D-43D9-BDC4-A09FE81EF8BD}" type="pres">
      <dgm:prSet presAssocID="{73AA17EE-B2E5-4198-BED8-58B9D45803E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5687EC16-C913-4AFF-A297-D7B66BA1CC90}" type="pres">
      <dgm:prSet presAssocID="{73AA17EE-B2E5-4198-BED8-58B9D45803EE}" presName="spaceRect" presStyleCnt="0"/>
      <dgm:spPr/>
    </dgm:pt>
    <dgm:pt modelId="{76A5B2CF-9C3D-4F74-8F84-59D9F320A3DC}" type="pres">
      <dgm:prSet presAssocID="{73AA17EE-B2E5-4198-BED8-58B9D45803E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5DCD90C-3478-4852-B01D-DD4E0086D48A}" type="presOf" srcId="{E77AA9C1-5450-4EA0-85E8-E81182F15E39}" destId="{708CCBD6-F5A0-4058-9E7D-15D81E8CF53E}" srcOrd="0" destOrd="0" presId="urn:microsoft.com/office/officeart/2018/2/layout/IconVerticalSolidList"/>
    <dgm:cxn modelId="{DC7DC084-8465-41AD-A4EC-0EDABEBBD939}" srcId="{E77AA9C1-5450-4EA0-85E8-E81182F15E39}" destId="{73AA17EE-B2E5-4198-BED8-58B9D45803EE}" srcOrd="1" destOrd="0" parTransId="{50F0DA16-0527-40E0-A3F4-22A03D81EFB5}" sibTransId="{2F14DA9B-0C3C-4770-9576-FCAEDB592562}"/>
    <dgm:cxn modelId="{447D139E-302D-4C62-8E58-72065A1EAE31}" srcId="{E77AA9C1-5450-4EA0-85E8-E81182F15E39}" destId="{81A2121D-F970-4496-B338-E58654CD14B6}" srcOrd="0" destOrd="0" parTransId="{7CA8F9BE-62B2-46C1-825E-9F9243F2E670}" sibTransId="{0A3AAED9-125F-4B42-8F7E-64824F825E33}"/>
    <dgm:cxn modelId="{8CFC08EC-E1E9-4776-A6AC-27F12DF10029}" type="presOf" srcId="{73AA17EE-B2E5-4198-BED8-58B9D45803EE}" destId="{76A5B2CF-9C3D-4F74-8F84-59D9F320A3DC}" srcOrd="0" destOrd="0" presId="urn:microsoft.com/office/officeart/2018/2/layout/IconVerticalSolidList"/>
    <dgm:cxn modelId="{459001FD-B865-4838-A184-C037C8B5C7A0}" type="presOf" srcId="{81A2121D-F970-4496-B338-E58654CD14B6}" destId="{3722334F-B58D-4919-B31D-BACB68F293A9}" srcOrd="0" destOrd="0" presId="urn:microsoft.com/office/officeart/2018/2/layout/IconVerticalSolidList"/>
    <dgm:cxn modelId="{750862BA-507B-4F17-9E51-7893E108C813}" type="presParOf" srcId="{708CCBD6-F5A0-4058-9E7D-15D81E8CF53E}" destId="{60607E14-A48B-44CB-93B1-3567AD10CDDA}" srcOrd="0" destOrd="0" presId="urn:microsoft.com/office/officeart/2018/2/layout/IconVerticalSolidList"/>
    <dgm:cxn modelId="{B451AAC8-3510-4A4E-96AD-79E3F946645E}" type="presParOf" srcId="{60607E14-A48B-44CB-93B1-3567AD10CDDA}" destId="{BC71E572-99A5-4976-A868-71EAC8D2DE15}" srcOrd="0" destOrd="0" presId="urn:microsoft.com/office/officeart/2018/2/layout/IconVerticalSolidList"/>
    <dgm:cxn modelId="{06D600D3-26E9-4B17-ABAF-95B0C5765A34}" type="presParOf" srcId="{60607E14-A48B-44CB-93B1-3567AD10CDDA}" destId="{FFECB16F-E2D4-4EBC-9CB1-7333E9C38983}" srcOrd="1" destOrd="0" presId="urn:microsoft.com/office/officeart/2018/2/layout/IconVerticalSolidList"/>
    <dgm:cxn modelId="{A7FBEC3B-240E-402A-B1B0-774AC4C44DEE}" type="presParOf" srcId="{60607E14-A48B-44CB-93B1-3567AD10CDDA}" destId="{4EA7F171-78A0-4E9C-9ABA-95EC61E38636}" srcOrd="2" destOrd="0" presId="urn:microsoft.com/office/officeart/2018/2/layout/IconVerticalSolidList"/>
    <dgm:cxn modelId="{36C32B7D-2203-4A2A-9EBC-C7B05C16E4E6}" type="presParOf" srcId="{60607E14-A48B-44CB-93B1-3567AD10CDDA}" destId="{3722334F-B58D-4919-B31D-BACB68F293A9}" srcOrd="3" destOrd="0" presId="urn:microsoft.com/office/officeart/2018/2/layout/IconVerticalSolidList"/>
    <dgm:cxn modelId="{F2EFC86F-4399-49B8-884A-F8B007FD6C4B}" type="presParOf" srcId="{708CCBD6-F5A0-4058-9E7D-15D81E8CF53E}" destId="{8E877EEA-2CD9-4D04-99AF-8B1EC602DC00}" srcOrd="1" destOrd="0" presId="urn:microsoft.com/office/officeart/2018/2/layout/IconVerticalSolidList"/>
    <dgm:cxn modelId="{366E39ED-D1AE-4927-AFA9-707DDFC93F95}" type="presParOf" srcId="{708CCBD6-F5A0-4058-9E7D-15D81E8CF53E}" destId="{3B408011-5BC9-432B-83BB-5DC281E8D94C}" srcOrd="2" destOrd="0" presId="urn:microsoft.com/office/officeart/2018/2/layout/IconVerticalSolidList"/>
    <dgm:cxn modelId="{D87E0211-B770-417C-AD9B-DE177D104F12}" type="presParOf" srcId="{3B408011-5BC9-432B-83BB-5DC281E8D94C}" destId="{B1859FD9-768F-4072-8141-8C6214B95D20}" srcOrd="0" destOrd="0" presId="urn:microsoft.com/office/officeart/2018/2/layout/IconVerticalSolidList"/>
    <dgm:cxn modelId="{DDFDA968-3E81-4F9A-A8D1-0A8EE5AB12EB}" type="presParOf" srcId="{3B408011-5BC9-432B-83BB-5DC281E8D94C}" destId="{CBCB1668-C71D-43D9-BDC4-A09FE81EF8BD}" srcOrd="1" destOrd="0" presId="urn:microsoft.com/office/officeart/2018/2/layout/IconVerticalSolidList"/>
    <dgm:cxn modelId="{1CE25545-63C2-402E-B7C8-03465AF3D954}" type="presParOf" srcId="{3B408011-5BC9-432B-83BB-5DC281E8D94C}" destId="{5687EC16-C913-4AFF-A297-D7B66BA1CC90}" srcOrd="2" destOrd="0" presId="urn:microsoft.com/office/officeart/2018/2/layout/IconVerticalSolidList"/>
    <dgm:cxn modelId="{ED236068-BD80-493A-98B3-64552E49B1BA}" type="presParOf" srcId="{3B408011-5BC9-432B-83BB-5DC281E8D94C}" destId="{76A5B2CF-9C3D-4F74-8F84-59D9F320A3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1E572-99A5-4976-A868-71EAC8D2DE15}">
      <dsp:nvSpPr>
        <dsp:cNvPr id="0" name=""/>
        <dsp:cNvSpPr/>
      </dsp:nvSpPr>
      <dsp:spPr>
        <a:xfrm>
          <a:off x="0" y="680472"/>
          <a:ext cx="10515600" cy="125625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ECB16F-E2D4-4EBC-9CB1-7333E9C38983}">
      <dsp:nvSpPr>
        <dsp:cNvPr id="0" name=""/>
        <dsp:cNvSpPr/>
      </dsp:nvSpPr>
      <dsp:spPr>
        <a:xfrm>
          <a:off x="380017" y="963130"/>
          <a:ext cx="690941" cy="69094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2334F-B58D-4919-B31D-BACB68F293A9}">
      <dsp:nvSpPr>
        <dsp:cNvPr id="0" name=""/>
        <dsp:cNvSpPr/>
      </dsp:nvSpPr>
      <dsp:spPr>
        <a:xfrm>
          <a:off x="1450977" y="680472"/>
          <a:ext cx="9064622" cy="1256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54" tIns="132954" rIns="132954" bIns="13295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The Paradigm Shift:</a:t>
          </a:r>
          <a:r>
            <a:rPr lang="en-US" sz="2500" kern="1200"/>
            <a:t> LLMs unlock complex, unified motion-language reasoning.</a:t>
          </a:r>
        </a:p>
      </dsp:txBody>
      <dsp:txXfrm>
        <a:off x="1450977" y="680472"/>
        <a:ext cx="9064622" cy="1256257"/>
      </dsp:txXfrm>
    </dsp:sp>
    <dsp:sp modelId="{B1859FD9-768F-4072-8141-8C6214B95D20}">
      <dsp:nvSpPr>
        <dsp:cNvPr id="0" name=""/>
        <dsp:cNvSpPr/>
      </dsp:nvSpPr>
      <dsp:spPr>
        <a:xfrm>
          <a:off x="0" y="2250794"/>
          <a:ext cx="10515600" cy="125625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CB1668-C71D-43D9-BDC4-A09FE81EF8BD}">
      <dsp:nvSpPr>
        <dsp:cNvPr id="0" name=""/>
        <dsp:cNvSpPr/>
      </dsp:nvSpPr>
      <dsp:spPr>
        <a:xfrm>
          <a:off x="380017" y="2533452"/>
          <a:ext cx="690941" cy="69094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A5B2CF-9C3D-4F74-8F84-59D9F320A3DC}">
      <dsp:nvSpPr>
        <dsp:cNvPr id="0" name=""/>
        <dsp:cNvSpPr/>
      </dsp:nvSpPr>
      <dsp:spPr>
        <a:xfrm>
          <a:off x="1450977" y="2250794"/>
          <a:ext cx="9064622" cy="1256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54" tIns="132954" rIns="132954" bIns="13295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The Bridge (Tokenization):</a:t>
          </a:r>
          <a:r>
            <a:rPr lang="en-US" sz="2500" kern="1200"/>
            <a:t> Quantizing continuous 3D motions into discrete "motion words" (Codebook IDs).</a:t>
          </a:r>
        </a:p>
      </dsp:txBody>
      <dsp:txXfrm>
        <a:off x="1450977" y="2250794"/>
        <a:ext cx="9064622" cy="12562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bg>
      <p:bgPr>
        <a:gradFill>
          <a:gsLst>
            <a:gs pos="0">
              <a:srgbClr val="782F40"/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F5CF-7563-910E-C780-7C168339C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52645" y="1122363"/>
            <a:ext cx="6624489" cy="2387600"/>
          </a:xfrm>
        </p:spPr>
        <p:txBody>
          <a:bodyPr anchor="b"/>
          <a:lstStyle>
            <a:lvl1pPr algn="l">
              <a:defRPr sz="600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612E9-1D7E-C187-3DC5-A7EF5451C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479" y="3989942"/>
            <a:ext cx="11173042" cy="108615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 descr="A white and black logo&#10;&#10;Description automatically generated">
            <a:extLst>
              <a:ext uri="{FF2B5EF4-FFF2-40B4-BE49-F238E27FC236}">
                <a16:creationId xmlns:a16="http://schemas.microsoft.com/office/drawing/2014/main" id="{686958BE-999F-7265-40E9-A5240BE1C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12878" y="905820"/>
            <a:ext cx="5693863" cy="340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86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>
          <a:gsLst>
            <a:gs pos="0">
              <a:srgbClr val="782F40"/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F5CF-7563-910E-C780-7C168339C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4887" y="1122363"/>
            <a:ext cx="11022226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612E9-1D7E-C187-3DC5-A7EF5451C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1392"/>
            <a:ext cx="9144000" cy="11023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D87F3-13C9-F97D-679A-047289A8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4FB6-96E0-E94F-98AA-54332C31E3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55B78-8660-7977-A527-B43BB02E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46E2-5701-E245-9F49-1F595AFFA2F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black and gold logo&#10;&#10;Description automatically generated">
            <a:extLst>
              <a:ext uri="{FF2B5EF4-FFF2-40B4-BE49-F238E27FC236}">
                <a16:creationId xmlns:a16="http://schemas.microsoft.com/office/drawing/2014/main" id="{84389171-B04B-0ECD-A41B-B497CF95CE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8262" y="5955055"/>
            <a:ext cx="3555476" cy="802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629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le Slide">
    <p:bg>
      <p:bgPr>
        <a:gradFill>
          <a:gsLst>
            <a:gs pos="0">
              <a:srgbClr val="782F40"/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F5CF-7563-910E-C780-7C168339C0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9716" y="3155682"/>
            <a:ext cx="9712569" cy="1615201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612E9-1D7E-C187-3DC5-A7EF5451C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9716" y="4886897"/>
            <a:ext cx="9712568" cy="1044979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5" name="Picture 4" descr="A white and black logo&#10;&#10;Description automatically generated">
            <a:extLst>
              <a:ext uri="{FF2B5EF4-FFF2-40B4-BE49-F238E27FC236}">
                <a16:creationId xmlns:a16="http://schemas.microsoft.com/office/drawing/2014/main" id="{686958BE-999F-7265-40E9-A5240BE1CF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80026" y="601160"/>
            <a:ext cx="3831948" cy="229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022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B4CA4-1BDB-D2FB-E9F6-6566E18DC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7773"/>
            <a:ext cx="10515600" cy="101106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35409-C4CD-90F4-F6FD-D38184519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7590"/>
            <a:ext cx="10515600" cy="41875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AAF2A-F252-85D7-B59A-AC065740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67192"/>
            <a:ext cx="2743200" cy="490808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AB34FB6-96E0-E94F-98AA-54332C31E3E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6550C-9433-24E4-3EAD-30A81EC25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7192"/>
            <a:ext cx="2743200" cy="490808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00C646E2-5701-E245-9F49-1F595AFFA2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40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>
          <a:gsLst>
            <a:gs pos="0">
              <a:srgbClr val="782F40"/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880B4-DA72-8AD7-D5F8-C1BC286E9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2637E-8094-255C-CEBE-7776CDF65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ED5793-4EBF-1BB5-2B3F-E9C4CC7E79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48811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3AB34FB6-96E0-E94F-98AA-54332C31E3E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23F44-6423-5214-29F9-1564FE9BE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8811"/>
            <a:ext cx="27432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00C646E2-5701-E245-9F49-1F595AFFA2F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B8CE90-6158-6721-6A83-1930F91FD763}"/>
              </a:ext>
            </a:extLst>
          </p:cNvPr>
          <p:cNvSpPr txBox="1"/>
          <p:nvPr userDrawn="1"/>
        </p:nvSpPr>
        <p:spPr>
          <a:xfrm>
            <a:off x="4487562" y="6448811"/>
            <a:ext cx="3216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i="0" spc="0">
                <a:solidFill>
                  <a:schemeClr val="tx1"/>
                </a:solidFill>
                <a:latin typeface="+mn-lt"/>
                <a:ea typeface="Open Sans Light" pitchFamily="2" charset="0"/>
                <a:cs typeface="Open Sans Light" pitchFamily="2" charset="0"/>
              </a:rPr>
              <a:t>FLORIDA STATE UNIVERSITY</a:t>
            </a:r>
          </a:p>
        </p:txBody>
      </p:sp>
      <p:pic>
        <p:nvPicPr>
          <p:cNvPr id="10" name="Picture 9" descr="A white and black logo&#10;&#10;Description automatically generated">
            <a:extLst>
              <a:ext uri="{FF2B5EF4-FFF2-40B4-BE49-F238E27FC236}">
                <a16:creationId xmlns:a16="http://schemas.microsoft.com/office/drawing/2014/main" id="{727F293E-B2D2-6E98-BD99-0C2BBBF9E5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41277" y="110880"/>
            <a:ext cx="1123950" cy="673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090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AE62A-D4A1-12DB-FEC1-3819C3DD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FDB61-7333-5D50-B5C0-688DFCF834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40B5E-3E52-C4B9-9898-43CCDA94B2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6B8290-B12E-D7AE-B4CE-6AD080C2F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4FB6-96E0-E94F-98AA-54332C31E3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2C5EE9-E76D-B076-3220-D9966577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46E2-5701-E245-9F49-1F595AFFA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24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448D9-6A0B-D164-B8E3-2D97680AE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7717C-8D84-604E-FB53-FAA257C01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B00931-DDF4-74B4-7482-676148ED4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D5CAB2-B6AC-6647-DF64-D642E5901C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362DAE-67EA-6C69-E4D3-B0EA58043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A9263-131B-40FF-E9B4-EC7D4948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4FB6-96E0-E94F-98AA-54332C31E3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424AB0-E725-AA9C-815A-6667122E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46E2-5701-E245-9F49-1F595AFFA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546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32159-26DE-7E09-2A91-62B668AF8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F45FF-8322-1D1F-71EE-C7DA4139F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4FB6-96E0-E94F-98AA-54332C31E3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1347C8-C8DC-7727-063C-207D80FF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46E2-5701-E245-9F49-1F595AFFA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23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F308FF-9CEF-9E71-F5F8-4339D022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4FB6-96E0-E94F-98AA-54332C31E3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EB8CB-6197-F5EC-FBD0-1D15310AD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46E2-5701-E245-9F49-1F595AFFA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73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FB93E-0165-7922-39CB-8403F57F6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4EA9D9-C4B7-4E5A-8BF1-AEF50543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A843D-7418-D612-5FF8-37BC1250EC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8C526-2423-FE08-908F-D1CC625B0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4FB6-96E0-E94F-98AA-54332C31E3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6B452B-B2E3-6970-E135-544F8D1E1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46E2-5701-E245-9F49-1F595AFFA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8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C7E10-773A-0FFD-96F5-E4B1534C2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810511-A094-CDF5-22AD-008F576DEA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847DB-CB00-6B46-18BA-61354D20E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565E6-501E-A950-9109-73B7D4DEC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4FB6-96E0-E94F-98AA-54332C31E3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AC4804-95CB-A5EC-7436-0327C8E40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46E2-5701-E245-9F49-1F595AFFA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4160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611A7-5CAB-A0A8-9ADF-47EA99151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EB790-385C-75D8-F148-5AB1825EE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3F9ED-109C-E7E4-FC65-C4B45DDFE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4FB6-96E0-E94F-98AA-54332C31E3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966A9-97E3-4E20-D3F5-19EB07AB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46E2-5701-E245-9F49-1F595AFFA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191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7E530E-A39E-4B7F-27F3-A1DED943E6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815FF-D0F2-4CED-8659-42739ACF6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84235-F59F-1C05-743D-753E4B2CE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34FB6-96E0-E94F-98AA-54332C31E3E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61F74-418A-3F5C-3E9E-5A26EB282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C646E2-5701-E245-9F49-1F595AFFA2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918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C931FD-487B-FB4F-9663-6F1B47FCF50B}"/>
              </a:ext>
            </a:extLst>
          </p:cNvPr>
          <p:cNvSpPr/>
          <p:nvPr userDrawn="1"/>
        </p:nvSpPr>
        <p:spPr>
          <a:xfrm>
            <a:off x="0" y="6359525"/>
            <a:ext cx="12192000" cy="4984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4AF466-845F-25C1-2F42-A39E88937987}"/>
              </a:ext>
            </a:extLst>
          </p:cNvPr>
          <p:cNvSpPr txBox="1"/>
          <p:nvPr userDrawn="1"/>
        </p:nvSpPr>
        <p:spPr>
          <a:xfrm>
            <a:off x="4487562" y="6448811"/>
            <a:ext cx="32168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0" i="0" spc="0">
                <a:solidFill>
                  <a:schemeClr val="tx1"/>
                </a:solidFill>
                <a:latin typeface="+mn-lt"/>
                <a:ea typeface="Open Sans Light" pitchFamily="2" charset="0"/>
                <a:cs typeface="Open Sans Light" pitchFamily="2" charset="0"/>
              </a:rPr>
              <a:t>FLORIDA STATE UNIVERSITY</a:t>
            </a:r>
          </a:p>
        </p:txBody>
      </p:sp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3854FDEB-39C7-AC12-C5D7-0072E4657FEE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1041277" y="109022"/>
            <a:ext cx="1123950" cy="67302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53CF2F-ADD4-6F9A-E59D-043413105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B9F1B-2C71-3B4E-A91B-8504AACA0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ED1D6-CC84-B500-5E9B-CA793480A9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488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2"/>
                </a:solidFill>
              </a:defRPr>
            </a:lvl1pPr>
          </a:lstStyle>
          <a:p>
            <a:fld id="{3AB34FB6-96E0-E94F-98AA-54332C31E3E2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0A297-EF75-F329-75D5-059F83F2B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4881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00C646E2-5701-E245-9F49-1F595AFFA2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3511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2"/>
          </a:solidFill>
          <a:latin typeface="+mj-lt"/>
          <a:ea typeface="+mj-ea"/>
          <a:cs typeface="Times New Roman" panose="02020603050405020304" pitchFamily="18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7244-BA2B-01FB-9833-CC44337832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Times New Roman"/>
                <a:cs typeface="Times New Roman"/>
              </a:rPr>
              <a:t>From Efficient Motion Recognition to Geometry-Aligned Motion Reasoning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15F2A2-3AA3-93BC-39DD-820B2D566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4022" y="3821392"/>
            <a:ext cx="9144000" cy="8795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Jackie Ye</a:t>
            </a:r>
          </a:p>
        </p:txBody>
      </p:sp>
    </p:spTree>
    <p:extLst>
      <p:ext uri="{BB962C8B-B14F-4D97-AF65-F5344CB8AC3E}">
        <p14:creationId xmlns:p14="http://schemas.microsoft.com/office/powerpoint/2010/main" val="2604660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0C9B4-CC2C-DE2F-DF51-EF2E8C87F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Open Sans SemiBold"/>
                <a:cs typeface="Times New Roman"/>
              </a:rPr>
              <a:t>Today's Outline</a:t>
            </a:r>
            <a:endParaRPr lang="en-US">
              <a:ea typeface="Open Sans SemiBol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5045B-0ABD-558B-0D9A-ECC956BD1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Introduction to Human Action Recognition (HAR)</a:t>
            </a:r>
          </a:p>
          <a:p>
            <a:r>
              <a:rPr lang="en-US"/>
              <a:t>Principles of Wi-Fi Sensing for Human Mesh Construction</a:t>
            </a:r>
          </a:p>
          <a:p>
            <a:r>
              <a:rPr lang="en-US">
                <a:latin typeface="Times New Roman"/>
                <a:cs typeface="Times New Roman"/>
              </a:rPr>
              <a:t>3D mesh-based human action recognition on edge devices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latin typeface="Times New Roman"/>
                <a:cs typeface="Times New Roman"/>
              </a:rPr>
              <a:t>ARiSE</a:t>
            </a:r>
            <a:r>
              <a:rPr lang="en-US">
                <a:latin typeface="Times New Roman"/>
                <a:cs typeface="Times New Roman"/>
              </a:rPr>
              <a:t>: Efficient Mesh-Based HAR at the Edge</a:t>
            </a:r>
          </a:p>
          <a:p>
            <a:r>
              <a:rPr lang="en-US">
                <a:latin typeface="Times New Roman"/>
                <a:cs typeface="Times New Roman"/>
              </a:rPr>
              <a:t>Empower Large Language Models (LLMs) to deeply understand human motion.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err="1">
                <a:latin typeface="Times New Roman"/>
                <a:cs typeface="Times New Roman"/>
              </a:rPr>
              <a:t>GeoMotionGPT</a:t>
            </a:r>
            <a:r>
              <a:rPr lang="en-US">
                <a:latin typeface="Times New Roman"/>
                <a:cs typeface="Times New Roman"/>
              </a:rPr>
              <a:t>: Geometry-Aligned Motion Understanding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346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81015-A54A-1ACE-C295-E0588EA9C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Sensing Modalities in HAR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8B87B-74E2-7DBB-1318-DF2204E30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06876"/>
            <a:ext cx="4102731" cy="52841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>
                <a:latin typeface="Times New Roman"/>
                <a:cs typeface="Times New Roman"/>
              </a:rPr>
              <a:t>Vision-Based (RGB/Depth)</a:t>
            </a:r>
            <a:endParaRPr lang="en-US"/>
          </a:p>
          <a:p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F9D187D-32CD-24A2-B1A0-43B1E6193D06}"/>
              </a:ext>
            </a:extLst>
          </p:cNvPr>
          <p:cNvSpPr txBox="1">
            <a:spLocks/>
          </p:cNvSpPr>
          <p:nvPr/>
        </p:nvSpPr>
        <p:spPr>
          <a:xfrm>
            <a:off x="6422680" y="5408385"/>
            <a:ext cx="4102731" cy="5284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>
                <a:latin typeface="Times New Roman"/>
                <a:cs typeface="Times New Roman"/>
              </a:rPr>
              <a:t>RF-Based (Radar/LiDAR)</a:t>
            </a:r>
            <a:endParaRPr lang="en-US" sz="2600"/>
          </a:p>
        </p:txBody>
      </p:sp>
      <p:pic>
        <p:nvPicPr>
          <p:cNvPr id="6" name="Picture 5" descr="AI Human Detection Triggers Auto-Tracking PTZ camera">
            <a:extLst>
              <a:ext uri="{FF2B5EF4-FFF2-40B4-BE49-F238E27FC236}">
                <a16:creationId xmlns:a16="http://schemas.microsoft.com/office/drawing/2014/main" id="{11837803-F1A8-EDD8-8C8E-707C42B3D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42" y="2120020"/>
            <a:ext cx="4647446" cy="2610416"/>
          </a:xfrm>
          <a:prstGeom prst="rect">
            <a:avLst/>
          </a:prstGeom>
        </p:spPr>
      </p:pic>
      <p:pic>
        <p:nvPicPr>
          <p:cNvPr id="8" name="Picture 7" descr="A diagram of a machine learning model&#10;&#10;AI-generated content may be incorrect.">
            <a:extLst>
              <a:ext uri="{FF2B5EF4-FFF2-40B4-BE49-F238E27FC236}">
                <a16:creationId xmlns:a16="http://schemas.microsoft.com/office/drawing/2014/main" id="{EF4DF318-A99C-83A4-02DE-5806D752C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9568" y="2007278"/>
            <a:ext cx="5753476" cy="282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55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3140B-3650-1539-A367-DC2C2487B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The Vision Dilemma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29933-07B1-DD20-B131-3114F1803F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Privacy Risks:</a:t>
            </a:r>
            <a:r>
              <a:rPr lang="en-US">
                <a:latin typeface="Times New Roman"/>
                <a:cs typeface="Times New Roman"/>
              </a:rPr>
              <a:t> Cameras capture highly identifiable visual data</a:t>
            </a:r>
          </a:p>
          <a:p>
            <a:r>
              <a:rPr lang="en-US" b="1">
                <a:latin typeface="Times New Roman"/>
                <a:cs typeface="Times New Roman"/>
              </a:rPr>
              <a:t>Line-of-Sight Dependency:</a:t>
            </a:r>
            <a:r>
              <a:rPr lang="en-US">
                <a:latin typeface="Times New Roman"/>
                <a:cs typeface="Times New Roman"/>
              </a:rPr>
              <a:t> Highly vulnerable to physical occlusions, blind spots, and low-light conditions</a:t>
            </a:r>
          </a:p>
          <a:p>
            <a:r>
              <a:rPr lang="en-US" b="1">
                <a:latin typeface="Times New Roman"/>
                <a:cs typeface="Times New Roman"/>
              </a:rPr>
              <a:t>Deployment Friction:</a:t>
            </a:r>
            <a:r>
              <a:rPr lang="en-US">
                <a:latin typeface="Times New Roman"/>
                <a:cs typeface="Times New Roman"/>
              </a:rPr>
              <a:t> Unsuitable for sensitive spaces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/>
              <a:t>e.g., bedrooms, healthcare</a:t>
            </a:r>
          </a:p>
        </p:txBody>
      </p:sp>
      <p:pic>
        <p:nvPicPr>
          <p:cNvPr id="4" name="Picture 3" descr="No camera Images - Free Download on Freepik">
            <a:extLst>
              <a:ext uri="{FF2B5EF4-FFF2-40B4-BE49-F238E27FC236}">
                <a16:creationId xmlns:a16="http://schemas.microsoft.com/office/drawing/2014/main" id="{531C77C9-EA02-17DA-749B-68877C3CB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855" y="1031340"/>
            <a:ext cx="4351338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9508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A503D-0652-1EF0-EBBC-CC77F14D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The Mechanics of Wi-Fi Sensing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BE144-834A-B372-4B3D-3005B426AD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7590"/>
            <a:ext cx="7757886" cy="41875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Channel State Information (CSI)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latin typeface="Times New Roman"/>
                <a:cs typeface="Times New Roman"/>
              </a:rPr>
              <a:t>Captures minute signal reflections from the human body and the </a:t>
            </a:r>
            <a:r>
              <a:rPr lang="en-US">
                <a:latin typeface="Times New Roman"/>
                <a:cs typeface="Times New Roman"/>
              </a:rPr>
              <a:t>environment</a:t>
            </a:r>
            <a:r>
              <a:rPr lang="en-US" dirty="0">
                <a:latin typeface="Times New Roman"/>
                <a:cs typeface="Times New Roman"/>
              </a:rPr>
              <a:t>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Extracts multi-dimensional spatial dynamics.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>
              <a:latin typeface="Times New Roman"/>
              <a:cs typeface="Times New Roman"/>
            </a:endParaRPr>
          </a:p>
          <a:p>
            <a:r>
              <a:rPr lang="en-US" b="1" dirty="0">
                <a:latin typeface="Times New Roman"/>
                <a:cs typeface="Times New Roman"/>
              </a:rPr>
              <a:t>Angle of Arrival (</a:t>
            </a:r>
            <a:r>
              <a:rPr lang="en-US" b="1" dirty="0" err="1">
                <a:latin typeface="Times New Roman"/>
                <a:cs typeface="Times New Roman"/>
              </a:rPr>
              <a:t>AoA</a:t>
            </a:r>
            <a:r>
              <a:rPr lang="en-US" b="1" dirty="0">
                <a:latin typeface="Times New Roman"/>
                <a:cs typeface="Times New Roman"/>
              </a:rPr>
              <a:t>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Can be extracted from CSI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Isolates target movements from static multi-path clutter.</a:t>
            </a:r>
            <a:endParaRPr lang="en-US" dirty="0">
              <a:latin typeface="Times New Roman"/>
              <a:cs typeface="Times New Roman"/>
            </a:endParaRPr>
          </a:p>
          <a:p>
            <a:endParaRPr lang="en-US"/>
          </a:p>
        </p:txBody>
      </p:sp>
      <p:pic>
        <p:nvPicPr>
          <p:cNvPr id="4" name="Picture 3" descr="A diagram of a signal&#10;&#10;AI-generated content may be incorrect.">
            <a:extLst>
              <a:ext uri="{FF2B5EF4-FFF2-40B4-BE49-F238E27FC236}">
                <a16:creationId xmlns:a16="http://schemas.microsoft.com/office/drawing/2014/main" id="{1429C061-B07E-8B4D-A4DD-F1DAB27E2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878" y="1423534"/>
            <a:ext cx="2625271" cy="44753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3EE02F-CBFA-2229-3013-E97417094A2D}"/>
              </a:ext>
            </a:extLst>
          </p:cNvPr>
          <p:cNvSpPr txBox="1"/>
          <p:nvPr/>
        </p:nvSpPr>
        <p:spPr>
          <a:xfrm>
            <a:off x="8498790" y="5993499"/>
            <a:ext cx="30988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Y. Wang et al., "Wi-Mesh", ACM </a:t>
            </a:r>
            <a:r>
              <a:rPr lang="en-US" sz="1200" dirty="0" err="1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SenSys</a:t>
            </a:r>
            <a:r>
              <a:rPr lang="en-US" sz="1200" dirty="0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 2022.</a:t>
            </a:r>
          </a:p>
        </p:txBody>
      </p:sp>
    </p:spTree>
    <p:extLst>
      <p:ext uri="{BB962C8B-B14F-4D97-AF65-F5344CB8AC3E}">
        <p14:creationId xmlns:p14="http://schemas.microsoft.com/office/powerpoint/2010/main" val="3051781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6BCB2-F7C2-C9AD-01AF-FAE3DE126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ea typeface="Open Sans SemiBold"/>
                <a:cs typeface="Times New Roman"/>
              </a:rPr>
              <a:t>Wi-Fi-based Human Mesh Estimation</a:t>
            </a:r>
            <a:endParaRPr lang="en-US"/>
          </a:p>
        </p:txBody>
      </p:sp>
      <p:pic>
        <p:nvPicPr>
          <p:cNvPr id="4" name="Picture 3" descr="A diagram of a system&#10;&#10;AI-generated content may be incorrect.">
            <a:extLst>
              <a:ext uri="{FF2B5EF4-FFF2-40B4-BE49-F238E27FC236}">
                <a16:creationId xmlns:a16="http://schemas.microsoft.com/office/drawing/2014/main" id="{9B5F7721-3A04-BD9B-75DE-DB7D19828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382" y="1422173"/>
            <a:ext cx="8391979" cy="46522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2403E8-ED5A-7BC4-0EDA-B90286BEDFEA}"/>
              </a:ext>
            </a:extLst>
          </p:cNvPr>
          <p:cNvSpPr txBox="1"/>
          <p:nvPr/>
        </p:nvSpPr>
        <p:spPr>
          <a:xfrm>
            <a:off x="4543647" y="6000756"/>
            <a:ext cx="309880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Y. Wang et al., "Wi-Mesh", ACM </a:t>
            </a:r>
            <a:r>
              <a:rPr lang="en-US" sz="1200" dirty="0" err="1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SenSys</a:t>
            </a:r>
            <a:r>
              <a:rPr lang="en-US" sz="1200" dirty="0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 2022.</a:t>
            </a:r>
          </a:p>
        </p:txBody>
      </p:sp>
    </p:spTree>
    <p:extLst>
      <p:ext uri="{BB962C8B-B14F-4D97-AF65-F5344CB8AC3E}">
        <p14:creationId xmlns:p14="http://schemas.microsoft.com/office/powerpoint/2010/main" val="1747057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4B223533-C6D6-0FEA-3701-CEAB7AA17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782F40"/>
                </a:solidFill>
                <a:latin typeface="Open Sans SemiBold"/>
                <a:ea typeface="Open Sans SemiBold"/>
                <a:cs typeface="Open Sans SemiBold"/>
              </a:rPr>
              <a:t>Skinned Multi-Person Linear (SMPL) Model</a:t>
            </a:r>
            <a:endParaRPr lang="en-US" sz="3600"/>
          </a:p>
        </p:txBody>
      </p:sp>
      <p:pic>
        <p:nvPicPr>
          <p:cNvPr id="4" name="Content Placeholder 3" descr="A person with many points&#10;&#10;AI-generated content may be incorrect.">
            <a:extLst>
              <a:ext uri="{FF2B5EF4-FFF2-40B4-BE49-F238E27FC236}">
                <a16:creationId xmlns:a16="http://schemas.microsoft.com/office/drawing/2014/main" id="{7F531985-D8E0-D046-3192-BC264C24AC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071148"/>
            <a:ext cx="5181600" cy="3860291"/>
          </a:xfrm>
          <a:prstGeom prst="rect">
            <a:avLst/>
          </a:prstGeom>
          <a:noFill/>
        </p:spPr>
      </p:pic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9121E679-4723-25B2-AC76-E5BBF984E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A standardized, high-fidelity mesh comprising </a:t>
            </a:r>
            <a:r>
              <a:rPr lang="en-US" dirty="0">
                <a:solidFill>
                  <a:schemeClr val="bg2"/>
                </a:solidFill>
                <a:latin typeface="Times New Roman"/>
                <a:cs typeface="Times New Roman"/>
              </a:rPr>
              <a:t>6,890</a:t>
            </a:r>
            <a:r>
              <a:rPr lang="en-US" dirty="0">
                <a:latin typeface="Times New Roman"/>
                <a:cs typeface="Times New Roman"/>
              </a:rPr>
              <a:t> vertices.</a:t>
            </a:r>
          </a:p>
          <a:p>
            <a:r>
              <a:rPr lang="en-US">
                <a:latin typeface="Times New Roman"/>
                <a:cs typeface="Times New Roman"/>
              </a:rPr>
              <a:t>Decomposes complex human bodies into low-dimensional </a:t>
            </a:r>
            <a:r>
              <a:rPr lang="en-US" i="1">
                <a:latin typeface="Times New Roman"/>
                <a:cs typeface="Times New Roman"/>
              </a:rPr>
              <a:t>Shape</a:t>
            </a:r>
            <a:r>
              <a:rPr lang="en-US">
                <a:latin typeface="Times New Roman"/>
                <a:cs typeface="Times New Roman"/>
              </a:rPr>
              <a:t> and </a:t>
            </a:r>
            <a:r>
              <a:rPr lang="en-US" i="1">
                <a:latin typeface="Times New Roman"/>
                <a:cs typeface="Times New Roman"/>
              </a:rPr>
              <a:t>Pose</a:t>
            </a:r>
            <a:r>
              <a:rPr lang="en-US">
                <a:latin typeface="Times New Roman"/>
                <a:cs typeface="Times New Roman"/>
              </a:rPr>
              <a:t> parameters.</a:t>
            </a:r>
          </a:p>
          <a:p>
            <a:r>
              <a:rPr lang="en-US">
                <a:latin typeface="Times New Roman"/>
                <a:cs typeface="Times New Roman"/>
              </a:rPr>
              <a:t>Uses linear blend skinning to accurately model joint deformations and soft-tissue dynamics.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7211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98483-1DDF-84DF-399A-ABF25E76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Open Sans SemiBold"/>
                <a:cs typeface="Times New Roman"/>
              </a:rPr>
              <a:t>Performing HAR on SMPL model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434B2-548E-431A-6A71-DB1D6531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Mesh VS. Skeleton:</a:t>
            </a:r>
            <a:r>
              <a:rPr lang="en-US" dirty="0">
                <a:latin typeface="Times New Roman"/>
                <a:cs typeface="Times New Roman"/>
              </a:rPr>
              <a:t> Mesh sequences capture rich surface dynamics and fine-grained articulated movements (e.g., fingers and torso </a:t>
            </a:r>
            <a:r>
              <a:rPr lang="en-US">
                <a:latin typeface="Times New Roman"/>
                <a:cs typeface="Times New Roman"/>
              </a:rPr>
              <a:t>rotation</a:t>
            </a:r>
            <a:r>
              <a:rPr lang="en-US" dirty="0">
                <a:latin typeface="Times New Roman"/>
                <a:cs typeface="Times New Roman"/>
              </a:rPr>
              <a:t>) missed by simple skeletons.</a:t>
            </a:r>
          </a:p>
          <a:p>
            <a:r>
              <a:rPr lang="en-US" b="1">
                <a:latin typeface="Times New Roman"/>
                <a:cs typeface="Times New Roman"/>
              </a:rPr>
              <a:t>The Bottleneck:</a:t>
            </a:r>
            <a:r>
              <a:rPr lang="en-US">
                <a:latin typeface="Times New Roman"/>
                <a:cs typeface="Times New Roman"/>
              </a:rPr>
              <a:t> Processing sequences of 6,890 vertices per frame creates a massive computational burden, overwhelming edge devices.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b="1">
                <a:latin typeface="Times New Roman"/>
                <a:cs typeface="Times New Roman"/>
              </a:rPr>
              <a:t>&gt;287x</a:t>
            </a:r>
            <a:r>
              <a:rPr lang="en-US">
                <a:latin typeface="Times New Roman"/>
                <a:cs typeface="Times New Roman"/>
              </a:rPr>
              <a:t> increase in spatial computational overhead for a standard CNN.</a:t>
            </a:r>
          </a:p>
          <a:p>
            <a:r>
              <a:rPr lang="en-US" b="1">
                <a:latin typeface="Times New Roman"/>
                <a:cs typeface="Times New Roman"/>
              </a:rPr>
              <a:t>The Challenge:</a:t>
            </a:r>
            <a:r>
              <a:rPr lang="en-US">
                <a:latin typeface="Times New Roman"/>
                <a:cs typeface="Times New Roman"/>
              </a:rPr>
              <a:t> Overwhelming for resource-constrained edge devices.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latin typeface="Times New Roman"/>
                <a:cs typeface="Times New Roman"/>
              </a:rPr>
              <a:t>Thus, applying down-sampling algorithm is necessary</a:t>
            </a:r>
            <a:endParaRPr lang="en-US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8652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6F9C-3651-CBA5-BA98-7423EA9D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Open Sans SemiBold"/>
                <a:cs typeface="Times New Roman"/>
              </a:rPr>
              <a:t>Furthest Point Sampling (FPS) Algorithm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8B55B-B71C-23C6-EB39-6BF90AC473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7590"/>
            <a:ext cx="5254172" cy="41875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Core Mechanism:</a:t>
            </a:r>
            <a:r>
              <a:rPr lang="en-US">
                <a:latin typeface="Times New Roman"/>
                <a:cs typeface="Times New Roman"/>
              </a:rPr>
              <a:t> Iteratively selects the point that is farthest away from the sampled set.</a:t>
            </a:r>
            <a:endParaRPr lang="en-US" dirty="0"/>
          </a:p>
          <a:p>
            <a:r>
              <a:rPr lang="en-US" b="1">
                <a:latin typeface="Times New Roman"/>
                <a:cs typeface="Times New Roman"/>
              </a:rPr>
              <a:t>The Advantage:</a:t>
            </a:r>
            <a:r>
              <a:rPr lang="en-US">
                <a:latin typeface="Times New Roman"/>
                <a:cs typeface="Times New Roman"/>
              </a:rPr>
              <a:t> Provides a uniform, well-distributed geometric coverage.</a:t>
            </a:r>
            <a:endParaRPr lang="en-US"/>
          </a:p>
          <a:p>
            <a:r>
              <a:rPr lang="en-US" b="1">
                <a:latin typeface="Times New Roman"/>
                <a:cs typeface="Times New Roman"/>
              </a:rPr>
              <a:t>However: </a:t>
            </a:r>
            <a:r>
              <a:rPr lang="en-US">
                <a:latin typeface="Times New Roman"/>
                <a:cs typeface="Times New Roman"/>
              </a:rPr>
              <a:t>it treats all body parts equally. Over-samples static regions (abdomen), loses critical details (hands/fingers)</a:t>
            </a:r>
            <a:endParaRPr lang="en-US"/>
          </a:p>
          <a:p>
            <a:endParaRPr lang="en-US" dirty="0"/>
          </a:p>
        </p:txBody>
      </p:sp>
      <p:pic>
        <p:nvPicPr>
          <p:cNvPr id="6" name="Picture 5" descr="Figure 1">
            <a:extLst>
              <a:ext uri="{FF2B5EF4-FFF2-40B4-BE49-F238E27FC236}">
                <a16:creationId xmlns:a16="http://schemas.microsoft.com/office/drawing/2014/main" id="{C149C9E0-4030-F1A0-728B-4F334C24A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582" y="1709094"/>
            <a:ext cx="4932217" cy="17218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7DC433-D084-2034-A272-B084C0609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802" y="4029940"/>
            <a:ext cx="1827069" cy="1783773"/>
          </a:xfrm>
          <a:prstGeom prst="rect">
            <a:avLst/>
          </a:prstGeom>
        </p:spPr>
      </p:pic>
      <p:pic>
        <p:nvPicPr>
          <p:cNvPr id="9" name="Picture 8" descr="A person made out of small blue dots&#10;&#10;AI-generated content may be incorrect.">
            <a:extLst>
              <a:ext uri="{FF2B5EF4-FFF2-40B4-BE49-F238E27FC236}">
                <a16:creationId xmlns:a16="http://schemas.microsoft.com/office/drawing/2014/main" id="{395320D1-6D2D-972C-3ABD-E44626917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9330" y="4029941"/>
            <a:ext cx="1827069" cy="17837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9657A8-195F-7829-3ED4-642AE84848DC}"/>
              </a:ext>
            </a:extLst>
          </p:cNvPr>
          <p:cNvSpPr txBox="1"/>
          <p:nvPr/>
        </p:nvSpPr>
        <p:spPr>
          <a:xfrm>
            <a:off x="6972299" y="5811981"/>
            <a:ext cx="113607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Original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117703-92B7-56E4-2CC7-2FA3200225D1}"/>
              </a:ext>
            </a:extLst>
          </p:cNvPr>
          <p:cNvSpPr txBox="1"/>
          <p:nvPr/>
        </p:nvSpPr>
        <p:spPr>
          <a:xfrm>
            <a:off x="9736280" y="5811980"/>
            <a:ext cx="1413163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Output(N=256)</a:t>
            </a:r>
            <a:endParaRPr lang="en-US" sz="1400" dirty="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31697E37-3EFE-9569-8C00-9413088AF928}"/>
              </a:ext>
            </a:extLst>
          </p:cNvPr>
          <p:cNvSpPr/>
          <p:nvPr/>
        </p:nvSpPr>
        <p:spPr>
          <a:xfrm>
            <a:off x="8702386" y="4783281"/>
            <a:ext cx="571500" cy="143741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33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87157-AA7B-863F-5F87-E054426D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/>
              <a:t>Why Sampling Matters</a:t>
            </a:r>
          </a:p>
        </p:txBody>
      </p:sp>
      <p:pic>
        <p:nvPicPr>
          <p:cNvPr id="6" name="Picture 5" descr="A white paper with black text and numbers&#10;&#10;AI-generated content may be incorrect.">
            <a:extLst>
              <a:ext uri="{FF2B5EF4-FFF2-40B4-BE49-F238E27FC236}">
                <a16:creationId xmlns:a16="http://schemas.microsoft.com/office/drawing/2014/main" id="{20213920-52B0-A987-FFE5-FA221A4BE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29" y="1825603"/>
            <a:ext cx="5181600" cy="207264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68CB0-C8EA-643A-2E2C-268ED72E0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The Flaw:</a:t>
            </a:r>
            <a:r>
              <a:rPr lang="en-US" dirty="0">
                <a:latin typeface="Times New Roman"/>
                <a:cs typeface="Times New Roman"/>
              </a:rPr>
              <a:t> Global FPS wastes points on static areas (Abdomen: 53 vertices, 0.1% impact).</a:t>
            </a:r>
          </a:p>
          <a:p>
            <a:r>
              <a:rPr lang="en-US" b="1">
                <a:latin typeface="Times New Roman"/>
                <a:cs typeface="Times New Roman"/>
              </a:rPr>
              <a:t>The Cost:</a:t>
            </a:r>
            <a:r>
              <a:rPr lang="en-US">
                <a:latin typeface="Times New Roman"/>
                <a:cs typeface="Times New Roman"/>
              </a:rPr>
              <a:t> Starves critical motion joints (Arms: 8 vertices, </a:t>
            </a:r>
            <a:r>
              <a:rPr lang="en-US" b="1">
                <a:latin typeface="Times New Roman"/>
                <a:cs typeface="Times New Roman"/>
              </a:rPr>
              <a:t>20.05%</a:t>
            </a:r>
            <a:r>
              <a:rPr lang="en-US" dirty="0">
                <a:latin typeface="Times New Roman"/>
                <a:cs typeface="Times New Roman"/>
              </a:rPr>
              <a:t> drop!).</a:t>
            </a:r>
            <a:endParaRPr lang="en-US" dirty="0"/>
          </a:p>
          <a:p>
            <a:r>
              <a:rPr lang="en-US" b="1">
                <a:latin typeface="Times New Roman"/>
                <a:cs typeface="Times New Roman"/>
              </a:rPr>
              <a:t>Our Solution:</a:t>
            </a:r>
            <a:r>
              <a:rPr lang="en-US" dirty="0">
                <a:latin typeface="Times New Roman"/>
                <a:cs typeface="Times New Roman"/>
              </a:rPr>
              <a:t> Partitions the mesh to force high point density on high-value regions (hands/limbs).</a:t>
            </a:r>
            <a:endParaRPr lang="en-US" dirty="0"/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EFD9C7-3BA5-7114-C3C3-1309E48BB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55" y="4117974"/>
            <a:ext cx="5028747" cy="204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76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4FDF-A5B3-6DD0-EC8D-88D6CFDE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SemiBold"/>
                <a:cs typeface="Times New Roman"/>
              </a:rPr>
              <a:t>Overall Architecture of </a:t>
            </a:r>
            <a:r>
              <a:rPr lang="en-US" dirty="0" err="1">
                <a:ea typeface="Open Sans SemiBold"/>
                <a:cs typeface="Times New Roman"/>
              </a:rPr>
              <a:t>ARiSE</a:t>
            </a:r>
            <a:endParaRPr lang="en-US" dirty="0" err="1">
              <a:ea typeface="Open Sans SemiBold"/>
            </a:endParaRPr>
          </a:p>
        </p:txBody>
      </p:sp>
      <p:pic>
        <p:nvPicPr>
          <p:cNvPr id="4" name="Picture 3" descr="Diagram of a diagram of weights and weight measurement&#10;&#10;AI-generated content may be incorrect.">
            <a:extLst>
              <a:ext uri="{FF2B5EF4-FFF2-40B4-BE49-F238E27FC236}">
                <a16:creationId xmlns:a16="http://schemas.microsoft.com/office/drawing/2014/main" id="{72697A9F-D963-60E1-38A5-84845FF69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571" y="1426194"/>
            <a:ext cx="9688286" cy="2517897"/>
          </a:xfrm>
          <a:prstGeom prst="rect">
            <a:avLst/>
          </a:prstGeom>
        </p:spPr>
      </p:pic>
      <p:pic>
        <p:nvPicPr>
          <p:cNvPr id="5" name="Picture 4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DC1D5C86-7637-3BFA-8317-B86757A7B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971" y="4402893"/>
            <a:ext cx="6741886" cy="1840441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11BACD0-1242-1E47-D70E-AD6F688FF911}"/>
              </a:ext>
            </a:extLst>
          </p:cNvPr>
          <p:cNvCxnSpPr/>
          <p:nvPr/>
        </p:nvCxnSpPr>
        <p:spPr>
          <a:xfrm flipH="1">
            <a:off x="3767472" y="3242047"/>
            <a:ext cx="4937478" cy="1124212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CB18818-CA30-1B55-CBA1-D02857600B29}"/>
              </a:ext>
            </a:extLst>
          </p:cNvPr>
          <p:cNvCxnSpPr>
            <a:cxnSpLocks/>
          </p:cNvCxnSpPr>
          <p:nvPr/>
        </p:nvCxnSpPr>
        <p:spPr>
          <a:xfrm>
            <a:off x="9532263" y="3227533"/>
            <a:ext cx="962579" cy="1153240"/>
          </a:xfrm>
          <a:prstGeom prst="straightConnector1">
            <a:avLst/>
          </a:prstGeom>
          <a:ln w="28575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889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2A452-B8B1-1B4A-DBE6-4169A7FC1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SemiBold"/>
                <a:cs typeface="Times New Roman"/>
              </a:rPr>
              <a:t>Results of </a:t>
            </a:r>
            <a:r>
              <a:rPr lang="en-US" dirty="0" err="1">
                <a:ea typeface="Open Sans SemiBold"/>
                <a:cs typeface="Times New Roman"/>
              </a:rPr>
              <a:t>ARiSE</a:t>
            </a:r>
            <a:endParaRPr lang="en-US" dirty="0" err="1"/>
          </a:p>
        </p:txBody>
      </p:sp>
      <p:pic>
        <p:nvPicPr>
          <p:cNvPr id="4" name="Picture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267FB7AC-DC1B-C6E6-E600-C1B2D3599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434895"/>
            <a:ext cx="11916229" cy="2681925"/>
          </a:xfrm>
          <a:prstGeom prst="rect">
            <a:avLst/>
          </a:prstGeom>
        </p:spPr>
      </p:pic>
      <p:pic>
        <p:nvPicPr>
          <p:cNvPr id="5" name="Picture 4" descr="A table with numbers and a few words&#10;&#10;AI-generated content may be incorrect.">
            <a:extLst>
              <a:ext uri="{FF2B5EF4-FFF2-40B4-BE49-F238E27FC236}">
                <a16:creationId xmlns:a16="http://schemas.microsoft.com/office/drawing/2014/main" id="{792270C4-4C52-EF77-7F01-AD81E5CBF0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0" y="4333648"/>
            <a:ext cx="5641522" cy="1637847"/>
          </a:xfrm>
          <a:prstGeom prst="rect">
            <a:avLst/>
          </a:prstGeom>
        </p:spPr>
      </p:pic>
      <p:pic>
        <p:nvPicPr>
          <p:cNvPr id="6" name="Picture 5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DCB59824-0014-E9A2-A7BC-3F8D21BEF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029" y="4109357"/>
            <a:ext cx="4492625" cy="209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927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A1196-C75F-A4FE-5424-90D044155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Open Sans SemiBold"/>
                <a:cs typeface="Times New Roman"/>
              </a:rPr>
              <a:t>Ablation Studies</a:t>
            </a:r>
            <a:endParaRPr lang="en-US"/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2C92605-DC4D-612A-0F0F-D3F5994D6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746" y="1425121"/>
            <a:ext cx="4304393" cy="2222500"/>
          </a:xfrm>
          <a:prstGeom prst="rect">
            <a:avLst/>
          </a:prstGeom>
        </p:spPr>
      </p:pic>
      <p:pic>
        <p:nvPicPr>
          <p:cNvPr id="5" name="Picture 4" descr="A graph with blue lines and white text&#10;&#10;AI-generated content may be incorrect.">
            <a:extLst>
              <a:ext uri="{FF2B5EF4-FFF2-40B4-BE49-F238E27FC236}">
                <a16:creationId xmlns:a16="http://schemas.microsoft.com/office/drawing/2014/main" id="{03C05B3D-B947-E11E-4831-C0510C27E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83" y="918935"/>
            <a:ext cx="4309836" cy="2647043"/>
          </a:xfrm>
          <a:prstGeom prst="rect">
            <a:avLst/>
          </a:prstGeom>
        </p:spPr>
      </p:pic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96FC880D-702B-25AD-5FFE-0050C084C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134" y="3857171"/>
            <a:ext cx="3814990" cy="2220686"/>
          </a:xfrm>
          <a:prstGeom prst="rect">
            <a:avLst/>
          </a:prstGeom>
        </p:spPr>
      </p:pic>
      <p:pic>
        <p:nvPicPr>
          <p:cNvPr id="7" name="Picture 6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1962B696-BEAA-DD69-BE80-DE78BE00A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9106" y="3942443"/>
            <a:ext cx="4177847" cy="2202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2841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F8843-6A33-4980-E196-AFBF23CE6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7773"/>
            <a:ext cx="10515600" cy="1011066"/>
          </a:xfrm>
        </p:spPr>
        <p:txBody>
          <a:bodyPr anchor="ctr">
            <a:normAutofit/>
          </a:bodyPr>
          <a:lstStyle/>
          <a:p>
            <a:r>
              <a:rPr lang="en-US"/>
              <a:t>Empowering HAR Using LLM</a:t>
            </a: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109CC605-6A3B-7CC2-3A52-F5ABDCA30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55895871"/>
              </p:ext>
            </p:extLst>
          </p:nvPr>
        </p:nvGraphicFramePr>
        <p:xfrm>
          <a:off x="838200" y="1717590"/>
          <a:ext cx="10515600" cy="418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469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341C4-8601-1DCB-E118-6294E9F2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>
                <a:ea typeface="Open Sans SemiBold"/>
                <a:cs typeface="Times New Roman"/>
              </a:rPr>
              <a:t>Vector Quantized Variational Auto Encoder (VQ-VAE)</a:t>
            </a:r>
            <a:endParaRPr lang="en-US" sz="9600" dirty="0">
              <a:ea typeface="Open Sans SemiBold"/>
            </a:endParaRPr>
          </a:p>
        </p:txBody>
      </p:sp>
      <p:pic>
        <p:nvPicPr>
          <p:cNvPr id="4" name="Content Placeholder 3" descr="A diagram of a codebook">
            <a:extLst>
              <a:ext uri="{FF2B5EF4-FFF2-40B4-BE49-F238E27FC236}">
                <a16:creationId xmlns:a16="http://schemas.microsoft.com/office/drawing/2014/main" id="{C1B2AE32-156F-66D4-18B7-9EC69AF5AB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2590" y="1775647"/>
            <a:ext cx="9634076" cy="330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177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4A1F9-0BE6-9E98-BB26-89F97A58D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SemiBold"/>
                <a:cs typeface="Times New Roman"/>
              </a:rPr>
              <a:t>VQ-VAE-based Motion </a:t>
            </a:r>
            <a:r>
              <a:rPr lang="en-US">
                <a:ea typeface="Open Sans SemiBold"/>
                <a:cs typeface="Times New Roman"/>
              </a:rPr>
              <a:t>Understanding</a:t>
            </a:r>
            <a:endParaRPr lang="en-US"/>
          </a:p>
        </p:txBody>
      </p:sp>
      <p:pic>
        <p:nvPicPr>
          <p:cNvPr id="4" name="Content Placeholder 3" descr="A diagram of a program">
            <a:extLst>
              <a:ext uri="{FF2B5EF4-FFF2-40B4-BE49-F238E27FC236}">
                <a16:creationId xmlns:a16="http://schemas.microsoft.com/office/drawing/2014/main" id="{FC2BA528-BCF6-41DA-DB9D-AC52383B30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66411"/>
            <a:ext cx="10515600" cy="40898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51C610-43A5-52B4-EA4C-2A9FC235F070}"/>
              </a:ext>
            </a:extLst>
          </p:cNvPr>
          <p:cNvSpPr txBox="1"/>
          <p:nvPr/>
        </p:nvSpPr>
        <p:spPr>
          <a:xfrm>
            <a:off x="3244619" y="5862870"/>
            <a:ext cx="570411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B. Jiang et al., "</a:t>
            </a:r>
            <a:r>
              <a:rPr lang="en-US" sz="1200" dirty="0" err="1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MotionGPT</a:t>
            </a:r>
            <a:r>
              <a:rPr lang="en-US" sz="1200" dirty="0">
                <a:solidFill>
                  <a:schemeClr val="bg1">
                    <a:lumMod val="76000"/>
                    <a:lumOff val="24000"/>
                  </a:schemeClr>
                </a:solidFill>
                <a:ea typeface="+mn-lt"/>
                <a:cs typeface="+mn-lt"/>
              </a:rPr>
              <a:t>: Human motion as a foreign language</a:t>
            </a:r>
            <a:r>
              <a:rPr lang="en-US" sz="1200" dirty="0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", </a:t>
            </a:r>
            <a:r>
              <a:rPr lang="en-US" sz="1200" dirty="0" err="1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NeurIPS</a:t>
            </a:r>
            <a:r>
              <a:rPr lang="en-US" sz="1200" dirty="0">
                <a:solidFill>
                  <a:schemeClr val="bg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 2023.</a:t>
            </a:r>
            <a:endParaRPr lang="en-US" dirty="0">
              <a:solidFill>
                <a:schemeClr val="bg1">
                  <a:lumMod val="76000"/>
                  <a:lumOff val="24000"/>
                </a:schemeClr>
              </a:solidFill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119151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3C8F4-46E3-7D67-ED58-2D30C6F0C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ea typeface="Open Sans SemiBold"/>
                <a:cs typeface="Times New Roman"/>
              </a:rPr>
              <a:t>Problems of VQ-VAE-based Approaches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7E68D-616F-AA1F-7A7F-60387211C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Geometric Disconnect:</a:t>
            </a:r>
            <a:r>
              <a:rPr lang="en-US">
                <a:latin typeface="Times New Roman"/>
                <a:cs typeface="Times New Roman"/>
              </a:rPr>
              <a:t> Decouples quantization from semantic learning. Linking modalities </a:t>
            </a:r>
            <a:r>
              <a:rPr lang="en-US" i="1">
                <a:latin typeface="Times New Roman"/>
                <a:cs typeface="Times New Roman"/>
              </a:rPr>
              <a:t>solely</a:t>
            </a:r>
            <a:r>
              <a:rPr lang="en-US">
                <a:latin typeface="Times New Roman"/>
                <a:cs typeface="Times New Roman"/>
              </a:rPr>
              <a:t> via Token IDs destroys the intrinsic 3D geometric structure.</a:t>
            </a:r>
          </a:p>
          <a:p>
            <a:r>
              <a:rPr lang="en-US" b="1">
                <a:latin typeface="Times New Roman"/>
                <a:cs typeface="Times New Roman"/>
              </a:rPr>
              <a:t>Optimization Block:</a:t>
            </a:r>
            <a:r>
              <a:rPr lang="en-US">
                <a:latin typeface="Times New Roman"/>
                <a:cs typeface="Times New Roman"/>
              </a:rPr>
              <a:t> The non-differentiable nearest-neighbor assignment blocks geometry-aware gradients, preventing fine-grained structural control.</a:t>
            </a:r>
          </a:p>
          <a:p>
            <a:r>
              <a:rPr lang="en-US" b="1" dirty="0">
                <a:latin typeface="Times New Roman"/>
                <a:cs typeface="Times New Roman"/>
              </a:rPr>
              <a:t>Codebook Collapse:</a:t>
            </a:r>
            <a:r>
              <a:rPr lang="en-US" dirty="0">
                <a:latin typeface="Times New Roman"/>
                <a:cs typeface="Times New Roman"/>
              </a:rPr>
              <a:t> Exhibits a severe heavy-tailed usage pattern. A few tokens dominate while many become "dead codes," resulting in overly collapsed and repetitive motion dynamics.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753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24F1E-A4DF-84E8-F765-B5A06FECE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SemiBold"/>
                <a:cs typeface="Times New Roman"/>
              </a:rPr>
              <a:t>Overall Architecture of </a:t>
            </a:r>
            <a:r>
              <a:rPr lang="en-US" dirty="0" err="1">
                <a:ea typeface="Open Sans SemiBold"/>
                <a:cs typeface="Times New Roman"/>
              </a:rPr>
              <a:t>GeoMotionGPT</a:t>
            </a:r>
            <a:endParaRPr lang="en-US" dirty="0" err="1"/>
          </a:p>
        </p:txBody>
      </p:sp>
      <p:pic>
        <p:nvPicPr>
          <p:cNvPr id="4" name="Content Placeholder 3" descr="A diagram of a graph">
            <a:extLst>
              <a:ext uri="{FF2B5EF4-FFF2-40B4-BE49-F238E27FC236}">
                <a16:creationId xmlns:a16="http://schemas.microsoft.com/office/drawing/2014/main" id="{4A3E5EAB-7CD1-084B-56D6-C0FBB5330F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9393" y="1717590"/>
            <a:ext cx="9433213" cy="4187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10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4C80-DD14-75AB-3A0D-DA6FFBE94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SemiBold"/>
                <a:cs typeface="Times New Roman"/>
              </a:rPr>
              <a:t>Experiment Results of </a:t>
            </a:r>
            <a:r>
              <a:rPr lang="en-US" dirty="0" err="1">
                <a:ea typeface="Open Sans SemiBold"/>
                <a:cs typeface="Times New Roman"/>
              </a:rPr>
              <a:t>GeoMotionGPT</a:t>
            </a:r>
            <a:endParaRPr lang="en-US" dirty="0" err="1">
              <a:ea typeface="Open Sans SemiBold"/>
            </a:endParaRPr>
          </a:p>
        </p:txBody>
      </p:sp>
      <p:pic>
        <p:nvPicPr>
          <p:cNvPr id="5" name="Content Placeholder 4" descr="A table with numbers and a number of text&#10;&#10;AI-generated content may be incorrect.">
            <a:extLst>
              <a:ext uri="{FF2B5EF4-FFF2-40B4-BE49-F238E27FC236}">
                <a16:creationId xmlns:a16="http://schemas.microsoft.com/office/drawing/2014/main" id="{FB839969-90E7-ECFE-F3E5-7A51879FAF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345" y="1979823"/>
            <a:ext cx="11312236" cy="3434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9144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292A-4D47-14E3-E850-89D21DF70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Open Sans SemiBold"/>
                <a:cs typeface="Times New Roman"/>
              </a:rPr>
              <a:t>Experiment Results (</a:t>
            </a:r>
            <a:r>
              <a:rPr lang="en-US" dirty="0" err="1">
                <a:ea typeface="Open Sans SemiBold"/>
                <a:cs typeface="Times New Roman"/>
              </a:rPr>
              <a:t>Con't</a:t>
            </a:r>
            <a:r>
              <a:rPr lang="en-US" dirty="0">
                <a:ea typeface="Open Sans SemiBold"/>
                <a:cs typeface="Times New Roman"/>
              </a:rPr>
              <a:t>)</a:t>
            </a:r>
            <a:endParaRPr lang="en-US" dirty="0"/>
          </a:p>
        </p:txBody>
      </p:sp>
      <p:pic>
        <p:nvPicPr>
          <p:cNvPr id="4" name="Picture 3" descr="A diagram of a person jumping&#10;&#10;AI-generated content may be incorrect.">
            <a:extLst>
              <a:ext uri="{FF2B5EF4-FFF2-40B4-BE49-F238E27FC236}">
                <a16:creationId xmlns:a16="http://schemas.microsoft.com/office/drawing/2014/main" id="{EEDC0AAB-27F4-C3B1-B00C-6EFB5BEA4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886" y="1427325"/>
            <a:ext cx="10392229" cy="487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745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3E27B-A5D9-BB2E-2EAD-D14351F3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Open Sans SemiBold"/>
                <a:cs typeface="Times New Roman"/>
              </a:rPr>
              <a:t>Ablation Studies</a:t>
            </a:r>
            <a:endParaRPr lang="en-US"/>
          </a:p>
        </p:txBody>
      </p:sp>
      <p:pic>
        <p:nvPicPr>
          <p:cNvPr id="4" name="Content Placeholder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7757A5BF-AF05-C5CD-0383-4824223D32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543" y="2019731"/>
            <a:ext cx="11357428" cy="340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125897"/>
      </p:ext>
    </p:extLst>
  </p:cSld>
  <p:clrMapOvr>
    <a:masterClrMapping/>
  </p:clrMapOvr>
</p:sld>
</file>

<file path=ppt/theme/theme1.xml><?xml version="1.0" encoding="utf-8"?>
<a:theme xmlns:a="http://schemas.openxmlformats.org/drawingml/2006/main" name="FSU_Creative_Theme">
  <a:themeElements>
    <a:clrScheme name="FSU">
      <a:dk1>
        <a:srgbClr val="000000"/>
      </a:dk1>
      <a:lt1>
        <a:srgbClr val="FFFFFF"/>
      </a:lt1>
      <a:dk2>
        <a:srgbClr val="782F40"/>
      </a:dk2>
      <a:lt2>
        <a:srgbClr val="E7E6E6"/>
      </a:lt2>
      <a:accent1>
        <a:srgbClr val="782F40"/>
      </a:accent1>
      <a:accent2>
        <a:srgbClr val="CEB888"/>
      </a:accent2>
      <a:accent3>
        <a:srgbClr val="415563"/>
      </a:accent3>
      <a:accent4>
        <a:srgbClr val="5BB8B2"/>
      </a:accent4>
      <a:accent5>
        <a:srgbClr val="FFC72C"/>
      </a:accent5>
      <a:accent6>
        <a:srgbClr val="A6192E"/>
      </a:accent6>
      <a:hlink>
        <a:srgbClr val="782F40"/>
      </a:hlink>
      <a:folHlink>
        <a:srgbClr val="000000"/>
      </a:folHlink>
    </a:clrScheme>
    <a:fontScheme name="Open Sans">
      <a:majorFont>
        <a:latin typeface="Open Sans Semi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FSU_Presentation_Institutional_Garnet" id="{8C464DED-7DD0-394D-BE06-B2E02C00A74A}" vid="{88337355-537C-7B48-A4DD-743288D140F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BC055646C9834786D5D1D07B672473" ma:contentTypeVersion="4" ma:contentTypeDescription="Create a new document." ma:contentTypeScope="" ma:versionID="522017b4c5402070f2e0eabba8dc28f6">
  <xsd:schema xmlns:xsd="http://www.w3.org/2001/XMLSchema" xmlns:xs="http://www.w3.org/2001/XMLSchema" xmlns:p="http://schemas.microsoft.com/office/2006/metadata/properties" xmlns:ns2="b79a929a-3d7c-4dba-8a00-4b3dbe931dd1" targetNamespace="http://schemas.microsoft.com/office/2006/metadata/properties" ma:root="true" ma:fieldsID="519d4e80918d33f5ff7fbfe56aa091a4" ns2:_="">
    <xsd:import namespace="b79a929a-3d7c-4dba-8a00-4b3dbe931d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9a929a-3d7c-4dba-8a00-4b3dbe931dd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3F13CBC-58BD-47F8-AC0B-6954B3115E1F}">
  <ds:schemaRefs>
    <ds:schemaRef ds:uri="b79a929a-3d7c-4dba-8a00-4b3dbe931dd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F226833-84EB-46B9-B534-782F87EB1EFD}">
  <ds:schemaRefs>
    <ds:schemaRef ds:uri="b79a929a-3d7c-4dba-8a00-4b3dbe931dd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276FACF-8F13-4066-97A0-6AC481EC5BA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FSU_Presentation_Institutional_Garnet</Template>
  <TotalTime>0</TotalTime>
  <Words>603</Words>
  <Application>Microsoft Office PowerPoint</Application>
  <PresentationFormat>Widescreen</PresentationFormat>
  <Paragraphs>65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Courier New</vt:lpstr>
      <vt:lpstr>Open Sans</vt:lpstr>
      <vt:lpstr>Open Sans SemiBold</vt:lpstr>
      <vt:lpstr>Times New Roman</vt:lpstr>
      <vt:lpstr>FSU_Creative_Theme</vt:lpstr>
      <vt:lpstr>From Efficient Motion Recognition to Geometry-Aligned Motion Reasoning</vt:lpstr>
      <vt:lpstr>Today's Outline</vt:lpstr>
      <vt:lpstr>Sensing Modalities in HAR</vt:lpstr>
      <vt:lpstr>The Vision Dilemma</vt:lpstr>
      <vt:lpstr>The Mechanics of Wi-Fi Sensing</vt:lpstr>
      <vt:lpstr>Wi-Fi-based Human Mesh Estimation</vt:lpstr>
      <vt:lpstr>Skinned Multi-Person Linear (SMPL) Model</vt:lpstr>
      <vt:lpstr>Performing HAR on SMPL model</vt:lpstr>
      <vt:lpstr>Furthest Point Sampling (FPS) Algorithm</vt:lpstr>
      <vt:lpstr>Why Sampling Matters</vt:lpstr>
      <vt:lpstr>Overall Architecture of ARiSE</vt:lpstr>
      <vt:lpstr>Results of ARiSE</vt:lpstr>
      <vt:lpstr>Ablation Studies</vt:lpstr>
      <vt:lpstr>Empowering HAR Using LLM</vt:lpstr>
      <vt:lpstr>Vector Quantized Variational Auto Encoder (VQ-VAE)</vt:lpstr>
      <vt:lpstr>VQ-VAE-based Motion Understanding</vt:lpstr>
      <vt:lpstr>Problems of VQ-VAE-based Approaches</vt:lpstr>
      <vt:lpstr>Overall Architecture of GeoMotionGPT</vt:lpstr>
      <vt:lpstr>Experiment Results of GeoMotionGPT</vt:lpstr>
      <vt:lpstr>Experiment Results (Con't)</vt:lpstr>
      <vt:lpstr>Ablation Studies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Raglo S</dc:creator>
  <cp:lastModifiedBy>Xin Liu</cp:lastModifiedBy>
  <cp:revision>275</cp:revision>
  <dcterms:created xsi:type="dcterms:W3CDTF">2025-10-20T13:45:26Z</dcterms:created>
  <dcterms:modified xsi:type="dcterms:W3CDTF">2026-03-13T02:51:11Z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0x010100E4BC055646C9834786D5D1D07B672473</vt:lpwstr>
  </property>
</Properties>
</file>