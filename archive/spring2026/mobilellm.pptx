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8"/>
  </p:notesMasterIdLst>
  <p:handoutMasterIdLst>
    <p:handoutMasterId r:id="rId19"/>
  </p:handoutMasterIdLst>
  <p:sldIdLst>
    <p:sldId id="275" r:id="rId5"/>
    <p:sldId id="279" r:id="rId6"/>
    <p:sldId id="278" r:id="rId7"/>
    <p:sldId id="276" r:id="rId8"/>
    <p:sldId id="280" r:id="rId9"/>
    <p:sldId id="281" r:id="rId10"/>
    <p:sldId id="283" r:id="rId11"/>
    <p:sldId id="272" r:id="rId12"/>
    <p:sldId id="282" r:id="rId13"/>
    <p:sldId id="284" r:id="rId14"/>
    <p:sldId id="285" r:id="rId15"/>
    <p:sldId id="286" r:id="rId16"/>
    <p:sldId id="287" r:id="rId17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D8C"/>
    <a:srgbClr val="1A305C"/>
    <a:srgbClr val="3F765F"/>
    <a:srgbClr val="367058"/>
    <a:srgbClr val="1B4935"/>
    <a:srgbClr val="679B9B"/>
    <a:srgbClr val="25654A"/>
    <a:srgbClr val="E6E6E6"/>
    <a:srgbClr val="F38571"/>
    <a:srgbClr val="FF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5716" autoAdjust="0"/>
  </p:normalViewPr>
  <p:slideViewPr>
    <p:cSldViewPr snapToGrid="0" showGuides="1">
      <p:cViewPr varScale="1">
        <p:scale>
          <a:sx n="73" d="100"/>
          <a:sy n="73" d="100"/>
        </p:scale>
        <p:origin x="1632" y="62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1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4348" y="3011197"/>
            <a:ext cx="8259745" cy="3007766"/>
          </a:xfrm>
        </p:spPr>
        <p:txBody>
          <a:bodyPr/>
          <a:lstStyle/>
          <a:p>
            <a:r>
              <a:rPr lang="en-US" sz="2800" dirty="0" err="1"/>
              <a:t>MobileLLM</a:t>
            </a:r>
            <a:r>
              <a:rPr lang="en-US" sz="2800" dirty="0"/>
              <a:t>: Optimizing Sub-billion Parameter Language Models for On-Device Use Cases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468" y="6018963"/>
            <a:ext cx="2889504" cy="453005"/>
          </a:xfrm>
        </p:spPr>
        <p:txBody>
          <a:bodyPr/>
          <a:lstStyle/>
          <a:p>
            <a:r>
              <a:rPr lang="en-US" dirty="0"/>
              <a:t>Zechun Liu</a:t>
            </a:r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FEA3F8-9544-BEB1-2F08-78CC3E3008AB}"/>
              </a:ext>
            </a:extLst>
          </p:cNvPr>
          <p:cNvSpPr txBox="1"/>
          <p:nvPr/>
        </p:nvSpPr>
        <p:spPr>
          <a:xfrm>
            <a:off x="6701391" y="7403068"/>
            <a:ext cx="335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Presenter:  Atalia Hernandez</a:t>
            </a:r>
          </a:p>
        </p:txBody>
      </p:sp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052BA3-6C01-AC30-708E-21A251CCF205}"/>
              </a:ext>
            </a:extLst>
          </p:cNvPr>
          <p:cNvSpPr/>
          <p:nvPr/>
        </p:nvSpPr>
        <p:spPr>
          <a:xfrm>
            <a:off x="0" y="0"/>
            <a:ext cx="10058401" cy="4068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E41360-0A49-546A-4BA7-BE75DE34169A}"/>
              </a:ext>
            </a:extLst>
          </p:cNvPr>
          <p:cNvSpPr/>
          <p:nvPr/>
        </p:nvSpPr>
        <p:spPr>
          <a:xfrm>
            <a:off x="1179443" y="3326295"/>
            <a:ext cx="7699513" cy="1484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Challenges of LLM usage</a:t>
            </a:r>
          </a:p>
        </p:txBody>
      </p:sp>
    </p:spTree>
    <p:extLst>
      <p:ext uri="{BB962C8B-B14F-4D97-AF65-F5344CB8AC3E}">
        <p14:creationId xmlns:p14="http://schemas.microsoft.com/office/powerpoint/2010/main" val="376131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F60DC4D-EC07-C936-AE36-9EFF1D724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928" y="0"/>
            <a:ext cx="6741472" cy="322027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4B339B4-4921-3462-F41D-C284DD2FA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59" y="3326297"/>
            <a:ext cx="3412093" cy="4446104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6E911482-4120-AB30-1CA3-D41CB6E1C272}"/>
              </a:ext>
            </a:extLst>
          </p:cNvPr>
          <p:cNvSpPr txBox="1">
            <a:spLocks/>
          </p:cNvSpPr>
          <p:nvPr/>
        </p:nvSpPr>
        <p:spPr>
          <a:xfrm>
            <a:off x="93158" y="1134824"/>
            <a:ext cx="3223770" cy="47531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Limited DRAM Capacity on Phones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F2A57F93-02D7-1FD9-1756-A1B656BC232A}"/>
              </a:ext>
            </a:extLst>
          </p:cNvPr>
          <p:cNvSpPr txBox="1">
            <a:spLocks/>
          </p:cNvSpPr>
          <p:nvPr/>
        </p:nvSpPr>
        <p:spPr>
          <a:xfrm>
            <a:off x="537882" y="4936436"/>
            <a:ext cx="4051854" cy="47531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Large Energy Consumption 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44373D6B-4662-AE12-ED70-443EAFC0B4DD}"/>
              </a:ext>
            </a:extLst>
          </p:cNvPr>
          <p:cNvSpPr txBox="1">
            <a:spLocks/>
          </p:cNvSpPr>
          <p:nvPr/>
        </p:nvSpPr>
        <p:spPr>
          <a:xfrm>
            <a:off x="7100532" y="5174093"/>
            <a:ext cx="4051854" cy="47531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Battery Problems </a:t>
            </a:r>
          </a:p>
        </p:txBody>
      </p:sp>
    </p:spTree>
    <p:extLst>
      <p:ext uri="{BB962C8B-B14F-4D97-AF65-F5344CB8AC3E}">
        <p14:creationId xmlns:p14="http://schemas.microsoft.com/office/powerpoint/2010/main" val="312340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5B9EC67-E16B-4644-BE4E-9F3520D5AE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6357" y="0"/>
            <a:ext cx="3406691" cy="1663429"/>
          </a:xfrm>
        </p:spPr>
        <p:txBody>
          <a:bodyPr>
            <a:normAutofit/>
          </a:bodyPr>
          <a:lstStyle/>
          <a:p>
            <a:r>
              <a:rPr lang="en-US" dirty="0"/>
              <a:t>Adaptation for on-device execution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9C5F90-E573-43D7-AC40-5AD946F4D0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48" y="1483155"/>
            <a:ext cx="3185494" cy="5872889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sz="2000" dirty="0"/>
              <a:t>Sub-million model: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350M 8-bit model consuming only 0.035 J/token. iPhone can now support a conversational use for a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125M model significantly enhance decoding speed which it’s capable of operating 50 tokens/s compared with 7B which performs at 3-6 tokens/second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1" name="Picture Placeholder 40" descr="close up of mathematical graph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>
          <a:xfrm>
            <a:off x="3352801" y="0"/>
            <a:ext cx="6705600" cy="3886199"/>
          </a:xfrm>
        </p:spPr>
      </p:pic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510886A2-18AD-4F58-A88D-0836A93378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4854" y="4178496"/>
            <a:ext cx="6261494" cy="6704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Contributions to build the most accurate under 1 billion parameters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2D3B1-7828-EA5B-BE4E-8154A62DFF03}"/>
              </a:ext>
            </a:extLst>
          </p:cNvPr>
          <p:cNvSpPr txBox="1"/>
          <p:nvPr/>
        </p:nvSpPr>
        <p:spPr>
          <a:xfrm>
            <a:off x="0" y="0"/>
            <a:ext cx="3016195" cy="10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A6D1E4-D642-ED3E-1318-9E09AFB2109B}"/>
              </a:ext>
            </a:extLst>
          </p:cNvPr>
          <p:cNvSpPr txBox="1"/>
          <p:nvPr/>
        </p:nvSpPr>
        <p:spPr>
          <a:xfrm>
            <a:off x="3837326" y="4952998"/>
            <a:ext cx="63574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Deep-and thin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Block-wise weight sharing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New family model </a:t>
            </a:r>
            <a:r>
              <a:rPr lang="en-US" sz="2000" dirty="0" err="1">
                <a:solidFill>
                  <a:schemeClr val="tx2"/>
                </a:solidFill>
              </a:rPr>
              <a:t>MobileLLM</a:t>
            </a:r>
            <a:r>
              <a:rPr lang="en-US" sz="2000" dirty="0">
                <a:solidFill>
                  <a:schemeClr val="tx2"/>
                </a:solidFill>
              </a:rPr>
              <a:t> showcasing SOTA performance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Chat and API calling </a:t>
            </a:r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66789-2644-4081-94D4-493CB392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DFDF73-0027-BF18-E9F0-13E57FAEF355}"/>
              </a:ext>
            </a:extLst>
          </p:cNvPr>
          <p:cNvSpPr txBox="1"/>
          <p:nvPr/>
        </p:nvSpPr>
        <p:spPr>
          <a:xfrm>
            <a:off x="289111" y="1021976"/>
            <a:ext cx="6689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+mj-lt"/>
              </a:rPr>
              <a:t>Improving Sub-billion Scale LLM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E7620-1B9E-52B7-D564-C10760EB9069}"/>
              </a:ext>
            </a:extLst>
          </p:cNvPr>
          <p:cNvSpPr txBox="1"/>
          <p:nvPr/>
        </p:nvSpPr>
        <p:spPr>
          <a:xfrm>
            <a:off x="652181" y="3996009"/>
            <a:ext cx="6178924" cy="219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Training Set up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Building a Strong Baseline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Layer 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FDF73-0027-BF18-E9F0-13E57FAEF355}"/>
              </a:ext>
            </a:extLst>
          </p:cNvPr>
          <p:cNvSpPr txBox="1"/>
          <p:nvPr/>
        </p:nvSpPr>
        <p:spPr>
          <a:xfrm>
            <a:off x="289111" y="3411234"/>
            <a:ext cx="6689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Structure:</a:t>
            </a:r>
            <a:endParaRPr lang="en-US" sz="32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540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2B9CD4B-5F42-56F6-D83D-BE883D60C651}"/>
              </a:ext>
            </a:extLst>
          </p:cNvPr>
          <p:cNvSpPr txBox="1"/>
          <p:nvPr/>
        </p:nvSpPr>
        <p:spPr>
          <a:xfrm>
            <a:off x="389965" y="366664"/>
            <a:ext cx="7247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+mj-lt"/>
              </a:rPr>
              <a:t>Training Setup</a:t>
            </a:r>
            <a:endParaRPr lang="en-US" sz="4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E6280D-72BF-CBD2-8499-DE5CD1B52F9A}"/>
              </a:ext>
            </a:extLst>
          </p:cNvPr>
          <p:cNvSpPr txBox="1"/>
          <p:nvPr/>
        </p:nvSpPr>
        <p:spPr>
          <a:xfrm>
            <a:off x="779930" y="1477485"/>
            <a:ext cx="8538882" cy="3457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Experiments conducted on 32 A100 GPUs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The pre-trained models is evaluated 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Zero- shot common sense reasoning task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Questions answering and reading comprehension </a:t>
            </a:r>
          </a:p>
        </p:txBody>
      </p:sp>
    </p:spTree>
    <p:extLst>
      <p:ext uri="{BB962C8B-B14F-4D97-AF65-F5344CB8AC3E}">
        <p14:creationId xmlns:p14="http://schemas.microsoft.com/office/powerpoint/2010/main" val="340461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0FA36-1CEB-C4EF-16ED-3148DC5E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CE3B009-81F0-AAFC-ED7B-6FA328A56977}"/>
              </a:ext>
            </a:extLst>
          </p:cNvPr>
          <p:cNvSpPr txBox="1"/>
          <p:nvPr/>
        </p:nvSpPr>
        <p:spPr>
          <a:xfrm>
            <a:off x="389965" y="366664"/>
            <a:ext cx="7247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+mj-lt"/>
              </a:rPr>
              <a:t>Building strong Baseline</a:t>
            </a:r>
            <a:endParaRPr lang="en-US" sz="4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7EEAA6-DD0F-6219-4D18-6F0F96A37ACF}"/>
              </a:ext>
            </a:extLst>
          </p:cNvPr>
          <p:cNvSpPr txBox="1"/>
          <p:nvPr/>
        </p:nvSpPr>
        <p:spPr>
          <a:xfrm>
            <a:off x="605119" y="1074550"/>
            <a:ext cx="8538882" cy="5127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Feed-Forward Network Choice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Usage of activation function </a:t>
            </a:r>
            <a:r>
              <a:rPr lang="en-US" sz="2800" dirty="0" err="1">
                <a:solidFill>
                  <a:schemeClr val="tx2"/>
                </a:solidFill>
                <a:latin typeface="+mj-lt"/>
              </a:rPr>
              <a:t>SwiGLU</a:t>
            </a:r>
            <a:r>
              <a:rPr lang="en-US" sz="2800" dirty="0">
                <a:solidFill>
                  <a:schemeClr val="tx2"/>
                </a:solidFill>
                <a:latin typeface="+mj-lt"/>
              </a:rPr>
              <a:t> by changing vanilla FFN to </a:t>
            </a:r>
            <a:r>
              <a:rPr lang="en-US" sz="2800" dirty="0" err="1">
                <a:solidFill>
                  <a:schemeClr val="tx2"/>
                </a:solidFill>
                <a:latin typeface="+mj-lt"/>
              </a:rPr>
              <a:t>SwiGLU</a:t>
            </a:r>
            <a:r>
              <a:rPr lang="en-US" sz="2800" dirty="0">
                <a:solidFill>
                  <a:schemeClr val="tx2"/>
                </a:solidFill>
                <a:latin typeface="+mj-lt"/>
              </a:rPr>
              <a:t> with a boost on zero-shot reasoning from 42.6 to 43.9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Architecture Depth vs Width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Embedding Sharing 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Number of Heads and KV-heads</a:t>
            </a:r>
          </a:p>
        </p:txBody>
      </p:sp>
    </p:spTree>
    <p:extLst>
      <p:ext uri="{BB962C8B-B14F-4D97-AF65-F5344CB8AC3E}">
        <p14:creationId xmlns:p14="http://schemas.microsoft.com/office/powerpoint/2010/main" val="34857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14">
            <a:extLst>
              <a:ext uri="{FF2B5EF4-FFF2-40B4-BE49-F238E27FC236}">
                <a16:creationId xmlns:a16="http://schemas.microsoft.com/office/drawing/2014/main" id="{D328ED67-05E4-4380-99B0-44D2DEB53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4140" y="3491092"/>
            <a:ext cx="3938176" cy="3111414"/>
          </a:xfrm>
        </p:spPr>
        <p:txBody>
          <a:bodyPr anchor="b">
            <a:normAutofit/>
          </a:bodyPr>
          <a:lstStyle/>
          <a:p>
            <a:r>
              <a:rPr lang="en-US" dirty="0"/>
              <a:t>ARCHITECTURE DEPTH </a:t>
            </a:r>
            <a:br>
              <a:rPr lang="en-US" dirty="0"/>
            </a:br>
            <a:r>
              <a:rPr lang="en-US" dirty="0"/>
              <a:t>VS </a:t>
            </a:r>
            <a:br>
              <a:rPr lang="en-US" dirty="0"/>
            </a:br>
            <a:r>
              <a:rPr lang="en-US" dirty="0"/>
              <a:t>WIDTH</a:t>
            </a:r>
          </a:p>
        </p:txBody>
      </p:sp>
      <p:sp>
        <p:nvSpPr>
          <p:cNvPr id="120" name="Subtitle 2">
            <a:extLst>
              <a:ext uri="{FF2B5EF4-FFF2-40B4-BE49-F238E27FC236}">
                <a16:creationId xmlns:a16="http://schemas.microsoft.com/office/drawing/2014/main" id="{AEA58B29-4DFD-D751-3A82-636887523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696" y="7915911"/>
            <a:ext cx="2889504" cy="453005"/>
          </a:xfrm>
        </p:spPr>
        <p:txBody>
          <a:bodyPr/>
          <a:lstStyle/>
          <a:p>
            <a:endParaRPr lang="en-US"/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95396B6D-476D-3EC7-CBAD-FCAD76DC43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6084" y="3907116"/>
            <a:ext cx="2898647" cy="444960"/>
          </a:xfrm>
        </p:spPr>
        <p:txBody>
          <a:bodyPr/>
          <a:lstStyle/>
          <a:p>
            <a:r>
              <a:rPr lang="en-US" dirty="0"/>
              <a:t>Study125M and 350M parameters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457663-49C5-4FE7-93F7-6D408078AC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3493" y="4524793"/>
            <a:ext cx="5367377" cy="339111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Training of 19 models:  9 models with 125M and 10 on 350M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Result:  Thiner models outperforms wider counterparts suggesting models with 30 or 42 layers performs better than 12.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7E394BA-BAC9-734F-D41B-78E55C8BA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1" y="0"/>
            <a:ext cx="6211551" cy="33200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FFE4AA9-5F84-F15E-2D69-39AEE224D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882" y="57600"/>
            <a:ext cx="3696129" cy="326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2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C249705-EB11-3649-A167-F7CD018D6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212" y="-304008"/>
            <a:ext cx="5755341" cy="1770169"/>
          </a:xfrm>
        </p:spPr>
        <p:txBody>
          <a:bodyPr/>
          <a:lstStyle/>
          <a:p>
            <a:r>
              <a:rPr lang="en-US" dirty="0"/>
              <a:t>NUMBER OF HEADS AND KV-HEADS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DF33791-950C-F7FB-8FDA-F7309A42F9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625" y="-304008"/>
            <a:ext cx="3241562" cy="1663429"/>
          </a:xfrm>
        </p:spPr>
        <p:txBody>
          <a:bodyPr/>
          <a:lstStyle/>
          <a:p>
            <a:r>
              <a:rPr lang="en-US" sz="4000" dirty="0"/>
              <a:t>Embedding Sharing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A35698-4153-61E4-2206-39817C4CC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24" y="1482652"/>
            <a:ext cx="3241561" cy="564428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Embedding dimension of 512 and vocabulary size of 32k compromises and input and output of 16 million parameters which it’s 20% of 125M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Considerably lower  in larger language models with 3.7% in 7B model and 0.7% in 70B model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2F7273-B349-EC53-9EE8-3F66C157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62" y="4794985"/>
            <a:ext cx="6588238" cy="26959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893F72-A8E7-C736-802C-9762B7CC4AF5}"/>
              </a:ext>
            </a:extLst>
          </p:cNvPr>
          <p:cNvSpPr txBox="1"/>
          <p:nvPr/>
        </p:nvSpPr>
        <p:spPr>
          <a:xfrm>
            <a:off x="3657600" y="1667435"/>
            <a:ext cx="53519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Originally Models use more Key-Value Heads per query making it more expensive and keeping a high memory cache usage.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However, experiments has demonstrated that the less the number of queries heads and the more key value heads are shared, the better performance we obtain from the model.   </a:t>
            </a:r>
          </a:p>
        </p:txBody>
      </p:sp>
    </p:spTree>
    <p:extLst>
      <p:ext uri="{BB962C8B-B14F-4D97-AF65-F5344CB8AC3E}">
        <p14:creationId xmlns:p14="http://schemas.microsoft.com/office/powerpoint/2010/main" val="452597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9E6D-73A4-DDC4-DEC0-EE8BC4B2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FFC4EF8-6BCB-7AA7-38AE-552D7EACD8BF}"/>
              </a:ext>
            </a:extLst>
          </p:cNvPr>
          <p:cNvSpPr txBox="1"/>
          <p:nvPr/>
        </p:nvSpPr>
        <p:spPr>
          <a:xfrm>
            <a:off x="389965" y="366664"/>
            <a:ext cx="7247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+mj-lt"/>
              </a:rPr>
              <a:t>Layer Sharing</a:t>
            </a:r>
            <a:endParaRPr lang="en-US" sz="4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F6452F-10BF-DCCE-2408-A760199B162B}"/>
              </a:ext>
            </a:extLst>
          </p:cNvPr>
          <p:cNvSpPr txBox="1"/>
          <p:nvPr/>
        </p:nvSpPr>
        <p:spPr>
          <a:xfrm>
            <a:off x="779930" y="1477485"/>
            <a:ext cx="588981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DRAM stores the model however is slower processing compared to SRAM which it’s smaller but faster.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It sends the tools to process the input to the SRAM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  <a:latin typeface="+mj-lt"/>
              </a:rPr>
              <a:t>MobileLLM</a:t>
            </a:r>
            <a:r>
              <a:rPr lang="en-US" sz="2800" dirty="0">
                <a:solidFill>
                  <a:schemeClr val="tx2"/>
                </a:solidFill>
                <a:latin typeface="+mj-lt"/>
              </a:rPr>
              <a:t> basically refines the input twice on the same block then changes it. This makes the input/output progress faster.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DBB51-87E8-48CB-227E-67A3F903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741" y="1548929"/>
            <a:ext cx="3266680" cy="467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28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EA47-1797-C91C-2710-4944523D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961" y="274066"/>
            <a:ext cx="2804477" cy="47531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Downstream Tasks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98D1C-8AB7-2C15-CED3-4B5CDC89CE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6961" y="767960"/>
            <a:ext cx="2895600" cy="6697587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2"/>
                </a:solidFill>
              </a:rPr>
              <a:t>Chat </a:t>
            </a:r>
            <a:r>
              <a:rPr lang="en-US" sz="2300" dirty="0" err="1">
                <a:solidFill>
                  <a:schemeClr val="tx2"/>
                </a:solidFill>
              </a:rPr>
              <a:t>branchmarks</a:t>
            </a:r>
            <a:r>
              <a:rPr lang="en-US" sz="2300" dirty="0">
                <a:solidFill>
                  <a:schemeClr val="tx2"/>
                </a:solidFill>
              </a:rPr>
              <a:t>:  </a:t>
            </a:r>
            <a:r>
              <a:rPr lang="en-US" sz="2300" dirty="0" err="1">
                <a:solidFill>
                  <a:schemeClr val="tx2"/>
                </a:solidFill>
              </a:rPr>
              <a:t>MobileLLM</a:t>
            </a:r>
            <a:r>
              <a:rPr lang="en-US" sz="2300" dirty="0">
                <a:solidFill>
                  <a:schemeClr val="tx2"/>
                </a:solidFill>
              </a:rPr>
              <a:t> models outperformed previous sub-billion models and even some models exceeding 1 billion parameters. 350M achieving a win rate of 48.2% making comparable to GPT-3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2"/>
                </a:solidFill>
              </a:rPr>
              <a:t>Api calling: </a:t>
            </a:r>
            <a:r>
              <a:rPr lang="en-US" sz="2300" dirty="0" err="1">
                <a:solidFill>
                  <a:schemeClr val="tx2"/>
                </a:solidFill>
              </a:rPr>
              <a:t>MobileLLM</a:t>
            </a:r>
            <a:r>
              <a:rPr lang="en-US" sz="2300" dirty="0">
                <a:solidFill>
                  <a:schemeClr val="tx2"/>
                </a:solidFill>
              </a:rPr>
              <a:t> 350M model achieved intent and structures exact-match scores comparable to 20 times layer models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0D762-9E81-82F3-FBDF-411B5ACA7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9868" y="3233057"/>
            <a:ext cx="2895600" cy="65314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Main 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F92866-597B-50BE-F165-984B62A5B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1106" y="3913094"/>
            <a:ext cx="2895600" cy="523666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Zero shot performances, it achieved 2.7% higher accuracy than previous 125 Models while </a:t>
            </a:r>
            <a:r>
              <a:rPr lang="en-US" sz="1600" dirty="0" err="1">
                <a:solidFill>
                  <a:schemeClr val="bg1"/>
                </a:solidFill>
              </a:rPr>
              <a:t>MobileLLM</a:t>
            </a:r>
            <a:r>
              <a:rPr lang="en-US" sz="1600" dirty="0">
                <a:solidFill>
                  <a:schemeClr val="bg1"/>
                </a:solidFill>
              </a:rPr>
              <a:t> 350M showed 4.3 accuracy boost.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Layer sharing: 0.7% of accuracy boost to many previous 350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02EEA1A-78A3-E1CB-4C6A-73F2782A9F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0BC5A1-97A7-9D93-140E-972FDB4AC5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Knowledge distillation was unsuccessful being 2.6x-3.2x slower to train and yield accuracy from 7B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When profiled in iPhone 13 </a:t>
            </a:r>
            <a:r>
              <a:rPr lang="en-US" sz="1600" dirty="0" err="1">
                <a:latin typeface="+mn-lt"/>
              </a:rPr>
              <a:t>MobileLLM</a:t>
            </a:r>
            <a:r>
              <a:rPr lang="en-US" sz="1600" dirty="0">
                <a:latin typeface="+mn-lt"/>
              </a:rPr>
              <a:t>-LS incurred only 2.6% increase in execution time compered to the baseline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95E2FB-A177-8FB6-7E7E-6AB73194DCC4}"/>
              </a:ext>
            </a:extLst>
          </p:cNvPr>
          <p:cNvSpPr txBox="1"/>
          <p:nvPr/>
        </p:nvSpPr>
        <p:spPr>
          <a:xfrm>
            <a:off x="0" y="998090"/>
            <a:ext cx="36441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j-lt"/>
              </a:rPr>
              <a:t>Experiment</a:t>
            </a:r>
          </a:p>
          <a:p>
            <a:r>
              <a:rPr lang="en-US" sz="4800" dirty="0">
                <a:solidFill>
                  <a:schemeClr val="tx2"/>
                </a:solidFill>
                <a:latin typeface="+mj-lt"/>
              </a:rPr>
              <a:t>And Results</a:t>
            </a:r>
            <a:r>
              <a:rPr lang="en-US" dirty="0"/>
              <a:t> 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8CF6246-3821-60BF-9F2E-D1B974146B36}"/>
              </a:ext>
            </a:extLst>
          </p:cNvPr>
          <p:cNvSpPr txBox="1">
            <a:spLocks/>
          </p:cNvSpPr>
          <p:nvPr/>
        </p:nvSpPr>
        <p:spPr>
          <a:xfrm>
            <a:off x="6948366" y="3513322"/>
            <a:ext cx="2895600" cy="653143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271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76C71-A1B9-C6F4-0FC9-BF920329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A310A2D-7E08-C64A-5429-B9887C909832}"/>
              </a:ext>
            </a:extLst>
          </p:cNvPr>
          <p:cNvSpPr txBox="1"/>
          <p:nvPr/>
        </p:nvSpPr>
        <p:spPr>
          <a:xfrm>
            <a:off x="389965" y="366664"/>
            <a:ext cx="7247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Conclusion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709DE8-2C95-563E-5CC7-71F57F79230E}"/>
              </a:ext>
            </a:extLst>
          </p:cNvPr>
          <p:cNvSpPr txBox="1"/>
          <p:nvPr/>
        </p:nvSpPr>
        <p:spPr>
          <a:xfrm>
            <a:off x="779930" y="1477485"/>
            <a:ext cx="85388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Our findings indicate that, for smaller models, prioritizing depth over width enhances model performance.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Advanced weight-sharing techniques, including embedding sharing, grouped query attention, and block-wise weight sharing, we achieve significant enhancements in weight utilization within storage-constrained scenarios.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resulting models denoted as </a:t>
            </a:r>
            <a:r>
              <a:rPr lang="en-US" sz="2400" dirty="0" err="1">
                <a:solidFill>
                  <a:schemeClr val="bg1"/>
                </a:solidFill>
              </a:rPr>
              <a:t>MobileLLM</a:t>
            </a:r>
            <a:r>
              <a:rPr lang="en-US" sz="2400" dirty="0">
                <a:solidFill>
                  <a:schemeClr val="bg1"/>
                </a:solidFill>
              </a:rPr>
              <a:t> exhibit substantial advancements in zero-shot commonsense reasoning, question answering, and reading comprehension tasks compared to </a:t>
            </a:r>
            <a:r>
              <a:rPr lang="en-US" sz="2400">
                <a:solidFill>
                  <a:schemeClr val="bg1"/>
                </a:solidFill>
              </a:rPr>
              <a:t>previous SOTA </a:t>
            </a:r>
            <a:r>
              <a:rPr lang="en-US" sz="2400" dirty="0">
                <a:solidFill>
                  <a:schemeClr val="bg1"/>
                </a:solidFill>
              </a:rPr>
              <a:t>methods.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528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730F16B-A865-638A-D81C-3EB268168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706" y="1329644"/>
            <a:ext cx="6667930" cy="2883863"/>
          </a:xfrm>
        </p:spPr>
        <p:txBody>
          <a:bodyPr/>
          <a:lstStyle/>
          <a:p>
            <a:r>
              <a:rPr lang="en-US" sz="4800" dirty="0"/>
              <a:t>Questions?</a:t>
            </a:r>
          </a:p>
        </p:txBody>
      </p:sp>
      <p:pic>
        <p:nvPicPr>
          <p:cNvPr id="18" name="Picture Placeholder 17" descr="Wavy technology 3D design">
            <a:extLst>
              <a:ext uri="{FF2B5EF4-FFF2-40B4-BE49-F238E27FC236}">
                <a16:creationId xmlns:a16="http://schemas.microsoft.com/office/drawing/2014/main" id="{825922E5-7566-931A-8548-B19F125024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20665" b="2066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007873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34074874_Tech brochure_wac_SL_V2" id="{B5A66E0F-9F65-4C21-87AC-7650413A74D1}" vid="{E67EEF08-3FBB-4E94-A110-8B91E3BCA9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673FB2-2387-40EB-9933-3FCF79E8C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E07359-304B-49D0-B70C-16B1E5D7FA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DEF570-622C-457C-A082-118F5AB6A6B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brochure</Template>
  <TotalTime>941</TotalTime>
  <Words>590</Words>
  <Application>Microsoft Office PowerPoint</Application>
  <PresentationFormat>Custom</PresentationFormat>
  <Paragraphs>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Gill Sans MT</vt:lpstr>
      <vt:lpstr>Custom </vt:lpstr>
      <vt:lpstr>MobileLLM: Optimizing Sub-billion Parameter Language Models for On-Device Use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DEPTH  VS  WIDTH</vt:lpstr>
      <vt:lpstr>NUMBER OF HEADS AND KV-HEADS</vt:lpstr>
      <vt:lpstr>PowerPoint Presentation</vt:lpstr>
      <vt:lpstr>Downstream Tasks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Atalia Hernandez</dc:creator>
  <cp:lastModifiedBy>Atalia Hernandez</cp:lastModifiedBy>
  <cp:revision>3</cp:revision>
  <dcterms:created xsi:type="dcterms:W3CDTF">2026-02-10T15:01:53Z</dcterms:created>
  <dcterms:modified xsi:type="dcterms:W3CDTF">2026-02-11T21:29:23Z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