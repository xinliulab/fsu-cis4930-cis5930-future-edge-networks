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1DBE35-4258-4F21-8100-F001E8ED6C11}">
  <a:tblStyle styleId="{FB1DBE35-4258-4F21-8100-F001E8ED6C1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EdgeLoRA is a system for running multiple fine-tuned Large Language Models (LLMs) simultaneously on small, low-power devices (edge devices) like NVIDIA Jetson boards or a Raspberry Pi. Published at MobiSys 2025 by researchers at the University of Maryland.</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you fine-tune an LLM for a specific task (say medical Q&amp;A or math), you get a specialized "adapter" — a small set of extra weights. On an edge device shared by multiple users or apps, you need many of these adapters available at once. Three problems arise: (1) someone has to manually pick which adapter to use for each request, (2) loading and unloading adapters from memory to disk is slow and can crash the device when memory runs out (OOM = Out of Memory), and (3) the current tool for this (llama.cpp) can only process requests in parallel if they all use the same adapter, so the GPU sits idle when requests need different adapters. llama.cpp fails entirely beyond about 50 adapters.</a:t>
            </a:r>
            <a:endParaRPr/>
          </a:p>
        </p:txBody>
      </p:sp>
      <p:sp>
        <p:nvSpPr>
          <p:cNvPr id="30" name="Google Shape;3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LoRA (Low-Rank Adaptation) is the fine-tuning technique at the heart of this. Instead of retraining all of a model's massive weight matrix W (which has d×d parameters, where d might be 4096), you freeze W and train two tiny matrices A and B. A has dimensions r×d and B has dimensions d×r, where r (the "rank") is something small like 16 or 32. So instead of updating ~17 million parameters, you update ~130K — up to 10,000× fewer. During inference you can merge the product B×A back into W so there's zero extra cost. The tradeoff table shows that a math-specialized model (OpenMath2) crushes math benchmarks but tanks on general knowledge (MMLU = Massive Multitask Language Understanding), illustrating why you need multiple adapters rather than one universal model.</a:t>
            </a:r>
            <a:endParaRPr/>
          </a:p>
        </p:txBody>
      </p:sp>
      <p:sp>
        <p:nvSpPr>
          <p:cNvPr id="54" name="Google Shape;5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EdgeLoRA has two halves. The Server Manager handles incoming requests using a "slot state machine" — each request gets assigned a slot that moves through states: Idle → Adapter Selection (pick which adapter to use) → Prompt Processing (feed the input through the model) → Generation (produce output tokens one by one). It also includes the Adaptive Adapter Selection module (a router that automatically picks the right adapter) and the Adapter Memory Manager (handles loading/evicting adapters using a cache and memory pool). The Computing Backend does the actual math — it runs the base model weights W in one big batch across all requests, then handles the adapter-specific LoRA computations in grouped sub-batches.</a:t>
            </a:r>
            <a:endParaRPr/>
          </a:p>
        </p:txBody>
      </p:sp>
      <p:sp>
        <p:nvSpPr>
          <p:cNvPr id="73" name="Google Shape;7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latin typeface="Arial"/>
                <a:ea typeface="Arial"/>
                <a:cs typeface="Arial"/>
                <a:sym typeface="Arial"/>
              </a:rPr>
              <a:t>Instead of making users pick an adapter manually, EdgeLoRA trains a lightweight "router" — a multi-label classifier (just a single Linear layer added on top of the base model). It was trained using BCEWithLogitsLoss (Binary Cross-Entropy with Logits Loss, a standard loss function for multi-label classification) on profiling data from 5 benchmarks (IFEval for instruction-following, BBH for hard reasoning, MATH for competition math, GPQA for PhD-level science, MMLU-PRO for broad knowledge). For each incoming prompt, the router outputs a confidence score sⱼ (between 0 and 1) for each adapter j. It picks the top-k highest-scoring adapters (k is typically 3), then checks whether any of those are already loaded in the memory cache C. If so, it uses the cached one to avoid a slow disk load. The computational overhead is roughly equal to one pass of decoding the prompt, since the router reuses the base model's weights.</a:t>
            </a:r>
            <a:endParaRPr/>
          </a:p>
        </p:txBody>
      </p:sp>
      <p:sp>
        <p:nvSpPr>
          <p:cNvPr id="106" name="Google Shape;10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memory manager combines two strategies. First, an LRU (Least Recently Used) cache C — it keeps frequently accessed adapters in memory and when it's full, evicts whichever adapter hasn't been used in the longest time. This works well because real-world adapter usage follows a power-law distribution (about 10% of adapters handle ~80% of requests). Second, a pre-allocated memory pool P — fixed-size memory blocks reserved at startup. When an adapter needs to be loaded, it goes into a free block rather than asking the OS for new memory at runtime, which avoids fragmentation and allocation latency.</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US"/>
              <a:t>Batch LoRA Inference is the key compute optimization. The base model weights W are shared across ALL requests regardless of which adapter they use, so you compute W × [x₀, x₁, …, xₙ] (all inputs batched together) in one pass. Then for the adapter-specific part, requests are grouped ("gathered") by which adapter they need — all requests using adapter 0 get their LoRA computation Bₖ·Aₖ·xₖ done together, then results are "scattered" back to their original positions. The final output for each request i is: yᵢ = Wxᵢ + BᵢAᵢxᵢ. This maximizes GPU utilization even when every request uses a different adapter.</a:t>
            </a:r>
            <a:endParaRPr/>
          </a:p>
          <a:p>
            <a:pPr indent="0" lvl="0" marL="0" rtl="0" algn="l">
              <a:spcBef>
                <a:spcPts val="1200"/>
              </a:spcBef>
              <a:spcAft>
                <a:spcPts val="0"/>
              </a:spcAft>
              <a:buNone/>
            </a:pPr>
            <a:r>
              <a:t/>
            </a:r>
            <a:endParaRPr/>
          </a:p>
        </p:txBody>
      </p:sp>
      <p:sp>
        <p:nvSpPr>
          <p:cNvPr id="144" name="Google Shape;14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Tested on three edge devices: Jetson AGX Orin (high-end, 64GB, has a GPU), Jetson Orin Nano (mid-tier, has a GPU), and Raspberry Pi 5 (CPU only, 8GB). The headline numbers: 2–4× higher throughput (requests processed per second) than llama.cpp, can serve 1000+ adapters simultaneously (vs. llama.cpp's ~50 before OOM), maintains ~99% SLO attainment (SLO = Service Level Objective, meaning 99% of requests get their first output token within 6 seconds), and first-token latency under 0.6 seconds. The bar chart shows that at 100 and 1000 adapters, llama.cpp scores 0 (it crashes from OOM) while EdgeLoRA holds steady around 0.44 req/s. Power consumption is also lower: 28W vs 32W on the Jetson AGX.</a:t>
            </a:r>
            <a:endParaRPr/>
          </a:p>
        </p:txBody>
      </p:sp>
      <p:sp>
        <p:nvSpPr>
          <p:cNvPr id="181" name="Google Shape;18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Summarizes the three innovations: automatic adapter routing eliminates manual selection, the LRU cache + memory pool enables massive adapter scalability, and batched inference across different adapters unlocks 2–4× throughput gains. Limitations noted: the evaluation only used synthetic (simulated) workloads not real user traffic, the router can never exceed the performance of the best individual adapter for any given prompt (it's picking among existing adapters, not creating a better one), and the system is built specifically around LoRA though the principles could apply to other parameter-efficient fine-tuning methods.</a:t>
            </a:r>
            <a:endParaRPr/>
          </a:p>
        </p:txBody>
      </p:sp>
      <p:sp>
        <p:nvSpPr>
          <p:cNvPr id="206" name="Google Shape;20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7.png"/><Relationship Id="rId5"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2D"/>
        </a:solidFill>
      </p:bgPr>
    </p:bg>
    <p:spTree>
      <p:nvGrpSpPr>
        <p:cNvPr id="15" name="Shape 15"/>
        <p:cNvGrpSpPr/>
        <p:nvPr/>
      </p:nvGrpSpPr>
      <p:grpSpPr>
        <a:xfrm>
          <a:off x="0" y="0"/>
          <a:ext cx="0" cy="0"/>
          <a:chOff x="0" y="0"/>
          <a:chExt cx="0" cy="0"/>
        </a:xfrm>
      </p:grpSpPr>
      <p:sp>
        <p:nvSpPr>
          <p:cNvPr id="16" name="Google Shape;16;p3"/>
          <p:cNvSpPr/>
          <p:nvPr/>
        </p:nvSpPr>
        <p:spPr>
          <a:xfrm>
            <a:off x="0" y="0"/>
            <a:ext cx="9144000" cy="54864"/>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7498080" y="365760"/>
            <a:ext cx="2011680" cy="2011680"/>
          </a:xfrm>
          <a:prstGeom prst="ellipse">
            <a:avLst/>
          </a:prstGeom>
          <a:solidFill>
            <a:srgbClr val="0D9488">
              <a:alpha val="1215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8046720" y="822960"/>
            <a:ext cx="1371600" cy="1371600"/>
          </a:xfrm>
          <a:prstGeom prst="ellipse">
            <a:avLst/>
          </a:prstGeom>
          <a:solidFill>
            <a:srgbClr val="14B8A6">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 name="Google Shape;19;p3"/>
          <p:cNvPicPr preferRelativeResize="0"/>
          <p:nvPr/>
        </p:nvPicPr>
        <p:blipFill rotWithShape="1">
          <a:blip r:embed="rId3">
            <a:alphaModFix/>
          </a:blip>
          <a:srcRect b="0" l="0" r="0" t="0"/>
          <a:stretch/>
        </p:blipFill>
        <p:spPr>
          <a:xfrm>
            <a:off x="640080" y="640080"/>
            <a:ext cx="548640" cy="548640"/>
          </a:xfrm>
          <a:prstGeom prst="rect">
            <a:avLst/>
          </a:prstGeom>
          <a:noFill/>
          <a:ln>
            <a:noFill/>
          </a:ln>
        </p:spPr>
      </p:pic>
      <p:sp>
        <p:nvSpPr>
          <p:cNvPr id="20" name="Google Shape;20;p3"/>
          <p:cNvSpPr/>
          <p:nvPr/>
        </p:nvSpPr>
        <p:spPr>
          <a:xfrm>
            <a:off x="640080" y="1463040"/>
            <a:ext cx="7315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Trebuchet MS"/>
              <a:buNone/>
            </a:pPr>
            <a:r>
              <a:rPr b="1" i="0" lang="en-US" sz="4800" u="none" cap="none" strike="noStrike">
                <a:solidFill>
                  <a:srgbClr val="FFFFFF"/>
                </a:solidFill>
                <a:latin typeface="Trebuchet MS"/>
                <a:ea typeface="Trebuchet MS"/>
                <a:cs typeface="Trebuchet MS"/>
                <a:sym typeface="Trebuchet MS"/>
              </a:rPr>
              <a:t>EdgeLoRA</a:t>
            </a:r>
            <a:endParaRPr b="0" i="0" sz="4800" u="none" cap="none" strike="noStrike">
              <a:solidFill>
                <a:schemeClr val="dk1"/>
              </a:solidFill>
              <a:latin typeface="Calibri"/>
              <a:ea typeface="Calibri"/>
              <a:cs typeface="Calibri"/>
              <a:sym typeface="Calibri"/>
            </a:endParaRPr>
          </a:p>
        </p:txBody>
      </p:sp>
      <p:sp>
        <p:nvSpPr>
          <p:cNvPr id="21" name="Google Shape;21;p3"/>
          <p:cNvSpPr/>
          <p:nvPr/>
        </p:nvSpPr>
        <p:spPr>
          <a:xfrm>
            <a:off x="640080" y="2331720"/>
            <a:ext cx="6858000" cy="8229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94A3B8"/>
              </a:buClr>
              <a:buSzPts val="2000"/>
              <a:buFont typeface="Calibri"/>
              <a:buNone/>
            </a:pPr>
            <a:r>
              <a:rPr b="0" i="0" lang="en-US" sz="2000" u="none" cap="none" strike="noStrike">
                <a:solidFill>
                  <a:srgbClr val="94A3B8"/>
                </a:solidFill>
                <a:latin typeface="Calibri"/>
                <a:ea typeface="Calibri"/>
                <a:cs typeface="Calibri"/>
                <a:sym typeface="Calibri"/>
              </a:rPr>
              <a:t>An Efficient Multi-Tenant LLM Serving</a:t>
            </a:r>
            <a:endParaRPr b="0" i="0" sz="20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94A3B8"/>
              </a:buClr>
              <a:buSzPts val="2000"/>
              <a:buFont typeface="Calibri"/>
              <a:buNone/>
            </a:pPr>
            <a:r>
              <a:rPr b="0" i="0" lang="en-US" sz="2000" u="none" cap="none" strike="noStrike">
                <a:solidFill>
                  <a:srgbClr val="94A3B8"/>
                </a:solidFill>
                <a:latin typeface="Calibri"/>
                <a:ea typeface="Calibri"/>
                <a:cs typeface="Calibri"/>
                <a:sym typeface="Calibri"/>
              </a:rPr>
              <a:t>System on Edge Devices</a:t>
            </a:r>
            <a:endParaRPr b="0" i="0" sz="2000" u="none" cap="none" strike="noStrike">
              <a:solidFill>
                <a:schemeClr val="dk1"/>
              </a:solidFill>
              <a:latin typeface="Calibri"/>
              <a:ea typeface="Calibri"/>
              <a:cs typeface="Calibri"/>
              <a:sym typeface="Calibri"/>
            </a:endParaRPr>
          </a:p>
        </p:txBody>
      </p:sp>
      <p:sp>
        <p:nvSpPr>
          <p:cNvPr id="22" name="Google Shape;22;p3"/>
          <p:cNvSpPr/>
          <p:nvPr/>
        </p:nvSpPr>
        <p:spPr>
          <a:xfrm>
            <a:off x="640080" y="3383280"/>
            <a:ext cx="2286000" cy="27432"/>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640080" y="361188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400"/>
              <a:buFont typeface="Calibri"/>
              <a:buNone/>
            </a:pPr>
            <a:r>
              <a:rPr b="0" i="0" lang="en-US" sz="1400" u="none" cap="none" strike="noStrike">
                <a:solidFill>
                  <a:srgbClr val="94A3B8"/>
                </a:solidFill>
                <a:latin typeface="Calibri"/>
                <a:ea typeface="Calibri"/>
                <a:cs typeface="Calibri"/>
                <a:sym typeface="Calibri"/>
              </a:rPr>
              <a:t>Shen, He, Wang, Zhang, Sun, Ye, Li</a:t>
            </a:r>
            <a:endParaRPr b="0" i="0" sz="1400" u="none" cap="none" strike="noStrike">
              <a:solidFill>
                <a:schemeClr val="dk1"/>
              </a:solidFill>
              <a:latin typeface="Calibri"/>
              <a:ea typeface="Calibri"/>
              <a:cs typeface="Calibri"/>
              <a:sym typeface="Calibri"/>
            </a:endParaRPr>
          </a:p>
        </p:txBody>
      </p:sp>
      <p:sp>
        <p:nvSpPr>
          <p:cNvPr id="24" name="Google Shape;24;p3"/>
          <p:cNvSpPr/>
          <p:nvPr/>
        </p:nvSpPr>
        <p:spPr>
          <a:xfrm>
            <a:off x="640080" y="393192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University of Maryland, College Park  ·  MobiSys '25</a:t>
            </a:r>
            <a:endParaRPr b="0" i="0" sz="1200" u="none" cap="none" strike="noStrike">
              <a:solidFill>
                <a:schemeClr val="dk1"/>
              </a:solidFill>
              <a:latin typeface="Calibri"/>
              <a:ea typeface="Calibri"/>
              <a:cs typeface="Calibri"/>
              <a:sym typeface="Calibri"/>
            </a:endParaRPr>
          </a:p>
        </p:txBody>
      </p:sp>
      <p:sp>
        <p:nvSpPr>
          <p:cNvPr id="25" name="Google Shape;25;p3"/>
          <p:cNvSpPr/>
          <p:nvPr/>
        </p:nvSpPr>
        <p:spPr>
          <a:xfrm>
            <a:off x="0" y="4869180"/>
            <a:ext cx="9144000" cy="274320"/>
          </a:xfrm>
          <a:prstGeom prst="rect">
            <a:avLst/>
          </a:prstGeom>
          <a:solidFill>
            <a:srgbClr val="1623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640080" y="4869180"/>
            <a:ext cx="7863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arXiv:2507.01438  ·  July 2025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1" name="Shape 31"/>
        <p:cNvGrpSpPr/>
        <p:nvPr/>
      </p:nvGrpSpPr>
      <p:grpSpPr>
        <a:xfrm>
          <a:off x="0" y="0"/>
          <a:ext cx="0" cy="0"/>
          <a:chOff x="0" y="0"/>
          <a:chExt cx="0" cy="0"/>
        </a:xfrm>
      </p:grpSpPr>
      <p:sp>
        <p:nvSpPr>
          <p:cNvPr id="32" name="Google Shape;32;p4"/>
          <p:cNvSpPr/>
          <p:nvPr/>
        </p:nvSpPr>
        <p:spPr>
          <a:xfrm>
            <a:off x="0" y="0"/>
            <a:ext cx="54864" cy="51435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640080" y="32004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800"/>
              <a:buFont typeface="Trebuchet MS"/>
              <a:buNone/>
            </a:pPr>
            <a:r>
              <a:rPr b="1" i="0" lang="en-US" sz="2800" u="none" cap="none" strike="noStrike">
                <a:solidFill>
                  <a:srgbClr val="1E293B"/>
                </a:solidFill>
                <a:latin typeface="Trebuchet MS"/>
                <a:ea typeface="Trebuchet MS"/>
                <a:cs typeface="Trebuchet MS"/>
                <a:sym typeface="Trebuchet MS"/>
              </a:rPr>
              <a:t>The Problem: Multi-Tenant LLM Serving on Edge</a:t>
            </a:r>
            <a:endParaRPr b="0" i="0" sz="2800" u="none" cap="none" strike="noStrike">
              <a:solidFill>
                <a:schemeClr val="dk1"/>
              </a:solidFill>
              <a:latin typeface="Calibri"/>
              <a:ea typeface="Calibri"/>
              <a:cs typeface="Calibri"/>
              <a:sym typeface="Calibri"/>
            </a:endParaRPr>
          </a:p>
        </p:txBody>
      </p:sp>
      <p:sp>
        <p:nvSpPr>
          <p:cNvPr id="34" name="Google Shape;34;p4"/>
          <p:cNvSpPr/>
          <p:nvPr/>
        </p:nvSpPr>
        <p:spPr>
          <a:xfrm>
            <a:off x="640080" y="1005840"/>
            <a:ext cx="7863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400"/>
              <a:buFont typeface="Calibri"/>
              <a:buNone/>
            </a:pPr>
            <a:r>
              <a:rPr b="0" i="0" lang="en-US" sz="1400" u="none" cap="none" strike="noStrike">
                <a:solidFill>
                  <a:srgbClr val="475569"/>
                </a:solidFill>
                <a:latin typeface="Calibri"/>
                <a:ea typeface="Calibri"/>
                <a:cs typeface="Calibri"/>
                <a:sym typeface="Calibri"/>
              </a:rPr>
              <a:t>Fine-tuned LLMs via LoRA adapters enable personalized, task-specific models — but serving many concurrently on resource-constrained edge devices is hard.</a:t>
            </a:r>
            <a:endParaRPr b="0" i="0" sz="1400" u="none" cap="none" strike="noStrike">
              <a:solidFill>
                <a:schemeClr val="dk1"/>
              </a:solidFill>
              <a:latin typeface="Calibri"/>
              <a:ea typeface="Calibri"/>
              <a:cs typeface="Calibri"/>
              <a:sym typeface="Calibri"/>
            </a:endParaRPr>
          </a:p>
        </p:txBody>
      </p:sp>
      <p:sp>
        <p:nvSpPr>
          <p:cNvPr id="35" name="Google Shape;35;p4"/>
          <p:cNvSpPr/>
          <p:nvPr/>
        </p:nvSpPr>
        <p:spPr>
          <a:xfrm>
            <a:off x="640080" y="1920240"/>
            <a:ext cx="2514600" cy="2286000"/>
          </a:xfrm>
          <a:prstGeom prst="rect">
            <a:avLst/>
          </a:prstGeom>
          <a:solidFill>
            <a:srgbClr val="FFFFFF"/>
          </a:solidFill>
          <a:ln>
            <a:noFill/>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640080" y="1920240"/>
            <a:ext cx="2514600" cy="4572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4"/>
          <p:cNvPicPr preferRelativeResize="0"/>
          <p:nvPr/>
        </p:nvPicPr>
        <p:blipFill rotWithShape="1">
          <a:blip r:embed="rId3">
            <a:alphaModFix/>
          </a:blip>
          <a:srcRect b="0" l="0" r="0" t="0"/>
          <a:stretch/>
        </p:blipFill>
        <p:spPr>
          <a:xfrm>
            <a:off x="914400" y="2240280"/>
            <a:ext cx="365760" cy="365760"/>
          </a:xfrm>
          <a:prstGeom prst="rect">
            <a:avLst/>
          </a:prstGeom>
          <a:noFill/>
          <a:ln>
            <a:noFill/>
          </a:ln>
        </p:spPr>
      </p:pic>
      <p:sp>
        <p:nvSpPr>
          <p:cNvPr id="38" name="Google Shape;38;p4"/>
          <p:cNvSpPr/>
          <p:nvPr/>
        </p:nvSpPr>
        <p:spPr>
          <a:xfrm>
            <a:off x="914400" y="2743200"/>
            <a:ext cx="1965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Trebuchet MS"/>
              <a:buNone/>
            </a:pPr>
            <a:r>
              <a:rPr b="1" i="0" lang="en-US" sz="1500" u="none" cap="none" strike="noStrike">
                <a:solidFill>
                  <a:srgbClr val="1E293B"/>
                </a:solidFill>
                <a:latin typeface="Trebuchet MS"/>
                <a:ea typeface="Trebuchet MS"/>
                <a:cs typeface="Trebuchet MS"/>
                <a:sym typeface="Trebuchet MS"/>
              </a:rPr>
              <a:t>Adapter Selection</a:t>
            </a:r>
            <a:endParaRPr b="0" i="0" sz="1500" u="none" cap="none" strike="noStrike">
              <a:solidFill>
                <a:schemeClr val="dk1"/>
              </a:solidFill>
              <a:latin typeface="Calibri"/>
              <a:ea typeface="Calibri"/>
              <a:cs typeface="Calibri"/>
              <a:sym typeface="Calibri"/>
            </a:endParaRPr>
          </a:p>
        </p:txBody>
      </p:sp>
      <p:sp>
        <p:nvSpPr>
          <p:cNvPr id="39" name="Google Shape;39;p4"/>
          <p:cNvSpPr/>
          <p:nvPr/>
        </p:nvSpPr>
        <p:spPr>
          <a:xfrm>
            <a:off x="914400" y="3108960"/>
            <a:ext cx="19659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Users must manually pick the right adapter from a large pool — cumbersome and error-prone</a:t>
            </a:r>
            <a:endParaRPr b="0" i="0" sz="1200" u="none" cap="none" strike="noStrike">
              <a:solidFill>
                <a:schemeClr val="dk1"/>
              </a:solidFill>
              <a:latin typeface="Calibri"/>
              <a:ea typeface="Calibri"/>
              <a:cs typeface="Calibri"/>
              <a:sym typeface="Calibri"/>
            </a:endParaRPr>
          </a:p>
        </p:txBody>
      </p:sp>
      <p:sp>
        <p:nvSpPr>
          <p:cNvPr id="40" name="Google Shape;40;p4"/>
          <p:cNvSpPr/>
          <p:nvPr/>
        </p:nvSpPr>
        <p:spPr>
          <a:xfrm>
            <a:off x="3429000" y="1920240"/>
            <a:ext cx="2514600" cy="2286000"/>
          </a:xfrm>
          <a:prstGeom prst="rect">
            <a:avLst/>
          </a:prstGeom>
          <a:solidFill>
            <a:srgbClr val="FFFFFF"/>
          </a:solidFill>
          <a:ln>
            <a:noFill/>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3429000" y="1920240"/>
            <a:ext cx="2514600" cy="4572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2" name="Google Shape;42;p4"/>
          <p:cNvPicPr preferRelativeResize="0"/>
          <p:nvPr/>
        </p:nvPicPr>
        <p:blipFill rotWithShape="1">
          <a:blip r:embed="rId4">
            <a:alphaModFix/>
          </a:blip>
          <a:srcRect b="0" l="0" r="0" t="0"/>
          <a:stretch/>
        </p:blipFill>
        <p:spPr>
          <a:xfrm>
            <a:off x="3703320" y="2240280"/>
            <a:ext cx="365760" cy="365760"/>
          </a:xfrm>
          <a:prstGeom prst="rect">
            <a:avLst/>
          </a:prstGeom>
          <a:noFill/>
          <a:ln>
            <a:noFill/>
          </a:ln>
        </p:spPr>
      </p:pic>
      <p:sp>
        <p:nvSpPr>
          <p:cNvPr id="43" name="Google Shape;43;p4"/>
          <p:cNvSpPr/>
          <p:nvPr/>
        </p:nvSpPr>
        <p:spPr>
          <a:xfrm>
            <a:off x="3703320" y="2743200"/>
            <a:ext cx="1965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Trebuchet MS"/>
              <a:buNone/>
            </a:pPr>
            <a:r>
              <a:rPr b="1" i="0" lang="en-US" sz="1500" u="none" cap="none" strike="noStrike">
                <a:solidFill>
                  <a:srgbClr val="1E293B"/>
                </a:solidFill>
                <a:latin typeface="Trebuchet MS"/>
                <a:ea typeface="Trebuchet MS"/>
                <a:cs typeface="Trebuchet MS"/>
                <a:sym typeface="Trebuchet MS"/>
              </a:rPr>
              <a:t>Memory Overhead</a:t>
            </a:r>
            <a:endParaRPr b="0" i="0" sz="1500" u="none" cap="none" strike="noStrike">
              <a:solidFill>
                <a:schemeClr val="dk1"/>
              </a:solidFill>
              <a:latin typeface="Calibri"/>
              <a:ea typeface="Calibri"/>
              <a:cs typeface="Calibri"/>
              <a:sym typeface="Calibri"/>
            </a:endParaRPr>
          </a:p>
        </p:txBody>
      </p:sp>
      <p:sp>
        <p:nvSpPr>
          <p:cNvPr id="44" name="Google Shape;44;p4"/>
          <p:cNvSpPr/>
          <p:nvPr/>
        </p:nvSpPr>
        <p:spPr>
          <a:xfrm>
            <a:off x="3703320" y="3108960"/>
            <a:ext cx="19659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Frequent adapter swapping between memory and disk causes latency spikes and OOM failures</a:t>
            </a:r>
            <a:endParaRPr b="0" i="0" sz="1200" u="none" cap="none" strike="noStrike">
              <a:solidFill>
                <a:schemeClr val="dk1"/>
              </a:solidFill>
              <a:latin typeface="Calibri"/>
              <a:ea typeface="Calibri"/>
              <a:cs typeface="Calibri"/>
              <a:sym typeface="Calibri"/>
            </a:endParaRPr>
          </a:p>
        </p:txBody>
      </p:sp>
      <p:sp>
        <p:nvSpPr>
          <p:cNvPr id="45" name="Google Shape;45;p4"/>
          <p:cNvSpPr/>
          <p:nvPr/>
        </p:nvSpPr>
        <p:spPr>
          <a:xfrm>
            <a:off x="6217920" y="1920240"/>
            <a:ext cx="2514600" cy="2286000"/>
          </a:xfrm>
          <a:prstGeom prst="rect">
            <a:avLst/>
          </a:prstGeom>
          <a:solidFill>
            <a:srgbClr val="FFFFFF"/>
          </a:solidFill>
          <a:ln>
            <a:noFill/>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6217920" y="1920240"/>
            <a:ext cx="2514600" cy="4572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7" name="Google Shape;47;p4"/>
          <p:cNvPicPr preferRelativeResize="0"/>
          <p:nvPr/>
        </p:nvPicPr>
        <p:blipFill rotWithShape="1">
          <a:blip r:embed="rId5">
            <a:alphaModFix/>
          </a:blip>
          <a:srcRect b="0" l="0" r="0" t="0"/>
          <a:stretch/>
        </p:blipFill>
        <p:spPr>
          <a:xfrm>
            <a:off x="6492240" y="2240280"/>
            <a:ext cx="365760" cy="365760"/>
          </a:xfrm>
          <a:prstGeom prst="rect">
            <a:avLst/>
          </a:prstGeom>
          <a:noFill/>
          <a:ln>
            <a:noFill/>
          </a:ln>
        </p:spPr>
      </p:pic>
      <p:sp>
        <p:nvSpPr>
          <p:cNvPr id="48" name="Google Shape;48;p4"/>
          <p:cNvSpPr/>
          <p:nvPr/>
        </p:nvSpPr>
        <p:spPr>
          <a:xfrm>
            <a:off x="6492240" y="2743200"/>
            <a:ext cx="1965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Trebuchet MS"/>
              <a:buNone/>
            </a:pPr>
            <a:r>
              <a:rPr b="1" i="0" lang="en-US" sz="1500" u="none" cap="none" strike="noStrike">
                <a:solidFill>
                  <a:srgbClr val="1E293B"/>
                </a:solidFill>
                <a:latin typeface="Trebuchet MS"/>
                <a:ea typeface="Trebuchet MS"/>
                <a:cs typeface="Trebuchet MS"/>
                <a:sym typeface="Trebuchet MS"/>
              </a:rPr>
              <a:t>Compute Inefficiency</a:t>
            </a:r>
            <a:endParaRPr b="0" i="0" sz="1500" u="none" cap="none" strike="noStrike">
              <a:solidFill>
                <a:schemeClr val="dk1"/>
              </a:solidFill>
              <a:latin typeface="Calibri"/>
              <a:ea typeface="Calibri"/>
              <a:cs typeface="Calibri"/>
              <a:sym typeface="Calibri"/>
            </a:endParaRPr>
          </a:p>
        </p:txBody>
      </p:sp>
      <p:sp>
        <p:nvSpPr>
          <p:cNvPr id="49" name="Google Shape;49;p4"/>
          <p:cNvSpPr/>
          <p:nvPr/>
        </p:nvSpPr>
        <p:spPr>
          <a:xfrm>
            <a:off x="6492240" y="3108960"/>
            <a:ext cx="19659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Sequential request processing underutilizes GPU parallelism, degrading throughput</a:t>
            </a:r>
            <a:endParaRPr b="0" i="0" sz="1200" u="none" cap="none" strike="noStrike">
              <a:solidFill>
                <a:schemeClr val="dk1"/>
              </a:solidFill>
              <a:latin typeface="Calibri"/>
              <a:ea typeface="Calibri"/>
              <a:cs typeface="Calibri"/>
              <a:sym typeface="Calibri"/>
            </a:endParaRPr>
          </a:p>
        </p:txBody>
      </p:sp>
      <p:sp>
        <p:nvSpPr>
          <p:cNvPr id="50" name="Google Shape;50;p4"/>
          <p:cNvSpPr/>
          <p:nvPr/>
        </p:nvSpPr>
        <p:spPr>
          <a:xfrm>
            <a:off x="640080" y="4434840"/>
            <a:ext cx="7863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200"/>
              <a:buFont typeface="Calibri"/>
              <a:buNone/>
            </a:pPr>
            <a:r>
              <a:rPr b="0" i="1" lang="en-US" sz="1200" u="none" cap="none" strike="noStrike">
                <a:solidFill>
                  <a:srgbClr val="EF4444"/>
                </a:solidFill>
                <a:latin typeface="Calibri"/>
                <a:ea typeface="Calibri"/>
                <a:cs typeface="Calibri"/>
                <a:sym typeface="Calibri"/>
              </a:rPr>
              <a:t>Status quo: llama.cpp can only batch requests with the same adapter, OOMs beyond ~50 adapters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5" name="Shape 55"/>
        <p:cNvGrpSpPr/>
        <p:nvPr/>
      </p:nvGrpSpPr>
      <p:grpSpPr>
        <a:xfrm>
          <a:off x="0" y="0"/>
          <a:ext cx="0" cy="0"/>
          <a:chOff x="0" y="0"/>
          <a:chExt cx="0" cy="0"/>
        </a:xfrm>
      </p:grpSpPr>
      <p:sp>
        <p:nvSpPr>
          <p:cNvPr id="56" name="Google Shape;56;p5"/>
          <p:cNvSpPr/>
          <p:nvPr/>
        </p:nvSpPr>
        <p:spPr>
          <a:xfrm>
            <a:off x="0" y="0"/>
            <a:ext cx="54864" cy="51435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640080" y="32004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800"/>
              <a:buFont typeface="Trebuchet MS"/>
              <a:buNone/>
            </a:pPr>
            <a:r>
              <a:rPr b="1" i="0" lang="en-US" sz="2800" u="none" cap="none" strike="noStrike">
                <a:solidFill>
                  <a:srgbClr val="1E293B"/>
                </a:solidFill>
                <a:latin typeface="Trebuchet MS"/>
                <a:ea typeface="Trebuchet MS"/>
                <a:cs typeface="Trebuchet MS"/>
                <a:sym typeface="Trebuchet MS"/>
              </a:rPr>
              <a:t>Background: Low-Rank Adaptation (LoRA)</a:t>
            </a:r>
            <a:endParaRPr b="0" i="0" sz="2800" u="none" cap="none" strike="noStrike">
              <a:solidFill>
                <a:schemeClr val="dk1"/>
              </a:solidFill>
              <a:latin typeface="Calibri"/>
              <a:ea typeface="Calibri"/>
              <a:cs typeface="Calibri"/>
              <a:sym typeface="Calibri"/>
            </a:endParaRPr>
          </a:p>
        </p:txBody>
      </p:sp>
      <p:sp>
        <p:nvSpPr>
          <p:cNvPr id="58" name="Google Shape;58;p5"/>
          <p:cNvSpPr/>
          <p:nvPr/>
        </p:nvSpPr>
        <p:spPr>
          <a:xfrm>
            <a:off x="640080" y="1097280"/>
            <a:ext cx="4114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LoRA freezes the pre-trained weight matrix W and trains low-rank decomposition matrices A and B, where rank r ≪ d.</a:t>
            </a:r>
            <a:endParaRPr b="0" i="0" sz="1300" u="none" cap="none" strike="noStrike">
              <a:solidFill>
                <a:schemeClr val="dk1"/>
              </a:solidFill>
              <a:latin typeface="Calibri"/>
              <a:ea typeface="Calibri"/>
              <a:cs typeface="Calibri"/>
              <a:sym typeface="Calibri"/>
            </a:endParaRPr>
          </a:p>
        </p:txBody>
      </p:sp>
      <p:pic>
        <p:nvPicPr>
          <p:cNvPr descr="preencoded.png" id="59" name="Google Shape;59;p5"/>
          <p:cNvPicPr preferRelativeResize="0"/>
          <p:nvPr/>
        </p:nvPicPr>
        <p:blipFill rotWithShape="1">
          <a:blip r:embed="rId3">
            <a:alphaModFix/>
          </a:blip>
          <a:srcRect b="0" l="0" r="0" t="0"/>
          <a:stretch/>
        </p:blipFill>
        <p:spPr>
          <a:xfrm>
            <a:off x="640080" y="1920240"/>
            <a:ext cx="274320" cy="274320"/>
          </a:xfrm>
          <a:prstGeom prst="rect">
            <a:avLst/>
          </a:prstGeom>
          <a:noFill/>
          <a:ln>
            <a:noFill/>
          </a:ln>
        </p:spPr>
      </p:pic>
      <p:sp>
        <p:nvSpPr>
          <p:cNvPr id="60" name="Google Shape;60;p5"/>
          <p:cNvSpPr/>
          <p:nvPr/>
        </p:nvSpPr>
        <p:spPr>
          <a:xfrm>
            <a:off x="1051560" y="192024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Reduces trainable parameters by up to 10,000×</a:t>
            </a:r>
            <a:endParaRPr b="0" i="0" sz="1300" u="none" cap="none" strike="noStrike">
              <a:solidFill>
                <a:schemeClr val="dk1"/>
              </a:solidFill>
              <a:latin typeface="Calibri"/>
              <a:ea typeface="Calibri"/>
              <a:cs typeface="Calibri"/>
              <a:sym typeface="Calibri"/>
            </a:endParaRPr>
          </a:p>
        </p:txBody>
      </p:sp>
      <p:pic>
        <p:nvPicPr>
          <p:cNvPr descr="preencoded.png" id="61" name="Google Shape;61;p5"/>
          <p:cNvPicPr preferRelativeResize="0"/>
          <p:nvPr/>
        </p:nvPicPr>
        <p:blipFill rotWithShape="1">
          <a:blip r:embed="rId3">
            <a:alphaModFix/>
          </a:blip>
          <a:srcRect b="0" l="0" r="0" t="0"/>
          <a:stretch/>
        </p:blipFill>
        <p:spPr>
          <a:xfrm>
            <a:off x="640080" y="2423160"/>
            <a:ext cx="274320" cy="274320"/>
          </a:xfrm>
          <a:prstGeom prst="rect">
            <a:avLst/>
          </a:prstGeom>
          <a:noFill/>
          <a:ln>
            <a:noFill/>
          </a:ln>
        </p:spPr>
      </p:pic>
      <p:sp>
        <p:nvSpPr>
          <p:cNvPr id="62" name="Google Shape;62;p5"/>
          <p:cNvSpPr/>
          <p:nvPr/>
        </p:nvSpPr>
        <p:spPr>
          <a:xfrm>
            <a:off x="1051560" y="242316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At inference: merge BA into W for zero overhead</a:t>
            </a:r>
            <a:endParaRPr b="0" i="0" sz="1300" u="none" cap="none" strike="noStrike">
              <a:solidFill>
                <a:schemeClr val="dk1"/>
              </a:solidFill>
              <a:latin typeface="Calibri"/>
              <a:ea typeface="Calibri"/>
              <a:cs typeface="Calibri"/>
              <a:sym typeface="Calibri"/>
            </a:endParaRPr>
          </a:p>
        </p:txBody>
      </p:sp>
      <p:pic>
        <p:nvPicPr>
          <p:cNvPr descr="preencoded.png" id="63" name="Google Shape;63;p5"/>
          <p:cNvPicPr preferRelativeResize="0"/>
          <p:nvPr/>
        </p:nvPicPr>
        <p:blipFill rotWithShape="1">
          <a:blip r:embed="rId4">
            <a:alphaModFix/>
          </a:blip>
          <a:srcRect b="0" l="0" r="0" t="0"/>
          <a:stretch/>
        </p:blipFill>
        <p:spPr>
          <a:xfrm>
            <a:off x="640080" y="2926080"/>
            <a:ext cx="274320" cy="274320"/>
          </a:xfrm>
          <a:prstGeom prst="rect">
            <a:avLst/>
          </a:prstGeom>
          <a:noFill/>
          <a:ln>
            <a:noFill/>
          </a:ln>
        </p:spPr>
      </p:pic>
      <p:sp>
        <p:nvSpPr>
          <p:cNvPr id="64" name="Google Shape;64;p5"/>
          <p:cNvSpPr/>
          <p:nvPr/>
        </p:nvSpPr>
        <p:spPr>
          <a:xfrm>
            <a:off x="1051560" y="292608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Multi-adapter serving introduces swap complexity</a:t>
            </a:r>
            <a:endParaRPr b="0" i="0" sz="1300" u="none" cap="none" strike="noStrike">
              <a:solidFill>
                <a:schemeClr val="dk1"/>
              </a:solidFill>
              <a:latin typeface="Calibri"/>
              <a:ea typeface="Calibri"/>
              <a:cs typeface="Calibri"/>
              <a:sym typeface="Calibri"/>
            </a:endParaRPr>
          </a:p>
        </p:txBody>
      </p:sp>
      <p:sp>
        <p:nvSpPr>
          <p:cNvPr id="65" name="Google Shape;65;p5"/>
          <p:cNvSpPr/>
          <p:nvPr/>
        </p:nvSpPr>
        <p:spPr>
          <a:xfrm>
            <a:off x="5178780" y="872555"/>
            <a:ext cx="3474600" cy="2103000"/>
          </a:xfrm>
          <a:prstGeom prst="rect">
            <a:avLst/>
          </a:prstGeom>
          <a:solidFill>
            <a:srgbClr val="0F1B2D"/>
          </a:solidFill>
          <a:ln>
            <a:noFill/>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p:nvPr/>
        </p:nvSpPr>
        <p:spPr>
          <a:xfrm>
            <a:off x="5453100" y="1055435"/>
            <a:ext cx="2926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400"/>
              <a:buFont typeface="Trebuchet MS"/>
              <a:buNone/>
            </a:pPr>
            <a:r>
              <a:rPr b="1" i="0" lang="en-US" sz="1400" u="none" cap="none" strike="noStrike">
                <a:solidFill>
                  <a:srgbClr val="14B8A6"/>
                </a:solidFill>
                <a:latin typeface="Trebuchet MS"/>
                <a:ea typeface="Trebuchet MS"/>
                <a:cs typeface="Trebuchet MS"/>
                <a:sym typeface="Trebuchet MS"/>
              </a:rPr>
              <a:t>LoRA Formulation</a:t>
            </a:r>
            <a:endParaRPr b="0" i="0" sz="1400" u="none" cap="none" strike="noStrike">
              <a:solidFill>
                <a:schemeClr val="dk1"/>
              </a:solidFill>
              <a:latin typeface="Calibri"/>
              <a:ea typeface="Calibri"/>
              <a:cs typeface="Calibri"/>
              <a:sym typeface="Calibri"/>
            </a:endParaRPr>
          </a:p>
        </p:txBody>
      </p:sp>
      <p:sp>
        <p:nvSpPr>
          <p:cNvPr id="67" name="Google Shape;67;p5"/>
          <p:cNvSpPr/>
          <p:nvPr/>
        </p:nvSpPr>
        <p:spPr>
          <a:xfrm>
            <a:off x="5453100" y="1466915"/>
            <a:ext cx="29262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300"/>
              <a:buFont typeface="Consolas"/>
              <a:buNone/>
            </a:pPr>
            <a:r>
              <a:rPr b="0" i="0" lang="en-US" sz="1300" u="none" cap="none" strike="noStrike">
                <a:solidFill>
                  <a:srgbClr val="E2E8F0"/>
                </a:solidFill>
                <a:latin typeface="Consolas"/>
                <a:ea typeface="Consolas"/>
                <a:cs typeface="Consolas"/>
                <a:sym typeface="Consolas"/>
              </a:rPr>
              <a:t>Training:  y = Wx + BAx</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4A3B8"/>
              </a:buClr>
              <a:buSzPts val="1200"/>
              <a:buFont typeface="Consolas"/>
              <a:buNone/>
            </a:pPr>
            <a:r>
              <a:rPr b="0" i="0" lang="en-US" sz="1200" u="none" cap="none" strike="noStrike">
                <a:solidFill>
                  <a:srgbClr val="94A3B8"/>
                </a:solidFill>
                <a:latin typeface="Consolas"/>
                <a:ea typeface="Consolas"/>
                <a:cs typeface="Consolas"/>
                <a:sym typeface="Consolas"/>
              </a:rPr>
              <a:t>W ∈ ℝ^(d×d)  frozen</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4A3B8"/>
              </a:buClr>
              <a:buSzPts val="1200"/>
              <a:buFont typeface="Consolas"/>
              <a:buNone/>
            </a:pPr>
            <a:r>
              <a:rPr b="0" i="0" lang="en-US" sz="1200" u="none" cap="none" strike="noStrike">
                <a:solidFill>
                  <a:srgbClr val="94A3B8"/>
                </a:solidFill>
                <a:latin typeface="Consolas"/>
                <a:ea typeface="Consolas"/>
                <a:cs typeface="Consolas"/>
                <a:sym typeface="Consolas"/>
              </a:rPr>
              <a:t>A ∈ ℝ^(r×d),  B ∈ ℝ^(d×r)</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59E0B"/>
              </a:buClr>
              <a:buSzPts val="1300"/>
              <a:buFont typeface="Consolas"/>
              <a:buNone/>
            </a:pPr>
            <a:r>
              <a:rPr b="0" i="0" lang="en-US" sz="1300" u="none" cap="none" strike="noStrike">
                <a:solidFill>
                  <a:srgbClr val="F59E0B"/>
                </a:solidFill>
                <a:latin typeface="Consolas"/>
                <a:ea typeface="Consolas"/>
                <a:cs typeface="Consolas"/>
                <a:sym typeface="Consolas"/>
              </a:rPr>
              <a:t>Inference:  y = (W + BA)x</a:t>
            </a:r>
            <a:endParaRPr b="0" i="0" sz="1300" u="none" cap="none" strike="noStrike">
              <a:solidFill>
                <a:schemeClr val="dk1"/>
              </a:solidFill>
              <a:latin typeface="Calibri"/>
              <a:ea typeface="Calibri"/>
              <a:cs typeface="Calibri"/>
              <a:sym typeface="Calibri"/>
            </a:endParaRPr>
          </a:p>
        </p:txBody>
      </p:sp>
      <p:sp>
        <p:nvSpPr>
          <p:cNvPr id="68" name="Google Shape;68;p5"/>
          <p:cNvSpPr/>
          <p:nvPr/>
        </p:nvSpPr>
        <p:spPr>
          <a:xfrm>
            <a:off x="640080" y="342900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Trebuchet MS"/>
              <a:buNone/>
            </a:pPr>
            <a:r>
              <a:rPr b="1" i="0" lang="en-US" sz="1500" u="none" cap="none" strike="noStrike">
                <a:solidFill>
                  <a:srgbClr val="1E293B"/>
                </a:solidFill>
                <a:latin typeface="Trebuchet MS"/>
                <a:ea typeface="Trebuchet MS"/>
                <a:cs typeface="Trebuchet MS"/>
                <a:sym typeface="Trebuchet MS"/>
              </a:rPr>
              <a:t>Specialization vs. Generalization Tradeoff</a:t>
            </a:r>
            <a:endParaRPr b="0" i="0" sz="1500" u="none" cap="none" strike="noStrike">
              <a:solidFill>
                <a:schemeClr val="dk1"/>
              </a:solidFill>
              <a:latin typeface="Calibri"/>
              <a:ea typeface="Calibri"/>
              <a:cs typeface="Calibri"/>
              <a:sym typeface="Calibri"/>
            </a:endParaRPr>
          </a:p>
        </p:txBody>
      </p:sp>
      <p:graphicFrame>
        <p:nvGraphicFramePr>
          <p:cNvPr id="69" name="Google Shape;69;p5"/>
          <p:cNvGraphicFramePr/>
          <p:nvPr/>
        </p:nvGraphicFramePr>
        <p:xfrm>
          <a:off x="640080" y="3794760"/>
          <a:ext cx="3000000" cy="3000000"/>
        </p:xfrm>
        <a:graphic>
          <a:graphicData uri="http://schemas.openxmlformats.org/drawingml/2006/table">
            <a:tbl>
              <a:tblPr>
                <a:noFill/>
                <a:tableStyleId>{FB1DBE35-4258-4F21-8100-F001E8ED6C11}</a:tableStyleId>
              </a:tblPr>
              <a:tblGrid>
                <a:gridCol w="2560325"/>
                <a:gridCol w="2651750"/>
                <a:gridCol w="2651750"/>
              </a:tblGrid>
              <a:tr h="256025">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Task</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D9488"/>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Llama3.1-8B-Instruct</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D9488"/>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OpenMath2-8B</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D9488"/>
                    </a:solidFill>
                  </a:tcPr>
                </a:tc>
              </a:tr>
              <a:tr h="210300">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GSM8K</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84.5</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0D9488"/>
                        </a:buClr>
                        <a:buSzPts val="1100"/>
                        <a:buFont typeface="Calibri"/>
                        <a:buNone/>
                      </a:pPr>
                      <a:r>
                        <a:rPr b="1" lang="en-US" sz="1100" u="none" cap="none" strike="noStrike">
                          <a:solidFill>
                            <a:srgbClr val="0D9488"/>
                          </a:solidFill>
                          <a:latin typeface="Calibri"/>
                          <a:ea typeface="Calibri"/>
                          <a:cs typeface="Calibri"/>
                          <a:sym typeface="Calibri"/>
                        </a:rPr>
                        <a:t>91.7</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210300">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MATH</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51.9</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0D9488"/>
                        </a:buClr>
                        <a:buSzPts val="1100"/>
                        <a:buFont typeface="Calibri"/>
                        <a:buNone/>
                      </a:pPr>
                      <a:r>
                        <a:rPr b="1" lang="en-US" sz="1100" u="none" cap="none" strike="noStrike">
                          <a:solidFill>
                            <a:srgbClr val="0D9488"/>
                          </a:solidFill>
                          <a:latin typeface="Calibri"/>
                          <a:ea typeface="Calibri"/>
                          <a:cs typeface="Calibri"/>
                          <a:sym typeface="Calibri"/>
                        </a:rPr>
                        <a:t>67.8</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210300">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MMLU</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0D9488"/>
                        </a:buClr>
                        <a:buSzPts val="1100"/>
                        <a:buFont typeface="Calibri"/>
                        <a:buNone/>
                      </a:pPr>
                      <a:r>
                        <a:rPr b="1" lang="en-US" sz="1100" u="none" cap="none" strike="noStrike">
                          <a:solidFill>
                            <a:srgbClr val="0D9488"/>
                          </a:solidFill>
                          <a:latin typeface="Calibri"/>
                          <a:ea typeface="Calibri"/>
                          <a:cs typeface="Calibri"/>
                          <a:sym typeface="Calibri"/>
                        </a:rPr>
                        <a:t>68.2</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36.9</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210300">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MMLU-PRO</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0D9488"/>
                        </a:buClr>
                        <a:buSzPts val="1100"/>
                        <a:buFont typeface="Calibri"/>
                        <a:buNone/>
                      </a:pPr>
                      <a:r>
                        <a:rPr b="1" lang="en-US" sz="1100" u="none" cap="none" strike="noStrike">
                          <a:solidFill>
                            <a:srgbClr val="0D9488"/>
                          </a:solidFill>
                          <a:latin typeface="Calibri"/>
                          <a:ea typeface="Calibri"/>
                          <a:cs typeface="Calibri"/>
                          <a:sym typeface="Calibri"/>
                        </a:rPr>
                        <a:t>37.9</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16.3</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2D"/>
        </a:solidFill>
      </p:bgPr>
    </p:bg>
    <p:spTree>
      <p:nvGrpSpPr>
        <p:cNvPr id="74" name="Shape 74"/>
        <p:cNvGrpSpPr/>
        <p:nvPr/>
      </p:nvGrpSpPr>
      <p:grpSpPr>
        <a:xfrm>
          <a:off x="0" y="0"/>
          <a:ext cx="0" cy="0"/>
          <a:chOff x="0" y="0"/>
          <a:chExt cx="0" cy="0"/>
        </a:xfrm>
      </p:grpSpPr>
      <p:sp>
        <p:nvSpPr>
          <p:cNvPr id="75" name="Google Shape;75;p6"/>
          <p:cNvSpPr/>
          <p:nvPr/>
        </p:nvSpPr>
        <p:spPr>
          <a:xfrm>
            <a:off x="0" y="0"/>
            <a:ext cx="9144000" cy="54864"/>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p:nvPr/>
        </p:nvSpPr>
        <p:spPr>
          <a:xfrm>
            <a:off x="640080" y="27432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Trebuchet MS"/>
              <a:buNone/>
            </a:pPr>
            <a:r>
              <a:rPr b="1" i="0" lang="en-US" sz="2800" u="none" cap="none" strike="noStrike">
                <a:solidFill>
                  <a:srgbClr val="FFFFFF"/>
                </a:solidFill>
                <a:latin typeface="Trebuchet MS"/>
                <a:ea typeface="Trebuchet MS"/>
                <a:cs typeface="Trebuchet MS"/>
                <a:sym typeface="Trebuchet MS"/>
              </a:rPr>
              <a:t>EdgeLoRA System Architecture</a:t>
            </a:r>
            <a:endParaRPr b="0" i="0" sz="2800" u="none" cap="none" strike="noStrike">
              <a:solidFill>
                <a:schemeClr val="dk1"/>
              </a:solidFill>
              <a:latin typeface="Calibri"/>
              <a:ea typeface="Calibri"/>
              <a:cs typeface="Calibri"/>
              <a:sym typeface="Calibri"/>
            </a:endParaRPr>
          </a:p>
        </p:txBody>
      </p:sp>
      <p:sp>
        <p:nvSpPr>
          <p:cNvPr id="77" name="Google Shape;77;p6"/>
          <p:cNvSpPr/>
          <p:nvPr/>
        </p:nvSpPr>
        <p:spPr>
          <a:xfrm>
            <a:off x="640080" y="822960"/>
            <a:ext cx="7863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300"/>
              <a:buFont typeface="Calibri"/>
              <a:buNone/>
            </a:pPr>
            <a:r>
              <a:rPr b="0" i="0" lang="en-US" sz="1300" u="none" cap="none" strike="noStrike">
                <a:solidFill>
                  <a:srgbClr val="94A3B8"/>
                </a:solidFill>
                <a:latin typeface="Calibri"/>
                <a:ea typeface="Calibri"/>
                <a:cs typeface="Calibri"/>
                <a:sym typeface="Calibri"/>
              </a:rPr>
              <a:t>Built on llama.cpp with 1K+ lines of C++ — two main components:</a:t>
            </a:r>
            <a:endParaRPr b="0" i="0" sz="1300" u="none" cap="none" strike="noStrike">
              <a:solidFill>
                <a:schemeClr val="dk1"/>
              </a:solidFill>
              <a:latin typeface="Calibri"/>
              <a:ea typeface="Calibri"/>
              <a:cs typeface="Calibri"/>
              <a:sym typeface="Calibri"/>
            </a:endParaRPr>
          </a:p>
        </p:txBody>
      </p:sp>
      <p:sp>
        <p:nvSpPr>
          <p:cNvPr id="78" name="Google Shape;78;p6"/>
          <p:cNvSpPr/>
          <p:nvPr/>
        </p:nvSpPr>
        <p:spPr>
          <a:xfrm>
            <a:off x="457200" y="1371600"/>
            <a:ext cx="3931920" cy="3200400"/>
          </a:xfrm>
          <a:prstGeom prst="rect">
            <a:avLst/>
          </a:prstGeom>
          <a:solidFill>
            <a:srgbClr val="1A3048"/>
          </a:solidFill>
          <a:ln cap="flat" cmpd="sng" w="1905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9" name="Google Shape;79;p6"/>
          <p:cNvPicPr preferRelativeResize="0"/>
          <p:nvPr/>
        </p:nvPicPr>
        <p:blipFill rotWithShape="1">
          <a:blip r:embed="rId3">
            <a:alphaModFix/>
          </a:blip>
          <a:srcRect b="0" l="0" r="0" t="0"/>
          <a:stretch/>
        </p:blipFill>
        <p:spPr>
          <a:xfrm>
            <a:off x="685800" y="1554480"/>
            <a:ext cx="320040" cy="320040"/>
          </a:xfrm>
          <a:prstGeom prst="rect">
            <a:avLst/>
          </a:prstGeom>
          <a:noFill/>
          <a:ln>
            <a:noFill/>
          </a:ln>
        </p:spPr>
      </p:pic>
      <p:sp>
        <p:nvSpPr>
          <p:cNvPr id="80" name="Google Shape;80;p6"/>
          <p:cNvSpPr/>
          <p:nvPr/>
        </p:nvSpPr>
        <p:spPr>
          <a:xfrm>
            <a:off x="1097280" y="1554480"/>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800"/>
              <a:buFont typeface="Trebuchet MS"/>
              <a:buNone/>
            </a:pPr>
            <a:r>
              <a:rPr b="1" i="0" lang="en-US" sz="1800" u="none" cap="none" strike="noStrike">
                <a:solidFill>
                  <a:srgbClr val="14B8A6"/>
                </a:solidFill>
                <a:latin typeface="Trebuchet MS"/>
                <a:ea typeface="Trebuchet MS"/>
                <a:cs typeface="Trebuchet MS"/>
                <a:sym typeface="Trebuchet MS"/>
              </a:rPr>
              <a:t>Server Manager</a:t>
            </a:r>
            <a:endParaRPr b="0" i="0" sz="1800" u="none" cap="none" strike="noStrike">
              <a:solidFill>
                <a:schemeClr val="dk1"/>
              </a:solidFill>
              <a:latin typeface="Calibri"/>
              <a:ea typeface="Calibri"/>
              <a:cs typeface="Calibri"/>
              <a:sym typeface="Calibri"/>
            </a:endParaRPr>
          </a:p>
        </p:txBody>
      </p:sp>
      <p:sp>
        <p:nvSpPr>
          <p:cNvPr id="81" name="Google Shape;81;p6"/>
          <p:cNvSpPr/>
          <p:nvPr/>
        </p:nvSpPr>
        <p:spPr>
          <a:xfrm>
            <a:off x="685800" y="2103120"/>
            <a:ext cx="54864" cy="59436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p:cNvSpPr/>
          <p:nvPr/>
        </p:nvSpPr>
        <p:spPr>
          <a:xfrm>
            <a:off x="914400" y="2103120"/>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Slot State Machine</a:t>
            </a:r>
            <a:endParaRPr b="0" i="0" sz="1200" u="none" cap="none" strike="noStrike">
              <a:solidFill>
                <a:schemeClr val="dk1"/>
              </a:solidFill>
              <a:latin typeface="Calibri"/>
              <a:ea typeface="Calibri"/>
              <a:cs typeface="Calibri"/>
              <a:sym typeface="Calibri"/>
            </a:endParaRPr>
          </a:p>
        </p:txBody>
      </p:sp>
      <p:sp>
        <p:nvSpPr>
          <p:cNvPr id="83" name="Google Shape;83;p6"/>
          <p:cNvSpPr/>
          <p:nvPr/>
        </p:nvSpPr>
        <p:spPr>
          <a:xfrm>
            <a:off x="914400" y="2359152"/>
            <a:ext cx="3200400"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0" lang="en-US" sz="1000" u="none" cap="none" strike="noStrike">
                <a:solidFill>
                  <a:srgbClr val="94A3B8"/>
                </a:solidFill>
                <a:latin typeface="Calibri"/>
                <a:ea typeface="Calibri"/>
                <a:cs typeface="Calibri"/>
                <a:sym typeface="Calibri"/>
              </a:rPr>
              <a:t>Manages concurrent requests: Idle → Adapter Selection → Prompt Processing → Generation</a:t>
            </a:r>
            <a:endParaRPr b="0" i="0" sz="1000" u="none" cap="none" strike="noStrike">
              <a:solidFill>
                <a:schemeClr val="dk1"/>
              </a:solidFill>
              <a:latin typeface="Calibri"/>
              <a:ea typeface="Calibri"/>
              <a:cs typeface="Calibri"/>
              <a:sym typeface="Calibri"/>
            </a:endParaRPr>
          </a:p>
        </p:txBody>
      </p:sp>
      <p:sp>
        <p:nvSpPr>
          <p:cNvPr id="84" name="Google Shape;84;p6"/>
          <p:cNvSpPr/>
          <p:nvPr/>
        </p:nvSpPr>
        <p:spPr>
          <a:xfrm>
            <a:off x="685800" y="2926080"/>
            <a:ext cx="54864" cy="59436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
          <p:cNvSpPr/>
          <p:nvPr/>
        </p:nvSpPr>
        <p:spPr>
          <a:xfrm>
            <a:off x="914400" y="2926080"/>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Adaptive Adapter Selection</a:t>
            </a:r>
            <a:endParaRPr b="0" i="0" sz="1200" u="none" cap="none" strike="noStrike">
              <a:solidFill>
                <a:schemeClr val="dk1"/>
              </a:solidFill>
              <a:latin typeface="Calibri"/>
              <a:ea typeface="Calibri"/>
              <a:cs typeface="Calibri"/>
              <a:sym typeface="Calibri"/>
            </a:endParaRPr>
          </a:p>
        </p:txBody>
      </p:sp>
      <p:sp>
        <p:nvSpPr>
          <p:cNvPr id="86" name="Google Shape;86;p6"/>
          <p:cNvSpPr/>
          <p:nvPr/>
        </p:nvSpPr>
        <p:spPr>
          <a:xfrm>
            <a:off x="914400" y="3182112"/>
            <a:ext cx="3200400"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0" lang="en-US" sz="1000" u="none" cap="none" strike="noStrike">
                <a:solidFill>
                  <a:srgbClr val="94A3B8"/>
                </a:solidFill>
                <a:latin typeface="Calibri"/>
                <a:ea typeface="Calibri"/>
                <a:cs typeface="Calibri"/>
                <a:sym typeface="Calibri"/>
              </a:rPr>
              <a:t>Automatically picks optimal adapter per request using a profiling-trained router</a:t>
            </a:r>
            <a:endParaRPr b="0" i="0" sz="1000" u="none" cap="none" strike="noStrike">
              <a:solidFill>
                <a:schemeClr val="dk1"/>
              </a:solidFill>
              <a:latin typeface="Calibri"/>
              <a:ea typeface="Calibri"/>
              <a:cs typeface="Calibri"/>
              <a:sym typeface="Calibri"/>
            </a:endParaRPr>
          </a:p>
        </p:txBody>
      </p:sp>
      <p:sp>
        <p:nvSpPr>
          <p:cNvPr id="87" name="Google Shape;87;p6"/>
          <p:cNvSpPr/>
          <p:nvPr/>
        </p:nvSpPr>
        <p:spPr>
          <a:xfrm>
            <a:off x="685800" y="3749040"/>
            <a:ext cx="54864" cy="59436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6"/>
          <p:cNvSpPr/>
          <p:nvPr/>
        </p:nvSpPr>
        <p:spPr>
          <a:xfrm>
            <a:off x="914400" y="3749040"/>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Adapter Memory Manager</a:t>
            </a:r>
            <a:endParaRPr b="0" i="0" sz="1200" u="none" cap="none" strike="noStrike">
              <a:solidFill>
                <a:schemeClr val="dk1"/>
              </a:solidFill>
              <a:latin typeface="Calibri"/>
              <a:ea typeface="Calibri"/>
              <a:cs typeface="Calibri"/>
              <a:sym typeface="Calibri"/>
            </a:endParaRPr>
          </a:p>
        </p:txBody>
      </p:sp>
      <p:sp>
        <p:nvSpPr>
          <p:cNvPr id="89" name="Google Shape;89;p6"/>
          <p:cNvSpPr/>
          <p:nvPr/>
        </p:nvSpPr>
        <p:spPr>
          <a:xfrm>
            <a:off x="914400" y="4005072"/>
            <a:ext cx="3200400"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0" lang="en-US" sz="1000" u="none" cap="none" strike="noStrike">
                <a:solidFill>
                  <a:srgbClr val="94A3B8"/>
                </a:solidFill>
                <a:latin typeface="Calibri"/>
                <a:ea typeface="Calibri"/>
                <a:cs typeface="Calibri"/>
                <a:sym typeface="Calibri"/>
              </a:rPr>
              <a:t>LRU cache + pre-allocated memory pool for efficient adapter lifecycle</a:t>
            </a:r>
            <a:endParaRPr b="0" i="0" sz="1000" u="none" cap="none" strike="noStrike">
              <a:solidFill>
                <a:schemeClr val="dk1"/>
              </a:solidFill>
              <a:latin typeface="Calibri"/>
              <a:ea typeface="Calibri"/>
              <a:cs typeface="Calibri"/>
              <a:sym typeface="Calibri"/>
            </a:endParaRPr>
          </a:p>
        </p:txBody>
      </p:sp>
      <p:sp>
        <p:nvSpPr>
          <p:cNvPr id="90" name="Google Shape;90;p6"/>
          <p:cNvSpPr/>
          <p:nvPr/>
        </p:nvSpPr>
        <p:spPr>
          <a:xfrm>
            <a:off x="4754880" y="1371600"/>
            <a:ext cx="3931920" cy="3200400"/>
          </a:xfrm>
          <a:prstGeom prst="rect">
            <a:avLst/>
          </a:prstGeom>
          <a:solidFill>
            <a:srgbClr val="1A3048"/>
          </a:solidFill>
          <a:ln cap="flat" cmpd="sng" w="1905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1" name="Google Shape;91;p6"/>
          <p:cNvPicPr preferRelativeResize="0"/>
          <p:nvPr/>
        </p:nvPicPr>
        <p:blipFill rotWithShape="1">
          <a:blip r:embed="rId4">
            <a:alphaModFix/>
          </a:blip>
          <a:srcRect b="0" l="0" r="0" t="0"/>
          <a:stretch/>
        </p:blipFill>
        <p:spPr>
          <a:xfrm>
            <a:off x="4983480" y="1554480"/>
            <a:ext cx="320040" cy="320040"/>
          </a:xfrm>
          <a:prstGeom prst="rect">
            <a:avLst/>
          </a:prstGeom>
          <a:noFill/>
          <a:ln>
            <a:noFill/>
          </a:ln>
        </p:spPr>
      </p:pic>
      <p:sp>
        <p:nvSpPr>
          <p:cNvPr id="92" name="Google Shape;92;p6"/>
          <p:cNvSpPr/>
          <p:nvPr/>
        </p:nvSpPr>
        <p:spPr>
          <a:xfrm>
            <a:off x="5394960" y="1554480"/>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800"/>
              <a:buFont typeface="Trebuchet MS"/>
              <a:buNone/>
            </a:pPr>
            <a:r>
              <a:rPr b="1" i="0" lang="en-US" sz="1800" u="none" cap="none" strike="noStrike">
                <a:solidFill>
                  <a:srgbClr val="F59E0B"/>
                </a:solidFill>
                <a:latin typeface="Trebuchet MS"/>
                <a:ea typeface="Trebuchet MS"/>
                <a:cs typeface="Trebuchet MS"/>
                <a:sym typeface="Trebuchet MS"/>
              </a:rPr>
              <a:t>Computing Backend</a:t>
            </a:r>
            <a:endParaRPr b="0" i="0" sz="1800" u="none" cap="none" strike="noStrike">
              <a:solidFill>
                <a:schemeClr val="dk1"/>
              </a:solidFill>
              <a:latin typeface="Calibri"/>
              <a:ea typeface="Calibri"/>
              <a:cs typeface="Calibri"/>
              <a:sym typeface="Calibri"/>
            </a:endParaRPr>
          </a:p>
        </p:txBody>
      </p:sp>
      <p:sp>
        <p:nvSpPr>
          <p:cNvPr id="93" name="Google Shape;93;p6"/>
          <p:cNvSpPr/>
          <p:nvPr/>
        </p:nvSpPr>
        <p:spPr>
          <a:xfrm>
            <a:off x="4983480" y="2103120"/>
            <a:ext cx="54864" cy="59436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5212080" y="2103120"/>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Base Model Inference</a:t>
            </a:r>
            <a:endParaRPr b="0" i="0" sz="1200" u="none" cap="none" strike="noStrike">
              <a:solidFill>
                <a:schemeClr val="dk1"/>
              </a:solidFill>
              <a:latin typeface="Calibri"/>
              <a:ea typeface="Calibri"/>
              <a:cs typeface="Calibri"/>
              <a:sym typeface="Calibri"/>
            </a:endParaRPr>
          </a:p>
        </p:txBody>
      </p:sp>
      <p:sp>
        <p:nvSpPr>
          <p:cNvPr id="95" name="Google Shape;95;p6"/>
          <p:cNvSpPr/>
          <p:nvPr/>
        </p:nvSpPr>
        <p:spPr>
          <a:xfrm>
            <a:off x="5212080" y="2359152"/>
            <a:ext cx="3200400"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0" lang="en-US" sz="1000" u="none" cap="none" strike="noStrike">
                <a:solidFill>
                  <a:srgbClr val="94A3B8"/>
                </a:solidFill>
                <a:latin typeface="Calibri"/>
                <a:ea typeface="Calibri"/>
                <a:cs typeface="Calibri"/>
                <a:sym typeface="Calibri"/>
              </a:rPr>
              <a:t>Shared pretrained weights W computed in a single batched pass across all requests</a:t>
            </a:r>
            <a:endParaRPr b="0" i="0" sz="1000" u="none" cap="none" strike="noStrike">
              <a:solidFill>
                <a:schemeClr val="dk1"/>
              </a:solidFill>
              <a:latin typeface="Calibri"/>
              <a:ea typeface="Calibri"/>
              <a:cs typeface="Calibri"/>
              <a:sym typeface="Calibri"/>
            </a:endParaRPr>
          </a:p>
        </p:txBody>
      </p:sp>
      <p:sp>
        <p:nvSpPr>
          <p:cNvPr id="96" name="Google Shape;96;p6"/>
          <p:cNvSpPr/>
          <p:nvPr/>
        </p:nvSpPr>
        <p:spPr>
          <a:xfrm>
            <a:off x="4983480" y="2926080"/>
            <a:ext cx="54864" cy="59436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
          <p:cNvSpPr/>
          <p:nvPr/>
        </p:nvSpPr>
        <p:spPr>
          <a:xfrm>
            <a:off x="5212080" y="2926080"/>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Batch LoRA Inference</a:t>
            </a:r>
            <a:endParaRPr b="0" i="0" sz="1200" u="none" cap="none" strike="noStrike">
              <a:solidFill>
                <a:schemeClr val="dk1"/>
              </a:solidFill>
              <a:latin typeface="Calibri"/>
              <a:ea typeface="Calibri"/>
              <a:cs typeface="Calibri"/>
              <a:sym typeface="Calibri"/>
            </a:endParaRPr>
          </a:p>
        </p:txBody>
      </p:sp>
      <p:sp>
        <p:nvSpPr>
          <p:cNvPr id="98" name="Google Shape;98;p6"/>
          <p:cNvSpPr/>
          <p:nvPr/>
        </p:nvSpPr>
        <p:spPr>
          <a:xfrm>
            <a:off x="5212080" y="3182112"/>
            <a:ext cx="3200400"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0" lang="en-US" sz="1000" u="none" cap="none" strike="noStrike">
                <a:solidFill>
                  <a:srgbClr val="94A3B8"/>
                </a:solidFill>
                <a:latin typeface="Calibri"/>
                <a:ea typeface="Calibri"/>
                <a:cs typeface="Calibri"/>
                <a:sym typeface="Calibri"/>
              </a:rPr>
              <a:t>Groups requests by adapter for parallel LoRA computation via gather/scatter</a:t>
            </a:r>
            <a:endParaRPr b="0" i="0" sz="1000" u="none" cap="none" strike="noStrike">
              <a:solidFill>
                <a:schemeClr val="dk1"/>
              </a:solidFill>
              <a:latin typeface="Calibri"/>
              <a:ea typeface="Calibri"/>
              <a:cs typeface="Calibri"/>
              <a:sym typeface="Calibri"/>
            </a:endParaRPr>
          </a:p>
        </p:txBody>
      </p:sp>
      <p:sp>
        <p:nvSpPr>
          <p:cNvPr id="99" name="Google Shape;99;p6"/>
          <p:cNvSpPr/>
          <p:nvPr/>
        </p:nvSpPr>
        <p:spPr>
          <a:xfrm>
            <a:off x="4983480" y="3749040"/>
            <a:ext cx="54864" cy="59436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5212080" y="3749040"/>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Unified Compute Graph</a:t>
            </a:r>
            <a:endParaRPr b="0" i="0" sz="1200" u="none" cap="none" strike="noStrike">
              <a:solidFill>
                <a:schemeClr val="dk1"/>
              </a:solidFill>
              <a:latin typeface="Calibri"/>
              <a:ea typeface="Calibri"/>
              <a:cs typeface="Calibri"/>
              <a:sym typeface="Calibri"/>
            </a:endParaRPr>
          </a:p>
        </p:txBody>
      </p:sp>
      <p:sp>
        <p:nvSpPr>
          <p:cNvPr id="101" name="Google Shape;101;p6"/>
          <p:cNvSpPr/>
          <p:nvPr/>
        </p:nvSpPr>
        <p:spPr>
          <a:xfrm>
            <a:off x="5212080" y="4005072"/>
            <a:ext cx="3200400"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0" lang="en-US" sz="1000" u="none" cap="none" strike="noStrike">
                <a:solidFill>
                  <a:srgbClr val="94A3B8"/>
                </a:solidFill>
                <a:latin typeface="Calibri"/>
                <a:ea typeface="Calibri"/>
                <a:cs typeface="Calibri"/>
                <a:sym typeface="Calibri"/>
              </a:rPr>
              <a:t>Combines base + adapter inference, optimizing GPU utilization for dynamic workloads</a:t>
            </a:r>
            <a:endParaRPr b="0" i="0" sz="1000" u="none" cap="none" strike="noStrike">
              <a:solidFill>
                <a:schemeClr val="dk1"/>
              </a:solidFill>
              <a:latin typeface="Calibri"/>
              <a:ea typeface="Calibri"/>
              <a:cs typeface="Calibri"/>
              <a:sym typeface="Calibri"/>
            </a:endParaRPr>
          </a:p>
        </p:txBody>
      </p:sp>
      <p:sp>
        <p:nvSpPr>
          <p:cNvPr id="102" name="Google Shape;102;p6"/>
          <p:cNvSpPr/>
          <p:nvPr/>
        </p:nvSpPr>
        <p:spPr>
          <a:xfrm>
            <a:off x="457200" y="470916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00"/>
              <a:buFont typeface="Calibri"/>
              <a:buNone/>
            </a:pPr>
            <a:r>
              <a:rPr b="0" i="1" lang="en-US" sz="1100" u="none" cap="none" strike="noStrike">
                <a:solidFill>
                  <a:srgbClr val="94A3B8"/>
                </a:solidFill>
                <a:latin typeface="Calibri"/>
                <a:ea typeface="Calibri"/>
                <a:cs typeface="Calibri"/>
                <a:sym typeface="Calibri"/>
              </a:rPr>
              <a:t>Request Flow:  Queue → Adapter Selection → Prompt Processing → Generation → Response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7" name="Shape 107"/>
        <p:cNvGrpSpPr/>
        <p:nvPr/>
      </p:nvGrpSpPr>
      <p:grpSpPr>
        <a:xfrm>
          <a:off x="0" y="0"/>
          <a:ext cx="0" cy="0"/>
          <a:chOff x="0" y="0"/>
          <a:chExt cx="0" cy="0"/>
        </a:xfrm>
      </p:grpSpPr>
      <p:sp>
        <p:nvSpPr>
          <p:cNvPr id="108" name="Google Shape;108;p7"/>
          <p:cNvSpPr/>
          <p:nvPr/>
        </p:nvSpPr>
        <p:spPr>
          <a:xfrm>
            <a:off x="0" y="0"/>
            <a:ext cx="54864" cy="51435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
          <p:cNvSpPr/>
          <p:nvPr/>
        </p:nvSpPr>
        <p:spPr>
          <a:xfrm>
            <a:off x="640080" y="32004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600"/>
              <a:buFont typeface="Trebuchet MS"/>
              <a:buNone/>
            </a:pPr>
            <a:r>
              <a:rPr b="1" i="0" lang="en-US" sz="2600" u="none" cap="none" strike="noStrike">
                <a:solidFill>
                  <a:srgbClr val="1E293B"/>
                </a:solidFill>
                <a:latin typeface="Trebuchet MS"/>
                <a:ea typeface="Trebuchet MS"/>
                <a:cs typeface="Trebuchet MS"/>
                <a:sym typeface="Trebuchet MS"/>
              </a:rPr>
              <a:t>Innovation 1: Adaptive Adapter Selection</a:t>
            </a:r>
            <a:endParaRPr b="0" i="0" sz="2600" u="none" cap="none" strike="noStrike">
              <a:solidFill>
                <a:schemeClr val="dk1"/>
              </a:solidFill>
              <a:latin typeface="Calibri"/>
              <a:ea typeface="Calibri"/>
              <a:cs typeface="Calibri"/>
              <a:sym typeface="Calibri"/>
            </a:endParaRPr>
          </a:p>
        </p:txBody>
      </p:sp>
      <p:sp>
        <p:nvSpPr>
          <p:cNvPr id="110" name="Google Shape;110;p7"/>
          <p:cNvSpPr/>
          <p:nvPr/>
        </p:nvSpPr>
        <p:spPr>
          <a:xfrm>
            <a:off x="640080" y="914400"/>
            <a:ext cx="7863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A profiling-based adapter router automatically matches prompts to the best-fit LoRA adapter — eliminating manual selection.</a:t>
            </a:r>
            <a:endParaRPr b="0" i="0" sz="1300" u="none" cap="none" strike="noStrike">
              <a:solidFill>
                <a:schemeClr val="dk1"/>
              </a:solidFill>
              <a:latin typeface="Calibri"/>
              <a:ea typeface="Calibri"/>
              <a:cs typeface="Calibri"/>
              <a:sym typeface="Calibri"/>
            </a:endParaRPr>
          </a:p>
        </p:txBody>
      </p:sp>
      <p:sp>
        <p:nvSpPr>
          <p:cNvPr id="111" name="Google Shape;111;p7"/>
          <p:cNvSpPr/>
          <p:nvPr/>
        </p:nvSpPr>
        <p:spPr>
          <a:xfrm>
            <a:off x="868680" y="1645920"/>
            <a:ext cx="594360" cy="594360"/>
          </a:xfrm>
          <a:prstGeom prst="ellipse">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
          <p:cNvSpPr/>
          <p:nvPr/>
        </p:nvSpPr>
        <p:spPr>
          <a:xfrm>
            <a:off x="868680" y="1645920"/>
            <a:ext cx="59436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1</a:t>
            </a:r>
            <a:endParaRPr b="0" i="0" sz="2000" u="none" cap="none" strike="noStrike">
              <a:solidFill>
                <a:schemeClr val="dk1"/>
              </a:solidFill>
              <a:latin typeface="Calibri"/>
              <a:ea typeface="Calibri"/>
              <a:cs typeface="Calibri"/>
              <a:sym typeface="Calibri"/>
            </a:endParaRPr>
          </a:p>
        </p:txBody>
      </p:sp>
      <p:sp>
        <p:nvSpPr>
          <p:cNvPr id="113" name="Google Shape;113;p7"/>
          <p:cNvSpPr/>
          <p:nvPr/>
        </p:nvSpPr>
        <p:spPr>
          <a:xfrm>
            <a:off x="457200" y="2377440"/>
            <a:ext cx="14173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Request</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arrives</a:t>
            </a:r>
            <a:endParaRPr b="0" i="0" sz="1100" u="none" cap="none" strike="noStrike">
              <a:solidFill>
                <a:schemeClr val="dk1"/>
              </a:solidFill>
              <a:latin typeface="Calibri"/>
              <a:ea typeface="Calibri"/>
              <a:cs typeface="Calibri"/>
              <a:sym typeface="Calibri"/>
            </a:endParaRPr>
          </a:p>
        </p:txBody>
      </p:sp>
      <p:sp>
        <p:nvSpPr>
          <p:cNvPr id="114" name="Google Shape;114;p7"/>
          <p:cNvSpPr/>
          <p:nvPr/>
        </p:nvSpPr>
        <p:spPr>
          <a:xfrm>
            <a:off x="1645920" y="1892808"/>
            <a:ext cx="411480" cy="36576"/>
          </a:xfrm>
          <a:prstGeom prst="rect">
            <a:avLst/>
          </a:prstGeom>
          <a:solidFill>
            <a:srgbClr val="94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
          <p:cNvSpPr/>
          <p:nvPr/>
        </p:nvSpPr>
        <p:spPr>
          <a:xfrm>
            <a:off x="2651760" y="1645920"/>
            <a:ext cx="594360" cy="594360"/>
          </a:xfrm>
          <a:prstGeom prst="ellipse">
            <a:avLst/>
          </a:prstGeom>
          <a:solidFill>
            <a:srgbClr val="1E3A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a:off x="2651760" y="1645920"/>
            <a:ext cx="59436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2</a:t>
            </a:r>
            <a:endParaRPr b="0" i="0" sz="2000" u="none" cap="none" strike="noStrike">
              <a:solidFill>
                <a:schemeClr val="dk1"/>
              </a:solidFill>
              <a:latin typeface="Calibri"/>
              <a:ea typeface="Calibri"/>
              <a:cs typeface="Calibri"/>
              <a:sym typeface="Calibri"/>
            </a:endParaRPr>
          </a:p>
        </p:txBody>
      </p:sp>
      <p:sp>
        <p:nvSpPr>
          <p:cNvPr id="117" name="Google Shape;117;p7"/>
          <p:cNvSpPr/>
          <p:nvPr/>
        </p:nvSpPr>
        <p:spPr>
          <a:xfrm>
            <a:off x="2240280" y="2377440"/>
            <a:ext cx="14173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Adapter ID</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specified?</a:t>
            </a:r>
            <a:endParaRPr b="0" i="0" sz="1100" u="none" cap="none" strike="noStrike">
              <a:solidFill>
                <a:schemeClr val="dk1"/>
              </a:solidFill>
              <a:latin typeface="Calibri"/>
              <a:ea typeface="Calibri"/>
              <a:cs typeface="Calibri"/>
              <a:sym typeface="Calibri"/>
            </a:endParaRPr>
          </a:p>
        </p:txBody>
      </p:sp>
      <p:sp>
        <p:nvSpPr>
          <p:cNvPr id="118" name="Google Shape;118;p7"/>
          <p:cNvSpPr/>
          <p:nvPr/>
        </p:nvSpPr>
        <p:spPr>
          <a:xfrm>
            <a:off x="3429000" y="1892808"/>
            <a:ext cx="411480" cy="36576"/>
          </a:xfrm>
          <a:prstGeom prst="rect">
            <a:avLst/>
          </a:prstGeom>
          <a:solidFill>
            <a:srgbClr val="94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
          <p:cNvSpPr/>
          <p:nvPr/>
        </p:nvSpPr>
        <p:spPr>
          <a:xfrm>
            <a:off x="4434840" y="1645920"/>
            <a:ext cx="594360" cy="594360"/>
          </a:xfrm>
          <a:prstGeom prst="ellipse">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
          <p:cNvSpPr/>
          <p:nvPr/>
        </p:nvSpPr>
        <p:spPr>
          <a:xfrm>
            <a:off x="4434840" y="1645920"/>
            <a:ext cx="59436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3</a:t>
            </a:r>
            <a:endParaRPr b="0" i="0" sz="2000" u="none" cap="none" strike="noStrike">
              <a:solidFill>
                <a:schemeClr val="dk1"/>
              </a:solidFill>
              <a:latin typeface="Calibri"/>
              <a:ea typeface="Calibri"/>
              <a:cs typeface="Calibri"/>
              <a:sym typeface="Calibri"/>
            </a:endParaRPr>
          </a:p>
        </p:txBody>
      </p:sp>
      <p:sp>
        <p:nvSpPr>
          <p:cNvPr id="121" name="Google Shape;121;p7"/>
          <p:cNvSpPr/>
          <p:nvPr/>
        </p:nvSpPr>
        <p:spPr>
          <a:xfrm>
            <a:off x="4023360" y="2377440"/>
            <a:ext cx="14173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Router scores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adapters</a:t>
            </a:r>
            <a:endParaRPr b="0" i="0" sz="1100" u="none" cap="none" strike="noStrike">
              <a:solidFill>
                <a:schemeClr val="dk1"/>
              </a:solidFill>
              <a:latin typeface="Calibri"/>
              <a:ea typeface="Calibri"/>
              <a:cs typeface="Calibri"/>
              <a:sym typeface="Calibri"/>
            </a:endParaRPr>
          </a:p>
        </p:txBody>
      </p:sp>
      <p:sp>
        <p:nvSpPr>
          <p:cNvPr id="122" name="Google Shape;122;p7"/>
          <p:cNvSpPr/>
          <p:nvPr/>
        </p:nvSpPr>
        <p:spPr>
          <a:xfrm>
            <a:off x="5212080" y="1892808"/>
            <a:ext cx="411480" cy="36576"/>
          </a:xfrm>
          <a:prstGeom prst="rect">
            <a:avLst/>
          </a:prstGeom>
          <a:solidFill>
            <a:srgbClr val="94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
          <p:cNvSpPr/>
          <p:nvPr/>
        </p:nvSpPr>
        <p:spPr>
          <a:xfrm>
            <a:off x="6217920" y="1645920"/>
            <a:ext cx="594360" cy="594360"/>
          </a:xfrm>
          <a:prstGeom prst="ellipse">
            <a:avLst/>
          </a:prstGeom>
          <a:solidFill>
            <a:srgbClr val="14B8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7"/>
          <p:cNvSpPr/>
          <p:nvPr/>
        </p:nvSpPr>
        <p:spPr>
          <a:xfrm>
            <a:off x="6217920" y="1645920"/>
            <a:ext cx="59436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4</a:t>
            </a:r>
            <a:endParaRPr b="0" i="0" sz="2000" u="none" cap="none" strike="noStrike">
              <a:solidFill>
                <a:schemeClr val="dk1"/>
              </a:solidFill>
              <a:latin typeface="Calibri"/>
              <a:ea typeface="Calibri"/>
              <a:cs typeface="Calibri"/>
              <a:sym typeface="Calibri"/>
            </a:endParaRPr>
          </a:p>
        </p:txBody>
      </p:sp>
      <p:sp>
        <p:nvSpPr>
          <p:cNvPr id="125" name="Google Shape;125;p7"/>
          <p:cNvSpPr/>
          <p:nvPr/>
        </p:nvSpPr>
        <p:spPr>
          <a:xfrm>
            <a:off x="5806440" y="2377440"/>
            <a:ext cx="14173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Check cache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for top-k</a:t>
            </a:r>
            <a:endParaRPr b="0" i="0" sz="1100" u="none" cap="none" strike="noStrike">
              <a:solidFill>
                <a:schemeClr val="dk1"/>
              </a:solidFill>
              <a:latin typeface="Calibri"/>
              <a:ea typeface="Calibri"/>
              <a:cs typeface="Calibri"/>
              <a:sym typeface="Calibri"/>
            </a:endParaRPr>
          </a:p>
        </p:txBody>
      </p:sp>
      <p:sp>
        <p:nvSpPr>
          <p:cNvPr id="126" name="Google Shape;126;p7"/>
          <p:cNvSpPr/>
          <p:nvPr/>
        </p:nvSpPr>
        <p:spPr>
          <a:xfrm>
            <a:off x="6995160" y="1892808"/>
            <a:ext cx="411480" cy="36576"/>
          </a:xfrm>
          <a:prstGeom prst="rect">
            <a:avLst/>
          </a:prstGeom>
          <a:solidFill>
            <a:srgbClr val="94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8001000" y="1645920"/>
            <a:ext cx="594360" cy="59436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
          <p:cNvSpPr/>
          <p:nvPr/>
        </p:nvSpPr>
        <p:spPr>
          <a:xfrm>
            <a:off x="8001000" y="1645920"/>
            <a:ext cx="59436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5</a:t>
            </a:r>
            <a:endParaRPr b="0" i="0" sz="2000" u="none" cap="none" strike="noStrike">
              <a:solidFill>
                <a:schemeClr val="dk1"/>
              </a:solidFill>
              <a:latin typeface="Calibri"/>
              <a:ea typeface="Calibri"/>
              <a:cs typeface="Calibri"/>
              <a:sym typeface="Calibri"/>
            </a:endParaRPr>
          </a:p>
        </p:txBody>
      </p:sp>
      <p:sp>
        <p:nvSpPr>
          <p:cNvPr id="129" name="Google Shape;129;p7"/>
          <p:cNvSpPr/>
          <p:nvPr/>
        </p:nvSpPr>
        <p:spPr>
          <a:xfrm>
            <a:off x="7589520" y="2377440"/>
            <a:ext cx="14173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Use best</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available</a:t>
            </a:r>
            <a:endParaRPr b="0" i="0" sz="1100" u="none" cap="none" strike="noStrike">
              <a:solidFill>
                <a:schemeClr val="dk1"/>
              </a:solidFill>
              <a:latin typeface="Calibri"/>
              <a:ea typeface="Calibri"/>
              <a:cs typeface="Calibri"/>
              <a:sym typeface="Calibri"/>
            </a:endParaRPr>
          </a:p>
        </p:txBody>
      </p:sp>
      <p:sp>
        <p:nvSpPr>
          <p:cNvPr id="130" name="Google Shape;130;p7"/>
          <p:cNvSpPr/>
          <p:nvPr/>
        </p:nvSpPr>
        <p:spPr>
          <a:xfrm>
            <a:off x="457200" y="2834640"/>
            <a:ext cx="8229600" cy="1920240"/>
          </a:xfrm>
          <a:prstGeom prst="rect">
            <a:avLst/>
          </a:prstGeom>
          <a:solidFill>
            <a:srgbClr val="FFFFFF"/>
          </a:solidFill>
          <a:ln>
            <a:noFill/>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a:off x="457200" y="2834640"/>
            <a:ext cx="8229600" cy="4572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7"/>
          <p:cNvSpPr/>
          <p:nvPr/>
        </p:nvSpPr>
        <p:spPr>
          <a:xfrm>
            <a:off x="731520" y="3017520"/>
            <a:ext cx="7680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Trebuchet MS"/>
              <a:buNone/>
            </a:pPr>
            <a:r>
              <a:rPr b="1" i="0" lang="en-US" sz="1500" u="none" cap="none" strike="noStrike">
                <a:solidFill>
                  <a:srgbClr val="1E293B"/>
                </a:solidFill>
                <a:latin typeface="Trebuchet MS"/>
                <a:ea typeface="Trebuchet MS"/>
                <a:cs typeface="Trebuchet MS"/>
                <a:sym typeface="Trebuchet MS"/>
              </a:rPr>
              <a:t>How It Works</a:t>
            </a:r>
            <a:endParaRPr b="0" i="0" sz="1500" u="none" cap="none" strike="noStrike">
              <a:solidFill>
                <a:schemeClr val="dk1"/>
              </a:solidFill>
              <a:latin typeface="Calibri"/>
              <a:ea typeface="Calibri"/>
              <a:cs typeface="Calibri"/>
              <a:sym typeface="Calibri"/>
            </a:endParaRPr>
          </a:p>
        </p:txBody>
      </p:sp>
      <p:pic>
        <p:nvPicPr>
          <p:cNvPr descr="preencoded.png" id="133" name="Google Shape;133;p7"/>
          <p:cNvPicPr preferRelativeResize="0"/>
          <p:nvPr/>
        </p:nvPicPr>
        <p:blipFill rotWithShape="1">
          <a:blip r:embed="rId3">
            <a:alphaModFix/>
          </a:blip>
          <a:srcRect b="0" l="0" r="0" t="0"/>
          <a:stretch/>
        </p:blipFill>
        <p:spPr>
          <a:xfrm>
            <a:off x="731520" y="3447288"/>
            <a:ext cx="182880" cy="182880"/>
          </a:xfrm>
          <a:prstGeom prst="rect">
            <a:avLst/>
          </a:prstGeom>
          <a:noFill/>
          <a:ln>
            <a:noFill/>
          </a:ln>
        </p:spPr>
      </p:pic>
      <p:sp>
        <p:nvSpPr>
          <p:cNvPr id="134" name="Google Shape;134;p7"/>
          <p:cNvSpPr/>
          <p:nvPr/>
        </p:nvSpPr>
        <p:spPr>
          <a:xfrm>
            <a:off x="1051560" y="3429000"/>
            <a:ext cx="7223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50"/>
              <a:buFont typeface="Calibri"/>
              <a:buNone/>
            </a:pPr>
            <a:r>
              <a:rPr b="0" i="0" lang="en-US" sz="1150" u="none" cap="none" strike="noStrike">
                <a:solidFill>
                  <a:srgbClr val="475569"/>
                </a:solidFill>
                <a:latin typeface="Calibri"/>
                <a:ea typeface="Calibri"/>
                <a:cs typeface="Calibri"/>
                <a:sym typeface="Calibri"/>
              </a:rPr>
              <a:t>Router is a multi-label classifier (Linear layer on the shared base model) trained with BCEWithLogitsLoss</a:t>
            </a:r>
            <a:endParaRPr b="0" i="0" sz="1150" u="none" cap="none" strike="noStrike">
              <a:solidFill>
                <a:schemeClr val="dk1"/>
              </a:solidFill>
              <a:latin typeface="Calibri"/>
              <a:ea typeface="Calibri"/>
              <a:cs typeface="Calibri"/>
              <a:sym typeface="Calibri"/>
            </a:endParaRPr>
          </a:p>
        </p:txBody>
      </p:sp>
      <p:pic>
        <p:nvPicPr>
          <p:cNvPr descr="preencoded.png" id="135" name="Google Shape;135;p7"/>
          <p:cNvPicPr preferRelativeResize="0"/>
          <p:nvPr/>
        </p:nvPicPr>
        <p:blipFill rotWithShape="1">
          <a:blip r:embed="rId3">
            <a:alphaModFix/>
          </a:blip>
          <a:srcRect b="0" l="0" r="0" t="0"/>
          <a:stretch/>
        </p:blipFill>
        <p:spPr>
          <a:xfrm>
            <a:off x="731520" y="3749040"/>
            <a:ext cx="182880" cy="182880"/>
          </a:xfrm>
          <a:prstGeom prst="rect">
            <a:avLst/>
          </a:prstGeom>
          <a:noFill/>
          <a:ln>
            <a:noFill/>
          </a:ln>
        </p:spPr>
      </p:pic>
      <p:sp>
        <p:nvSpPr>
          <p:cNvPr id="136" name="Google Shape;136;p7"/>
          <p:cNvSpPr/>
          <p:nvPr/>
        </p:nvSpPr>
        <p:spPr>
          <a:xfrm>
            <a:off x="1051560" y="3730752"/>
            <a:ext cx="7223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50"/>
              <a:buFont typeface="Calibri"/>
              <a:buNone/>
            </a:pPr>
            <a:r>
              <a:rPr b="0" i="0" lang="en-US" sz="1150" u="none" cap="none" strike="noStrike">
                <a:solidFill>
                  <a:srgbClr val="475569"/>
                </a:solidFill>
                <a:latin typeface="Calibri"/>
                <a:ea typeface="Calibri"/>
                <a:cs typeface="Calibri"/>
                <a:sym typeface="Calibri"/>
              </a:rPr>
              <a:t>Profiled on 5 benchmarks (IFEval, BBH, MATH, GPQA, MMLU-PRO) to generate ground-truth adapter labels</a:t>
            </a:r>
            <a:endParaRPr b="0" i="0" sz="1150" u="none" cap="none" strike="noStrike">
              <a:solidFill>
                <a:schemeClr val="dk1"/>
              </a:solidFill>
              <a:latin typeface="Calibri"/>
              <a:ea typeface="Calibri"/>
              <a:cs typeface="Calibri"/>
              <a:sym typeface="Calibri"/>
            </a:endParaRPr>
          </a:p>
        </p:txBody>
      </p:sp>
      <p:pic>
        <p:nvPicPr>
          <p:cNvPr descr="preencoded.png" id="137" name="Google Shape;137;p7"/>
          <p:cNvPicPr preferRelativeResize="0"/>
          <p:nvPr/>
        </p:nvPicPr>
        <p:blipFill rotWithShape="1">
          <a:blip r:embed="rId3">
            <a:alphaModFix/>
          </a:blip>
          <a:srcRect b="0" l="0" r="0" t="0"/>
          <a:stretch/>
        </p:blipFill>
        <p:spPr>
          <a:xfrm>
            <a:off x="731520" y="4050792"/>
            <a:ext cx="182880" cy="182880"/>
          </a:xfrm>
          <a:prstGeom prst="rect">
            <a:avLst/>
          </a:prstGeom>
          <a:noFill/>
          <a:ln>
            <a:noFill/>
          </a:ln>
        </p:spPr>
      </p:pic>
      <p:sp>
        <p:nvSpPr>
          <p:cNvPr id="138" name="Google Shape;138;p7"/>
          <p:cNvSpPr/>
          <p:nvPr/>
        </p:nvSpPr>
        <p:spPr>
          <a:xfrm>
            <a:off x="1051560" y="4032504"/>
            <a:ext cx="7223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50"/>
              <a:buFont typeface="Calibri"/>
              <a:buNone/>
            </a:pPr>
            <a:r>
              <a:rPr b="0" i="0" lang="en-US" sz="1150" u="none" cap="none" strike="noStrike">
                <a:solidFill>
                  <a:srgbClr val="475569"/>
                </a:solidFill>
                <a:latin typeface="Calibri"/>
                <a:ea typeface="Calibri"/>
                <a:cs typeface="Calibri"/>
                <a:sym typeface="Calibri"/>
              </a:rPr>
              <a:t>Overhead ≈ one prompt decoding pass (reuses base model weights), negligible extra memory</a:t>
            </a:r>
            <a:endParaRPr b="0" i="0" sz="1150" u="none" cap="none" strike="noStrike">
              <a:solidFill>
                <a:schemeClr val="dk1"/>
              </a:solidFill>
              <a:latin typeface="Calibri"/>
              <a:ea typeface="Calibri"/>
              <a:cs typeface="Calibri"/>
              <a:sym typeface="Calibri"/>
            </a:endParaRPr>
          </a:p>
        </p:txBody>
      </p:sp>
      <p:pic>
        <p:nvPicPr>
          <p:cNvPr descr="preencoded.png" id="139" name="Google Shape;139;p7"/>
          <p:cNvPicPr preferRelativeResize="0"/>
          <p:nvPr/>
        </p:nvPicPr>
        <p:blipFill rotWithShape="1">
          <a:blip r:embed="rId3">
            <a:alphaModFix/>
          </a:blip>
          <a:srcRect b="0" l="0" r="0" t="0"/>
          <a:stretch/>
        </p:blipFill>
        <p:spPr>
          <a:xfrm>
            <a:off x="731520" y="4352544"/>
            <a:ext cx="182880" cy="182880"/>
          </a:xfrm>
          <a:prstGeom prst="rect">
            <a:avLst/>
          </a:prstGeom>
          <a:noFill/>
          <a:ln>
            <a:noFill/>
          </a:ln>
        </p:spPr>
      </p:pic>
      <p:sp>
        <p:nvSpPr>
          <p:cNvPr id="140" name="Google Shape;140;p7"/>
          <p:cNvSpPr/>
          <p:nvPr/>
        </p:nvSpPr>
        <p:spPr>
          <a:xfrm>
            <a:off x="1051560" y="4334256"/>
            <a:ext cx="7223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50"/>
              <a:buFont typeface="Calibri"/>
              <a:buNone/>
            </a:pPr>
            <a:r>
              <a:rPr b="0" i="0" lang="en-US" sz="1150" u="none" cap="none" strike="noStrike">
                <a:solidFill>
                  <a:srgbClr val="475569"/>
                </a:solidFill>
                <a:latin typeface="Calibri"/>
                <a:ea typeface="Calibri"/>
                <a:cs typeface="Calibri"/>
                <a:sym typeface="Calibri"/>
              </a:rPr>
              <a:t>Cache-aware: prefers top-k adapters already in memory to avoid disk loads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45" name="Shape 145"/>
        <p:cNvGrpSpPr/>
        <p:nvPr/>
      </p:nvGrpSpPr>
      <p:grpSpPr>
        <a:xfrm>
          <a:off x="0" y="0"/>
          <a:ext cx="0" cy="0"/>
          <a:chOff x="0" y="0"/>
          <a:chExt cx="0" cy="0"/>
        </a:xfrm>
      </p:grpSpPr>
      <p:sp>
        <p:nvSpPr>
          <p:cNvPr id="146" name="Google Shape;146;p8"/>
          <p:cNvSpPr/>
          <p:nvPr/>
        </p:nvSpPr>
        <p:spPr>
          <a:xfrm>
            <a:off x="0" y="0"/>
            <a:ext cx="54864" cy="51435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p:nvPr/>
        </p:nvSpPr>
        <p:spPr>
          <a:xfrm>
            <a:off x="640080" y="27432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400"/>
              <a:buFont typeface="Trebuchet MS"/>
              <a:buNone/>
            </a:pPr>
            <a:r>
              <a:rPr b="1" i="0" lang="en-US" sz="2400" u="none" cap="none" strike="noStrike">
                <a:solidFill>
                  <a:srgbClr val="1E293B"/>
                </a:solidFill>
                <a:latin typeface="Trebuchet MS"/>
                <a:ea typeface="Trebuchet MS"/>
                <a:cs typeface="Trebuchet MS"/>
                <a:sym typeface="Trebuchet MS"/>
              </a:rPr>
              <a:t>Innovations 2 &amp; 3: Memory Management + Batch Inference</a:t>
            </a:r>
            <a:endParaRPr b="0" i="0" sz="2400" u="none" cap="none" strike="noStrike">
              <a:solidFill>
                <a:schemeClr val="dk1"/>
              </a:solidFill>
              <a:latin typeface="Calibri"/>
              <a:ea typeface="Calibri"/>
              <a:cs typeface="Calibri"/>
              <a:sym typeface="Calibri"/>
            </a:endParaRPr>
          </a:p>
        </p:txBody>
      </p:sp>
      <p:sp>
        <p:nvSpPr>
          <p:cNvPr id="148" name="Google Shape;148;p8"/>
          <p:cNvSpPr/>
          <p:nvPr/>
        </p:nvSpPr>
        <p:spPr>
          <a:xfrm>
            <a:off x="457200" y="914400"/>
            <a:ext cx="3931920" cy="3840480"/>
          </a:xfrm>
          <a:prstGeom prst="rect">
            <a:avLst/>
          </a:prstGeom>
          <a:solidFill>
            <a:srgbClr val="FFFFFF"/>
          </a:solidFill>
          <a:ln>
            <a:noFill/>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8"/>
          <p:cNvSpPr/>
          <p:nvPr/>
        </p:nvSpPr>
        <p:spPr>
          <a:xfrm>
            <a:off x="457200" y="914400"/>
            <a:ext cx="3931920" cy="4572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0" name="Google Shape;150;p8"/>
          <p:cNvPicPr preferRelativeResize="0"/>
          <p:nvPr/>
        </p:nvPicPr>
        <p:blipFill rotWithShape="1">
          <a:blip r:embed="rId3">
            <a:alphaModFix/>
          </a:blip>
          <a:srcRect b="0" l="0" r="0" t="0"/>
          <a:stretch/>
        </p:blipFill>
        <p:spPr>
          <a:xfrm>
            <a:off x="731520" y="1143000"/>
            <a:ext cx="320040" cy="320040"/>
          </a:xfrm>
          <a:prstGeom prst="rect">
            <a:avLst/>
          </a:prstGeom>
          <a:noFill/>
          <a:ln>
            <a:noFill/>
          </a:ln>
        </p:spPr>
      </p:pic>
      <p:sp>
        <p:nvSpPr>
          <p:cNvPr id="151" name="Google Shape;151;p8"/>
          <p:cNvSpPr/>
          <p:nvPr/>
        </p:nvSpPr>
        <p:spPr>
          <a:xfrm>
            <a:off x="1143000" y="1143000"/>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Trebuchet MS"/>
              <a:buNone/>
            </a:pPr>
            <a:r>
              <a:rPr b="1" i="0" lang="en-US" sz="1500" u="none" cap="none" strike="noStrike">
                <a:solidFill>
                  <a:srgbClr val="1E293B"/>
                </a:solidFill>
                <a:latin typeface="Trebuchet MS"/>
                <a:ea typeface="Trebuchet MS"/>
                <a:cs typeface="Trebuchet MS"/>
                <a:sym typeface="Trebuchet MS"/>
              </a:rPr>
              <a:t>Heterogeneous Memory Manager</a:t>
            </a:r>
            <a:endParaRPr b="0" i="0" sz="1500" u="none" cap="none" strike="noStrike">
              <a:solidFill>
                <a:schemeClr val="dk1"/>
              </a:solidFill>
              <a:latin typeface="Calibri"/>
              <a:ea typeface="Calibri"/>
              <a:cs typeface="Calibri"/>
              <a:sym typeface="Calibri"/>
            </a:endParaRPr>
          </a:p>
        </p:txBody>
      </p:sp>
      <p:sp>
        <p:nvSpPr>
          <p:cNvPr id="152" name="Google Shape;152;p8"/>
          <p:cNvSpPr/>
          <p:nvPr/>
        </p:nvSpPr>
        <p:spPr>
          <a:xfrm>
            <a:off x="731520" y="169164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200"/>
              <a:buFont typeface="Trebuchet MS"/>
              <a:buNone/>
            </a:pPr>
            <a:r>
              <a:rPr b="1" i="0" lang="en-US" sz="1200" u="none" cap="none" strike="noStrike">
                <a:solidFill>
                  <a:srgbClr val="0D9488"/>
                </a:solidFill>
                <a:latin typeface="Trebuchet MS"/>
                <a:ea typeface="Trebuchet MS"/>
                <a:cs typeface="Trebuchet MS"/>
                <a:sym typeface="Trebuchet MS"/>
              </a:rPr>
              <a:t>LRU Cache</a:t>
            </a:r>
            <a:endParaRPr b="0" i="0" sz="1200" u="none" cap="none" strike="noStrike">
              <a:solidFill>
                <a:schemeClr val="dk1"/>
              </a:solidFill>
              <a:latin typeface="Calibri"/>
              <a:ea typeface="Calibri"/>
              <a:cs typeface="Calibri"/>
              <a:sym typeface="Calibri"/>
            </a:endParaRPr>
          </a:p>
        </p:txBody>
      </p:sp>
      <p:sp>
        <p:nvSpPr>
          <p:cNvPr id="153" name="Google Shape;153;p8"/>
          <p:cNvSpPr/>
          <p:nvPr/>
        </p:nvSpPr>
        <p:spPr>
          <a:xfrm>
            <a:off x="731520" y="1947672"/>
            <a:ext cx="3474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0" i="0" lang="en-US" sz="1100" u="none" cap="none" strike="noStrike">
                <a:solidFill>
                  <a:srgbClr val="475569"/>
                </a:solidFill>
                <a:latin typeface="Calibri"/>
                <a:ea typeface="Calibri"/>
                <a:cs typeface="Calibri"/>
                <a:sym typeface="Calibri"/>
              </a:rPr>
              <a:t>Retains frequently accessed adapters; evicts least-recently-used when full. Exploits power-law usage (~10% of adapters serve ~80% of requests).</a:t>
            </a:r>
            <a:endParaRPr b="0" i="0" sz="1100" u="none" cap="none" strike="noStrike">
              <a:solidFill>
                <a:schemeClr val="dk1"/>
              </a:solidFill>
              <a:latin typeface="Calibri"/>
              <a:ea typeface="Calibri"/>
              <a:cs typeface="Calibri"/>
              <a:sym typeface="Calibri"/>
            </a:endParaRPr>
          </a:p>
        </p:txBody>
      </p:sp>
      <p:sp>
        <p:nvSpPr>
          <p:cNvPr id="154" name="Google Shape;154;p8"/>
          <p:cNvSpPr/>
          <p:nvPr/>
        </p:nvSpPr>
        <p:spPr>
          <a:xfrm>
            <a:off x="731520" y="265176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200"/>
              <a:buFont typeface="Trebuchet MS"/>
              <a:buNone/>
            </a:pPr>
            <a:r>
              <a:rPr b="1" i="0" lang="en-US" sz="1200" u="none" cap="none" strike="noStrike">
                <a:solidFill>
                  <a:srgbClr val="0D9488"/>
                </a:solidFill>
                <a:latin typeface="Trebuchet MS"/>
                <a:ea typeface="Trebuchet MS"/>
                <a:cs typeface="Trebuchet MS"/>
                <a:sym typeface="Trebuchet MS"/>
              </a:rPr>
              <a:t>Pre-allocated Pool</a:t>
            </a:r>
            <a:endParaRPr b="0" i="0" sz="1200" u="none" cap="none" strike="noStrike">
              <a:solidFill>
                <a:schemeClr val="dk1"/>
              </a:solidFill>
              <a:latin typeface="Calibri"/>
              <a:ea typeface="Calibri"/>
              <a:cs typeface="Calibri"/>
              <a:sym typeface="Calibri"/>
            </a:endParaRPr>
          </a:p>
        </p:txBody>
      </p:sp>
      <p:sp>
        <p:nvSpPr>
          <p:cNvPr id="155" name="Google Shape;155;p8"/>
          <p:cNvSpPr/>
          <p:nvPr/>
        </p:nvSpPr>
        <p:spPr>
          <a:xfrm>
            <a:off x="731520" y="2907792"/>
            <a:ext cx="3474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0" i="0" lang="en-US" sz="1100" u="none" cap="none" strike="noStrike">
                <a:solidFill>
                  <a:srgbClr val="475569"/>
                </a:solidFill>
                <a:latin typeface="Calibri"/>
                <a:ea typeface="Calibri"/>
                <a:cs typeface="Calibri"/>
                <a:sym typeface="Calibri"/>
              </a:rPr>
              <a:t>Fixed memory blocks reserved at init. New adapters assigned to free blocks — no dynamic malloc at runtime.</a:t>
            </a:r>
            <a:endParaRPr b="0" i="0" sz="1100" u="none" cap="none" strike="noStrike">
              <a:solidFill>
                <a:schemeClr val="dk1"/>
              </a:solidFill>
              <a:latin typeface="Calibri"/>
              <a:ea typeface="Calibri"/>
              <a:cs typeface="Calibri"/>
              <a:sym typeface="Calibri"/>
            </a:endParaRPr>
          </a:p>
        </p:txBody>
      </p:sp>
      <p:sp>
        <p:nvSpPr>
          <p:cNvPr id="156" name="Google Shape;156;p8"/>
          <p:cNvSpPr/>
          <p:nvPr/>
        </p:nvSpPr>
        <p:spPr>
          <a:xfrm>
            <a:off x="731520" y="361188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200"/>
              <a:buFont typeface="Trebuchet MS"/>
              <a:buNone/>
            </a:pPr>
            <a:r>
              <a:rPr b="1" i="0" lang="en-US" sz="1200" u="none" cap="none" strike="noStrike">
                <a:solidFill>
                  <a:srgbClr val="0D9488"/>
                </a:solidFill>
                <a:latin typeface="Trebuchet MS"/>
                <a:ea typeface="Trebuchet MS"/>
                <a:cs typeface="Trebuchet MS"/>
                <a:sym typeface="Trebuchet MS"/>
              </a:rPr>
              <a:t>Benefits</a:t>
            </a:r>
            <a:endParaRPr b="0" i="0" sz="1200" u="none" cap="none" strike="noStrike">
              <a:solidFill>
                <a:schemeClr val="dk1"/>
              </a:solidFill>
              <a:latin typeface="Calibri"/>
              <a:ea typeface="Calibri"/>
              <a:cs typeface="Calibri"/>
              <a:sym typeface="Calibri"/>
            </a:endParaRPr>
          </a:p>
        </p:txBody>
      </p:sp>
      <p:sp>
        <p:nvSpPr>
          <p:cNvPr id="157" name="Google Shape;157;p8"/>
          <p:cNvSpPr/>
          <p:nvPr/>
        </p:nvSpPr>
        <p:spPr>
          <a:xfrm>
            <a:off x="731520" y="3867912"/>
            <a:ext cx="3474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0" i="0" lang="en-US" sz="1100" u="none" cap="none" strike="noStrike">
                <a:solidFill>
                  <a:srgbClr val="475569"/>
                </a:solidFill>
                <a:latin typeface="Calibri"/>
                <a:ea typeface="Calibri"/>
                <a:cs typeface="Calibri"/>
                <a:sym typeface="Calibri"/>
              </a:rPr>
              <a:t>Minimizes fragmentation, reduces swap latency, enables 1000+ adapters where llama.cpp OOMs at ~50.</a:t>
            </a:r>
            <a:endParaRPr b="0" i="0" sz="1100" u="none" cap="none" strike="noStrike">
              <a:solidFill>
                <a:schemeClr val="dk1"/>
              </a:solidFill>
              <a:latin typeface="Calibri"/>
              <a:ea typeface="Calibri"/>
              <a:cs typeface="Calibri"/>
              <a:sym typeface="Calibri"/>
            </a:endParaRPr>
          </a:p>
        </p:txBody>
      </p:sp>
      <p:sp>
        <p:nvSpPr>
          <p:cNvPr id="158" name="Google Shape;158;p8"/>
          <p:cNvSpPr/>
          <p:nvPr/>
        </p:nvSpPr>
        <p:spPr>
          <a:xfrm>
            <a:off x="4754880" y="914400"/>
            <a:ext cx="3931920" cy="3840480"/>
          </a:xfrm>
          <a:prstGeom prst="rect">
            <a:avLst/>
          </a:prstGeom>
          <a:solidFill>
            <a:srgbClr val="FFFFFF"/>
          </a:solidFill>
          <a:ln>
            <a:noFill/>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8"/>
          <p:cNvSpPr/>
          <p:nvPr/>
        </p:nvSpPr>
        <p:spPr>
          <a:xfrm>
            <a:off x="4754880" y="914400"/>
            <a:ext cx="3931920" cy="4572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0" name="Google Shape;160;p8"/>
          <p:cNvPicPr preferRelativeResize="0"/>
          <p:nvPr/>
        </p:nvPicPr>
        <p:blipFill rotWithShape="1">
          <a:blip r:embed="rId4">
            <a:alphaModFix/>
          </a:blip>
          <a:srcRect b="0" l="0" r="0" t="0"/>
          <a:stretch/>
        </p:blipFill>
        <p:spPr>
          <a:xfrm>
            <a:off x="5029200" y="1143000"/>
            <a:ext cx="320040" cy="320040"/>
          </a:xfrm>
          <a:prstGeom prst="rect">
            <a:avLst/>
          </a:prstGeom>
          <a:noFill/>
          <a:ln>
            <a:noFill/>
          </a:ln>
        </p:spPr>
      </p:pic>
      <p:sp>
        <p:nvSpPr>
          <p:cNvPr id="161" name="Google Shape;161;p8"/>
          <p:cNvSpPr/>
          <p:nvPr/>
        </p:nvSpPr>
        <p:spPr>
          <a:xfrm>
            <a:off x="5440680" y="1143000"/>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Trebuchet MS"/>
              <a:buNone/>
            </a:pPr>
            <a:r>
              <a:rPr b="1" i="0" lang="en-US" sz="1500" u="none" cap="none" strike="noStrike">
                <a:solidFill>
                  <a:srgbClr val="1E293B"/>
                </a:solidFill>
                <a:latin typeface="Trebuchet MS"/>
                <a:ea typeface="Trebuchet MS"/>
                <a:cs typeface="Trebuchet MS"/>
                <a:sym typeface="Trebuchet MS"/>
              </a:rPr>
              <a:t>Batch LoRA Inference</a:t>
            </a:r>
            <a:endParaRPr b="0" i="0" sz="1500" u="none" cap="none" strike="noStrike">
              <a:solidFill>
                <a:schemeClr val="dk1"/>
              </a:solidFill>
              <a:latin typeface="Calibri"/>
              <a:ea typeface="Calibri"/>
              <a:cs typeface="Calibri"/>
              <a:sym typeface="Calibri"/>
            </a:endParaRPr>
          </a:p>
        </p:txBody>
      </p:sp>
      <p:sp>
        <p:nvSpPr>
          <p:cNvPr id="162" name="Google Shape;162;p8"/>
          <p:cNvSpPr/>
          <p:nvPr/>
        </p:nvSpPr>
        <p:spPr>
          <a:xfrm>
            <a:off x="5029200" y="1691640"/>
            <a:ext cx="3474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00"/>
              <a:buFont typeface="Calibri"/>
              <a:buNone/>
            </a:pPr>
            <a:r>
              <a:rPr b="0" i="1" lang="en-US" sz="1200" u="none" cap="none" strike="noStrike">
                <a:solidFill>
                  <a:srgbClr val="475569"/>
                </a:solidFill>
                <a:latin typeface="Calibri"/>
                <a:ea typeface="Calibri"/>
                <a:cs typeface="Calibri"/>
                <a:sym typeface="Calibri"/>
              </a:rPr>
              <a:t>Key insight: base model computation is shared across ALL requests regardless of adapter.</a:t>
            </a:r>
            <a:endParaRPr b="0" i="0" sz="1200" u="none" cap="none" strike="noStrike">
              <a:solidFill>
                <a:schemeClr val="dk1"/>
              </a:solidFill>
              <a:latin typeface="Calibri"/>
              <a:ea typeface="Calibri"/>
              <a:cs typeface="Calibri"/>
              <a:sym typeface="Calibri"/>
            </a:endParaRPr>
          </a:p>
        </p:txBody>
      </p:sp>
      <p:sp>
        <p:nvSpPr>
          <p:cNvPr id="163" name="Google Shape;163;p8"/>
          <p:cNvSpPr/>
          <p:nvPr/>
        </p:nvSpPr>
        <p:spPr>
          <a:xfrm>
            <a:off x="5029200" y="2304288"/>
            <a:ext cx="274320" cy="274320"/>
          </a:xfrm>
          <a:prstGeom prst="ellipse">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8"/>
          <p:cNvSpPr/>
          <p:nvPr/>
        </p:nvSpPr>
        <p:spPr>
          <a:xfrm>
            <a:off x="5029200" y="230428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1</a:t>
            </a:r>
            <a:endParaRPr b="0" i="0" sz="1100" u="none" cap="none" strike="noStrike">
              <a:solidFill>
                <a:schemeClr val="dk1"/>
              </a:solidFill>
              <a:latin typeface="Calibri"/>
              <a:ea typeface="Calibri"/>
              <a:cs typeface="Calibri"/>
              <a:sym typeface="Calibri"/>
            </a:endParaRPr>
          </a:p>
        </p:txBody>
      </p:sp>
      <p:sp>
        <p:nvSpPr>
          <p:cNvPr id="165" name="Google Shape;165;p8"/>
          <p:cNvSpPr/>
          <p:nvPr/>
        </p:nvSpPr>
        <p:spPr>
          <a:xfrm>
            <a:off x="5440680" y="2286000"/>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Calibri"/>
              <a:buNone/>
            </a:pPr>
            <a:r>
              <a:rPr b="0" i="0" lang="en-US" sz="1150" u="none" cap="none" strike="noStrike">
                <a:solidFill>
                  <a:srgbClr val="1E293B"/>
                </a:solidFill>
                <a:latin typeface="Calibri"/>
                <a:ea typeface="Calibri"/>
                <a:cs typeface="Calibri"/>
                <a:sym typeface="Calibri"/>
              </a:rPr>
              <a:t>Batch all inputs:  W × [x₀, x₁, …, xₙ]</a:t>
            </a:r>
            <a:endParaRPr b="0" i="0" sz="1150" u="none" cap="none" strike="noStrike">
              <a:solidFill>
                <a:schemeClr val="dk1"/>
              </a:solidFill>
              <a:latin typeface="Calibri"/>
              <a:ea typeface="Calibri"/>
              <a:cs typeface="Calibri"/>
              <a:sym typeface="Calibri"/>
            </a:endParaRPr>
          </a:p>
        </p:txBody>
      </p:sp>
      <p:sp>
        <p:nvSpPr>
          <p:cNvPr id="166" name="Google Shape;166;p8"/>
          <p:cNvSpPr/>
          <p:nvPr/>
        </p:nvSpPr>
        <p:spPr>
          <a:xfrm>
            <a:off x="5029200" y="2761488"/>
            <a:ext cx="274320" cy="274320"/>
          </a:xfrm>
          <a:prstGeom prst="ellipse">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8"/>
          <p:cNvSpPr/>
          <p:nvPr/>
        </p:nvSpPr>
        <p:spPr>
          <a:xfrm>
            <a:off x="5029200" y="276148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2</a:t>
            </a:r>
            <a:endParaRPr b="0" i="0" sz="1100" u="none" cap="none" strike="noStrike">
              <a:solidFill>
                <a:schemeClr val="dk1"/>
              </a:solidFill>
              <a:latin typeface="Calibri"/>
              <a:ea typeface="Calibri"/>
              <a:cs typeface="Calibri"/>
              <a:sym typeface="Calibri"/>
            </a:endParaRPr>
          </a:p>
        </p:txBody>
      </p:sp>
      <p:sp>
        <p:nvSpPr>
          <p:cNvPr id="168" name="Google Shape;168;p8"/>
          <p:cNvSpPr/>
          <p:nvPr/>
        </p:nvSpPr>
        <p:spPr>
          <a:xfrm>
            <a:off x="5440680" y="2743200"/>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Calibri"/>
              <a:buNone/>
            </a:pPr>
            <a:r>
              <a:rPr b="0" i="0" lang="en-US" sz="1150" u="none" cap="none" strike="noStrike">
                <a:solidFill>
                  <a:srgbClr val="1E293B"/>
                </a:solidFill>
                <a:latin typeface="Calibri"/>
                <a:ea typeface="Calibri"/>
                <a:cs typeface="Calibri"/>
                <a:sym typeface="Calibri"/>
              </a:rPr>
              <a:t>Group by adapter for LoRA part (gather)</a:t>
            </a:r>
            <a:endParaRPr b="0" i="0" sz="1150" u="none" cap="none" strike="noStrike">
              <a:solidFill>
                <a:schemeClr val="dk1"/>
              </a:solidFill>
              <a:latin typeface="Calibri"/>
              <a:ea typeface="Calibri"/>
              <a:cs typeface="Calibri"/>
              <a:sym typeface="Calibri"/>
            </a:endParaRPr>
          </a:p>
        </p:txBody>
      </p:sp>
      <p:sp>
        <p:nvSpPr>
          <p:cNvPr id="169" name="Google Shape;169;p8"/>
          <p:cNvSpPr/>
          <p:nvPr/>
        </p:nvSpPr>
        <p:spPr>
          <a:xfrm>
            <a:off x="5029200" y="3218688"/>
            <a:ext cx="274320" cy="274320"/>
          </a:xfrm>
          <a:prstGeom prst="ellipse">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8"/>
          <p:cNvSpPr/>
          <p:nvPr/>
        </p:nvSpPr>
        <p:spPr>
          <a:xfrm>
            <a:off x="5029200" y="321868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3</a:t>
            </a:r>
            <a:endParaRPr b="0" i="0" sz="1100" u="none" cap="none" strike="noStrike">
              <a:solidFill>
                <a:schemeClr val="dk1"/>
              </a:solidFill>
              <a:latin typeface="Calibri"/>
              <a:ea typeface="Calibri"/>
              <a:cs typeface="Calibri"/>
              <a:sym typeface="Calibri"/>
            </a:endParaRPr>
          </a:p>
        </p:txBody>
      </p:sp>
      <p:sp>
        <p:nvSpPr>
          <p:cNvPr id="171" name="Google Shape;171;p8"/>
          <p:cNvSpPr/>
          <p:nvPr/>
        </p:nvSpPr>
        <p:spPr>
          <a:xfrm>
            <a:off x="5440680" y="3200400"/>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Calibri"/>
              <a:buNone/>
            </a:pPr>
            <a:r>
              <a:rPr b="0" i="0" lang="en-US" sz="1150" u="none" cap="none" strike="noStrike">
                <a:solidFill>
                  <a:srgbClr val="1E293B"/>
                </a:solidFill>
                <a:latin typeface="Calibri"/>
                <a:ea typeface="Calibri"/>
                <a:cs typeface="Calibri"/>
                <a:sym typeface="Calibri"/>
              </a:rPr>
              <a:t>Per-adapter matmul:  Bₖ · Aₖ · xₖ</a:t>
            </a:r>
            <a:endParaRPr b="0" i="0" sz="1150" u="none" cap="none" strike="noStrike">
              <a:solidFill>
                <a:schemeClr val="dk1"/>
              </a:solidFill>
              <a:latin typeface="Calibri"/>
              <a:ea typeface="Calibri"/>
              <a:cs typeface="Calibri"/>
              <a:sym typeface="Calibri"/>
            </a:endParaRPr>
          </a:p>
        </p:txBody>
      </p:sp>
      <p:sp>
        <p:nvSpPr>
          <p:cNvPr id="172" name="Google Shape;172;p8"/>
          <p:cNvSpPr/>
          <p:nvPr/>
        </p:nvSpPr>
        <p:spPr>
          <a:xfrm>
            <a:off x="5029200" y="3675888"/>
            <a:ext cx="274320" cy="274320"/>
          </a:xfrm>
          <a:prstGeom prst="ellipse">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
          <p:cNvSpPr/>
          <p:nvPr/>
        </p:nvSpPr>
        <p:spPr>
          <a:xfrm>
            <a:off x="5029200" y="367588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4</a:t>
            </a:r>
            <a:endParaRPr b="0" i="0" sz="1100" u="none" cap="none" strike="noStrike">
              <a:solidFill>
                <a:schemeClr val="dk1"/>
              </a:solidFill>
              <a:latin typeface="Calibri"/>
              <a:ea typeface="Calibri"/>
              <a:cs typeface="Calibri"/>
              <a:sym typeface="Calibri"/>
            </a:endParaRPr>
          </a:p>
        </p:txBody>
      </p:sp>
      <p:sp>
        <p:nvSpPr>
          <p:cNvPr id="174" name="Google Shape;174;p8"/>
          <p:cNvSpPr/>
          <p:nvPr/>
        </p:nvSpPr>
        <p:spPr>
          <a:xfrm>
            <a:off x="5440680" y="3657600"/>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Calibri"/>
              <a:buNone/>
            </a:pPr>
            <a:r>
              <a:rPr b="0" i="0" lang="en-US" sz="1150" u="none" cap="none" strike="noStrike">
                <a:solidFill>
                  <a:srgbClr val="1E293B"/>
                </a:solidFill>
                <a:latin typeface="Calibri"/>
                <a:ea typeface="Calibri"/>
                <a:cs typeface="Calibri"/>
                <a:sym typeface="Calibri"/>
              </a:rPr>
              <a:t>Scatter results back to original positions</a:t>
            </a:r>
            <a:endParaRPr b="0" i="0" sz="1150" u="none" cap="none" strike="noStrike">
              <a:solidFill>
                <a:schemeClr val="dk1"/>
              </a:solidFill>
              <a:latin typeface="Calibri"/>
              <a:ea typeface="Calibri"/>
              <a:cs typeface="Calibri"/>
              <a:sym typeface="Calibri"/>
            </a:endParaRPr>
          </a:p>
        </p:txBody>
      </p:sp>
      <p:sp>
        <p:nvSpPr>
          <p:cNvPr id="175" name="Google Shape;175;p8"/>
          <p:cNvSpPr/>
          <p:nvPr/>
        </p:nvSpPr>
        <p:spPr>
          <a:xfrm>
            <a:off x="5029200" y="4133088"/>
            <a:ext cx="274320" cy="27432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8"/>
          <p:cNvSpPr/>
          <p:nvPr/>
        </p:nvSpPr>
        <p:spPr>
          <a:xfrm>
            <a:off x="5029200" y="413308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5</a:t>
            </a:r>
            <a:endParaRPr b="0" i="0" sz="1100" u="none" cap="none" strike="noStrike">
              <a:solidFill>
                <a:schemeClr val="dk1"/>
              </a:solidFill>
              <a:latin typeface="Calibri"/>
              <a:ea typeface="Calibri"/>
              <a:cs typeface="Calibri"/>
              <a:sym typeface="Calibri"/>
            </a:endParaRPr>
          </a:p>
        </p:txBody>
      </p:sp>
      <p:sp>
        <p:nvSpPr>
          <p:cNvPr id="177" name="Google Shape;177;p8"/>
          <p:cNvSpPr/>
          <p:nvPr/>
        </p:nvSpPr>
        <p:spPr>
          <a:xfrm>
            <a:off x="5440680" y="4114800"/>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Consolas"/>
              <a:buNone/>
            </a:pPr>
            <a:r>
              <a:rPr b="0" i="0" lang="en-US" sz="1150" u="none" cap="none" strike="noStrike">
                <a:solidFill>
                  <a:srgbClr val="1E293B"/>
                </a:solidFill>
                <a:latin typeface="Consolas"/>
                <a:ea typeface="Consolas"/>
                <a:cs typeface="Consolas"/>
                <a:sym typeface="Consolas"/>
              </a:rPr>
              <a:t>Final: yᵢ = Wxᵢ + BᵢAᵢxᵢ</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2D"/>
        </a:solidFill>
      </p:bgPr>
    </p:bg>
    <p:spTree>
      <p:nvGrpSpPr>
        <p:cNvPr id="182" name="Shape 182"/>
        <p:cNvGrpSpPr/>
        <p:nvPr/>
      </p:nvGrpSpPr>
      <p:grpSpPr>
        <a:xfrm>
          <a:off x="0" y="0"/>
          <a:ext cx="0" cy="0"/>
          <a:chOff x="0" y="0"/>
          <a:chExt cx="0" cy="0"/>
        </a:xfrm>
      </p:grpSpPr>
      <p:sp>
        <p:nvSpPr>
          <p:cNvPr id="183" name="Google Shape;183;p9"/>
          <p:cNvSpPr/>
          <p:nvPr/>
        </p:nvSpPr>
        <p:spPr>
          <a:xfrm>
            <a:off x="0" y="0"/>
            <a:ext cx="9144000" cy="54864"/>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9"/>
          <p:cNvSpPr/>
          <p:nvPr/>
        </p:nvSpPr>
        <p:spPr>
          <a:xfrm>
            <a:off x="640080" y="22860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Trebuchet MS"/>
              <a:buNone/>
            </a:pPr>
            <a:r>
              <a:rPr b="1" i="0" lang="en-US" sz="2800" u="none" cap="none" strike="noStrike">
                <a:solidFill>
                  <a:srgbClr val="FFFFFF"/>
                </a:solidFill>
                <a:latin typeface="Trebuchet MS"/>
                <a:ea typeface="Trebuchet MS"/>
                <a:cs typeface="Trebuchet MS"/>
                <a:sym typeface="Trebuchet MS"/>
              </a:rPr>
              <a:t>Evaluation Results</a:t>
            </a:r>
            <a:endParaRPr b="0" i="0" sz="2800" u="none" cap="none" strike="noStrike">
              <a:solidFill>
                <a:schemeClr val="dk1"/>
              </a:solidFill>
              <a:latin typeface="Calibri"/>
              <a:ea typeface="Calibri"/>
              <a:cs typeface="Calibri"/>
              <a:sym typeface="Calibri"/>
            </a:endParaRPr>
          </a:p>
        </p:txBody>
      </p:sp>
      <p:sp>
        <p:nvSpPr>
          <p:cNvPr id="185" name="Google Shape;185;p9"/>
          <p:cNvSpPr/>
          <p:nvPr/>
        </p:nvSpPr>
        <p:spPr>
          <a:xfrm>
            <a:off x="640080" y="685800"/>
            <a:ext cx="7863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00"/>
              <a:buFont typeface="Calibri"/>
              <a:buNone/>
            </a:pPr>
            <a:r>
              <a:rPr b="0" i="0" lang="en-US" sz="1100" u="none" cap="none" strike="noStrike">
                <a:solidFill>
                  <a:srgbClr val="94A3B8"/>
                </a:solidFill>
                <a:latin typeface="Calibri"/>
                <a:ea typeface="Calibri"/>
                <a:cs typeface="Calibri"/>
                <a:sym typeface="Calibri"/>
              </a:rPr>
              <a:t>Tested on Jetson AGX Orin, Jetson Orin Nano, Raspberry Pi 5 with Llama3.1-8B, Llama3.2-3B, OpenELM-1.1B</a:t>
            </a:r>
            <a:endParaRPr b="0" i="0" sz="1100" u="none" cap="none" strike="noStrike">
              <a:solidFill>
                <a:schemeClr val="dk1"/>
              </a:solidFill>
              <a:latin typeface="Calibri"/>
              <a:ea typeface="Calibri"/>
              <a:cs typeface="Calibri"/>
              <a:sym typeface="Calibri"/>
            </a:endParaRPr>
          </a:p>
        </p:txBody>
      </p:sp>
      <p:sp>
        <p:nvSpPr>
          <p:cNvPr id="186" name="Google Shape;186;p9"/>
          <p:cNvSpPr/>
          <p:nvPr/>
        </p:nvSpPr>
        <p:spPr>
          <a:xfrm>
            <a:off x="365760" y="1143000"/>
            <a:ext cx="1920240" cy="1371600"/>
          </a:xfrm>
          <a:prstGeom prst="rect">
            <a:avLst/>
          </a:prstGeom>
          <a:solidFill>
            <a:srgbClr val="1A3048"/>
          </a:solidFill>
          <a:ln>
            <a:noFill/>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9"/>
          <p:cNvSpPr/>
          <p:nvPr/>
        </p:nvSpPr>
        <p:spPr>
          <a:xfrm>
            <a:off x="365760" y="1325880"/>
            <a:ext cx="19202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9488"/>
              </a:buClr>
              <a:buSzPts val="3600"/>
              <a:buFont typeface="Trebuchet MS"/>
              <a:buNone/>
            </a:pPr>
            <a:r>
              <a:rPr b="1" i="0" lang="en-US" sz="3600" u="none" cap="none" strike="noStrike">
                <a:solidFill>
                  <a:srgbClr val="0D9488"/>
                </a:solidFill>
                <a:latin typeface="Trebuchet MS"/>
                <a:ea typeface="Trebuchet MS"/>
                <a:cs typeface="Trebuchet MS"/>
                <a:sym typeface="Trebuchet MS"/>
              </a:rPr>
              <a:t>2–4×</a:t>
            </a:r>
            <a:endParaRPr b="0" i="0" sz="3600" u="none" cap="none" strike="noStrike">
              <a:solidFill>
                <a:schemeClr val="dk1"/>
              </a:solidFill>
              <a:latin typeface="Calibri"/>
              <a:ea typeface="Calibri"/>
              <a:cs typeface="Calibri"/>
              <a:sym typeface="Calibri"/>
            </a:endParaRPr>
          </a:p>
        </p:txBody>
      </p:sp>
      <p:sp>
        <p:nvSpPr>
          <p:cNvPr id="188" name="Google Shape;188;p9"/>
          <p:cNvSpPr/>
          <p:nvPr/>
        </p:nvSpPr>
        <p:spPr>
          <a:xfrm>
            <a:off x="365760" y="1920240"/>
            <a:ext cx="19202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100"/>
              <a:buFont typeface="Calibri"/>
              <a:buNone/>
            </a:pPr>
            <a:r>
              <a:rPr b="0" i="0" lang="en-US" sz="1100" u="none" cap="none" strike="noStrike">
                <a:solidFill>
                  <a:srgbClr val="94A3B8"/>
                </a:solidFill>
                <a:latin typeface="Calibri"/>
                <a:ea typeface="Calibri"/>
                <a:cs typeface="Calibri"/>
                <a:sym typeface="Calibri"/>
              </a:rPr>
              <a:t>Throughput</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4A3B8"/>
              </a:buClr>
              <a:buSzPts val="1100"/>
              <a:buFont typeface="Calibri"/>
              <a:buNone/>
            </a:pPr>
            <a:r>
              <a:rPr b="0" i="0" lang="en-US" sz="1100" u="none" cap="none" strike="noStrike">
                <a:solidFill>
                  <a:srgbClr val="94A3B8"/>
                </a:solidFill>
                <a:latin typeface="Calibri"/>
                <a:ea typeface="Calibri"/>
                <a:cs typeface="Calibri"/>
                <a:sym typeface="Calibri"/>
              </a:rPr>
              <a:t>vs. llama.cpp</a:t>
            </a:r>
            <a:endParaRPr b="0" i="0" sz="1100" u="none" cap="none" strike="noStrike">
              <a:solidFill>
                <a:schemeClr val="dk1"/>
              </a:solidFill>
              <a:latin typeface="Calibri"/>
              <a:ea typeface="Calibri"/>
              <a:cs typeface="Calibri"/>
              <a:sym typeface="Calibri"/>
            </a:endParaRPr>
          </a:p>
        </p:txBody>
      </p:sp>
      <p:sp>
        <p:nvSpPr>
          <p:cNvPr id="189" name="Google Shape;189;p9"/>
          <p:cNvSpPr/>
          <p:nvPr/>
        </p:nvSpPr>
        <p:spPr>
          <a:xfrm>
            <a:off x="2560320" y="1143000"/>
            <a:ext cx="1920240" cy="1371600"/>
          </a:xfrm>
          <a:prstGeom prst="rect">
            <a:avLst/>
          </a:prstGeom>
          <a:solidFill>
            <a:srgbClr val="1A3048"/>
          </a:solidFill>
          <a:ln>
            <a:noFill/>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
          <p:cNvSpPr/>
          <p:nvPr/>
        </p:nvSpPr>
        <p:spPr>
          <a:xfrm>
            <a:off x="2560320" y="1325880"/>
            <a:ext cx="19202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3600"/>
              <a:buFont typeface="Trebuchet MS"/>
              <a:buNone/>
            </a:pPr>
            <a:r>
              <a:rPr b="1" i="0" lang="en-US" sz="3600" u="none" cap="none" strike="noStrike">
                <a:solidFill>
                  <a:srgbClr val="F59E0B"/>
                </a:solidFill>
                <a:latin typeface="Trebuchet MS"/>
                <a:ea typeface="Trebuchet MS"/>
                <a:cs typeface="Trebuchet MS"/>
                <a:sym typeface="Trebuchet MS"/>
              </a:rPr>
              <a:t>1000+</a:t>
            </a:r>
            <a:endParaRPr b="0" i="0" sz="3600" u="none" cap="none" strike="noStrike">
              <a:solidFill>
                <a:schemeClr val="dk1"/>
              </a:solidFill>
              <a:latin typeface="Calibri"/>
              <a:ea typeface="Calibri"/>
              <a:cs typeface="Calibri"/>
              <a:sym typeface="Calibri"/>
            </a:endParaRPr>
          </a:p>
        </p:txBody>
      </p:sp>
      <p:sp>
        <p:nvSpPr>
          <p:cNvPr id="191" name="Google Shape;191;p9"/>
          <p:cNvSpPr/>
          <p:nvPr/>
        </p:nvSpPr>
        <p:spPr>
          <a:xfrm>
            <a:off x="2560320" y="1920240"/>
            <a:ext cx="19202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100"/>
              <a:buFont typeface="Calibri"/>
              <a:buNone/>
            </a:pPr>
            <a:r>
              <a:rPr b="0" i="0" lang="en-US" sz="1100" u="none" cap="none" strike="noStrike">
                <a:solidFill>
                  <a:srgbClr val="94A3B8"/>
                </a:solidFill>
                <a:latin typeface="Calibri"/>
                <a:ea typeface="Calibri"/>
                <a:cs typeface="Calibri"/>
                <a:sym typeface="Calibri"/>
              </a:rPr>
              <a:t>Adapters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4A3B8"/>
              </a:buClr>
              <a:buSzPts val="1100"/>
              <a:buFont typeface="Calibri"/>
              <a:buNone/>
            </a:pPr>
            <a:r>
              <a:rPr b="0" i="0" lang="en-US" sz="1100" u="none" cap="none" strike="noStrike">
                <a:solidFill>
                  <a:srgbClr val="94A3B8"/>
                </a:solidFill>
                <a:latin typeface="Calibri"/>
                <a:ea typeface="Calibri"/>
                <a:cs typeface="Calibri"/>
                <a:sym typeface="Calibri"/>
              </a:rPr>
              <a:t>served</a:t>
            </a:r>
            <a:endParaRPr b="0" i="0" sz="1100" u="none" cap="none" strike="noStrike">
              <a:solidFill>
                <a:schemeClr val="dk1"/>
              </a:solidFill>
              <a:latin typeface="Calibri"/>
              <a:ea typeface="Calibri"/>
              <a:cs typeface="Calibri"/>
              <a:sym typeface="Calibri"/>
            </a:endParaRPr>
          </a:p>
        </p:txBody>
      </p:sp>
      <p:sp>
        <p:nvSpPr>
          <p:cNvPr id="192" name="Google Shape;192;p9"/>
          <p:cNvSpPr/>
          <p:nvPr/>
        </p:nvSpPr>
        <p:spPr>
          <a:xfrm>
            <a:off x="4754880" y="1143000"/>
            <a:ext cx="1920240" cy="1371600"/>
          </a:xfrm>
          <a:prstGeom prst="rect">
            <a:avLst/>
          </a:prstGeom>
          <a:solidFill>
            <a:srgbClr val="1A3048"/>
          </a:solidFill>
          <a:ln>
            <a:noFill/>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9"/>
          <p:cNvSpPr/>
          <p:nvPr/>
        </p:nvSpPr>
        <p:spPr>
          <a:xfrm>
            <a:off x="4754880" y="1325880"/>
            <a:ext cx="19202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3600"/>
              <a:buFont typeface="Trebuchet MS"/>
              <a:buNone/>
            </a:pPr>
            <a:r>
              <a:rPr b="1" i="0" lang="en-US" sz="3600" u="none" cap="none" strike="noStrike">
                <a:solidFill>
                  <a:srgbClr val="10B981"/>
                </a:solidFill>
                <a:latin typeface="Trebuchet MS"/>
                <a:ea typeface="Trebuchet MS"/>
                <a:cs typeface="Trebuchet MS"/>
                <a:sym typeface="Trebuchet MS"/>
              </a:rPr>
              <a:t>~99%</a:t>
            </a:r>
            <a:endParaRPr b="0" i="0" sz="3600" u="none" cap="none" strike="noStrike">
              <a:solidFill>
                <a:schemeClr val="dk1"/>
              </a:solidFill>
              <a:latin typeface="Calibri"/>
              <a:ea typeface="Calibri"/>
              <a:cs typeface="Calibri"/>
              <a:sym typeface="Calibri"/>
            </a:endParaRPr>
          </a:p>
        </p:txBody>
      </p:sp>
      <p:sp>
        <p:nvSpPr>
          <p:cNvPr id="194" name="Google Shape;194;p9"/>
          <p:cNvSpPr/>
          <p:nvPr/>
        </p:nvSpPr>
        <p:spPr>
          <a:xfrm>
            <a:off x="4754880" y="1920240"/>
            <a:ext cx="19202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100"/>
              <a:buFont typeface="Calibri"/>
              <a:buNone/>
            </a:pPr>
            <a:r>
              <a:rPr b="0" i="0" lang="en-US" sz="1100" u="none" cap="none" strike="noStrike">
                <a:solidFill>
                  <a:srgbClr val="94A3B8"/>
                </a:solidFill>
                <a:latin typeface="Calibri"/>
                <a:ea typeface="Calibri"/>
                <a:cs typeface="Calibri"/>
                <a:sym typeface="Calibri"/>
              </a:rPr>
              <a:t>SLO</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4A3B8"/>
              </a:buClr>
              <a:buSzPts val="1100"/>
              <a:buFont typeface="Calibri"/>
              <a:buNone/>
            </a:pPr>
            <a:r>
              <a:rPr b="0" i="0" lang="en-US" sz="1100" u="none" cap="none" strike="noStrike">
                <a:solidFill>
                  <a:srgbClr val="94A3B8"/>
                </a:solidFill>
                <a:latin typeface="Calibri"/>
                <a:ea typeface="Calibri"/>
                <a:cs typeface="Calibri"/>
                <a:sym typeface="Calibri"/>
              </a:rPr>
              <a:t>attainment</a:t>
            </a:r>
            <a:endParaRPr b="0" i="0" sz="1100" u="none" cap="none" strike="noStrike">
              <a:solidFill>
                <a:schemeClr val="dk1"/>
              </a:solidFill>
              <a:latin typeface="Calibri"/>
              <a:ea typeface="Calibri"/>
              <a:cs typeface="Calibri"/>
              <a:sym typeface="Calibri"/>
            </a:endParaRPr>
          </a:p>
        </p:txBody>
      </p:sp>
      <p:sp>
        <p:nvSpPr>
          <p:cNvPr id="195" name="Google Shape;195;p9"/>
          <p:cNvSpPr/>
          <p:nvPr/>
        </p:nvSpPr>
        <p:spPr>
          <a:xfrm>
            <a:off x="6949440" y="1143000"/>
            <a:ext cx="1920240" cy="1371600"/>
          </a:xfrm>
          <a:prstGeom prst="rect">
            <a:avLst/>
          </a:prstGeom>
          <a:solidFill>
            <a:srgbClr val="1A3048"/>
          </a:solidFill>
          <a:ln>
            <a:noFill/>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
          <p:cNvSpPr/>
          <p:nvPr/>
        </p:nvSpPr>
        <p:spPr>
          <a:xfrm>
            <a:off x="6949440" y="1325880"/>
            <a:ext cx="19202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B8A6"/>
              </a:buClr>
              <a:buSzPts val="3600"/>
              <a:buFont typeface="Trebuchet MS"/>
              <a:buNone/>
            </a:pPr>
            <a:r>
              <a:rPr b="1" i="0" lang="en-US" sz="3600" u="none" cap="none" strike="noStrike">
                <a:solidFill>
                  <a:srgbClr val="14B8A6"/>
                </a:solidFill>
                <a:latin typeface="Trebuchet MS"/>
                <a:ea typeface="Trebuchet MS"/>
                <a:cs typeface="Trebuchet MS"/>
                <a:sym typeface="Trebuchet MS"/>
              </a:rPr>
              <a:t>&lt; 0.6s</a:t>
            </a:r>
            <a:endParaRPr b="0" i="0" sz="3600" u="none" cap="none" strike="noStrike">
              <a:solidFill>
                <a:schemeClr val="dk1"/>
              </a:solidFill>
              <a:latin typeface="Calibri"/>
              <a:ea typeface="Calibri"/>
              <a:cs typeface="Calibri"/>
              <a:sym typeface="Calibri"/>
            </a:endParaRPr>
          </a:p>
        </p:txBody>
      </p:sp>
      <p:sp>
        <p:nvSpPr>
          <p:cNvPr id="197" name="Google Shape;197;p9"/>
          <p:cNvSpPr/>
          <p:nvPr/>
        </p:nvSpPr>
        <p:spPr>
          <a:xfrm>
            <a:off x="6949440" y="1920240"/>
            <a:ext cx="19202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100"/>
              <a:buFont typeface="Calibri"/>
              <a:buNone/>
            </a:pPr>
            <a:r>
              <a:rPr b="0" i="0" lang="en-US" sz="1100" u="none" cap="none" strike="noStrike">
                <a:solidFill>
                  <a:srgbClr val="94A3B8"/>
                </a:solidFill>
                <a:latin typeface="Calibri"/>
                <a:ea typeface="Calibri"/>
                <a:cs typeface="Calibri"/>
                <a:sym typeface="Calibri"/>
              </a:rPr>
              <a:t>First token</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4A3B8"/>
              </a:buClr>
              <a:buSzPts val="1100"/>
              <a:buFont typeface="Calibri"/>
              <a:buNone/>
            </a:pPr>
            <a:r>
              <a:rPr b="0" i="0" lang="en-US" sz="1100" u="none" cap="none" strike="noStrike">
                <a:solidFill>
                  <a:srgbClr val="94A3B8"/>
                </a:solidFill>
                <a:latin typeface="Calibri"/>
                <a:ea typeface="Calibri"/>
                <a:cs typeface="Calibri"/>
                <a:sym typeface="Calibri"/>
              </a:rPr>
              <a:t>latency</a:t>
            </a:r>
            <a:endParaRPr b="0" i="0" sz="1100" u="none" cap="none" strike="noStrike">
              <a:solidFill>
                <a:schemeClr val="dk1"/>
              </a:solidFill>
              <a:latin typeface="Calibri"/>
              <a:ea typeface="Calibri"/>
              <a:cs typeface="Calibri"/>
              <a:sym typeface="Calibri"/>
            </a:endParaRPr>
          </a:p>
        </p:txBody>
      </p:sp>
      <p:sp>
        <p:nvSpPr>
          <p:cNvPr id="198" name="Google Shape;198;p9"/>
          <p:cNvSpPr/>
          <p:nvPr/>
        </p:nvSpPr>
        <p:spPr>
          <a:xfrm>
            <a:off x="457200" y="2743200"/>
            <a:ext cx="4114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300"/>
              <a:buFont typeface="Trebuchet MS"/>
              <a:buNone/>
            </a:pPr>
            <a:r>
              <a:rPr b="1" i="0" lang="en-US" sz="1300" u="none" cap="none" strike="noStrike">
                <a:solidFill>
                  <a:srgbClr val="E2E8F0"/>
                </a:solidFill>
                <a:latin typeface="Trebuchet MS"/>
                <a:ea typeface="Trebuchet MS"/>
                <a:cs typeface="Trebuchet MS"/>
                <a:sym typeface="Trebuchet MS"/>
              </a:rPr>
              <a:t>Throughput (req/s) — S1@AGX</a:t>
            </a:r>
            <a:endParaRPr b="0" i="0" sz="1300" u="none" cap="none" strike="noStrike">
              <a:solidFill>
                <a:schemeClr val="dk1"/>
              </a:solidFill>
              <a:latin typeface="Calibri"/>
              <a:ea typeface="Calibri"/>
              <a:cs typeface="Calibri"/>
              <a:sym typeface="Calibri"/>
            </a:endParaRPr>
          </a:p>
        </p:txBody>
      </p:sp>
      <p:pic>
        <p:nvPicPr>
          <p:cNvPr id="199" name="Google Shape;199;p9"/>
          <p:cNvPicPr preferRelativeResize="0"/>
          <p:nvPr/>
        </p:nvPicPr>
        <p:blipFill rotWithShape="1">
          <a:blip r:embed="rId3">
            <a:alphaModFix/>
          </a:blip>
          <a:srcRect b="0" l="0" r="0" t="0"/>
          <a:stretch/>
        </p:blipFill>
        <p:spPr>
          <a:xfrm>
            <a:off x="274320" y="3017520"/>
            <a:ext cx="4114800" cy="1920240"/>
          </a:xfrm>
          <a:prstGeom prst="rect">
            <a:avLst/>
          </a:prstGeom>
          <a:noFill/>
          <a:ln>
            <a:noFill/>
          </a:ln>
        </p:spPr>
      </p:pic>
      <p:sp>
        <p:nvSpPr>
          <p:cNvPr id="200" name="Google Shape;200;p9"/>
          <p:cNvSpPr/>
          <p:nvPr/>
        </p:nvSpPr>
        <p:spPr>
          <a:xfrm>
            <a:off x="4754880" y="2743200"/>
            <a:ext cx="4114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300"/>
              <a:buFont typeface="Trebuchet MS"/>
              <a:buNone/>
            </a:pPr>
            <a:r>
              <a:rPr b="1" i="0" lang="en-US" sz="1300" u="none" cap="none" strike="noStrike">
                <a:solidFill>
                  <a:srgbClr val="E2E8F0"/>
                </a:solidFill>
                <a:latin typeface="Trebuchet MS"/>
                <a:ea typeface="Trebuchet MS"/>
                <a:cs typeface="Trebuchet MS"/>
                <a:sym typeface="Trebuchet MS"/>
              </a:rPr>
              <a:t>SLO Attainment — S3@Nano</a:t>
            </a:r>
            <a:endParaRPr b="0" i="0" sz="1300" u="none" cap="none" strike="noStrike">
              <a:solidFill>
                <a:schemeClr val="dk1"/>
              </a:solidFill>
              <a:latin typeface="Calibri"/>
              <a:ea typeface="Calibri"/>
              <a:cs typeface="Calibri"/>
              <a:sym typeface="Calibri"/>
            </a:endParaRPr>
          </a:p>
        </p:txBody>
      </p:sp>
      <p:graphicFrame>
        <p:nvGraphicFramePr>
          <p:cNvPr id="201" name="Google Shape;201;p9"/>
          <p:cNvGraphicFramePr/>
          <p:nvPr/>
        </p:nvGraphicFramePr>
        <p:xfrm>
          <a:off x="4754880" y="3108960"/>
          <a:ext cx="3000000" cy="3000000"/>
        </p:xfrm>
        <a:graphic>
          <a:graphicData uri="http://schemas.openxmlformats.org/drawingml/2006/table">
            <a:tbl>
              <a:tblPr>
                <a:noFill/>
                <a:tableStyleId>{FB1DBE35-4258-4F21-8100-F001E8ED6C11}</a:tableStyleId>
              </a:tblPr>
              <a:tblGrid>
                <a:gridCol w="731525"/>
                <a:gridCol w="1371600"/>
                <a:gridCol w="1371600"/>
              </a:tblGrid>
              <a:tr h="274325">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n</a:t>
                      </a:r>
                      <a:endParaRPr sz="1000" u="none" cap="none" strike="noStrike">
                        <a:latin typeface="Calibri"/>
                        <a:ea typeface="Calibri"/>
                        <a:cs typeface="Calibri"/>
                        <a:sym typeface="Calibri"/>
                      </a:endParaRPr>
                    </a:p>
                  </a:txBody>
                  <a:tcPr marT="45725" marB="45725" marR="91450" marL="91450">
                    <a:lnL cap="flat" cmpd="sng" w="9525">
                      <a:solidFill>
                        <a:srgbClr val="2A4060"/>
                      </a:solidFill>
                      <a:prstDash val="solid"/>
                      <a:round/>
                      <a:headEnd len="sm" w="sm" type="none"/>
                      <a:tailEnd len="sm" w="sm" type="none"/>
                    </a:lnL>
                    <a:lnR cap="flat" cmpd="sng" w="9525">
                      <a:solidFill>
                        <a:srgbClr val="2A4060"/>
                      </a:solidFill>
                      <a:prstDash val="solid"/>
                      <a:round/>
                      <a:headEnd len="sm" w="sm" type="none"/>
                      <a:tailEnd len="sm" w="sm" type="none"/>
                    </a:lnR>
                    <a:lnT cap="flat" cmpd="sng" w="9525">
                      <a:solidFill>
                        <a:srgbClr val="2A4060"/>
                      </a:solidFill>
                      <a:prstDash val="solid"/>
                      <a:round/>
                      <a:headEnd len="sm" w="sm" type="none"/>
                      <a:tailEnd len="sm" w="sm" type="none"/>
                    </a:lnT>
                    <a:lnB cap="flat" cmpd="sng" w="9525">
                      <a:solidFill>
                        <a:srgbClr val="2A4060"/>
                      </a:solidFill>
                      <a:prstDash val="solid"/>
                      <a:round/>
                      <a:headEnd len="sm" w="sm" type="none"/>
                      <a:tailEnd len="sm" w="sm" type="none"/>
                    </a:lnB>
                    <a:solidFill>
                      <a:srgbClr val="0D9488"/>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llama.cpp</a:t>
                      </a:r>
                      <a:endParaRPr sz="1000" u="none" cap="none" strike="noStrike">
                        <a:latin typeface="Calibri"/>
                        <a:ea typeface="Calibri"/>
                        <a:cs typeface="Calibri"/>
                        <a:sym typeface="Calibri"/>
                      </a:endParaRPr>
                    </a:p>
                  </a:txBody>
                  <a:tcPr marT="45725" marB="45725" marR="91450" marL="91450">
                    <a:lnL cap="flat" cmpd="sng" w="9525">
                      <a:solidFill>
                        <a:srgbClr val="2A4060"/>
                      </a:solidFill>
                      <a:prstDash val="solid"/>
                      <a:round/>
                      <a:headEnd len="sm" w="sm" type="none"/>
                      <a:tailEnd len="sm" w="sm" type="none"/>
                    </a:lnL>
                    <a:lnR cap="flat" cmpd="sng" w="9525">
                      <a:solidFill>
                        <a:srgbClr val="2A4060"/>
                      </a:solidFill>
                      <a:prstDash val="solid"/>
                      <a:round/>
                      <a:headEnd len="sm" w="sm" type="none"/>
                      <a:tailEnd len="sm" w="sm" type="none"/>
                    </a:lnR>
                    <a:lnT cap="flat" cmpd="sng" w="9525">
                      <a:solidFill>
                        <a:srgbClr val="2A4060"/>
                      </a:solidFill>
                      <a:prstDash val="solid"/>
                      <a:round/>
                      <a:headEnd len="sm" w="sm" type="none"/>
                      <a:tailEnd len="sm" w="sm" type="none"/>
                    </a:lnT>
                    <a:lnB cap="flat" cmpd="sng" w="9525">
                      <a:solidFill>
                        <a:srgbClr val="2A4060"/>
                      </a:solidFill>
                      <a:prstDash val="solid"/>
                      <a:round/>
                      <a:headEnd len="sm" w="sm" type="none"/>
                      <a:tailEnd len="sm" w="sm" type="none"/>
                    </a:lnB>
                    <a:solidFill>
                      <a:srgbClr val="0D9488"/>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EdgeLoRA</a:t>
                      </a:r>
                      <a:endParaRPr sz="1000" u="none" cap="none" strike="noStrike">
                        <a:latin typeface="Calibri"/>
                        <a:ea typeface="Calibri"/>
                        <a:cs typeface="Calibri"/>
                        <a:sym typeface="Calibri"/>
                      </a:endParaRPr>
                    </a:p>
                  </a:txBody>
                  <a:tcPr marT="45725" marB="45725" marR="91450" marL="91450">
                    <a:lnL cap="flat" cmpd="sng" w="9525">
                      <a:solidFill>
                        <a:srgbClr val="2A4060"/>
                      </a:solidFill>
                      <a:prstDash val="solid"/>
                      <a:round/>
                      <a:headEnd len="sm" w="sm" type="none"/>
                      <a:tailEnd len="sm" w="sm" type="none"/>
                    </a:lnL>
                    <a:lnR cap="flat" cmpd="sng" w="9525">
                      <a:solidFill>
                        <a:srgbClr val="2A4060"/>
                      </a:solidFill>
                      <a:prstDash val="solid"/>
                      <a:round/>
                      <a:headEnd len="sm" w="sm" type="none"/>
                      <a:tailEnd len="sm" w="sm" type="none"/>
                    </a:lnR>
                    <a:lnT cap="flat" cmpd="sng" w="9525">
                      <a:solidFill>
                        <a:srgbClr val="2A4060"/>
                      </a:solidFill>
                      <a:prstDash val="solid"/>
                      <a:round/>
                      <a:headEnd len="sm" w="sm" type="none"/>
                      <a:tailEnd len="sm" w="sm" type="none"/>
                    </a:lnT>
                    <a:lnB cap="flat" cmpd="sng" w="9525">
                      <a:solidFill>
                        <a:srgbClr val="2A4060"/>
                      </a:solidFill>
                      <a:prstDash val="solid"/>
                      <a:round/>
                      <a:headEnd len="sm" w="sm" type="none"/>
                      <a:tailEnd len="sm" w="sm" type="none"/>
                    </a:lnB>
                    <a:solidFill>
                      <a:srgbClr val="0D9488"/>
                    </a:solidFill>
                  </a:tcPr>
                </a:tc>
              </a:tr>
              <a:tr h="274325">
                <a:tc>
                  <a:txBody>
                    <a:bodyPr/>
                    <a:lstStyle/>
                    <a:p>
                      <a:pPr indent="0" lvl="0" marL="0" marR="0" rtl="0" algn="l">
                        <a:spcBef>
                          <a:spcPts val="0"/>
                        </a:spcBef>
                        <a:spcAft>
                          <a:spcPts val="0"/>
                        </a:spcAft>
                        <a:buClr>
                          <a:srgbClr val="E2E8F0"/>
                        </a:buClr>
                        <a:buSzPts val="1000"/>
                        <a:buFont typeface="Calibri"/>
                        <a:buNone/>
                      </a:pPr>
                      <a:r>
                        <a:rPr lang="en-US" sz="1000" u="none" cap="none" strike="noStrike">
                          <a:solidFill>
                            <a:srgbClr val="E2E8F0"/>
                          </a:solidFill>
                          <a:latin typeface="Calibri"/>
                          <a:ea typeface="Calibri"/>
                          <a:cs typeface="Calibri"/>
                          <a:sym typeface="Calibri"/>
                        </a:rPr>
                        <a:t>20</a:t>
                      </a:r>
                      <a:endParaRPr sz="1000" u="none" cap="none" strike="noStrike">
                        <a:latin typeface="Calibri"/>
                        <a:ea typeface="Calibri"/>
                        <a:cs typeface="Calibri"/>
                        <a:sym typeface="Calibri"/>
                      </a:endParaRPr>
                    </a:p>
                  </a:txBody>
                  <a:tcPr marT="45725" marB="45725" marR="91450" marL="91450">
                    <a:lnL cap="flat" cmpd="sng" w="9525">
                      <a:solidFill>
                        <a:srgbClr val="2A4060"/>
                      </a:solidFill>
                      <a:prstDash val="solid"/>
                      <a:round/>
                      <a:headEnd len="sm" w="sm" type="none"/>
                      <a:tailEnd len="sm" w="sm" type="none"/>
                    </a:lnL>
                    <a:lnR cap="flat" cmpd="sng" w="9525">
                      <a:solidFill>
                        <a:srgbClr val="2A4060"/>
                      </a:solidFill>
                      <a:prstDash val="solid"/>
                      <a:round/>
                      <a:headEnd len="sm" w="sm" type="none"/>
                      <a:tailEnd len="sm" w="sm" type="none"/>
                    </a:lnR>
                    <a:lnT cap="flat" cmpd="sng" w="9525">
                      <a:solidFill>
                        <a:srgbClr val="2A4060"/>
                      </a:solidFill>
                      <a:prstDash val="solid"/>
                      <a:round/>
                      <a:headEnd len="sm" w="sm" type="none"/>
                      <a:tailEnd len="sm" w="sm" type="none"/>
                    </a:lnT>
                    <a:lnB cap="flat" cmpd="sng" w="9525">
                      <a:solidFill>
                        <a:srgbClr val="2A4060"/>
                      </a:solidFill>
                      <a:prstDash val="solid"/>
                      <a:round/>
                      <a:headEnd len="sm" w="sm" type="none"/>
                      <a:tailEnd len="sm" w="sm" type="none"/>
                    </a:lnB>
                    <a:solidFill>
                      <a:srgbClr val="1A3048"/>
                    </a:solidFill>
                  </a:tcPr>
                </a:tc>
                <a:tc>
                  <a:txBody>
                    <a:bodyPr/>
                    <a:lstStyle/>
                    <a:p>
                      <a:pPr indent="0" lvl="0" marL="0" marR="0" rtl="0" algn="l">
                        <a:spcBef>
                          <a:spcPts val="0"/>
                        </a:spcBef>
                        <a:spcAft>
                          <a:spcPts val="0"/>
                        </a:spcAft>
                        <a:buClr>
                          <a:srgbClr val="E2E8F0"/>
                        </a:buClr>
                        <a:buSzPts val="1000"/>
                        <a:buFont typeface="Calibri"/>
                        <a:buNone/>
                      </a:pPr>
                      <a:r>
                        <a:rPr lang="en-US" sz="1000" u="none" cap="none" strike="noStrike">
                          <a:solidFill>
                            <a:srgbClr val="E2E8F0"/>
                          </a:solidFill>
                          <a:latin typeface="Calibri"/>
                          <a:ea typeface="Calibri"/>
                          <a:cs typeface="Calibri"/>
                          <a:sym typeface="Calibri"/>
                        </a:rPr>
                        <a:t>1.11%</a:t>
                      </a:r>
                      <a:endParaRPr sz="1000" u="none" cap="none" strike="noStrike">
                        <a:latin typeface="Calibri"/>
                        <a:ea typeface="Calibri"/>
                        <a:cs typeface="Calibri"/>
                        <a:sym typeface="Calibri"/>
                      </a:endParaRPr>
                    </a:p>
                  </a:txBody>
                  <a:tcPr marT="45725" marB="45725" marR="91450" marL="91450">
                    <a:lnL cap="flat" cmpd="sng" w="9525">
                      <a:solidFill>
                        <a:srgbClr val="2A4060"/>
                      </a:solidFill>
                      <a:prstDash val="solid"/>
                      <a:round/>
                      <a:headEnd len="sm" w="sm" type="none"/>
                      <a:tailEnd len="sm" w="sm" type="none"/>
                    </a:lnL>
                    <a:lnR cap="flat" cmpd="sng" w="9525">
                      <a:solidFill>
                        <a:srgbClr val="2A4060"/>
                      </a:solidFill>
                      <a:prstDash val="solid"/>
                      <a:round/>
                      <a:headEnd len="sm" w="sm" type="none"/>
                      <a:tailEnd len="sm" w="sm" type="none"/>
                    </a:lnR>
                    <a:lnT cap="flat" cmpd="sng" w="9525">
                      <a:solidFill>
                        <a:srgbClr val="2A4060"/>
                      </a:solidFill>
                      <a:prstDash val="solid"/>
                      <a:round/>
                      <a:headEnd len="sm" w="sm" type="none"/>
                      <a:tailEnd len="sm" w="sm" type="none"/>
                    </a:lnT>
                    <a:lnB cap="flat" cmpd="sng" w="9525">
                      <a:solidFill>
                        <a:srgbClr val="2A4060"/>
                      </a:solidFill>
                      <a:prstDash val="solid"/>
                      <a:round/>
                      <a:headEnd len="sm" w="sm" type="none"/>
                      <a:tailEnd len="sm" w="sm" type="none"/>
                    </a:lnB>
                    <a:solidFill>
                      <a:srgbClr val="1A3048"/>
                    </a:solidFill>
                  </a:tcPr>
                </a:tc>
                <a:tc>
                  <a:txBody>
                    <a:bodyPr/>
                    <a:lstStyle/>
                    <a:p>
                      <a:pPr indent="0" lvl="0" marL="0" marR="0" rtl="0" algn="l">
                        <a:spcBef>
                          <a:spcPts val="0"/>
                        </a:spcBef>
                        <a:spcAft>
                          <a:spcPts val="0"/>
                        </a:spcAft>
                        <a:buClr>
                          <a:srgbClr val="10B981"/>
                        </a:buClr>
                        <a:buSzPts val="1000"/>
                        <a:buFont typeface="Calibri"/>
                        <a:buNone/>
                      </a:pPr>
                      <a:r>
                        <a:rPr lang="en-US" sz="1000" u="none" cap="none" strike="noStrike">
                          <a:solidFill>
                            <a:srgbClr val="10B981"/>
                          </a:solidFill>
                          <a:latin typeface="Calibri"/>
                          <a:ea typeface="Calibri"/>
                          <a:cs typeface="Calibri"/>
                          <a:sym typeface="Calibri"/>
                        </a:rPr>
                        <a:t>98.67%</a:t>
                      </a:r>
                      <a:endParaRPr sz="1000" u="none" cap="none" strike="noStrike">
                        <a:latin typeface="Calibri"/>
                        <a:ea typeface="Calibri"/>
                        <a:cs typeface="Calibri"/>
                        <a:sym typeface="Calibri"/>
                      </a:endParaRPr>
                    </a:p>
                  </a:txBody>
                  <a:tcPr marT="45725" marB="45725" marR="91450" marL="91450">
                    <a:lnL cap="flat" cmpd="sng" w="9525">
                      <a:solidFill>
                        <a:srgbClr val="2A4060"/>
                      </a:solidFill>
                      <a:prstDash val="solid"/>
                      <a:round/>
                      <a:headEnd len="sm" w="sm" type="none"/>
                      <a:tailEnd len="sm" w="sm" type="none"/>
                    </a:lnL>
                    <a:lnR cap="flat" cmpd="sng" w="9525">
                      <a:solidFill>
                        <a:srgbClr val="2A4060"/>
                      </a:solidFill>
                      <a:prstDash val="solid"/>
                      <a:round/>
                      <a:headEnd len="sm" w="sm" type="none"/>
                      <a:tailEnd len="sm" w="sm" type="none"/>
                    </a:lnR>
                    <a:lnT cap="flat" cmpd="sng" w="9525">
                      <a:solidFill>
                        <a:srgbClr val="2A4060"/>
                      </a:solidFill>
                      <a:prstDash val="solid"/>
                      <a:round/>
                      <a:headEnd len="sm" w="sm" type="none"/>
                      <a:tailEnd len="sm" w="sm" type="none"/>
                    </a:lnT>
                    <a:lnB cap="flat" cmpd="sng" w="9525">
                      <a:solidFill>
                        <a:srgbClr val="2A4060"/>
                      </a:solidFill>
                      <a:prstDash val="solid"/>
                      <a:round/>
                      <a:headEnd len="sm" w="sm" type="none"/>
                      <a:tailEnd len="sm" w="sm" type="none"/>
                    </a:lnB>
                    <a:solidFill>
                      <a:srgbClr val="1A3048"/>
                    </a:solidFill>
                  </a:tcPr>
                </a:tc>
              </a:tr>
              <a:tr h="274325">
                <a:tc>
                  <a:txBody>
                    <a:bodyPr/>
                    <a:lstStyle/>
                    <a:p>
                      <a:pPr indent="0" lvl="0" marL="0" marR="0" rtl="0" algn="l">
                        <a:spcBef>
                          <a:spcPts val="0"/>
                        </a:spcBef>
                        <a:spcAft>
                          <a:spcPts val="0"/>
                        </a:spcAft>
                        <a:buClr>
                          <a:srgbClr val="E2E8F0"/>
                        </a:buClr>
                        <a:buSzPts val="1000"/>
                        <a:buFont typeface="Calibri"/>
                        <a:buNone/>
                      </a:pPr>
                      <a:r>
                        <a:rPr lang="en-US" sz="1000" u="none" cap="none" strike="noStrike">
                          <a:solidFill>
                            <a:srgbClr val="E2E8F0"/>
                          </a:solidFill>
                          <a:latin typeface="Calibri"/>
                          <a:ea typeface="Calibri"/>
                          <a:cs typeface="Calibri"/>
                          <a:sym typeface="Calibri"/>
                        </a:rPr>
                        <a:t>100</a:t>
                      </a:r>
                      <a:endParaRPr sz="1000" u="none" cap="none" strike="noStrike">
                        <a:latin typeface="Calibri"/>
                        <a:ea typeface="Calibri"/>
                        <a:cs typeface="Calibri"/>
                        <a:sym typeface="Calibri"/>
                      </a:endParaRPr>
                    </a:p>
                  </a:txBody>
                  <a:tcPr marT="45725" marB="45725" marR="91450" marL="91450">
                    <a:lnL cap="flat" cmpd="sng" w="9525">
                      <a:solidFill>
                        <a:srgbClr val="2A4060"/>
                      </a:solidFill>
                      <a:prstDash val="solid"/>
                      <a:round/>
                      <a:headEnd len="sm" w="sm" type="none"/>
                      <a:tailEnd len="sm" w="sm" type="none"/>
                    </a:lnL>
                    <a:lnR cap="flat" cmpd="sng" w="9525">
                      <a:solidFill>
                        <a:srgbClr val="2A4060"/>
                      </a:solidFill>
                      <a:prstDash val="solid"/>
                      <a:round/>
                      <a:headEnd len="sm" w="sm" type="none"/>
                      <a:tailEnd len="sm" w="sm" type="none"/>
                    </a:lnR>
                    <a:lnT cap="flat" cmpd="sng" w="9525">
                      <a:solidFill>
                        <a:srgbClr val="2A4060"/>
                      </a:solidFill>
                      <a:prstDash val="solid"/>
                      <a:round/>
                      <a:headEnd len="sm" w="sm" type="none"/>
                      <a:tailEnd len="sm" w="sm" type="none"/>
                    </a:lnT>
                    <a:lnB cap="flat" cmpd="sng" w="9525">
                      <a:solidFill>
                        <a:srgbClr val="2A4060"/>
                      </a:solidFill>
                      <a:prstDash val="solid"/>
                      <a:round/>
                      <a:headEnd len="sm" w="sm" type="none"/>
                      <a:tailEnd len="sm" w="sm" type="none"/>
                    </a:lnB>
                    <a:solidFill>
                      <a:srgbClr val="1A3048"/>
                    </a:solidFill>
                  </a:tcPr>
                </a:tc>
                <a:tc>
                  <a:txBody>
                    <a:bodyPr/>
                    <a:lstStyle/>
                    <a:p>
                      <a:pPr indent="0" lvl="0" marL="0" marR="0" rtl="0" algn="l">
                        <a:spcBef>
                          <a:spcPts val="0"/>
                        </a:spcBef>
                        <a:spcAft>
                          <a:spcPts val="0"/>
                        </a:spcAft>
                        <a:buClr>
                          <a:srgbClr val="EF4444"/>
                        </a:buClr>
                        <a:buSzPts val="1000"/>
                        <a:buFont typeface="Calibri"/>
                        <a:buNone/>
                      </a:pPr>
                      <a:r>
                        <a:rPr b="1" lang="en-US" sz="1000" u="none" cap="none" strike="noStrike">
                          <a:solidFill>
                            <a:srgbClr val="EF4444"/>
                          </a:solidFill>
                          <a:latin typeface="Calibri"/>
                          <a:ea typeface="Calibri"/>
                          <a:cs typeface="Calibri"/>
                          <a:sym typeface="Calibri"/>
                        </a:rPr>
                        <a:t>OOM</a:t>
                      </a:r>
                      <a:endParaRPr sz="1000" u="none" cap="none" strike="noStrike">
                        <a:latin typeface="Calibri"/>
                        <a:ea typeface="Calibri"/>
                        <a:cs typeface="Calibri"/>
                        <a:sym typeface="Calibri"/>
                      </a:endParaRPr>
                    </a:p>
                  </a:txBody>
                  <a:tcPr marT="45725" marB="45725" marR="91450" marL="91450">
                    <a:lnL cap="flat" cmpd="sng" w="9525">
                      <a:solidFill>
                        <a:srgbClr val="2A4060"/>
                      </a:solidFill>
                      <a:prstDash val="solid"/>
                      <a:round/>
                      <a:headEnd len="sm" w="sm" type="none"/>
                      <a:tailEnd len="sm" w="sm" type="none"/>
                    </a:lnL>
                    <a:lnR cap="flat" cmpd="sng" w="9525">
                      <a:solidFill>
                        <a:srgbClr val="2A4060"/>
                      </a:solidFill>
                      <a:prstDash val="solid"/>
                      <a:round/>
                      <a:headEnd len="sm" w="sm" type="none"/>
                      <a:tailEnd len="sm" w="sm" type="none"/>
                    </a:lnR>
                    <a:lnT cap="flat" cmpd="sng" w="9525">
                      <a:solidFill>
                        <a:srgbClr val="2A4060"/>
                      </a:solidFill>
                      <a:prstDash val="solid"/>
                      <a:round/>
                      <a:headEnd len="sm" w="sm" type="none"/>
                      <a:tailEnd len="sm" w="sm" type="none"/>
                    </a:lnT>
                    <a:lnB cap="flat" cmpd="sng" w="9525">
                      <a:solidFill>
                        <a:srgbClr val="2A4060"/>
                      </a:solidFill>
                      <a:prstDash val="solid"/>
                      <a:round/>
                      <a:headEnd len="sm" w="sm" type="none"/>
                      <a:tailEnd len="sm" w="sm" type="none"/>
                    </a:lnB>
                    <a:solidFill>
                      <a:srgbClr val="1A3048"/>
                    </a:solidFill>
                  </a:tcPr>
                </a:tc>
                <a:tc>
                  <a:txBody>
                    <a:bodyPr/>
                    <a:lstStyle/>
                    <a:p>
                      <a:pPr indent="0" lvl="0" marL="0" marR="0" rtl="0" algn="l">
                        <a:spcBef>
                          <a:spcPts val="0"/>
                        </a:spcBef>
                        <a:spcAft>
                          <a:spcPts val="0"/>
                        </a:spcAft>
                        <a:buClr>
                          <a:srgbClr val="10B981"/>
                        </a:buClr>
                        <a:buSzPts val="1000"/>
                        <a:buFont typeface="Calibri"/>
                        <a:buNone/>
                      </a:pPr>
                      <a:r>
                        <a:rPr lang="en-US" sz="1000" u="none" cap="none" strike="noStrike">
                          <a:solidFill>
                            <a:srgbClr val="10B981"/>
                          </a:solidFill>
                          <a:latin typeface="Calibri"/>
                          <a:ea typeface="Calibri"/>
                          <a:cs typeface="Calibri"/>
                          <a:sym typeface="Calibri"/>
                        </a:rPr>
                        <a:t>98.67%</a:t>
                      </a:r>
                      <a:endParaRPr sz="1000" u="none" cap="none" strike="noStrike">
                        <a:latin typeface="Calibri"/>
                        <a:ea typeface="Calibri"/>
                        <a:cs typeface="Calibri"/>
                        <a:sym typeface="Calibri"/>
                      </a:endParaRPr>
                    </a:p>
                  </a:txBody>
                  <a:tcPr marT="45725" marB="45725" marR="91450" marL="91450">
                    <a:lnL cap="flat" cmpd="sng" w="9525">
                      <a:solidFill>
                        <a:srgbClr val="2A4060"/>
                      </a:solidFill>
                      <a:prstDash val="solid"/>
                      <a:round/>
                      <a:headEnd len="sm" w="sm" type="none"/>
                      <a:tailEnd len="sm" w="sm" type="none"/>
                    </a:lnL>
                    <a:lnR cap="flat" cmpd="sng" w="9525">
                      <a:solidFill>
                        <a:srgbClr val="2A4060"/>
                      </a:solidFill>
                      <a:prstDash val="solid"/>
                      <a:round/>
                      <a:headEnd len="sm" w="sm" type="none"/>
                      <a:tailEnd len="sm" w="sm" type="none"/>
                    </a:lnR>
                    <a:lnT cap="flat" cmpd="sng" w="9525">
                      <a:solidFill>
                        <a:srgbClr val="2A4060"/>
                      </a:solidFill>
                      <a:prstDash val="solid"/>
                      <a:round/>
                      <a:headEnd len="sm" w="sm" type="none"/>
                      <a:tailEnd len="sm" w="sm" type="none"/>
                    </a:lnT>
                    <a:lnB cap="flat" cmpd="sng" w="9525">
                      <a:solidFill>
                        <a:srgbClr val="2A4060"/>
                      </a:solidFill>
                      <a:prstDash val="solid"/>
                      <a:round/>
                      <a:headEnd len="sm" w="sm" type="none"/>
                      <a:tailEnd len="sm" w="sm" type="none"/>
                    </a:lnB>
                    <a:solidFill>
                      <a:srgbClr val="1A3048"/>
                    </a:solidFill>
                  </a:tcPr>
                </a:tc>
              </a:tr>
              <a:tr h="274325">
                <a:tc>
                  <a:txBody>
                    <a:bodyPr/>
                    <a:lstStyle/>
                    <a:p>
                      <a:pPr indent="0" lvl="0" marL="0" marR="0" rtl="0" algn="l">
                        <a:spcBef>
                          <a:spcPts val="0"/>
                        </a:spcBef>
                        <a:spcAft>
                          <a:spcPts val="0"/>
                        </a:spcAft>
                        <a:buClr>
                          <a:srgbClr val="E2E8F0"/>
                        </a:buClr>
                        <a:buSzPts val="1000"/>
                        <a:buFont typeface="Calibri"/>
                        <a:buNone/>
                      </a:pPr>
                      <a:r>
                        <a:rPr lang="en-US" sz="1000" u="none" cap="none" strike="noStrike">
                          <a:solidFill>
                            <a:srgbClr val="E2E8F0"/>
                          </a:solidFill>
                          <a:latin typeface="Calibri"/>
                          <a:ea typeface="Calibri"/>
                          <a:cs typeface="Calibri"/>
                          <a:sym typeface="Calibri"/>
                        </a:rPr>
                        <a:t>500</a:t>
                      </a:r>
                      <a:endParaRPr sz="1000" u="none" cap="none" strike="noStrike">
                        <a:latin typeface="Calibri"/>
                        <a:ea typeface="Calibri"/>
                        <a:cs typeface="Calibri"/>
                        <a:sym typeface="Calibri"/>
                      </a:endParaRPr>
                    </a:p>
                  </a:txBody>
                  <a:tcPr marT="45725" marB="45725" marR="91450" marL="91450">
                    <a:lnL cap="flat" cmpd="sng" w="9525">
                      <a:solidFill>
                        <a:srgbClr val="2A4060"/>
                      </a:solidFill>
                      <a:prstDash val="solid"/>
                      <a:round/>
                      <a:headEnd len="sm" w="sm" type="none"/>
                      <a:tailEnd len="sm" w="sm" type="none"/>
                    </a:lnL>
                    <a:lnR cap="flat" cmpd="sng" w="9525">
                      <a:solidFill>
                        <a:srgbClr val="2A4060"/>
                      </a:solidFill>
                      <a:prstDash val="solid"/>
                      <a:round/>
                      <a:headEnd len="sm" w="sm" type="none"/>
                      <a:tailEnd len="sm" w="sm" type="none"/>
                    </a:lnR>
                    <a:lnT cap="flat" cmpd="sng" w="9525">
                      <a:solidFill>
                        <a:srgbClr val="2A4060"/>
                      </a:solidFill>
                      <a:prstDash val="solid"/>
                      <a:round/>
                      <a:headEnd len="sm" w="sm" type="none"/>
                      <a:tailEnd len="sm" w="sm" type="none"/>
                    </a:lnT>
                    <a:lnB cap="flat" cmpd="sng" w="9525">
                      <a:solidFill>
                        <a:srgbClr val="2A4060"/>
                      </a:solidFill>
                      <a:prstDash val="solid"/>
                      <a:round/>
                      <a:headEnd len="sm" w="sm" type="none"/>
                      <a:tailEnd len="sm" w="sm" type="none"/>
                    </a:lnB>
                    <a:solidFill>
                      <a:srgbClr val="1A3048"/>
                    </a:solidFill>
                  </a:tcPr>
                </a:tc>
                <a:tc>
                  <a:txBody>
                    <a:bodyPr/>
                    <a:lstStyle/>
                    <a:p>
                      <a:pPr indent="0" lvl="0" marL="0" marR="0" rtl="0" algn="l">
                        <a:spcBef>
                          <a:spcPts val="0"/>
                        </a:spcBef>
                        <a:spcAft>
                          <a:spcPts val="0"/>
                        </a:spcAft>
                        <a:buClr>
                          <a:srgbClr val="EF4444"/>
                        </a:buClr>
                        <a:buSzPts val="1000"/>
                        <a:buFont typeface="Calibri"/>
                        <a:buNone/>
                      </a:pPr>
                      <a:r>
                        <a:rPr b="1" lang="en-US" sz="1000" u="none" cap="none" strike="noStrike">
                          <a:solidFill>
                            <a:srgbClr val="EF4444"/>
                          </a:solidFill>
                          <a:latin typeface="Calibri"/>
                          <a:ea typeface="Calibri"/>
                          <a:cs typeface="Calibri"/>
                          <a:sym typeface="Calibri"/>
                        </a:rPr>
                        <a:t>OOM</a:t>
                      </a:r>
                      <a:endParaRPr sz="1000" u="none" cap="none" strike="noStrike">
                        <a:latin typeface="Calibri"/>
                        <a:ea typeface="Calibri"/>
                        <a:cs typeface="Calibri"/>
                        <a:sym typeface="Calibri"/>
                      </a:endParaRPr>
                    </a:p>
                  </a:txBody>
                  <a:tcPr marT="45725" marB="45725" marR="91450" marL="91450">
                    <a:lnL cap="flat" cmpd="sng" w="9525">
                      <a:solidFill>
                        <a:srgbClr val="2A4060"/>
                      </a:solidFill>
                      <a:prstDash val="solid"/>
                      <a:round/>
                      <a:headEnd len="sm" w="sm" type="none"/>
                      <a:tailEnd len="sm" w="sm" type="none"/>
                    </a:lnL>
                    <a:lnR cap="flat" cmpd="sng" w="9525">
                      <a:solidFill>
                        <a:srgbClr val="2A4060"/>
                      </a:solidFill>
                      <a:prstDash val="solid"/>
                      <a:round/>
                      <a:headEnd len="sm" w="sm" type="none"/>
                      <a:tailEnd len="sm" w="sm" type="none"/>
                    </a:lnR>
                    <a:lnT cap="flat" cmpd="sng" w="9525">
                      <a:solidFill>
                        <a:srgbClr val="2A4060"/>
                      </a:solidFill>
                      <a:prstDash val="solid"/>
                      <a:round/>
                      <a:headEnd len="sm" w="sm" type="none"/>
                      <a:tailEnd len="sm" w="sm" type="none"/>
                    </a:lnT>
                    <a:lnB cap="flat" cmpd="sng" w="9525">
                      <a:solidFill>
                        <a:srgbClr val="2A4060"/>
                      </a:solidFill>
                      <a:prstDash val="solid"/>
                      <a:round/>
                      <a:headEnd len="sm" w="sm" type="none"/>
                      <a:tailEnd len="sm" w="sm" type="none"/>
                    </a:lnB>
                    <a:solidFill>
                      <a:srgbClr val="1A3048"/>
                    </a:solidFill>
                  </a:tcPr>
                </a:tc>
                <a:tc>
                  <a:txBody>
                    <a:bodyPr/>
                    <a:lstStyle/>
                    <a:p>
                      <a:pPr indent="0" lvl="0" marL="0" marR="0" rtl="0" algn="l">
                        <a:spcBef>
                          <a:spcPts val="0"/>
                        </a:spcBef>
                        <a:spcAft>
                          <a:spcPts val="0"/>
                        </a:spcAft>
                        <a:buClr>
                          <a:srgbClr val="10B981"/>
                        </a:buClr>
                        <a:buSzPts val="1000"/>
                        <a:buFont typeface="Calibri"/>
                        <a:buNone/>
                      </a:pPr>
                      <a:r>
                        <a:rPr lang="en-US" sz="1000" u="none" cap="none" strike="noStrike">
                          <a:solidFill>
                            <a:srgbClr val="10B981"/>
                          </a:solidFill>
                          <a:latin typeface="Calibri"/>
                          <a:ea typeface="Calibri"/>
                          <a:cs typeface="Calibri"/>
                          <a:sym typeface="Calibri"/>
                        </a:rPr>
                        <a:t>98.67%</a:t>
                      </a:r>
                      <a:endParaRPr sz="1000" u="none" cap="none" strike="noStrike">
                        <a:latin typeface="Calibri"/>
                        <a:ea typeface="Calibri"/>
                        <a:cs typeface="Calibri"/>
                        <a:sym typeface="Calibri"/>
                      </a:endParaRPr>
                    </a:p>
                  </a:txBody>
                  <a:tcPr marT="45725" marB="45725" marR="91450" marL="91450">
                    <a:lnL cap="flat" cmpd="sng" w="9525">
                      <a:solidFill>
                        <a:srgbClr val="2A4060"/>
                      </a:solidFill>
                      <a:prstDash val="solid"/>
                      <a:round/>
                      <a:headEnd len="sm" w="sm" type="none"/>
                      <a:tailEnd len="sm" w="sm" type="none"/>
                    </a:lnL>
                    <a:lnR cap="flat" cmpd="sng" w="9525">
                      <a:solidFill>
                        <a:srgbClr val="2A4060"/>
                      </a:solidFill>
                      <a:prstDash val="solid"/>
                      <a:round/>
                      <a:headEnd len="sm" w="sm" type="none"/>
                      <a:tailEnd len="sm" w="sm" type="none"/>
                    </a:lnR>
                    <a:lnT cap="flat" cmpd="sng" w="9525">
                      <a:solidFill>
                        <a:srgbClr val="2A4060"/>
                      </a:solidFill>
                      <a:prstDash val="solid"/>
                      <a:round/>
                      <a:headEnd len="sm" w="sm" type="none"/>
                      <a:tailEnd len="sm" w="sm" type="none"/>
                    </a:lnT>
                    <a:lnB cap="flat" cmpd="sng" w="9525">
                      <a:solidFill>
                        <a:srgbClr val="2A4060"/>
                      </a:solidFill>
                      <a:prstDash val="solid"/>
                      <a:round/>
                      <a:headEnd len="sm" w="sm" type="none"/>
                      <a:tailEnd len="sm" w="sm" type="none"/>
                    </a:lnB>
                    <a:solidFill>
                      <a:srgbClr val="1A3048"/>
                    </a:solidFill>
                  </a:tcPr>
                </a:tc>
              </a:tr>
              <a:tr h="274325">
                <a:tc>
                  <a:txBody>
                    <a:bodyPr/>
                    <a:lstStyle/>
                    <a:p>
                      <a:pPr indent="0" lvl="0" marL="0" marR="0" rtl="0" algn="l">
                        <a:spcBef>
                          <a:spcPts val="0"/>
                        </a:spcBef>
                        <a:spcAft>
                          <a:spcPts val="0"/>
                        </a:spcAft>
                        <a:buClr>
                          <a:srgbClr val="E2E8F0"/>
                        </a:buClr>
                        <a:buSzPts val="1000"/>
                        <a:buFont typeface="Calibri"/>
                        <a:buNone/>
                      </a:pPr>
                      <a:r>
                        <a:rPr lang="en-US" sz="1000" u="none" cap="none" strike="noStrike">
                          <a:solidFill>
                            <a:srgbClr val="E2E8F0"/>
                          </a:solidFill>
                          <a:latin typeface="Calibri"/>
                          <a:ea typeface="Calibri"/>
                          <a:cs typeface="Calibri"/>
                          <a:sym typeface="Calibri"/>
                        </a:rPr>
                        <a:t>1000</a:t>
                      </a:r>
                      <a:endParaRPr sz="1000" u="none" cap="none" strike="noStrike">
                        <a:latin typeface="Calibri"/>
                        <a:ea typeface="Calibri"/>
                        <a:cs typeface="Calibri"/>
                        <a:sym typeface="Calibri"/>
                      </a:endParaRPr>
                    </a:p>
                  </a:txBody>
                  <a:tcPr marT="45725" marB="45725" marR="91450" marL="91450">
                    <a:lnL cap="flat" cmpd="sng" w="9525">
                      <a:solidFill>
                        <a:srgbClr val="2A4060"/>
                      </a:solidFill>
                      <a:prstDash val="solid"/>
                      <a:round/>
                      <a:headEnd len="sm" w="sm" type="none"/>
                      <a:tailEnd len="sm" w="sm" type="none"/>
                    </a:lnL>
                    <a:lnR cap="flat" cmpd="sng" w="9525">
                      <a:solidFill>
                        <a:srgbClr val="2A4060"/>
                      </a:solidFill>
                      <a:prstDash val="solid"/>
                      <a:round/>
                      <a:headEnd len="sm" w="sm" type="none"/>
                      <a:tailEnd len="sm" w="sm" type="none"/>
                    </a:lnR>
                    <a:lnT cap="flat" cmpd="sng" w="9525">
                      <a:solidFill>
                        <a:srgbClr val="2A4060"/>
                      </a:solidFill>
                      <a:prstDash val="solid"/>
                      <a:round/>
                      <a:headEnd len="sm" w="sm" type="none"/>
                      <a:tailEnd len="sm" w="sm" type="none"/>
                    </a:lnT>
                    <a:lnB cap="flat" cmpd="sng" w="9525">
                      <a:solidFill>
                        <a:srgbClr val="2A4060"/>
                      </a:solidFill>
                      <a:prstDash val="solid"/>
                      <a:round/>
                      <a:headEnd len="sm" w="sm" type="none"/>
                      <a:tailEnd len="sm" w="sm" type="none"/>
                    </a:lnB>
                    <a:solidFill>
                      <a:srgbClr val="1A3048"/>
                    </a:solidFill>
                  </a:tcPr>
                </a:tc>
                <a:tc>
                  <a:txBody>
                    <a:bodyPr/>
                    <a:lstStyle/>
                    <a:p>
                      <a:pPr indent="0" lvl="0" marL="0" marR="0" rtl="0" algn="l">
                        <a:spcBef>
                          <a:spcPts val="0"/>
                        </a:spcBef>
                        <a:spcAft>
                          <a:spcPts val="0"/>
                        </a:spcAft>
                        <a:buClr>
                          <a:srgbClr val="EF4444"/>
                        </a:buClr>
                        <a:buSzPts val="1000"/>
                        <a:buFont typeface="Calibri"/>
                        <a:buNone/>
                      </a:pPr>
                      <a:r>
                        <a:rPr b="1" lang="en-US" sz="1000" u="none" cap="none" strike="noStrike">
                          <a:solidFill>
                            <a:srgbClr val="EF4444"/>
                          </a:solidFill>
                          <a:latin typeface="Calibri"/>
                          <a:ea typeface="Calibri"/>
                          <a:cs typeface="Calibri"/>
                          <a:sym typeface="Calibri"/>
                        </a:rPr>
                        <a:t>OOM</a:t>
                      </a:r>
                      <a:endParaRPr sz="1000" u="none" cap="none" strike="noStrike">
                        <a:latin typeface="Calibri"/>
                        <a:ea typeface="Calibri"/>
                        <a:cs typeface="Calibri"/>
                        <a:sym typeface="Calibri"/>
                      </a:endParaRPr>
                    </a:p>
                  </a:txBody>
                  <a:tcPr marT="45725" marB="45725" marR="91450" marL="91450">
                    <a:lnL cap="flat" cmpd="sng" w="9525">
                      <a:solidFill>
                        <a:srgbClr val="2A4060"/>
                      </a:solidFill>
                      <a:prstDash val="solid"/>
                      <a:round/>
                      <a:headEnd len="sm" w="sm" type="none"/>
                      <a:tailEnd len="sm" w="sm" type="none"/>
                    </a:lnL>
                    <a:lnR cap="flat" cmpd="sng" w="9525">
                      <a:solidFill>
                        <a:srgbClr val="2A4060"/>
                      </a:solidFill>
                      <a:prstDash val="solid"/>
                      <a:round/>
                      <a:headEnd len="sm" w="sm" type="none"/>
                      <a:tailEnd len="sm" w="sm" type="none"/>
                    </a:lnR>
                    <a:lnT cap="flat" cmpd="sng" w="9525">
                      <a:solidFill>
                        <a:srgbClr val="2A4060"/>
                      </a:solidFill>
                      <a:prstDash val="solid"/>
                      <a:round/>
                      <a:headEnd len="sm" w="sm" type="none"/>
                      <a:tailEnd len="sm" w="sm" type="none"/>
                    </a:lnT>
                    <a:lnB cap="flat" cmpd="sng" w="9525">
                      <a:solidFill>
                        <a:srgbClr val="2A4060"/>
                      </a:solidFill>
                      <a:prstDash val="solid"/>
                      <a:round/>
                      <a:headEnd len="sm" w="sm" type="none"/>
                      <a:tailEnd len="sm" w="sm" type="none"/>
                    </a:lnB>
                    <a:solidFill>
                      <a:srgbClr val="1A3048"/>
                    </a:solidFill>
                  </a:tcPr>
                </a:tc>
                <a:tc>
                  <a:txBody>
                    <a:bodyPr/>
                    <a:lstStyle/>
                    <a:p>
                      <a:pPr indent="0" lvl="0" marL="0" marR="0" rtl="0" algn="l">
                        <a:spcBef>
                          <a:spcPts val="0"/>
                        </a:spcBef>
                        <a:spcAft>
                          <a:spcPts val="0"/>
                        </a:spcAft>
                        <a:buClr>
                          <a:srgbClr val="10B981"/>
                        </a:buClr>
                        <a:buSzPts val="1000"/>
                        <a:buFont typeface="Calibri"/>
                        <a:buNone/>
                      </a:pPr>
                      <a:r>
                        <a:rPr lang="en-US" sz="1000" u="none" cap="none" strike="noStrike">
                          <a:solidFill>
                            <a:srgbClr val="10B981"/>
                          </a:solidFill>
                          <a:latin typeface="Calibri"/>
                          <a:ea typeface="Calibri"/>
                          <a:cs typeface="Calibri"/>
                          <a:sym typeface="Calibri"/>
                        </a:rPr>
                        <a:t>98.00%</a:t>
                      </a:r>
                      <a:endParaRPr sz="1000" u="none" cap="none" strike="noStrike">
                        <a:latin typeface="Calibri"/>
                        <a:ea typeface="Calibri"/>
                        <a:cs typeface="Calibri"/>
                        <a:sym typeface="Calibri"/>
                      </a:endParaRPr>
                    </a:p>
                  </a:txBody>
                  <a:tcPr marT="45725" marB="45725" marR="91450" marL="91450">
                    <a:lnL cap="flat" cmpd="sng" w="9525">
                      <a:solidFill>
                        <a:srgbClr val="2A4060"/>
                      </a:solidFill>
                      <a:prstDash val="solid"/>
                      <a:round/>
                      <a:headEnd len="sm" w="sm" type="none"/>
                      <a:tailEnd len="sm" w="sm" type="none"/>
                    </a:lnL>
                    <a:lnR cap="flat" cmpd="sng" w="9525">
                      <a:solidFill>
                        <a:srgbClr val="2A4060"/>
                      </a:solidFill>
                      <a:prstDash val="solid"/>
                      <a:round/>
                      <a:headEnd len="sm" w="sm" type="none"/>
                      <a:tailEnd len="sm" w="sm" type="none"/>
                    </a:lnR>
                    <a:lnT cap="flat" cmpd="sng" w="9525">
                      <a:solidFill>
                        <a:srgbClr val="2A4060"/>
                      </a:solidFill>
                      <a:prstDash val="solid"/>
                      <a:round/>
                      <a:headEnd len="sm" w="sm" type="none"/>
                      <a:tailEnd len="sm" w="sm" type="none"/>
                    </a:lnT>
                    <a:lnB cap="flat" cmpd="sng" w="9525">
                      <a:solidFill>
                        <a:srgbClr val="2A4060"/>
                      </a:solidFill>
                      <a:prstDash val="solid"/>
                      <a:round/>
                      <a:headEnd len="sm" w="sm" type="none"/>
                      <a:tailEnd len="sm" w="sm" type="none"/>
                    </a:lnB>
                    <a:solidFill>
                      <a:srgbClr val="1A3048"/>
                    </a:solidFill>
                  </a:tcPr>
                </a:tc>
              </a:tr>
            </a:tbl>
          </a:graphicData>
        </a:graphic>
      </p:graphicFrame>
      <p:sp>
        <p:nvSpPr>
          <p:cNvPr id="202" name="Google Shape;202;p9"/>
          <p:cNvSpPr/>
          <p:nvPr/>
        </p:nvSpPr>
        <p:spPr>
          <a:xfrm>
            <a:off x="4754880" y="4617720"/>
            <a:ext cx="4114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1" lang="en-US" sz="1000" u="none" cap="none" strike="noStrike">
                <a:solidFill>
                  <a:srgbClr val="94A3B8"/>
                </a:solidFill>
                <a:latin typeface="Calibri"/>
                <a:ea typeface="Calibri"/>
                <a:cs typeface="Calibri"/>
                <a:sym typeface="Calibri"/>
              </a:rPr>
              <a:t>Lower power consumption: 28W vs 32W (S1@AGX) — achieves more work per watt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B2D"/>
        </a:solidFill>
      </p:bgPr>
    </p:bg>
    <p:spTree>
      <p:nvGrpSpPr>
        <p:cNvPr id="207" name="Shape 207"/>
        <p:cNvGrpSpPr/>
        <p:nvPr/>
      </p:nvGrpSpPr>
      <p:grpSpPr>
        <a:xfrm>
          <a:off x="0" y="0"/>
          <a:ext cx="0" cy="0"/>
          <a:chOff x="0" y="0"/>
          <a:chExt cx="0" cy="0"/>
        </a:xfrm>
      </p:grpSpPr>
      <p:sp>
        <p:nvSpPr>
          <p:cNvPr id="208" name="Google Shape;208;p10"/>
          <p:cNvSpPr/>
          <p:nvPr/>
        </p:nvSpPr>
        <p:spPr>
          <a:xfrm>
            <a:off x="0" y="0"/>
            <a:ext cx="9144000" cy="54864"/>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0"/>
          <p:cNvSpPr/>
          <p:nvPr/>
        </p:nvSpPr>
        <p:spPr>
          <a:xfrm>
            <a:off x="-457200" y="3474720"/>
            <a:ext cx="2286000" cy="2286000"/>
          </a:xfrm>
          <a:prstGeom prst="ellipse">
            <a:avLst/>
          </a:prstGeom>
          <a:solidFill>
            <a:srgbClr val="0D9488">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0" name="Google Shape;210;p10"/>
          <p:cNvPicPr preferRelativeResize="0"/>
          <p:nvPr/>
        </p:nvPicPr>
        <p:blipFill rotWithShape="1">
          <a:blip r:embed="rId3">
            <a:alphaModFix/>
          </a:blip>
          <a:srcRect b="0" l="0" r="0" t="0"/>
          <a:stretch/>
        </p:blipFill>
        <p:spPr>
          <a:xfrm>
            <a:off x="640080" y="457200"/>
            <a:ext cx="457200" cy="457200"/>
          </a:xfrm>
          <a:prstGeom prst="rect">
            <a:avLst/>
          </a:prstGeom>
          <a:noFill/>
          <a:ln>
            <a:noFill/>
          </a:ln>
        </p:spPr>
      </p:pic>
      <p:sp>
        <p:nvSpPr>
          <p:cNvPr id="211" name="Google Shape;211;p10"/>
          <p:cNvSpPr/>
          <p:nvPr/>
        </p:nvSpPr>
        <p:spPr>
          <a:xfrm>
            <a:off x="640080" y="100584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Trebuchet MS"/>
              <a:buNone/>
            </a:pPr>
            <a:r>
              <a:rPr b="1" i="0" lang="en-US" sz="3000" u="none" cap="none" strike="noStrike">
                <a:solidFill>
                  <a:srgbClr val="FFFFFF"/>
                </a:solidFill>
                <a:latin typeface="Trebuchet MS"/>
                <a:ea typeface="Trebuchet MS"/>
                <a:cs typeface="Trebuchet MS"/>
                <a:sym typeface="Trebuchet MS"/>
              </a:rPr>
              <a:t>Key Takeaways</a:t>
            </a:r>
            <a:endParaRPr b="0" i="0" sz="3000" u="none" cap="none" strike="noStrike">
              <a:solidFill>
                <a:schemeClr val="dk1"/>
              </a:solidFill>
              <a:latin typeface="Calibri"/>
              <a:ea typeface="Calibri"/>
              <a:cs typeface="Calibri"/>
              <a:sym typeface="Calibri"/>
            </a:endParaRPr>
          </a:p>
        </p:txBody>
      </p:sp>
      <p:sp>
        <p:nvSpPr>
          <p:cNvPr id="212" name="Google Shape;212;p10"/>
          <p:cNvSpPr/>
          <p:nvPr/>
        </p:nvSpPr>
        <p:spPr>
          <a:xfrm>
            <a:off x="640080" y="1691640"/>
            <a:ext cx="7863840" cy="685800"/>
          </a:xfrm>
          <a:prstGeom prst="rect">
            <a:avLst/>
          </a:prstGeom>
          <a:solidFill>
            <a:srgbClr val="1A30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0"/>
          <p:cNvSpPr/>
          <p:nvPr/>
        </p:nvSpPr>
        <p:spPr>
          <a:xfrm>
            <a:off x="640080" y="1691640"/>
            <a:ext cx="54864" cy="685800"/>
          </a:xfrm>
          <a:prstGeom prst="rect">
            <a:avLst/>
          </a:prstGeom>
          <a:solidFill>
            <a:srgbClr val="14B8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0"/>
          <p:cNvSpPr/>
          <p:nvPr/>
        </p:nvSpPr>
        <p:spPr>
          <a:xfrm>
            <a:off x="914400" y="173736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400"/>
              <a:buFont typeface="Trebuchet MS"/>
              <a:buNone/>
            </a:pPr>
            <a:r>
              <a:rPr b="1" i="0" lang="en-US" sz="1400" u="none" cap="none" strike="noStrike">
                <a:solidFill>
                  <a:srgbClr val="14B8A6"/>
                </a:solidFill>
                <a:latin typeface="Trebuchet MS"/>
                <a:ea typeface="Trebuchet MS"/>
                <a:cs typeface="Trebuchet MS"/>
                <a:sym typeface="Trebuchet MS"/>
              </a:rPr>
              <a:t>Adaptive Adapter Selection</a:t>
            </a:r>
            <a:endParaRPr b="0" i="0" sz="1400" u="none" cap="none" strike="noStrike">
              <a:solidFill>
                <a:schemeClr val="dk1"/>
              </a:solidFill>
              <a:latin typeface="Calibri"/>
              <a:ea typeface="Calibri"/>
              <a:cs typeface="Calibri"/>
              <a:sym typeface="Calibri"/>
            </a:endParaRPr>
          </a:p>
        </p:txBody>
      </p:sp>
      <p:sp>
        <p:nvSpPr>
          <p:cNvPr id="215" name="Google Shape;215;p10"/>
          <p:cNvSpPr/>
          <p:nvPr/>
        </p:nvSpPr>
        <p:spPr>
          <a:xfrm>
            <a:off x="914400" y="2039112"/>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200"/>
              <a:buFont typeface="Calibri"/>
              <a:buNone/>
            </a:pPr>
            <a:r>
              <a:rPr b="0" i="0" lang="en-US" sz="1200" u="none" cap="none" strike="noStrike">
                <a:solidFill>
                  <a:srgbClr val="94A3B8"/>
                </a:solidFill>
                <a:latin typeface="Calibri"/>
                <a:ea typeface="Calibri"/>
                <a:cs typeface="Calibri"/>
                <a:sym typeface="Calibri"/>
              </a:rPr>
              <a:t>Eliminates manual adapter choice via a profiling-trained router with cache-aware optimization</a:t>
            </a:r>
            <a:endParaRPr b="0" i="0" sz="1200" u="none" cap="none" strike="noStrike">
              <a:solidFill>
                <a:schemeClr val="dk1"/>
              </a:solidFill>
              <a:latin typeface="Calibri"/>
              <a:ea typeface="Calibri"/>
              <a:cs typeface="Calibri"/>
              <a:sym typeface="Calibri"/>
            </a:endParaRPr>
          </a:p>
        </p:txBody>
      </p:sp>
      <p:sp>
        <p:nvSpPr>
          <p:cNvPr id="216" name="Google Shape;216;p10"/>
          <p:cNvSpPr/>
          <p:nvPr/>
        </p:nvSpPr>
        <p:spPr>
          <a:xfrm>
            <a:off x="640080" y="2560320"/>
            <a:ext cx="7863840" cy="685800"/>
          </a:xfrm>
          <a:prstGeom prst="rect">
            <a:avLst/>
          </a:prstGeom>
          <a:solidFill>
            <a:srgbClr val="1A30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0"/>
          <p:cNvSpPr/>
          <p:nvPr/>
        </p:nvSpPr>
        <p:spPr>
          <a:xfrm>
            <a:off x="640080" y="2560320"/>
            <a:ext cx="54864" cy="685800"/>
          </a:xfrm>
          <a:prstGeom prst="rect">
            <a:avLst/>
          </a:prstGeom>
          <a:solidFill>
            <a:srgbClr val="14B8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0"/>
          <p:cNvSpPr/>
          <p:nvPr/>
        </p:nvSpPr>
        <p:spPr>
          <a:xfrm>
            <a:off x="914400" y="26060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400"/>
              <a:buFont typeface="Trebuchet MS"/>
              <a:buNone/>
            </a:pPr>
            <a:r>
              <a:rPr b="1" i="0" lang="en-US" sz="1400" u="none" cap="none" strike="noStrike">
                <a:solidFill>
                  <a:srgbClr val="14B8A6"/>
                </a:solidFill>
                <a:latin typeface="Trebuchet MS"/>
                <a:ea typeface="Trebuchet MS"/>
                <a:cs typeface="Trebuchet MS"/>
                <a:sym typeface="Trebuchet MS"/>
              </a:rPr>
              <a:t>Heterogeneous Memory Management</a:t>
            </a:r>
            <a:endParaRPr b="0" i="0" sz="1400" u="none" cap="none" strike="noStrike">
              <a:solidFill>
                <a:schemeClr val="dk1"/>
              </a:solidFill>
              <a:latin typeface="Calibri"/>
              <a:ea typeface="Calibri"/>
              <a:cs typeface="Calibri"/>
              <a:sym typeface="Calibri"/>
            </a:endParaRPr>
          </a:p>
        </p:txBody>
      </p:sp>
      <p:sp>
        <p:nvSpPr>
          <p:cNvPr id="219" name="Google Shape;219;p10"/>
          <p:cNvSpPr/>
          <p:nvPr/>
        </p:nvSpPr>
        <p:spPr>
          <a:xfrm>
            <a:off x="914400" y="2907792"/>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200"/>
              <a:buFont typeface="Calibri"/>
              <a:buNone/>
            </a:pPr>
            <a:r>
              <a:rPr b="0" i="0" lang="en-US" sz="1200" u="none" cap="none" strike="noStrike">
                <a:solidFill>
                  <a:srgbClr val="94A3B8"/>
                </a:solidFill>
                <a:latin typeface="Calibri"/>
                <a:ea typeface="Calibri"/>
                <a:cs typeface="Calibri"/>
                <a:sym typeface="Calibri"/>
              </a:rPr>
              <a:t>LRU cache + memory pool enables 1000+ adapters on devices where llama.cpp fails at 50</a:t>
            </a:r>
            <a:endParaRPr b="0" i="0" sz="1200" u="none" cap="none" strike="noStrike">
              <a:solidFill>
                <a:schemeClr val="dk1"/>
              </a:solidFill>
              <a:latin typeface="Calibri"/>
              <a:ea typeface="Calibri"/>
              <a:cs typeface="Calibri"/>
              <a:sym typeface="Calibri"/>
            </a:endParaRPr>
          </a:p>
        </p:txBody>
      </p:sp>
      <p:sp>
        <p:nvSpPr>
          <p:cNvPr id="220" name="Google Shape;220;p10"/>
          <p:cNvSpPr/>
          <p:nvPr/>
        </p:nvSpPr>
        <p:spPr>
          <a:xfrm>
            <a:off x="640080" y="3429000"/>
            <a:ext cx="7863840" cy="685800"/>
          </a:xfrm>
          <a:prstGeom prst="rect">
            <a:avLst/>
          </a:prstGeom>
          <a:solidFill>
            <a:srgbClr val="1A30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0"/>
          <p:cNvSpPr/>
          <p:nvPr/>
        </p:nvSpPr>
        <p:spPr>
          <a:xfrm>
            <a:off x="640080" y="3429000"/>
            <a:ext cx="54864" cy="685800"/>
          </a:xfrm>
          <a:prstGeom prst="rect">
            <a:avLst/>
          </a:prstGeom>
          <a:solidFill>
            <a:srgbClr val="14B8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0"/>
          <p:cNvSpPr/>
          <p:nvPr/>
        </p:nvSpPr>
        <p:spPr>
          <a:xfrm>
            <a:off x="914400" y="34747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400"/>
              <a:buFont typeface="Trebuchet MS"/>
              <a:buNone/>
            </a:pPr>
            <a:r>
              <a:rPr b="1" i="0" lang="en-US" sz="1400" u="none" cap="none" strike="noStrike">
                <a:solidFill>
                  <a:srgbClr val="14B8A6"/>
                </a:solidFill>
                <a:latin typeface="Trebuchet MS"/>
                <a:ea typeface="Trebuchet MS"/>
                <a:cs typeface="Trebuchet MS"/>
                <a:sym typeface="Trebuchet MS"/>
              </a:rPr>
              <a:t>Batch LoRA Inference</a:t>
            </a:r>
            <a:endParaRPr b="0" i="0" sz="1400" u="none" cap="none" strike="noStrike">
              <a:solidFill>
                <a:schemeClr val="dk1"/>
              </a:solidFill>
              <a:latin typeface="Calibri"/>
              <a:ea typeface="Calibri"/>
              <a:cs typeface="Calibri"/>
              <a:sym typeface="Calibri"/>
            </a:endParaRPr>
          </a:p>
        </p:txBody>
      </p:sp>
      <p:sp>
        <p:nvSpPr>
          <p:cNvPr id="223" name="Google Shape;223;p10"/>
          <p:cNvSpPr/>
          <p:nvPr/>
        </p:nvSpPr>
        <p:spPr>
          <a:xfrm>
            <a:off x="914400" y="3776472"/>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200"/>
              <a:buFont typeface="Calibri"/>
              <a:buNone/>
            </a:pPr>
            <a:r>
              <a:rPr b="0" i="0" lang="en-US" sz="1200" u="none" cap="none" strike="noStrike">
                <a:solidFill>
                  <a:srgbClr val="94A3B8"/>
                </a:solidFill>
                <a:latin typeface="Calibri"/>
                <a:ea typeface="Calibri"/>
                <a:cs typeface="Calibri"/>
                <a:sym typeface="Calibri"/>
              </a:rPr>
              <a:t>Batches base model + groups adapter compute → 2–4× throughput with lower power draw</a:t>
            </a:r>
            <a:endParaRPr b="0" i="0" sz="1200" u="none" cap="none" strike="noStrike">
              <a:solidFill>
                <a:schemeClr val="dk1"/>
              </a:solidFill>
              <a:latin typeface="Calibri"/>
              <a:ea typeface="Calibri"/>
              <a:cs typeface="Calibri"/>
              <a:sym typeface="Calibri"/>
            </a:endParaRPr>
          </a:p>
        </p:txBody>
      </p:sp>
      <p:sp>
        <p:nvSpPr>
          <p:cNvPr id="224" name="Google Shape;224;p10"/>
          <p:cNvSpPr/>
          <p:nvPr/>
        </p:nvSpPr>
        <p:spPr>
          <a:xfrm>
            <a:off x="640080" y="4297680"/>
            <a:ext cx="7863840" cy="502920"/>
          </a:xfrm>
          <a:prstGeom prst="rect">
            <a:avLst/>
          </a:prstGeom>
          <a:solidFill>
            <a:srgbClr val="1E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0"/>
          <p:cNvSpPr/>
          <p:nvPr/>
        </p:nvSpPr>
        <p:spPr>
          <a:xfrm>
            <a:off x="914400" y="429768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8BA0"/>
              </a:buClr>
              <a:buSzPts val="1050"/>
              <a:buFont typeface="Calibri"/>
              <a:buNone/>
            </a:pPr>
            <a:r>
              <a:rPr b="0" i="0" lang="en-US" sz="1050" u="none" cap="none" strike="noStrike">
                <a:solidFill>
                  <a:srgbClr val="7A8BA0"/>
                </a:solidFill>
                <a:latin typeface="Calibri"/>
                <a:ea typeface="Calibri"/>
                <a:cs typeface="Calibri"/>
                <a:sym typeface="Calibri"/>
              </a:rPr>
              <a:t>Limitations:  Evaluated on synthetic workloads only  ·  Router bounded by best individual adapter  ·  LoRA-specific (principles extend to other PEFT)</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