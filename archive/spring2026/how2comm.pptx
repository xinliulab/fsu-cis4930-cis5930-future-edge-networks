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70" r:id="rId15"/>
    <p:sldId id="271" r:id="rId16"/>
    <p:sldId id="26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87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046DD-AB6F-CFE8-6A29-485425C7A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FF4ADD-E83A-139A-2A0A-DDED8F34A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DB0325-2E89-8CA2-FF96-3CC9848BDE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57E06-5EB4-8371-E293-58C66813AC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740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2B5D7-BC12-F891-2388-A66F12329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C7BA55-EB6F-812A-CE9E-9795E2F7FA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1178AD-5907-CD77-CC33-30FD41AB0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26E3E-27E8-1367-03E3-4D33EEBD0B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413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CE923-9237-609E-D75D-52D519BC1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CC153B-C8EB-B960-DB14-0C2E64C94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B34F74-0DDA-F630-CF4E-82608478E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0D851-D8C5-A02B-9C71-35F83C44E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260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EB857-C8F8-F2B9-D404-A7D46C82F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24C7E-CE43-515F-D615-1954EB0C04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1826C6-D65C-F3B0-193A-B56CFA652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DA230-E0C4-2435-C3E4-9A6850B346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5589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2023 · Collaborative Perception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How2comm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20040" y="178308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Communication-Efficient and Collaboration-Pragmatic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Perception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2788920"/>
            <a:ext cx="850392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3017520"/>
            <a:ext cx="2194560" cy="384048"/>
          </a:xfrm>
          <a:prstGeom prst="roundRect">
            <a:avLst>
              <a:gd name="adj" fmla="val 23810"/>
            </a:avLst>
          </a:prstGeom>
          <a:solidFill>
            <a:srgbClr val="1B2D3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30175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3017520"/>
            <a:ext cx="2194560" cy="384048"/>
          </a:xfrm>
          <a:prstGeom prst="roundRect">
            <a:avLst>
              <a:gd name="adj" fmla="val 23810"/>
            </a:avLst>
          </a:prstGeom>
          <a:solidFill>
            <a:srgbClr val="1B2D3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0" y="30175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Detection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0" y="3017520"/>
            <a:ext cx="2194560" cy="384048"/>
          </a:xfrm>
          <a:prstGeom prst="roundRect">
            <a:avLst>
              <a:gd name="adj" fmla="val 23810"/>
            </a:avLst>
          </a:prstGeom>
          <a:solidFill>
            <a:srgbClr val="1B2D3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12080" y="30175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 Communication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36576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Dingkang Yang · Kun Yang · Yuzheng Wang · Jing Liu · Peng Zhai · Lihua Zhang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Fudan University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4434840"/>
            <a:ext cx="2651760" cy="59436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44348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4434840"/>
            <a:ext cx="2651760" cy="59436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46120" y="44348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10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4434840"/>
            <a:ext cx="2651760" cy="59436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72200" y="44348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3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Why Single-Agent Perception Isn't Enough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411480"/>
          </a:xfrm>
          <a:prstGeom prst="rect">
            <a:avLst/>
          </a:prstGeom>
          <a:solidFill>
            <a:srgbClr val="1B2D3F"/>
          </a:solidFill>
          <a:ln w="1270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Single-Agent Limitations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7099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hidden behind buildings, trucks, or other vehicles are simply invisible to a single sensor.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78608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578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Range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80720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vehicle's LiDAR only covers a finite radius — beyond that, the world disappears.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75888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675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611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Point Clouds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9044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distance, only a handful of points represent an object, making detection unreliable.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868680"/>
            <a:ext cx="4297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0" y="868680"/>
            <a:ext cx="42976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0" y="8686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Collaboration Helps — But Adds New Challenges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13716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V2V / V2X communication lets vehicles share sensor data in real time — dramatically improving perception. But this introduces: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2148840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92040" y="2148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Redundancy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2423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all features indiscriminately wastes limited bandwidth.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017520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3017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Delay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291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arrives late, causing fast-moving objects to appear in the wrong place.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886200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92040" y="3886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Heterogeneity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4160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LiDAR sensors create feature-space gaps that break fusion.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Core Challenges How2comm Solves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challenge represents a fundamental barrier to practical collaborative perception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1143000"/>
            <a:ext cx="2834640" cy="3794760"/>
          </a:xfrm>
          <a:prstGeom prst="rect">
            <a:avLst/>
          </a:prstGeom>
          <a:solidFill>
            <a:srgbClr val="1B2D3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28346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Redundancy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8105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02996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methods either compress everything uniformly or rely on coarse confidence maps to decide what to share.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606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82549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in real V2V/X systems is severely limited (~1 MB). Sending too much data makes real-time collaboration infeasible.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3401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How2comm's fix: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362102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Spatial-channel message filtering guided by mutual information — send less, but preserve the most useful semantics.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143000"/>
            <a:ext cx="2834640" cy="3794760"/>
          </a:xfrm>
          <a:prstGeom prst="rect">
            <a:avLst/>
          </a:prstGeom>
          <a:solidFill>
            <a:srgbClr val="1B2D3F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46120" y="1143000"/>
            <a:ext cx="28346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46120" y="1143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86200" y="1143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Delay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18105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202996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always transmitted from the past (t₀ = t − τ). A car moving at 60 mph travels ~3 meters in 100ms.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606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282549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misalignment makes collaboration actively harmful — fused data can place objects in the wrong location.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3401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How2comm's fix: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362102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Flow-guided future feature prediction warps past features forward in time to align with the current frame.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91072" y="1143000"/>
            <a:ext cx="2834640" cy="3794760"/>
          </a:xfrm>
          <a:prstGeom prst="rect">
            <a:avLst/>
          </a:prstGeom>
          <a:solidFill>
            <a:srgbClr val="1B2D3F"/>
          </a:solidFill>
          <a:ln w="254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91072" y="1143000"/>
            <a:ext cx="2834640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91072" y="1143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31152" y="1143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Heterogeneity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28232" y="18105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28232" y="202996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agents (vehicles, infrastructure) have different LiDAR hardware — density, range, noise characteristics all differ.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28232" y="2606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28232" y="282549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feature fusion causes feature-space mismatches, and fails to exploit the distinct advantages of each agent's viewpoint.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28232" y="3401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How2comm's fix: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28232" y="362102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STCFormer decouples features into exclusive and common perception regions, handling each appropriately.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How2comm: System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914400"/>
            <a:ext cx="15544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914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Encode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719072" y="1097280"/>
            <a:ext cx="384048" cy="137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64592" y="1554480"/>
            <a:ext cx="1554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16002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PointPillar encoder converts LiDAR point clouds to BEV feature maps for all agents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38528" y="914400"/>
            <a:ext cx="1554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38528" y="914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Filter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93008" y="1097280"/>
            <a:ext cx="384048" cy="137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38528" y="1554480"/>
            <a:ext cx="1554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29968" y="16002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module: spatial-channel attention selects only the most informative features to transmit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12464" y="914400"/>
            <a:ext cx="15544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12464" y="914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Predict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266944" y="1097280"/>
            <a:ext cx="384048" cy="137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12464" y="1554480"/>
            <a:ext cx="1554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03904" y="16002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FDC module: feature flow warps collaborator features forward to current timestamp 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0" y="914400"/>
            <a:ext cx="15544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0" y="914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Fuse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40880" y="1097280"/>
            <a:ext cx="384048" cy="137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0" y="1554480"/>
            <a:ext cx="1554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577840" y="16002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STCFormer integrates decoupled spatial semantics + temporal context across agents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60336" y="914400"/>
            <a:ext cx="155448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260336" y="914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Detect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260336" y="1554480"/>
            <a:ext cx="1554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51776" y="16002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and classification decoders output 3D bounding boxes for objects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023360"/>
            <a:ext cx="8595360" cy="86868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06908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operate asynchronously. The ego vehicle broadcasts what it needs; collaborators send only what fills those gaps. All collaboration happens in intermediate feature space — not raw sensor data (too large) and not final predictions (too lossy).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B0411-8A2F-C51A-1BFF-50BD6030A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2306D8-40FC-2444-3B8E-05AE16A64E3D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D6D706F-E166-2F38-2A5C-BF6E927C1CCE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How2comm: System Overview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15E3F83-9EDA-DF5A-7C06-E9806A15F9F1}"/>
              </a:ext>
            </a:extLst>
          </p:cNvPr>
          <p:cNvSpPr/>
          <p:nvPr/>
        </p:nvSpPr>
        <p:spPr>
          <a:xfrm>
            <a:off x="164592" y="914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Encode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12AC4AC-52CE-CDE1-A25D-35093A1E39C6}"/>
              </a:ext>
            </a:extLst>
          </p:cNvPr>
          <p:cNvSpPr/>
          <p:nvPr/>
        </p:nvSpPr>
        <p:spPr>
          <a:xfrm>
            <a:off x="1938528" y="914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Filter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91415D6-91C2-3B70-70A6-4B511C296B8B}"/>
              </a:ext>
            </a:extLst>
          </p:cNvPr>
          <p:cNvSpPr/>
          <p:nvPr/>
        </p:nvSpPr>
        <p:spPr>
          <a:xfrm>
            <a:off x="3712464" y="914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Predict</a:t>
            </a:r>
            <a:endParaRPr lang="en-US" sz="13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7B39165-5A27-2DB3-4425-2328E841EFA2}"/>
              </a:ext>
            </a:extLst>
          </p:cNvPr>
          <p:cNvSpPr/>
          <p:nvPr/>
        </p:nvSpPr>
        <p:spPr>
          <a:xfrm>
            <a:off x="5486400" y="914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Fuse</a:t>
            </a:r>
            <a:endParaRPr lang="en-US" sz="13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515658B-D736-F0CD-464B-B452D93D9615}"/>
              </a:ext>
            </a:extLst>
          </p:cNvPr>
          <p:cNvSpPr/>
          <p:nvPr/>
        </p:nvSpPr>
        <p:spPr>
          <a:xfrm>
            <a:off x="7260336" y="914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Detect</a:t>
            </a:r>
            <a:endParaRPr lang="en-US" sz="13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CA6AC09-739E-17EC-EE71-53A19C91E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61" y="1297965"/>
            <a:ext cx="8328878" cy="304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567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1 — Mutual Information-Aware Communication (MIC)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transmit less data while preserving the most semantically valuable information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5303520" cy="3520440"/>
          </a:xfrm>
          <a:prstGeom prst="rect">
            <a:avLst/>
          </a:prstGeom>
          <a:solidFill>
            <a:srgbClr val="1B2D3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755648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75564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Ego Generates Queries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99339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ego vehicle computes spatial attention (which locations matter?) and channel attention (which feature dimensions matter?) for its own BEV feature map.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468880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46888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Ego Broadcasts Requests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70662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inverts these attention maps (1 − A) to produce a 'request' signal: what spatial regions and channels does the ego lack?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182112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18211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Collaborator Responds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41985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collaborator combines the ego's requests with its own attention to produce a binary mask M, then sends only F̃ = F ⊙ M — a sparse, targeted feature.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895344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89534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Mutual Info Supervision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1330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Jensen-Shannon divergence loss L_mul ensures the sparse filtered features retain the most critical semantics of the full original features.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06440" y="1234440"/>
            <a:ext cx="3063240" cy="3520440"/>
          </a:xfrm>
          <a:prstGeom prst="rect">
            <a:avLst/>
          </a:prstGeom>
          <a:solidFill>
            <a:srgbClr val="1B2D3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0" y="13258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Is Better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943600" y="17556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0936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Previous: Feature Compression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2011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Autoencoders compress everything uniformly — valuable features get squashed alongside irrelevant ones.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43600" y="2468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09360" y="24688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Previous: Spatial Filtering Only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27249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maps pick locations but ignore which feature channels matter — half the picture.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43600" y="318211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09360" y="31821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How2comm: Both Dimensions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34381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AND channel filtering, guided by what the ego actually needs — targeted, not uniform.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43600" y="389534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09360" y="38953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Info Preservation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41513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 supervision loss prevents important semantics from being lost in the filtering process.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2 — Flow-Guided Delay Compensation (FDC)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100ms delay (typical V2X), a vehicle moving at 60 mph has traveled ~2.7 meters. Fusing features from different timestamps causes false positives, ghost objects, and missed detections — collaboration makes things worse, not better.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859536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38912" y="1527048"/>
            <a:ext cx="219456" cy="21945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" y="1773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t₀−k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-45720" y="20299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frame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(collaborator)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07792" y="1527048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0" y="1773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23160" y="20299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transmitted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(delayed)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08192" y="152704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60720" y="1773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23560" y="20299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(ego's frame)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591056"/>
            <a:ext cx="2834640" cy="73152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46120" y="1371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FDC predicts forward →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651760"/>
            <a:ext cx="28346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651760"/>
            <a:ext cx="283464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265176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Flow Generation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127248"/>
            <a:ext cx="2560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collaborator runs its historical feature sequence {F^(t₀−k), ..., F^t₀} through a flow generator network to produce a feature flow O^t₀ (direction) and scale matrix S^t₀ (magnitude).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2651760"/>
            <a:ext cx="28346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46120" y="2651760"/>
            <a:ext cx="283464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37560" y="265176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Feature Warping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3127248"/>
            <a:ext cx="2560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ego receives the sparse feature F̃^t₀, the flow O^t₀, and scale S^t₀. It estimates the predicted future feature: Z^t = warp(F̃^t₀, (t−t₀)·O^t₀) ⊙ S^t₀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2651760"/>
            <a:ext cx="28346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17920" y="2651760"/>
            <a:ext cx="283464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09360" y="265176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Self-Supervised Training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3127248"/>
            <a:ext cx="2560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motion annotations exist in the datasets, so the flow generator is trained by maximizing cosine similarity between the predicted feature Z^t and the actual future feature F^t (used as a proxy label).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3 — Spatio-Temporal Collaboration Transformer (STCFormer)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pragmatic fusion that handles heterogeneous agents and learns from history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1170432"/>
            <a:ext cx="2834640" cy="3749040"/>
          </a:xfrm>
          <a:prstGeom prst="rect">
            <a:avLst/>
          </a:prstGeom>
          <a:solidFill>
            <a:srgbClr val="1B2D3F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1170432"/>
            <a:ext cx="283464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17043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Temporal Cross-Attention (TCA)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it solves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94767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cloud sparsity makes it hard to detect fast-moving objects in a single frame.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5146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272491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Q-K-V attention across the ego's current frame and all merged historical features (from both ego and collaborators). A 1D temporal convolution extracts sequential dependencies before attention.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34930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370332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context fills in gaps left by sparse or occluded current observations.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1170432"/>
            <a:ext cx="2834640" cy="3749040"/>
          </a:xfrm>
          <a:prstGeom prst="rect">
            <a:avLst/>
          </a:prstGeom>
          <a:solidFill>
            <a:srgbClr val="1B2D3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46120" y="1170432"/>
            <a:ext cx="283464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37560" y="117043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Decoupled Spatial Attention (DSA)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17373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it solves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83280" y="194767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Naively fusing all collaborator features ignores the structural difference between shared and unique viewpoints.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83280" y="25146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83280" y="272491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importance generator scores each spatial location for both ego (I^t_i) and collaborator (I^t_j). The collaborator's features are split into: Exclusive Map (1−I^t_i)⊙I^t_j — what only they see; Common Map I^t_i⊙I^t_j — what both see. Separate deformable attention heads handle each.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83280" y="34930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83280" y="370332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features fill blind spots; common features bridge sensor discrepancies.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91072" y="1170432"/>
            <a:ext cx="2834640" cy="3749040"/>
          </a:xfrm>
          <a:prstGeom prst="rect">
            <a:avLst/>
          </a:prstGeom>
          <a:solidFill>
            <a:srgbClr val="1B2D3F"/>
          </a:solidFill>
          <a:ln w="254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91072" y="1170432"/>
            <a:ext cx="2834640" cy="4754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82512" y="117043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Adaptive Late Fusion (ALF)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28232" y="17373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it solves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28232" y="194767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and common features have different informational value at different spatial locations.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28232" y="25146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28232" y="272491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weight maps G^t_e and G^t_c are learned via 1×1 convolutions and softmax. Final output: F^t_i = G^t_e ⊙ F^t_e + G^t_c ⊙ F^t_c — an adaptive, spatially-varying blend.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28232" y="34930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28232" y="370332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simple addition — the network learns where to trust exclusive vs. common information.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Decoupling Intuition: Why Split Features at All?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from the paper: In a typical V2X scene, a collaborator has two types of useful information for the ego agent — things they both see (common region) and things only the collaborator sees (exclusive region). These require fundamentally different handling.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4206240" cy="3429000"/>
          </a:xfrm>
          <a:prstGeom prst="rect">
            <a:avLst/>
          </a:prstGeom>
          <a:solidFill>
            <a:srgbClr val="ECFDF5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42062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EXCLUSIVE REGION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(Infrastructure sees, ego does not)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collaborator's biggest value-add — compensating for the ego's blind spots.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example: infrastructure camera sees around a corner, or over an occluding truck.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73552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 information, the ego would simply miss these objects.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803904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uses deformable attention to sample keypoints specifically in this exclusive zone.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554480"/>
            <a:ext cx="4206240" cy="3429000"/>
          </a:xfrm>
          <a:prstGeom prst="rect">
            <a:avLst/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1554480"/>
            <a:ext cx="42062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1554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REGION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1828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(Both agents see the same area)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212848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observe this area but with DIFFERENT sensors — different LiDAR hardware creates feature gaps.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743200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region features help the framework bridge the sensor discrepancy / heterogeneity problem.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273552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 fuses these complementary views to produce a more robust representation of shared space.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803904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767328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localization errors and feature mismatches are significantly reduced in shared areas.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Results: How2comm vs. State of the Art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1188720"/>
          </a:xfrm>
          <a:prstGeom prst="rect">
            <a:avLst/>
          </a:prstGeom>
          <a:solidFill>
            <a:srgbClr val="1B2D3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+8.4%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AP@0.7 improvement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DAIR-V2X (real-world)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27832" y="777240"/>
            <a:ext cx="2743200" cy="1188720"/>
          </a:xfrm>
          <a:prstGeom prst="rect">
            <a:avLst/>
          </a:prstGeom>
          <a:solidFill>
            <a:srgbClr val="1B2D3F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27832" y="8229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+7.0%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227832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AP@0.7 improvement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OPV2V (simulated)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81344" y="777240"/>
            <a:ext cx="2743200" cy="1188720"/>
          </a:xfrm>
          <a:prstGeom prst="rect">
            <a:avLst/>
          </a:prstGeom>
          <a:solidFill>
            <a:srgbClr val="1B2D3F"/>
          </a:solidFill>
          <a:ln w="254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81344" y="8229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datasets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181344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DAIR-V2X · V2XSet · OPV2V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outperform prior SOTA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103120"/>
            <a:ext cx="2011680" cy="438912"/>
          </a:xfrm>
          <a:prstGeom prst="rect">
            <a:avLst/>
          </a:prstGeom>
          <a:solidFill>
            <a:srgbClr val="1B2D3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1031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0" y="2103120"/>
            <a:ext cx="2194560" cy="438912"/>
          </a:xfrm>
          <a:prstGeom prst="rect">
            <a:avLst/>
          </a:prstGeom>
          <a:solidFill>
            <a:srgbClr val="1B2D3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86000" y="21031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DAIR-V2X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AP@0.5/0.7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2103120"/>
            <a:ext cx="2194560" cy="438912"/>
          </a:xfrm>
          <a:prstGeom prst="rect">
            <a:avLst/>
          </a:prstGeom>
          <a:solidFill>
            <a:srgbClr val="1B2D3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80560" y="21031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V2XSet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AP@0.5/0.7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2103120"/>
            <a:ext cx="2194560" cy="438912"/>
          </a:xfrm>
          <a:prstGeom prst="rect">
            <a:avLst/>
          </a:prstGeom>
          <a:solidFill>
            <a:srgbClr val="1B2D3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75120" y="21031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OPV2V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AP@0.5/0.7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542032"/>
            <a:ext cx="2011680" cy="329184"/>
          </a:xfrm>
          <a:prstGeom prst="rect">
            <a:avLst/>
          </a:prstGeom>
          <a:solidFill>
            <a:srgbClr val="1B2D3F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25420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Fusion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0" y="2542032"/>
            <a:ext cx="2194560" cy="329184"/>
          </a:xfrm>
          <a:prstGeom prst="rect">
            <a:avLst/>
          </a:prstGeom>
          <a:solidFill>
            <a:srgbClr val="1B2D3F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286000" y="25420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 / 43.6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80560" y="2542032"/>
            <a:ext cx="2194560" cy="329184"/>
          </a:xfrm>
          <a:prstGeom prst="rect">
            <a:avLst/>
          </a:prstGeom>
          <a:solidFill>
            <a:srgbClr val="1B2D3F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80560" y="25420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60.6 / 40.2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675120" y="2542032"/>
            <a:ext cx="2194560" cy="329184"/>
          </a:xfrm>
          <a:prstGeom prst="rect">
            <a:avLst/>
          </a:prstGeom>
          <a:solidFill>
            <a:srgbClr val="1B2D3F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75120" y="25420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68.7 / 48.7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2871216"/>
            <a:ext cx="2011680" cy="329184"/>
          </a:xfrm>
          <a:prstGeom prst="rect">
            <a:avLst/>
          </a:prstGeom>
          <a:solidFill>
            <a:srgbClr val="142232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28712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When2com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0" y="2871216"/>
            <a:ext cx="2194560" cy="329184"/>
          </a:xfrm>
          <a:prstGeom prst="rect">
            <a:avLst/>
          </a:prstGeom>
          <a:solidFill>
            <a:srgbClr val="142232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286000" y="287121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46.6 / 32.5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80560" y="2871216"/>
            <a:ext cx="2194560" cy="329184"/>
          </a:xfrm>
          <a:prstGeom prst="rect">
            <a:avLst/>
          </a:prstGeom>
          <a:solidFill>
            <a:srgbClr val="142232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480560" y="287121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65.1 / 41.9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675120" y="2871216"/>
            <a:ext cx="2194560" cy="329184"/>
          </a:xfrm>
          <a:prstGeom prst="rect">
            <a:avLst/>
          </a:prstGeom>
          <a:solidFill>
            <a:srgbClr val="142232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675120" y="287121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70.6 / 53.7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3200400"/>
            <a:ext cx="2011680" cy="329184"/>
          </a:xfrm>
          <a:prstGeom prst="rect">
            <a:avLst/>
          </a:prstGeom>
          <a:solidFill>
            <a:srgbClr val="1B2D3F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32004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V2VNet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286000" y="3200400"/>
            <a:ext cx="2194560" cy="329184"/>
          </a:xfrm>
          <a:prstGeom prst="rect">
            <a:avLst/>
          </a:prstGeom>
          <a:solidFill>
            <a:srgbClr val="1B2D3F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286000" y="32004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52.2 / 38.6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480560" y="3200400"/>
            <a:ext cx="2194560" cy="329184"/>
          </a:xfrm>
          <a:prstGeom prst="rect">
            <a:avLst/>
          </a:prstGeom>
          <a:solidFill>
            <a:srgbClr val="1B2D3F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480560" y="32004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79.1 / 49.3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675120" y="3200400"/>
            <a:ext cx="2194560" cy="329184"/>
          </a:xfrm>
          <a:prstGeom prst="rect">
            <a:avLst/>
          </a:prstGeom>
          <a:solidFill>
            <a:srgbClr val="1B2D3F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675120" y="32004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77.5 / 62.1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74320" y="3529584"/>
            <a:ext cx="2011680" cy="329184"/>
          </a:xfrm>
          <a:prstGeom prst="rect">
            <a:avLst/>
          </a:prstGeom>
          <a:solidFill>
            <a:srgbClr val="142232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74320" y="352958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DiscoNet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286000" y="3529584"/>
            <a:ext cx="2194560" cy="329184"/>
          </a:xfrm>
          <a:prstGeom prst="rect">
            <a:avLst/>
          </a:prstGeom>
          <a:solidFill>
            <a:srgbClr val="142232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286000" y="35295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 / 40.0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480560" y="3529584"/>
            <a:ext cx="2194560" cy="329184"/>
          </a:xfrm>
          <a:prstGeom prst="rect">
            <a:avLst/>
          </a:prstGeom>
          <a:solidFill>
            <a:srgbClr val="142232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480560" y="35295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79.8 / 54.1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675120" y="3529584"/>
            <a:ext cx="2194560" cy="329184"/>
          </a:xfrm>
          <a:prstGeom prst="rect">
            <a:avLst/>
          </a:prstGeom>
          <a:solidFill>
            <a:srgbClr val="142232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675120" y="35295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81.1 / 64.9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74320" y="3858768"/>
            <a:ext cx="2011680" cy="329184"/>
          </a:xfrm>
          <a:prstGeom prst="rect">
            <a:avLst/>
          </a:prstGeom>
          <a:solidFill>
            <a:srgbClr val="1B2D3F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74320" y="38587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V2X-ViT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286000" y="3858768"/>
            <a:ext cx="2194560" cy="329184"/>
          </a:xfrm>
          <a:prstGeom prst="rect">
            <a:avLst/>
          </a:prstGeom>
          <a:solidFill>
            <a:srgbClr val="1B2D3F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286000" y="38587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51.7 / 40.0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480560" y="3858768"/>
            <a:ext cx="2194560" cy="329184"/>
          </a:xfrm>
          <a:prstGeom prst="rect">
            <a:avLst/>
          </a:prstGeom>
          <a:solidFill>
            <a:srgbClr val="1B2D3F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480560" y="38587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83.6 / 61.4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675120" y="3858768"/>
            <a:ext cx="2194560" cy="329184"/>
          </a:xfrm>
          <a:prstGeom prst="rect">
            <a:avLst/>
          </a:prstGeom>
          <a:solidFill>
            <a:srgbClr val="1B2D3F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675120" y="38587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80.6 / 66.4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74320" y="4187952"/>
            <a:ext cx="2011680" cy="329184"/>
          </a:xfrm>
          <a:prstGeom prst="rect">
            <a:avLst/>
          </a:prstGeom>
          <a:solidFill>
            <a:srgbClr val="142232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74320" y="41879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CoBEVT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2286000" y="4187952"/>
            <a:ext cx="2194560" cy="329184"/>
          </a:xfrm>
          <a:prstGeom prst="rect">
            <a:avLst/>
          </a:prstGeom>
          <a:solidFill>
            <a:srgbClr val="142232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2286000" y="41879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56.1 / 41.5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480560" y="4187952"/>
            <a:ext cx="2194560" cy="329184"/>
          </a:xfrm>
          <a:prstGeom prst="rect">
            <a:avLst/>
          </a:prstGeom>
          <a:solidFill>
            <a:srgbClr val="142232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480560" y="41879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81.1 / 54.3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675120" y="4187952"/>
            <a:ext cx="2194560" cy="329184"/>
          </a:xfrm>
          <a:prstGeom prst="rect">
            <a:avLst/>
          </a:prstGeom>
          <a:solidFill>
            <a:srgbClr val="142232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675120" y="41879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81.6 / 67.5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274320" y="4517136"/>
            <a:ext cx="2011680" cy="329184"/>
          </a:xfrm>
          <a:prstGeom prst="rect">
            <a:avLst/>
          </a:prstGeom>
          <a:solidFill>
            <a:srgbClr val="1B2D3F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74320" y="45171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Where2comm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2286000" y="4517136"/>
            <a:ext cx="2194560" cy="329184"/>
          </a:xfrm>
          <a:prstGeom prst="rect">
            <a:avLst/>
          </a:prstGeom>
          <a:solidFill>
            <a:srgbClr val="1B2D3F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2286000" y="45171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59.3 / 43.5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4480560" y="4517136"/>
            <a:ext cx="2194560" cy="329184"/>
          </a:xfrm>
          <a:prstGeom prst="rect">
            <a:avLst/>
          </a:prstGeom>
          <a:solidFill>
            <a:srgbClr val="1B2D3F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4480560" y="45171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82.0 / 53.4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6675120" y="4517136"/>
            <a:ext cx="2194560" cy="329184"/>
          </a:xfrm>
          <a:prstGeom prst="rect">
            <a:avLst/>
          </a:prstGeom>
          <a:solidFill>
            <a:srgbClr val="1B2D3F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675120" y="45171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82.8 / 67.3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274320" y="4846320"/>
            <a:ext cx="2011680" cy="329184"/>
          </a:xfrm>
          <a:prstGeom prst="rect">
            <a:avLst/>
          </a:prstGeom>
          <a:solidFill>
            <a:srgbClr val="0D9488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274320" y="48463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How2comm ✓</a:t>
            </a:r>
            <a:endParaRPr lang="en-US" sz="1150" dirty="0"/>
          </a:p>
        </p:txBody>
      </p:sp>
      <p:sp>
        <p:nvSpPr>
          <p:cNvPr id="79" name="Shape 77"/>
          <p:cNvSpPr/>
          <p:nvPr/>
        </p:nvSpPr>
        <p:spPr>
          <a:xfrm>
            <a:off x="2286000" y="4846320"/>
            <a:ext cx="2194560" cy="329184"/>
          </a:xfrm>
          <a:prstGeom prst="rect">
            <a:avLst/>
          </a:prstGeom>
          <a:solidFill>
            <a:srgbClr val="0D9488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2286000" y="48463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62.4 / 47.2</a:t>
            </a:r>
            <a:endParaRPr lang="en-US" sz="1150" dirty="0"/>
          </a:p>
        </p:txBody>
      </p:sp>
      <p:sp>
        <p:nvSpPr>
          <p:cNvPr id="81" name="Shape 79"/>
          <p:cNvSpPr/>
          <p:nvPr/>
        </p:nvSpPr>
        <p:spPr>
          <a:xfrm>
            <a:off x="4480560" y="4846320"/>
            <a:ext cx="2194560" cy="329184"/>
          </a:xfrm>
          <a:prstGeom prst="rect">
            <a:avLst/>
          </a:prstGeom>
          <a:solidFill>
            <a:srgbClr val="0D9488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4480560" y="48463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84.1 / 67.0</a:t>
            </a:r>
            <a:endParaRPr lang="en-US" sz="1150" dirty="0"/>
          </a:p>
        </p:txBody>
      </p:sp>
      <p:sp>
        <p:nvSpPr>
          <p:cNvPr id="83" name="Shape 81"/>
          <p:cNvSpPr/>
          <p:nvPr/>
        </p:nvSpPr>
        <p:spPr>
          <a:xfrm>
            <a:off x="6675120" y="4846320"/>
            <a:ext cx="2194560" cy="329184"/>
          </a:xfrm>
          <a:prstGeom prst="rect">
            <a:avLst/>
          </a:prstGeom>
          <a:solidFill>
            <a:srgbClr val="0D9488"/>
          </a:solidFill>
          <a:ln w="6350">
            <a:solidFill>
              <a:srgbClr val="1B2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6675120" y="48463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85.4 / 72.2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 Efficiency: Better Performance, Less Bandwidth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02920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Insert Figure 4 here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(Communication Volume vs. AP@0.7 across all 3 datasets)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0" y="82296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0" y="822960"/>
            <a:ext cx="33832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0" y="822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23560" y="1353312"/>
            <a:ext cx="54864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60720" y="13533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Dominates at all bandwidth levels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0" y="160934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How2comm outperforms Where2comm (the prior best) across every tested communication budget — not just at a specific sweet spot.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23560" y="2212848"/>
            <a:ext cx="54864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60720" y="22128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SOTA with less data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246888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lower communication volume, How2comm achieves comparable AP to models that transmit far more — a fundamentally better efficiency curve.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23560" y="3072384"/>
            <a:ext cx="54864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60720" y="30723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Spatial-channel filtering works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3328416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 module is the key driver: by sending targeted features rather than uniform compressions, each byte transmitted carries more useful information.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23560" y="3931920"/>
            <a:ext cx="54864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60720" y="39319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supervision prevents degradation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418795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mutual information loss, aggressive filtering would drop useful semantics. The supervision term keeps quality high even at high sparsity.</a:t>
            </a: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8FB0459-8E85-357A-0F59-569305185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05" y="1262280"/>
            <a:ext cx="5087335" cy="27976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Robustness: Surviving Real-World Noise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deployments are messy. How2comm was stress-tested under three types of noise: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1170432"/>
            <a:ext cx="2834640" cy="3767328"/>
          </a:xfrm>
          <a:prstGeom prst="rect">
            <a:avLst/>
          </a:prstGeom>
          <a:solidFill>
            <a:srgbClr val="1B2D3F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1170432"/>
            <a:ext cx="28346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170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Localization Error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2646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/ positioning drift (0–0.5m std dev)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783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simulates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00253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don't know their exact position — a realistic problem in urban canyons and GPS-denied environments.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633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How2comm's performance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28529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above all baselines and above 'No Fusion' at all error levels. Some methods (V2VNet, When2com) fall below No Fusion beyond 0.2m — collaboration actively hurts them.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170432"/>
            <a:ext cx="2834640" cy="3767328"/>
          </a:xfrm>
          <a:prstGeom prst="rect">
            <a:avLst/>
          </a:prstGeom>
          <a:solidFill>
            <a:srgbClr val="1B2D3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46120" y="1170432"/>
            <a:ext cx="28346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37560" y="1170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Heading Error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142646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Orientation/yaw noise (0–1.0° std dev)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83280" y="1783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simulates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83280" y="200253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small rotational errors in how an agent thinks it's facing cause significant feature map misalignment when projected to ego coordinates.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2633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How2comm's performance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83280" y="28529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the largest margin over competing methods. The STCFormer's attention mechanism is robust to small spatial misalignments by design.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1170432"/>
            <a:ext cx="2834640" cy="3767328"/>
          </a:xfrm>
          <a:prstGeom prst="rect">
            <a:avLst/>
          </a:prstGeom>
          <a:solidFill>
            <a:srgbClr val="1B2D3F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99632" y="1185454"/>
            <a:ext cx="283464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36792" y="11750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Transmission Delay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45936" y="1419933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lag of 0–400ms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28232" y="1783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simulates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28232" y="200253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congestion, processing overhead, and wireless channel variability all contribute to delayed data in real V2X systems.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28232" y="2633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How2comm's performance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28232" y="28529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AP@0.7 by 7.5% over No Fusion even at severe 400ms delay on DAIR-V2X — the FDC module directly compensates by predicting future features.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987C4-13C1-39E5-0FD4-B4EEAC6A9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4ECDC1-1147-E5DE-DE56-F0E492E05096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79B151-0203-E13E-42BD-E0F9EC930B08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Robustness: Surviving Real-World Noise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BD0957B-438F-3537-4C34-FC64BD289671}"/>
              </a:ext>
            </a:extLst>
          </p:cNvPr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deployments are messy. How2comm was stress-tested under three types of noise: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E5889EA-BC48-3B74-B611-5E40B02DA345}"/>
              </a:ext>
            </a:extLst>
          </p:cNvPr>
          <p:cNvSpPr/>
          <p:nvPr/>
        </p:nvSpPr>
        <p:spPr>
          <a:xfrm>
            <a:off x="182879" y="1170432"/>
            <a:ext cx="8492165" cy="3767328"/>
          </a:xfrm>
          <a:prstGeom prst="rect">
            <a:avLst/>
          </a:prstGeom>
          <a:solidFill>
            <a:srgbClr val="1B2D3F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69BCA66-04A6-22B3-3A3B-05C593CBB7CE}"/>
              </a:ext>
            </a:extLst>
          </p:cNvPr>
          <p:cNvSpPr/>
          <p:nvPr/>
        </p:nvSpPr>
        <p:spPr>
          <a:xfrm>
            <a:off x="182880" y="1170432"/>
            <a:ext cx="84921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25EACEC-D7C6-1A23-39A1-BC6926031ECF}"/>
              </a:ext>
            </a:extLst>
          </p:cNvPr>
          <p:cNvSpPr/>
          <p:nvPr/>
        </p:nvSpPr>
        <p:spPr>
          <a:xfrm>
            <a:off x="274320" y="1170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Localization Error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624BF88-8A77-58C5-5021-D0E00F6DA501}"/>
              </a:ext>
            </a:extLst>
          </p:cNvPr>
          <p:cNvSpPr/>
          <p:nvPr/>
        </p:nvSpPr>
        <p:spPr>
          <a:xfrm>
            <a:off x="274320" y="142646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/ positioning drift (0–0.5m std dev)</a:t>
            </a:r>
            <a:endParaRPr lang="en-US" sz="9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FF43075-1C36-728F-EACD-F17372D2F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38" y="2228937"/>
            <a:ext cx="7534846" cy="159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275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448CB-1D8D-77B2-4BE0-7292387F0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2DC956E-3615-0A89-FD96-34736B6C726B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B4B74AA-0CC0-006E-59DC-054A77A44C51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Robustness: Surviving Real-World Noise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382FB1A-53D9-BF55-E400-5FC897BA514E}"/>
              </a:ext>
            </a:extLst>
          </p:cNvPr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deployments are messy. How2comm was stress-tested under three types of noise: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119DD62-A492-A947-C752-ABA446C60F2B}"/>
              </a:ext>
            </a:extLst>
          </p:cNvPr>
          <p:cNvSpPr/>
          <p:nvPr/>
        </p:nvSpPr>
        <p:spPr>
          <a:xfrm>
            <a:off x="182879" y="1170432"/>
            <a:ext cx="8492165" cy="3767328"/>
          </a:xfrm>
          <a:prstGeom prst="rect">
            <a:avLst/>
          </a:prstGeom>
          <a:solidFill>
            <a:srgbClr val="1B2D3F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217AE1B-1DAC-F020-9F17-739B40286524}"/>
              </a:ext>
            </a:extLst>
          </p:cNvPr>
          <p:cNvSpPr/>
          <p:nvPr/>
        </p:nvSpPr>
        <p:spPr>
          <a:xfrm>
            <a:off x="182880" y="1170432"/>
            <a:ext cx="84921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16F7273-4C28-044A-E25A-580F6523861E}"/>
              </a:ext>
            </a:extLst>
          </p:cNvPr>
          <p:cNvSpPr/>
          <p:nvPr/>
        </p:nvSpPr>
        <p:spPr>
          <a:xfrm>
            <a:off x="274320" y="1170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Heading Error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E620851-AA9C-220B-DCCA-B533CDB4C21A}"/>
              </a:ext>
            </a:extLst>
          </p:cNvPr>
          <p:cNvSpPr/>
          <p:nvPr/>
        </p:nvSpPr>
        <p:spPr>
          <a:xfrm>
            <a:off x="274320" y="142646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Orientation/yaw noise (0–1.0° std dev)</a:t>
            </a:r>
            <a:endParaRPr lang="en-US" sz="9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F4B25-33F2-9F2E-95AE-3D01140EF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25" y="2215658"/>
            <a:ext cx="7556863" cy="175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177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4943F-1EF4-956E-5DEF-ADD0028C0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3B7F4B-6F90-5AEE-A06B-A349F0A91442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89BE138-63FB-BC32-A515-7087280FA7BD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Robustness: Surviving Real-World Noise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26526FB-3488-C3F0-369E-B0432A27759B}"/>
              </a:ext>
            </a:extLst>
          </p:cNvPr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deployments are messy. How2comm was stress-tested under three types of noise: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E501FBC-AB81-970A-44F7-D2995B97B34F}"/>
              </a:ext>
            </a:extLst>
          </p:cNvPr>
          <p:cNvSpPr/>
          <p:nvPr/>
        </p:nvSpPr>
        <p:spPr>
          <a:xfrm>
            <a:off x="182879" y="1170432"/>
            <a:ext cx="8492165" cy="3767328"/>
          </a:xfrm>
          <a:prstGeom prst="rect">
            <a:avLst/>
          </a:prstGeom>
          <a:solidFill>
            <a:srgbClr val="1B2D3F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r>
              <a:rPr lang="en-US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lag of 0–400ms</a:t>
            </a:r>
            <a:endParaRPr 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EEEB473-CD9F-2BB8-C94C-E957C192BEFD}"/>
              </a:ext>
            </a:extLst>
          </p:cNvPr>
          <p:cNvSpPr/>
          <p:nvPr/>
        </p:nvSpPr>
        <p:spPr>
          <a:xfrm>
            <a:off x="182880" y="1170432"/>
            <a:ext cx="84921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81EC986-3EE6-0D10-1FE3-26115D52E160}"/>
              </a:ext>
            </a:extLst>
          </p:cNvPr>
          <p:cNvSpPr/>
          <p:nvPr/>
        </p:nvSpPr>
        <p:spPr>
          <a:xfrm>
            <a:off x="274320" y="1170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Transmission Delay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ECCB91D-B043-9B99-160D-1DF374713EF1}"/>
              </a:ext>
            </a:extLst>
          </p:cNvPr>
          <p:cNvSpPr/>
          <p:nvPr/>
        </p:nvSpPr>
        <p:spPr>
          <a:xfrm>
            <a:off x="274320" y="142646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lag of 0–400ms</a:t>
            </a:r>
            <a:endParaRPr lang="en-US" sz="950" dirty="0"/>
          </a:p>
          <a:p>
            <a:endParaRPr lang="en-US" sz="9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53C33FE-2023-3F38-31B0-6DA61A8D7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57" y="2139696"/>
            <a:ext cx="7493321" cy="16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729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How2comm is the first framework to jointly address all three core challenges of collaborative perception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724912" cy="1783080"/>
          </a:xfrm>
          <a:prstGeom prst="rect">
            <a:avLst/>
          </a:prstGeom>
          <a:solidFill>
            <a:srgbClr val="1B2D3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724912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2801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Info-Aware Communication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9768" y="1810512"/>
            <a:ext cx="25054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less, but better — spatial-channel filtering with MI supervision preserves critical semantics under bandwidth constraints.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64408" y="1280160"/>
            <a:ext cx="2724912" cy="1783080"/>
          </a:xfrm>
          <a:prstGeom prst="rect">
            <a:avLst/>
          </a:prstGeom>
          <a:solidFill>
            <a:srgbClr val="1B2D3F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64408" y="1280160"/>
            <a:ext cx="272491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64408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FDC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78808" y="12801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Flow-Guided Delay Compensation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74136" y="1810512"/>
            <a:ext cx="25054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future — feature flow warping aligns collaborator data to the current timestamp, defeating the transmission delay problem.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08776" y="1280160"/>
            <a:ext cx="2724912" cy="1783080"/>
          </a:xfrm>
          <a:prstGeom prst="rect">
            <a:avLst/>
          </a:prstGeom>
          <a:solidFill>
            <a:srgbClr val="1B2D3F"/>
          </a:solidFill>
          <a:ln w="254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08776" y="1280160"/>
            <a:ext cx="2724912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08776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STCFormer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23176" y="12801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Spatio-Temporal Collaboration Transformer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18504" y="1810512"/>
            <a:ext cx="25054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holistically — decoupled exclusive/common spatial attention + temporal context produces robust, heterogeneity-aware fusion.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182112"/>
            <a:ext cx="8503920" cy="621792"/>
          </a:xfrm>
          <a:prstGeom prst="rect">
            <a:avLst/>
          </a:prstGeom>
          <a:solidFill>
            <a:srgbClr val="1B2D3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2004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on DAIR-V2X (+8.4% AP@0.7), V2XSet, and OPV2V (+7.0% AP@0.7)  ·  Superior under localization error, heading error, and transmission delay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913632"/>
            <a:ext cx="4160520" cy="1024128"/>
          </a:xfrm>
          <a:prstGeom prst="rect">
            <a:avLst/>
          </a:prstGeom>
          <a:solidFill>
            <a:srgbClr val="1E2D1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9502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2062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exploits short-term historical frames for temporal context. Long sequences are left for future work.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913632"/>
            <a:ext cx="4160520" cy="1024128"/>
          </a:xfrm>
          <a:prstGeom prst="rect">
            <a:avLst/>
          </a:prstGeom>
          <a:solidFill>
            <a:srgbClr val="1A263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39502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42062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Long-term temporal modeling with extended point cloud sequences. (2) Uncertainty-aware feature flow prediction for more reliable warping.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2330</Words>
  <Application>Microsoft Office PowerPoint</Application>
  <PresentationFormat>On-screen Show (16:9)</PresentationFormat>
  <Paragraphs>287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How2comm: Communication-Efficient Multi-Agent Perception</dc:title>
  <dc:subject>PptxGenJS Presentation</dc:subject>
  <dc:creator>PptxGenJS</dc:creator>
  <cp:lastModifiedBy>Juan Raul</cp:lastModifiedBy>
  <cp:revision>2</cp:revision>
  <dcterms:created xsi:type="dcterms:W3CDTF">2026-02-26T17:33:50Z</dcterms:created>
  <dcterms:modified xsi:type="dcterms:W3CDTF">2026-02-26T19:23:48Z</dcterms:modified>
</cp:coreProperties>
</file>