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4"/>
  </p:sldMasterIdLst>
  <p:notesMasterIdLst>
    <p:notesMasterId r:id="rId24"/>
  </p:notesMasterIdLst>
  <p:sldIdLst>
    <p:sldId id="256" r:id="rId5"/>
    <p:sldId id="258" r:id="rId6"/>
    <p:sldId id="269" r:id="rId7"/>
    <p:sldId id="265" r:id="rId8"/>
    <p:sldId id="260" r:id="rId9"/>
    <p:sldId id="271" r:id="rId10"/>
    <p:sldId id="268" r:id="rId11"/>
    <p:sldId id="259" r:id="rId12"/>
    <p:sldId id="277" r:id="rId13"/>
    <p:sldId id="261" r:id="rId14"/>
    <p:sldId id="262" r:id="rId15"/>
    <p:sldId id="263" r:id="rId16"/>
    <p:sldId id="264" r:id="rId17"/>
    <p:sldId id="266" r:id="rId18"/>
    <p:sldId id="267" r:id="rId19"/>
    <p:sldId id="274" r:id="rId20"/>
    <p:sldId id="275" r:id="rId21"/>
    <p:sldId id="272" r:id="rId22"/>
    <p:sldId id="27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D1A7"/>
    <a:srgbClr val="782F40"/>
    <a:srgbClr val="CEB8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10CA33-84F3-88C8-0824-125E602DF88B}" v="46" dt="2024-06-03T20:57:26.1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73568" autoAdjust="0"/>
  </p:normalViewPr>
  <p:slideViewPr>
    <p:cSldViewPr snapToGrid="0">
      <p:cViewPr>
        <p:scale>
          <a:sx n="100" d="100"/>
          <a:sy n="100" d="100"/>
        </p:scale>
        <p:origin x="348" y="-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366FCE-F0D3-44D4-A9CC-9E8ACD5D955A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4380E5-BD64-49AF-B3B7-0773EFBB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131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.hk/search?q=RRC+%28Radio+Resource+Control%29&amp;sca_esv=8d3b04ba9c2ae8a2&amp;hl=zh-CN&amp;sxsrf=ANbL-n5_GJyRy23HYEPo62p6BbsOszpC_g%3A1768339948509&amp;source=hp&amp;ei=7LlmaYrJG6uYwbkPtuLeSQ&amp;iflsig=AFdpzrgAAAAAaWbH_BM_We0SPe6DGhPH4v9ruEgvjVB9&amp;ved=2ahUKEwjT-73Xu4mSAxVJSzABHaxhCtgQgK4QegQIARAE&amp;uact=5&amp;oq=RRC+and+NAS+in+5G&amp;gs_lp=Egdnd3Mtd2l6IhFSUkMgYW5kIE5BUyBpbiA1RzIFECEYoAFIqx1QAFiPHHABeACQAQCYAYwBoAGiDqoBAzkuObgBA8gBAPgBAZgCE6ACvw7CAgQQIxgnwgINECMY8AUYgAQYJxiKBcICCxAuGIAEGNEDGMcBwgIFEAAYgATCAgUQLhiABMICChAuGIAEGEMYigXCAgoQABiABBhDGIoFwgILEC4YgAQYxwEYrwHCAggQABiABBjLAcICCBAuGIAEGMsBwgIOEC4YgAQYxwEYywEYrwHCAgQQABgewgIGEAAYCBgewgIFEAAY7wXCAggQABiABBiiBJgDAJIHBDEwLjmgB99GsgcDOS45uAe9DsIHBDEyLjfIBxGACAA&amp;sclient=gws-wiz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crwireless.com/20211104/fundamentals/what-is-a-ran-intelligent-controller-ric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Network slicing allows different uses on the same infrastructure without mutual interference, like IOT+phone </a:t>
            </a:r>
            <a:r>
              <a:rPr lang="en-US" dirty="0" err="1"/>
              <a:t>call+autonomous</a:t>
            </a:r>
            <a:r>
              <a:rPr lang="en-US" dirty="0"/>
              <a:t> car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4380E5-BD64-49AF-B3B7-0773EFBB9E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0165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256-QAM+OFDM</a:t>
            </a:r>
            <a:br>
              <a:rPr lang="en-US" dirty="0"/>
            </a:br>
            <a:r>
              <a:rPr lang="en-US" dirty="0"/>
              <a:t>more than 100 elements; can form many beams for many UEs, compared </a:t>
            </a:r>
            <a:r>
              <a:rPr lang="en-US"/>
              <a:t>to 4G, </a:t>
            </a:r>
            <a:r>
              <a:rPr lang="en-US" dirty="0"/>
              <a:t>if the user gets more, the beam </a:t>
            </a:r>
            <a:r>
              <a:rPr lang="en-US"/>
              <a:t>will deer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4380E5-BD64-49AF-B3B7-0773EFBB9E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8836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RRC (Radio Resource Control)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NAS(Non-access </a:t>
            </a:r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stratum)</a:t>
            </a:r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cell tower, upgraded baseband unit and dynamic spectrum sharing, support both 4G and 5G, 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5G will use main cell tower and small cells mounted on street lamps, building top, or even indoor ceiling</a:t>
            </a:r>
          </a:p>
          <a:p>
            <a:r>
              <a:rPr lang="en-US" dirty="0"/>
              <a:t>Edge data center (servers inside), near cell tower, and near UE, allow low latency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4380E5-BD64-49AF-B3B7-0773EFBB9E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086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“The 5G core is built using a </a:t>
            </a:r>
            <a:r>
              <a:rPr lang="en-US" b="1" dirty="0"/>
              <a:t>service-based architecture</a:t>
            </a:r>
            <a:r>
              <a:rPr lang="en-US" dirty="0"/>
              <a:t>, where each network function has a clearly defined role and can scale independently.”</a:t>
            </a:r>
            <a:br>
              <a:rPr lang="en-US" dirty="0"/>
            </a:br>
            <a:r>
              <a:rPr lang="en-US" dirty="0"/>
              <a:t>“AMF is responsible for </a:t>
            </a:r>
            <a:r>
              <a:rPr lang="en-US" b="1" dirty="0"/>
              <a:t>connecting devices to the network</a:t>
            </a:r>
            <a:r>
              <a:rPr lang="en-US" dirty="0"/>
              <a:t>. It handles registration, mobility management, and handovers as users move between cells. You can think of AMF as the main control point that knows where a device is and whether it is allowed to access the network.”</a:t>
            </a:r>
            <a:br>
              <a:rPr lang="en-US" dirty="0"/>
            </a:br>
            <a:r>
              <a:rPr lang="en-US" dirty="0"/>
              <a:t>“SMF manages </a:t>
            </a:r>
            <a:r>
              <a:rPr lang="en-US" b="1" dirty="0"/>
              <a:t>PDU (protocol data unit) sessions</a:t>
            </a:r>
            <a:r>
              <a:rPr lang="en-US" dirty="0"/>
              <a:t>, which are the logical data connections between a device and the data network. It assigns IP addresses, selects the appropriate UPF, and configures how user traffic should be handled.”</a:t>
            </a:r>
            <a:br>
              <a:rPr lang="en-US" dirty="0"/>
            </a:br>
            <a:r>
              <a:rPr lang="en-US" dirty="0"/>
              <a:t>UPF is the 5G Core function that runs as software </a:t>
            </a:r>
            <a:r>
              <a:rPr lang="en-US" b="1" dirty="0"/>
              <a:t>on servers in edge or central data centers,</a:t>
            </a:r>
            <a:r>
              <a:rPr lang="en-US" dirty="0"/>
              <a:t> forwards user data packets between the radio network and external data networks (Internet, apps, edge services).</a:t>
            </a:r>
            <a:br>
              <a:rPr lang="en-US" dirty="0"/>
            </a:br>
            <a:r>
              <a:rPr lang="en-US" dirty="0"/>
              <a:t>“AUSF performs </a:t>
            </a:r>
            <a:r>
              <a:rPr lang="en-US" b="1" dirty="0"/>
              <a:t>user authentication</a:t>
            </a:r>
            <a:r>
              <a:rPr lang="en-US" dirty="0"/>
              <a:t>. It verifies device and subscriber credentials, ensuring only authorized users can access the network. This function is critical for security.”</a:t>
            </a:r>
            <a:br>
              <a:rPr lang="en-US" dirty="0"/>
            </a:br>
            <a:r>
              <a:rPr lang="en-US" dirty="0"/>
              <a:t>“PCF defines and enforces </a:t>
            </a:r>
            <a:r>
              <a:rPr lang="en-US" b="1" dirty="0"/>
              <a:t>network policies</a:t>
            </a:r>
            <a:r>
              <a:rPr lang="en-US" dirty="0"/>
              <a:t>, such as QoS rules, charging policies, and access restrictions. It ensures different services—like voice, video, and IoT—receive appropriate network treatment.”</a:t>
            </a:r>
            <a:br>
              <a:rPr lang="en-US" dirty="0"/>
            </a:br>
            <a:r>
              <a:rPr lang="en-US" dirty="0"/>
              <a:t>“NRF acts like a </a:t>
            </a:r>
            <a:r>
              <a:rPr lang="en-US" b="1" dirty="0"/>
              <a:t>service directory</a:t>
            </a:r>
            <a:r>
              <a:rPr lang="en-US" dirty="0"/>
              <a:t> for the 5G core. It keeps track of all available network functions and allows them to discover and communicate with each other dynamically.”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4380E5-BD64-49AF-B3B7-0773EFBB9E3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43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 Intelligent Controller (RIC)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key software component in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Open RAN architecture (O-RAN)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that centralizes and automates the control and optimization of the Radio Access Network (RAN) using AI/ML. It decouples RAN functions, allowing third-party applications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xApps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rApps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to run on it, enabling flexible resource management, network slicing, improved performance, and new services with better Quality of Experience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QoE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for users</a:t>
            </a:r>
            <a:br>
              <a:rPr lang="en-US" dirty="0"/>
            </a:br>
            <a:r>
              <a:rPr lang="en-US" dirty="0"/>
              <a:t>mobility: Connection needs to be maintained even when the user equipment moves across cells</a:t>
            </a:r>
            <a:br>
              <a:rPr lang="en-US" dirty="0"/>
            </a:br>
            <a:br>
              <a:rPr lang="en-US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RRC (Radio Resource Control)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PDCP ( Packet Data Convergence Protocol)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4380E5-BD64-49AF-B3B7-0773EFBB9E3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624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5G standalone (SA), voice calls use </a:t>
            </a:r>
            <a:r>
              <a:rPr lang="en-US" b="1" dirty="0" err="1"/>
              <a:t>VoNR</a:t>
            </a:r>
            <a:r>
              <a:rPr lang="en-US" dirty="0"/>
              <a:t>, meaning the phone call is entirely carried as </a:t>
            </a:r>
            <a:r>
              <a:rPr lang="en-US" b="1" dirty="0"/>
              <a:t>IP traffic over 5G NR</a:t>
            </a:r>
            <a:r>
              <a:rPr lang="en-US" dirty="0"/>
              <a:t> and is controlled by the </a:t>
            </a:r>
            <a:r>
              <a:rPr lang="en-US" b="1" dirty="0"/>
              <a:t>IMS core</a:t>
            </a:r>
            <a:r>
              <a:rPr lang="en-US" dirty="0"/>
              <a:t>. The device first registers with the 5GC, then establishes a QoS-guaranteed PDU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Protocol Data Unit) </a:t>
            </a:r>
            <a:r>
              <a:rPr lang="en-US" dirty="0"/>
              <a:t>session for the voice call, and finally the media (voice packets) flows peer-to-peer using the dedicated bearer.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4380E5-BD64-49AF-B3B7-0773EFBB9E3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4685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you browse the internet on 5G, your phone sends IP packets over the 5G radio to a base station, which forwards them through the 5G Core to the internet, and the responses return the same way.</a:t>
            </a:r>
          </a:p>
          <a:p>
            <a:r>
              <a:rPr lang="en-US" dirty="0"/>
              <a:t>1. Your phone (UE) sends data over </a:t>
            </a:r>
            <a:r>
              <a:rPr lang="en-US" b="1" dirty="0"/>
              <a:t>5G to </a:t>
            </a:r>
            <a:r>
              <a:rPr lang="en-US" b="1" dirty="0" err="1"/>
              <a:t>gnB</a:t>
            </a:r>
            <a:r>
              <a:rPr lang="en-US" b="1" dirty="0"/>
              <a:t>. </a:t>
            </a:r>
            <a:r>
              <a:rPr lang="en-US" b="0" dirty="0"/>
              <a:t>2. </a:t>
            </a:r>
            <a:r>
              <a:rPr lang="en-US" dirty="0"/>
              <a:t>Phone already has a </a:t>
            </a:r>
            <a:r>
              <a:rPr lang="en-US" b="1" dirty="0"/>
              <a:t>PDU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Protocol Data Unit)</a:t>
            </a:r>
            <a:r>
              <a:rPr lang="en-US" b="1" dirty="0"/>
              <a:t> session. </a:t>
            </a:r>
            <a:r>
              <a:rPr lang="en-US" dirty="0"/>
              <a:t>The session assigns: An IP address and QoS parameters, is managed by the </a:t>
            </a:r>
            <a:r>
              <a:rPr lang="en-US" b="1" dirty="0"/>
              <a:t>5G Core (AMF/SMF). </a:t>
            </a:r>
            <a:r>
              <a:rPr lang="en-US" dirty="0"/>
              <a:t>This usually happens in the background and is already done before browsing. 3. User Plane Forwarding (</a:t>
            </a:r>
            <a:r>
              <a:rPr lang="en-US" dirty="0" err="1"/>
              <a:t>gNB</a:t>
            </a:r>
            <a:r>
              <a:rPr lang="en-US" dirty="0"/>
              <a:t> → UPF). UPF acts like a </a:t>
            </a:r>
            <a:r>
              <a:rPr lang="en-US" b="1" dirty="0"/>
              <a:t>router, a</a:t>
            </a:r>
            <a:r>
              <a:rPr lang="en-US" dirty="0"/>
              <a:t>pplies QoS and traffic rules. 4. UPF forwards packets to: ISP backbone- Internet routers- Web server. Website Response (Reverse Path). If with edge server, Some content served from </a:t>
            </a:r>
            <a:r>
              <a:rPr lang="en-US" b="1" dirty="0"/>
              <a:t>edge caches, </a:t>
            </a:r>
            <a:r>
              <a:rPr lang="en-US" dirty="0"/>
              <a:t>Even faster load times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4380E5-BD64-49AF-B3B7-0773EFBB9E3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9714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5G allows narrowband Internet of thing. These devices are low-power, spread in wide area, generate </a:t>
            </a:r>
            <a:r>
              <a:rPr lang="en-US" b="1" dirty="0"/>
              <a:t>small and infrequent data packets.</a:t>
            </a:r>
            <a:r>
              <a:rPr lang="en-US" dirty="0"/>
              <a:t> Devices connect wirelessly to </a:t>
            </a:r>
            <a:r>
              <a:rPr lang="en-US" b="1" dirty="0"/>
              <a:t>5G base stations</a:t>
            </a:r>
            <a:r>
              <a:rPr lang="en-US" dirty="0"/>
              <a:t>. In many deployments, the radio is split into </a:t>
            </a:r>
            <a:r>
              <a:rPr lang="en-US" b="1" dirty="0"/>
              <a:t>remote radio heads (RRH)</a:t>
            </a:r>
            <a:r>
              <a:rPr lang="en-US" dirty="0"/>
              <a:t> near the antennas and </a:t>
            </a:r>
            <a:r>
              <a:rPr lang="en-US" b="1" dirty="0"/>
              <a:t>baseband units (BBU)</a:t>
            </a:r>
            <a:r>
              <a:rPr lang="en-US" dirty="0"/>
              <a:t> that handle signal processing. Massive MIMO antennas allow the base station to communicate with many devices simultaneously by using spatial beams.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Example: environment data, multiple data, needs very high computation resource for large AI model, needs central DC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4380E5-BD64-49AF-B3B7-0773EFBB9E3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256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Can edge data  Center </a:t>
            </a:r>
            <a:r>
              <a:rPr lang="en-US" dirty="0" err="1"/>
              <a:t>process,Phone</a:t>
            </a:r>
            <a:r>
              <a:rPr lang="en-US" dirty="0"/>
              <a:t> call/zoom, Internet browse, IOT? Yes.</a:t>
            </a:r>
          </a:p>
          <a:p>
            <a:r>
              <a:rPr lang="en-US" dirty="0"/>
              <a:t>2.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4380E5-BD64-49AF-B3B7-0773EFBB9E3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793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67243-2BE0-4B31-2990-E840893E8B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10144539" cy="2387600"/>
          </a:xfrm>
        </p:spPr>
        <p:txBody>
          <a:bodyPr anchor="b">
            <a:normAutofit/>
          </a:bodyPr>
          <a:lstStyle>
            <a:lvl1pPr algn="l">
              <a:defRPr sz="4000" b="0" i="0">
                <a:solidFill>
                  <a:srgbClr val="782F40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0006E-EAFB-740D-74AB-3CFF05159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10144539" cy="1655762"/>
          </a:xfrm>
        </p:spPr>
        <p:txBody>
          <a:bodyPr/>
          <a:lstStyle>
            <a:lvl1pPr marL="0" indent="0" algn="l">
              <a:buNone/>
              <a:defRPr sz="2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59002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rgbClr val="782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2952311-54DE-DA11-55F3-0B0AA32DD4F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AFBB4F95-4A4E-5C07-637C-6EBC5E19FA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7735983" y="4182269"/>
            <a:ext cx="4766012" cy="28491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267243-2BE0-4B31-2990-E840893E8B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10144539" cy="2387600"/>
          </a:xfrm>
        </p:spPr>
        <p:txBody>
          <a:bodyPr anchor="b">
            <a:normAutofit/>
          </a:bodyPr>
          <a:lstStyle>
            <a:lvl1pPr algn="l">
              <a:defRPr sz="4000" b="1" i="0"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0006E-EAFB-740D-74AB-3CFF05159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10144539" cy="1655762"/>
          </a:xfrm>
        </p:spPr>
        <p:txBody>
          <a:bodyPr/>
          <a:lstStyle>
            <a:lvl1pPr marL="0" indent="0" algn="l">
              <a:buNone/>
              <a:defRPr sz="2400" b="1">
                <a:solidFill>
                  <a:srgbClr val="CEB88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7578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gradFill flip="none" rotWithShape="1">
          <a:gsLst>
            <a:gs pos="0">
              <a:schemeClr val="bg1"/>
            </a:gs>
            <a:gs pos="91000">
              <a:srgbClr val="DFD1A7"/>
            </a:gs>
            <a:gs pos="100000">
              <a:srgbClr val="CEB888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C1C242-EE75-C1A7-2662-F8A51C5A092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91000">
                <a:srgbClr val="DFD1A7"/>
              </a:gs>
              <a:gs pos="100000">
                <a:srgbClr val="CEB888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313B2CA8-94B1-52AA-2659-9B38BED93F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4000"/>
          </a:blip>
          <a:stretch>
            <a:fillRect/>
          </a:stretch>
        </p:blipFill>
        <p:spPr>
          <a:xfrm>
            <a:off x="7735983" y="4182269"/>
            <a:ext cx="4766012" cy="28491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267243-2BE0-4B31-2990-E840893E8B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10144539" cy="2387600"/>
          </a:xfrm>
        </p:spPr>
        <p:txBody>
          <a:bodyPr anchor="b">
            <a:normAutofit/>
          </a:bodyPr>
          <a:lstStyle>
            <a:lvl1pPr algn="l">
              <a:defRPr sz="4000" b="1" i="0">
                <a:solidFill>
                  <a:schemeClr val="tx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0006E-EAFB-740D-74AB-3CFF05159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10144539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93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8010D-FA92-2931-2286-564FB485E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2852B-4F5B-0F0F-65CA-EB8D229E6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F37D4E52-1986-2E2A-7665-F6DE4EB844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809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07C4B4DF-B447-754A-85DF-7B947093B7D3}" type="datetimeFigureOut">
              <a:rPr lang="en-US" smtClean="0"/>
              <a:pPr/>
              <a:t>1/10/2026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7567302-78A6-1ACF-C3DA-588E6F92C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10536" y="6430617"/>
            <a:ext cx="3727175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DC7ABFE-9C79-BE9C-7443-22AA1E8C3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33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6F306CAF-EBBB-B542-ACA9-45FD0095197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1881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7B925-0482-95B3-C31D-F00D0B35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0928" y="1709738"/>
            <a:ext cx="9866522" cy="2852737"/>
          </a:xfrm>
        </p:spPr>
        <p:txBody>
          <a:bodyPr anchor="b">
            <a:normAutofit/>
          </a:bodyPr>
          <a:lstStyle>
            <a:lvl1pPr>
              <a:defRPr sz="2800" b="1" i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1A0817-AF82-C20D-3857-AAFC1D2E5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0928" y="4589463"/>
            <a:ext cx="9866522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C59369-E4C5-A440-5DCA-0D99B1782D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809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07C4B4DF-B447-754A-85DF-7B947093B7D3}" type="datetimeFigureOut">
              <a:rPr lang="en-US" smtClean="0"/>
              <a:pPr/>
              <a:t>1/10/2026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545A0-1622-3045-1A4E-FD4E17E6C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10536" y="6430617"/>
            <a:ext cx="3727175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8D50B-01A6-341A-56FD-3E7B1319A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33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6F306CAF-EBBB-B542-ACA9-45FD0095197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85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71B26-4877-8313-13A2-D3AE4D9B4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063D3-9615-0593-184D-B3812AA7B5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0928" y="1143000"/>
            <a:ext cx="4538872" cy="503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5B65D7-15FE-BCB1-DEF6-4D33F3A23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14928" y="1143000"/>
            <a:ext cx="4538872" cy="503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882D104-2A95-5924-433D-E8E5752952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809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07C4B4DF-B447-754A-85DF-7B947093B7D3}" type="datetimeFigureOut">
              <a:rPr lang="en-US" smtClean="0"/>
              <a:pPr/>
              <a:t>1/10/2026</a:t>
            </a:fld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9C5F295-886B-81C8-404F-25E83901B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10536" y="6430617"/>
            <a:ext cx="3727175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5B26BED-E373-EC5F-B5B5-80B9838CE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33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6F306CAF-EBBB-B542-ACA9-45FD0095197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9369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A33C1-282B-0618-8937-F930317E5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0928" y="365125"/>
            <a:ext cx="9874460" cy="498475"/>
          </a:xfrm>
        </p:spPr>
        <p:txBody>
          <a:bodyPr/>
          <a:lstStyle>
            <a:lvl1pPr>
              <a:defRPr b="1" i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87A994-7C74-5EDE-55F7-F8E593E9BD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0928" y="1071563"/>
            <a:ext cx="451664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DA84AE-408E-F1DA-A6CD-07BB5C91C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80928" y="1895474"/>
            <a:ext cx="4516647" cy="41370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EE475C-A52D-9B4F-6E81-1F617D9C92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16496" y="1071563"/>
            <a:ext cx="45388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50E86-0F53-996C-BD38-0A61D2A97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816496" y="1895474"/>
            <a:ext cx="4538891" cy="41370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B1A338A9-2379-8EBF-C610-5BDD5FAB8F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809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07C4B4DF-B447-754A-85DF-7B947093B7D3}" type="datetimeFigureOut">
              <a:rPr lang="en-US" smtClean="0"/>
              <a:pPr/>
              <a:t>1/10/2026</a:t>
            </a:fld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C62A026-170B-EFCB-F771-08006265E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10536" y="6430617"/>
            <a:ext cx="3727175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9BBC265-2538-E212-9851-B7519887A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33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6F306CAF-EBBB-B542-ACA9-45FD0095197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991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1AFAC-8754-E46E-707F-D89DC1FF5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D2E9603-C7E1-B29A-ED52-29CAD00816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809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07C4B4DF-B447-754A-85DF-7B947093B7D3}" type="datetimeFigureOut">
              <a:rPr lang="en-US" smtClean="0"/>
              <a:pPr/>
              <a:t>1/10/2026</a:t>
            </a:fld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DB8AA87-51B4-7126-2963-A25D193DF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10536" y="6430617"/>
            <a:ext cx="3727175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6410627-909B-D8A0-B200-CB9705EDA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33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6F306CAF-EBBB-B542-ACA9-45FD0095197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15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782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302ACDF-3069-BE04-038D-4E8293500522}"/>
              </a:ext>
            </a:extLst>
          </p:cNvPr>
          <p:cNvSpPr/>
          <p:nvPr/>
        </p:nvSpPr>
        <p:spPr>
          <a:xfrm>
            <a:off x="0" y="5990660"/>
            <a:ext cx="12192000" cy="788504"/>
          </a:xfrm>
          <a:prstGeom prst="rect">
            <a:avLst/>
          </a:prstGeom>
          <a:solidFill>
            <a:srgbClr val="782F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white and black logo&#10;&#10;Description automatically generated">
            <a:extLst>
              <a:ext uri="{FF2B5EF4-FFF2-40B4-BE49-F238E27FC236}">
                <a16:creationId xmlns:a16="http://schemas.microsoft.com/office/drawing/2014/main" id="{ABCF6967-A3D4-486F-A58A-CFE6758C4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7528" y="1773556"/>
            <a:ext cx="5530550" cy="33108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E2EF77E-A856-553E-921D-A7E9ECF56EF3}"/>
              </a:ext>
            </a:extLst>
          </p:cNvPr>
          <p:cNvSpPr/>
          <p:nvPr userDrawn="1"/>
        </p:nvSpPr>
        <p:spPr>
          <a:xfrm>
            <a:off x="0" y="5990660"/>
            <a:ext cx="12192000" cy="788504"/>
          </a:xfrm>
          <a:prstGeom prst="rect">
            <a:avLst/>
          </a:prstGeom>
          <a:solidFill>
            <a:srgbClr val="782F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white and black logo&#10;&#10;Description automatically generated">
            <a:extLst>
              <a:ext uri="{FF2B5EF4-FFF2-40B4-BE49-F238E27FC236}">
                <a16:creationId xmlns:a16="http://schemas.microsoft.com/office/drawing/2014/main" id="{7512E4C5-5044-FC97-40C9-AE116AB915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47528" y="1773556"/>
            <a:ext cx="5530550" cy="331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228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A5E5D-A6B8-7280-3C84-941EE284D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0928" y="457200"/>
            <a:ext cx="3727175" cy="1600200"/>
          </a:xfrm>
        </p:spPr>
        <p:txBody>
          <a:bodyPr anchor="b"/>
          <a:lstStyle>
            <a:lvl1pPr>
              <a:defRPr sz="3200" b="1" i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4B324-29A6-1346-2CCA-5AED893AF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4635" y="987425"/>
            <a:ext cx="558075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45CA11-E3F7-7970-E3E0-7CBB86C5C6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80928" y="2057400"/>
            <a:ext cx="37271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D03E0D01-24A1-938A-6A36-B880B48F40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809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07C4B4DF-B447-754A-85DF-7B947093B7D3}" type="datetimeFigureOut">
              <a:rPr lang="en-US" smtClean="0"/>
              <a:pPr/>
              <a:t>1/10/2026</a:t>
            </a:fld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CB524EC-A877-EA41-513C-B6694DCCA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10536" y="6430617"/>
            <a:ext cx="3727175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2525920-2949-CEE4-C6A3-DD0CCC49B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33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6F306CAF-EBBB-B542-ACA9-45FD0095197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958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6C035-173D-1A28-4302-A30DC5498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0928" y="457200"/>
            <a:ext cx="4194315" cy="1600200"/>
          </a:xfrm>
        </p:spPr>
        <p:txBody>
          <a:bodyPr anchor="b"/>
          <a:lstStyle>
            <a:lvl1pPr>
              <a:defRPr sz="3200" b="1" i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6A13B1-249F-BA56-9991-B1173C5289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8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AF649-8599-5E42-FA45-83C5C358B9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80928" y="2057400"/>
            <a:ext cx="419431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CD2708AB-5CB6-BAEE-BB4C-5182FF5FDE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809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07C4B4DF-B447-754A-85DF-7B947093B7D3}" type="datetimeFigureOut">
              <a:rPr lang="en-US" smtClean="0"/>
              <a:pPr/>
              <a:t>1/10/2026</a:t>
            </a:fld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F5CE851-7340-DA38-482D-A04166497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10536" y="6430617"/>
            <a:ext cx="3727175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6BEF674-1B99-0ECA-8385-60A1BAE5F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33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6F306CAF-EBBB-B542-ACA9-45FD0095197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14820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42FB-1F6D-6D5C-2E34-1B81283D8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C9EAD7-C95D-2128-91CE-F6232BA953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99A02788-B453-AE4D-5C0C-18D5CEB7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809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07C4B4DF-B447-754A-85DF-7B947093B7D3}" type="datetimeFigureOut">
              <a:rPr lang="en-US" smtClean="0"/>
              <a:pPr/>
              <a:t>1/10/2026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5AB77B6-81B8-51DB-094D-886DD821F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10536" y="6430617"/>
            <a:ext cx="3727175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8C3F64D-F029-2D5C-FC0E-9D28F2D92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3328" y="6430617"/>
            <a:ext cx="2484783" cy="290858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6F306CAF-EBBB-B542-ACA9-45FD0095197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740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4928A0-9449-A57F-4EF1-FA1898EA7E7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76DABC2-8826-87DF-CBBD-643FDFD8D4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8" y="4536831"/>
            <a:ext cx="10144539" cy="1141902"/>
          </a:xfrm>
        </p:spPr>
        <p:txBody>
          <a:bodyPr anchor="b">
            <a:normAutofit/>
          </a:bodyPr>
          <a:lstStyle>
            <a:lvl1pPr algn="l">
              <a:defRPr sz="2800" b="1" i="0">
                <a:solidFill>
                  <a:schemeClr val="tx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B47A978-36A7-168F-EE79-F4CDA3A95C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5138" y="5814062"/>
            <a:ext cx="10144539" cy="791891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CEB88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58628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4928A0-9449-A57F-4EF1-FA1898EA7E7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76DABC2-8826-87DF-CBBD-643FDFD8D4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8" y="4536831"/>
            <a:ext cx="10144539" cy="1141902"/>
          </a:xfrm>
        </p:spPr>
        <p:txBody>
          <a:bodyPr anchor="b">
            <a:normAutofit/>
          </a:bodyPr>
          <a:lstStyle>
            <a:lvl1pPr algn="l">
              <a:defRPr sz="2800" b="1" i="0">
                <a:solidFill>
                  <a:schemeClr val="tx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B47A978-36A7-168F-EE79-F4CDA3A95C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5138" y="5814062"/>
            <a:ext cx="10144539" cy="791891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CEB88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85564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F9DAA4-FB62-3379-E6A0-BBFDF4E7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0929" y="365125"/>
            <a:ext cx="10257183" cy="485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460248-33B5-3C00-FBC5-99C384C70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0929" y="1104900"/>
            <a:ext cx="10257183" cy="50720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C1A0C9-3A08-43FC-7C12-86A3DAAB03FC}"/>
              </a:ext>
            </a:extLst>
          </p:cNvPr>
          <p:cNvSpPr/>
          <p:nvPr/>
        </p:nvSpPr>
        <p:spPr>
          <a:xfrm>
            <a:off x="0" y="0"/>
            <a:ext cx="1033670" cy="6858000"/>
          </a:xfrm>
          <a:prstGeom prst="rect">
            <a:avLst/>
          </a:prstGeom>
          <a:solidFill>
            <a:srgbClr val="782F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white and black logo&#10;&#10;Description automatically generated">
            <a:extLst>
              <a:ext uri="{FF2B5EF4-FFF2-40B4-BE49-F238E27FC236}">
                <a16:creationId xmlns:a16="http://schemas.microsoft.com/office/drawing/2014/main" id="{24754A09-38A0-6814-A186-408090200A2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363" y="6250677"/>
            <a:ext cx="962943" cy="57647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1817B5C-848C-EEF1-5255-817A149676AF}"/>
              </a:ext>
            </a:extLst>
          </p:cNvPr>
          <p:cNvSpPr/>
          <p:nvPr userDrawn="1"/>
        </p:nvSpPr>
        <p:spPr>
          <a:xfrm>
            <a:off x="0" y="0"/>
            <a:ext cx="1033670" cy="6858000"/>
          </a:xfrm>
          <a:prstGeom prst="rect">
            <a:avLst/>
          </a:prstGeom>
          <a:solidFill>
            <a:srgbClr val="782F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white and black logo&#10;&#10;Description automatically generated">
            <a:extLst>
              <a:ext uri="{FF2B5EF4-FFF2-40B4-BE49-F238E27FC236}">
                <a16:creationId xmlns:a16="http://schemas.microsoft.com/office/drawing/2014/main" id="{82A393F0-6017-D783-4C77-6B8947944E14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35363" y="6250677"/>
            <a:ext cx="962943" cy="576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9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tx1"/>
          </a:solidFill>
          <a:latin typeface="Open Sans SemiBold" panose="020B0706030804020204" pitchFamily="34" charset="0"/>
          <a:ea typeface="Open Sans SemiBold" panose="020B0706030804020204" pitchFamily="34" charset="0"/>
          <a:cs typeface="Open Sans SemiBold" panose="020B07060308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hyperlink" Target="https://dgtlinfra.com/how-much-does-it-cost-to-build-a-cell-tower/" TargetMode="Externa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gtlinfra.com/what-is-a-cell-tower-how-work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mdpi.com/2079-9292/13/5/888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researchgate.net/figure/The-overall-IoT-network-environment-in-5G-network_fig1_344091120" TargetMode="Externa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244A8-B166-3E1D-047A-6DC9A6F485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Open Sans SemiBold" panose="020F0502020204030204" pitchFamily="34" charset="0"/>
                <a:ea typeface="Open Sans SemiBold" panose="020F0502020204030204" pitchFamily="34" charset="0"/>
                <a:cs typeface="Open Sans SemiBold" panose="020F0502020204030204" pitchFamily="34" charset="0"/>
              </a:rPr>
              <a:t>5G Framework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0A2C13-8566-34BA-536E-E345CDB517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Open Sans" panose="020F0502020204030204" pitchFamily="34" charset="0"/>
                <a:ea typeface="Open Sans" panose="020F0502020204030204" pitchFamily="34" charset="0"/>
                <a:cs typeface="Open Sans" panose="020F0502020204030204" pitchFamily="34" charset="0"/>
              </a:rPr>
              <a:t>Presenter: Zhuoyuan Liu</a:t>
            </a:r>
          </a:p>
          <a:p>
            <a:r>
              <a:rPr lang="en-US" dirty="0">
                <a:latin typeface="Open Sans" panose="020F0502020204030204" pitchFamily="34" charset="0"/>
                <a:ea typeface="Open Sans" panose="020F0502020204030204" pitchFamily="34" charset="0"/>
                <a:cs typeface="Open Sans" panose="020F0502020204030204" pitchFamily="34" charset="0"/>
              </a:rPr>
              <a:t>Supervisor: Xin Liu</a:t>
            </a:r>
          </a:p>
        </p:txBody>
      </p:sp>
    </p:spTree>
    <p:extLst>
      <p:ext uri="{BB962C8B-B14F-4D97-AF65-F5344CB8AC3E}">
        <p14:creationId xmlns:p14="http://schemas.microsoft.com/office/powerpoint/2010/main" val="2327247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EC012-FA7E-8E53-153A-6A2774F461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3499" y="93663"/>
            <a:ext cx="10144539" cy="922337"/>
          </a:xfrm>
        </p:spPr>
        <p:txBody>
          <a:bodyPr/>
          <a:lstStyle/>
          <a:p>
            <a:r>
              <a:rPr lang="en-US" dirty="0"/>
              <a:t>Content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3181FE-C98A-3B82-A602-F8740624DF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499" y="927100"/>
            <a:ext cx="10335039" cy="4330700"/>
          </a:xfrm>
        </p:spPr>
        <p:txBody>
          <a:bodyPr/>
          <a:lstStyle/>
          <a:p>
            <a:pPr marL="342900" indent="-342900">
              <a:buFontTx/>
              <a:buChar char="-"/>
            </a:pPr>
            <a:r>
              <a:rPr lang="en-US" dirty="0"/>
              <a:t>5G background</a:t>
            </a:r>
          </a:p>
          <a:p>
            <a:pPr marL="342900" indent="-342900">
              <a:buFontTx/>
              <a:buChar char="-"/>
            </a:pPr>
            <a:r>
              <a:rPr lang="en-US" dirty="0"/>
              <a:t>5G layers and modules</a:t>
            </a:r>
          </a:p>
          <a:p>
            <a:pPr marL="342900" indent="-342900">
              <a:buFontTx/>
              <a:buChar char="-"/>
            </a:pPr>
            <a:r>
              <a:rPr lang="en-US" dirty="0"/>
              <a:t>How 5G works - example: </a:t>
            </a:r>
          </a:p>
          <a:p>
            <a:r>
              <a:rPr lang="en-US" sz="2000" dirty="0"/>
              <a:t>     - Phone call</a:t>
            </a:r>
          </a:p>
          <a:p>
            <a:r>
              <a:rPr lang="en-US" sz="2000" dirty="0"/>
              <a:t>     - Web browsing</a:t>
            </a:r>
          </a:p>
          <a:p>
            <a:r>
              <a:rPr lang="en-US" sz="2000" dirty="0"/>
              <a:t>     - IOT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051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5DDC7-6D43-17F3-EB3D-37A5B90C7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8" y="0"/>
            <a:ext cx="10144539" cy="933450"/>
          </a:xfrm>
        </p:spPr>
        <p:txBody>
          <a:bodyPr/>
          <a:lstStyle/>
          <a:p>
            <a:r>
              <a:rPr lang="en-US" dirty="0"/>
              <a:t>5G Background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14C666-91E0-6569-BC6E-4EE107E99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863600"/>
            <a:ext cx="10144539" cy="5924550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Motivation</a:t>
            </a:r>
            <a:endParaRPr lang="en-US" dirty="0"/>
          </a:p>
          <a:p>
            <a:r>
              <a:rPr lang="en-US" dirty="0"/>
              <a:t>Explosive growth of:</a:t>
            </a:r>
          </a:p>
          <a:p>
            <a:r>
              <a:rPr lang="en-US" dirty="0"/>
              <a:t>- Mobile data (video, AR/VR)</a:t>
            </a:r>
          </a:p>
          <a:p>
            <a:r>
              <a:rPr lang="en-US" dirty="0"/>
              <a:t>- Massive IoT devices</a:t>
            </a:r>
          </a:p>
          <a:p>
            <a:r>
              <a:rPr lang="en-US" dirty="0"/>
              <a:t>- Ultra-low latency applications (AI)</a:t>
            </a:r>
          </a:p>
          <a:p>
            <a:r>
              <a:rPr lang="en-US" dirty="0"/>
              <a:t>4G limitations:</a:t>
            </a:r>
          </a:p>
          <a:p>
            <a:r>
              <a:rPr lang="en-US" dirty="0"/>
              <a:t>- High latency (~50 </a:t>
            </a:r>
            <a:r>
              <a:rPr lang="en-US" dirty="0" err="1"/>
              <a:t>ms</a:t>
            </a:r>
            <a:r>
              <a:rPr lang="en-US" dirty="0"/>
              <a:t>)</a:t>
            </a:r>
          </a:p>
          <a:p>
            <a:r>
              <a:rPr lang="en-US" dirty="0"/>
              <a:t>- Limited device density</a:t>
            </a:r>
          </a:p>
          <a:p>
            <a:r>
              <a:rPr lang="en-US" dirty="0"/>
              <a:t>- Fixed architecture</a:t>
            </a:r>
          </a:p>
          <a:p>
            <a:r>
              <a:rPr lang="en-US" b="1" dirty="0"/>
              <a:t>5G Goals</a:t>
            </a:r>
          </a:p>
          <a:p>
            <a:r>
              <a:rPr lang="en-US" dirty="0"/>
              <a:t>- Higher data rates</a:t>
            </a:r>
          </a:p>
          <a:p>
            <a:r>
              <a:rPr lang="en-US" dirty="0"/>
              <a:t>- Ultra-low latency</a:t>
            </a:r>
          </a:p>
          <a:p>
            <a:r>
              <a:rPr lang="en-US" dirty="0"/>
              <a:t>- Massive connectivity</a:t>
            </a:r>
          </a:p>
          <a:p>
            <a:r>
              <a:rPr lang="en-US" dirty="0"/>
              <a:t>- High reliability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4673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ABB31-6535-2EE8-1D7F-2F307C21C2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4440" y="0"/>
            <a:ext cx="10144539" cy="957358"/>
          </a:xfrm>
        </p:spPr>
        <p:txBody>
          <a:bodyPr/>
          <a:lstStyle/>
          <a:p>
            <a:r>
              <a:rPr lang="en-US" dirty="0"/>
              <a:t>Features of 5G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11109-A07D-E7CF-618C-A3AB4C419D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4441" y="902126"/>
            <a:ext cx="10304098" cy="4355674"/>
          </a:xfrm>
        </p:spPr>
        <p:txBody>
          <a:bodyPr/>
          <a:lstStyle/>
          <a:p>
            <a:r>
              <a:rPr lang="en-US" b="1" dirty="0"/>
              <a:t>Higher data rates (Gbps): </a:t>
            </a:r>
            <a:r>
              <a:rPr lang="en-US" dirty="0"/>
              <a:t>Wider bandwidth; Advanced modulation; Massive MIMO Spatial multiplexing; Beamforming; error correction (LDPC, Polar code)</a:t>
            </a:r>
          </a:p>
          <a:p>
            <a:r>
              <a:rPr lang="en-US" b="1" dirty="0"/>
              <a:t>Ultra-low latency (&lt;1 </a:t>
            </a:r>
            <a:r>
              <a:rPr lang="en-US" b="1" dirty="0" err="1"/>
              <a:t>ms</a:t>
            </a:r>
            <a:r>
              <a:rPr lang="en-US" b="1" dirty="0"/>
              <a:t>): </a:t>
            </a:r>
            <a:r>
              <a:rPr lang="en-US" dirty="0"/>
              <a:t>Edge computing; CP/UP separation</a:t>
            </a:r>
          </a:p>
          <a:p>
            <a:r>
              <a:rPr lang="en-US" b="1" dirty="0"/>
              <a:t>Massive connectivity</a:t>
            </a:r>
            <a:r>
              <a:rPr lang="en-US" dirty="0"/>
              <a:t> (</a:t>
            </a:r>
            <a:r>
              <a:rPr lang="en-US" b="1" dirty="0"/>
              <a:t>10⁶ devices/km²</a:t>
            </a:r>
            <a:r>
              <a:rPr lang="en-US" dirty="0"/>
              <a:t>)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mMU</a:t>
            </a:r>
            <a:r>
              <a:rPr lang="en-US" dirty="0"/>
              <a:t>-MIMO; scheduling</a:t>
            </a:r>
          </a:p>
          <a:p>
            <a:r>
              <a:rPr lang="en-US" b="1" dirty="0"/>
              <a:t>High reliability: </a:t>
            </a:r>
            <a:r>
              <a:rPr lang="en-US" dirty="0"/>
              <a:t>Network slicing allows concurrent different uses on the same infrastructure</a:t>
            </a:r>
          </a:p>
          <a:p>
            <a:endParaRPr lang="en-US" dirty="0"/>
          </a:p>
        </p:txBody>
      </p:sp>
      <p:pic>
        <p:nvPicPr>
          <p:cNvPr id="6146" name="Picture 2" descr="TDD Reciprocity-Based PDSCH MU-MIMO Using SRS - MATLAB &amp; Simulink">
            <a:extLst>
              <a:ext uri="{FF2B5EF4-FFF2-40B4-BE49-F238E27FC236}">
                <a16:creationId xmlns:a16="http://schemas.microsoft.com/office/drawing/2014/main" id="{5F35FE9F-F277-7A75-C0F5-A85BA0C8D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440" y="3721099"/>
            <a:ext cx="6416997" cy="2867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0806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B3BA2-E962-E45B-398E-E8A74F9291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3899" y="169863"/>
            <a:ext cx="10944639" cy="579437"/>
          </a:xfrm>
        </p:spPr>
        <p:txBody>
          <a:bodyPr>
            <a:normAutofit fontScale="90000"/>
          </a:bodyPr>
          <a:lstStyle/>
          <a:p>
            <a:r>
              <a:rPr lang="en-US" dirty="0"/>
              <a:t>5G </a:t>
            </a:r>
            <a:r>
              <a:rPr lang="en-US" dirty="0" err="1"/>
              <a:t>Infrastrutre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0EBDCD-644E-236C-F62D-8BE04EC540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899" y="920750"/>
            <a:ext cx="8185151" cy="2735154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Main Components</a:t>
            </a:r>
            <a:endParaRPr lang="en-US" dirty="0"/>
          </a:p>
          <a:p>
            <a:r>
              <a:rPr lang="en-US" b="1" dirty="0"/>
              <a:t>UE (User Equipment)</a:t>
            </a:r>
            <a:br>
              <a:rPr lang="en-US" dirty="0"/>
            </a:br>
            <a:r>
              <a:rPr lang="en-US" dirty="0"/>
              <a:t>Phones, sensors, vehicles</a:t>
            </a:r>
          </a:p>
          <a:p>
            <a:r>
              <a:rPr lang="en-US" b="1" dirty="0"/>
              <a:t>ORAN (Open Radio Access Network)</a:t>
            </a:r>
          </a:p>
          <a:p>
            <a:r>
              <a:rPr lang="en-US" dirty="0" err="1"/>
              <a:t>gNodeB</a:t>
            </a:r>
            <a:r>
              <a:rPr lang="en-US" dirty="0"/>
              <a:t> (5G base station)</a:t>
            </a:r>
          </a:p>
          <a:p>
            <a:r>
              <a:rPr lang="en-US" b="1" dirty="0"/>
              <a:t>5G Core (5GC)</a:t>
            </a:r>
          </a:p>
          <a:p>
            <a:r>
              <a:rPr lang="en-US" dirty="0"/>
              <a:t>Cloud-native, service-based (edge/central data center)</a:t>
            </a:r>
          </a:p>
          <a:p>
            <a:endParaRPr lang="en-US" dirty="0"/>
          </a:p>
        </p:txBody>
      </p:sp>
      <p:pic>
        <p:nvPicPr>
          <p:cNvPr id="1028" name="Picture 4" descr="FOR DAM OWNERS | GenH">
            <a:extLst>
              <a:ext uri="{FF2B5EF4-FFF2-40B4-BE49-F238E27FC236}">
                <a16:creationId xmlns:a16="http://schemas.microsoft.com/office/drawing/2014/main" id="{28311BBD-204D-F0CB-9A7F-B3AD916FB8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231" y="3655904"/>
            <a:ext cx="3163019" cy="260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ow Much Does it Cost to Build a Cell Tower? - Dgtl Infra">
            <a:extLst>
              <a:ext uri="{FF2B5EF4-FFF2-40B4-BE49-F238E27FC236}">
                <a16:creationId xmlns:a16="http://schemas.microsoft.com/office/drawing/2014/main" id="{D39705AE-0F20-2A9B-436D-79B4628B9C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899" y="3649588"/>
            <a:ext cx="5911851" cy="2615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1C0567-4B1C-DEDF-7B6B-7C7DA21D9C81}"/>
              </a:ext>
            </a:extLst>
          </p:cNvPr>
          <p:cNvSpPr txBox="1"/>
          <p:nvPr/>
        </p:nvSpPr>
        <p:spPr>
          <a:xfrm>
            <a:off x="660400" y="6351429"/>
            <a:ext cx="4445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</a:t>
            </a:r>
            <a:r>
              <a:rPr lang="en-US" sz="1000" dirty="0">
                <a:hlinkClick r:id="rId5"/>
              </a:rPr>
              <a:t> How Much Does it Cost to Build a Cell Tower? - </a:t>
            </a:r>
            <a:r>
              <a:rPr lang="en-US" sz="1000" dirty="0" err="1">
                <a:hlinkClick r:id="rId5"/>
              </a:rPr>
              <a:t>Dgtl</a:t>
            </a:r>
            <a:r>
              <a:rPr lang="en-US" sz="1000" dirty="0">
                <a:hlinkClick r:id="rId5"/>
              </a:rPr>
              <a:t> Infra</a:t>
            </a:r>
            <a:endParaRPr lang="en-US" sz="1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52B083-776A-8652-48C9-A800EDFF46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0939" y="97453"/>
            <a:ext cx="3133311" cy="3211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208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245F4-DDAB-0D0B-310A-DE25A0A4E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58738"/>
            <a:ext cx="10144539" cy="592137"/>
          </a:xfrm>
        </p:spPr>
        <p:txBody>
          <a:bodyPr>
            <a:normAutofit fontScale="90000"/>
          </a:bodyPr>
          <a:lstStyle/>
          <a:p>
            <a:r>
              <a:rPr lang="en-US" dirty="0"/>
              <a:t>5G Core Network Modules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306A7A-00D3-CD1E-B69B-C969450EC3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650875"/>
            <a:ext cx="10144539" cy="4606925"/>
          </a:xfrm>
        </p:spPr>
        <p:txBody>
          <a:bodyPr/>
          <a:lstStyle/>
          <a:p>
            <a:r>
              <a:rPr lang="en-US" b="1" dirty="0"/>
              <a:t>Key Core Functions</a:t>
            </a:r>
            <a:endParaRPr lang="en-US" dirty="0"/>
          </a:p>
          <a:p>
            <a:r>
              <a:rPr lang="en-US" b="1" dirty="0"/>
              <a:t>AMF</a:t>
            </a:r>
            <a:r>
              <a:rPr lang="en-US" dirty="0"/>
              <a:t> – Access &amp; Mobility Management</a:t>
            </a:r>
          </a:p>
          <a:p>
            <a:r>
              <a:rPr lang="en-US" b="1" dirty="0"/>
              <a:t>SMF</a:t>
            </a:r>
            <a:r>
              <a:rPr lang="en-US" dirty="0"/>
              <a:t> – Session Management</a:t>
            </a:r>
          </a:p>
          <a:p>
            <a:r>
              <a:rPr lang="en-US" b="1" dirty="0"/>
              <a:t>UPF</a:t>
            </a:r>
            <a:r>
              <a:rPr lang="en-US" dirty="0"/>
              <a:t> – User (Data) Plane Function (data forwarding)</a:t>
            </a:r>
          </a:p>
          <a:p>
            <a:r>
              <a:rPr lang="en-US" b="1" dirty="0"/>
              <a:t>AUSF</a:t>
            </a:r>
            <a:r>
              <a:rPr lang="en-US" dirty="0"/>
              <a:t> – Authentication</a:t>
            </a:r>
          </a:p>
          <a:p>
            <a:r>
              <a:rPr lang="en-US" b="1" dirty="0"/>
              <a:t>PCF</a:t>
            </a:r>
            <a:r>
              <a:rPr lang="en-US" dirty="0"/>
              <a:t> – Policy Control</a:t>
            </a:r>
          </a:p>
          <a:p>
            <a:r>
              <a:rPr lang="en-US" b="1" dirty="0"/>
              <a:t>NRF</a:t>
            </a:r>
            <a:r>
              <a:rPr lang="en-US" dirty="0"/>
              <a:t> – Network Function Registry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122" name="Picture 2" descr="5G Reference Network Architecture - Techplayon">
            <a:extLst>
              <a:ext uri="{FF2B5EF4-FFF2-40B4-BE49-F238E27FC236}">
                <a16:creationId xmlns:a16="http://schemas.microsoft.com/office/drawing/2014/main" id="{201F1E31-ED77-6180-B3C3-D6F75ECAAB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485" y="3775075"/>
            <a:ext cx="5405562" cy="308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9755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CFB08-5A79-F3E1-ED78-73792652B9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2851" y="0"/>
            <a:ext cx="10144539" cy="1405353"/>
          </a:xfrm>
        </p:spPr>
        <p:txBody>
          <a:bodyPr/>
          <a:lstStyle/>
          <a:p>
            <a:r>
              <a:rPr lang="en-US" dirty="0"/>
              <a:t>5G layers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02FC6C-0F83-6712-3086-EEADC8A639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2851" y="816209"/>
            <a:ext cx="10455688" cy="6041791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From Bottom to Top:</a:t>
            </a:r>
            <a:endParaRPr lang="en-US" dirty="0"/>
          </a:p>
          <a:p>
            <a:endParaRPr lang="en-US" b="1" dirty="0"/>
          </a:p>
          <a:p>
            <a:r>
              <a:rPr lang="en-US" b="1" dirty="0"/>
              <a:t>1. Physical Layer (L1)</a:t>
            </a:r>
          </a:p>
          <a:p>
            <a:r>
              <a:rPr lang="en-US" dirty="0" err="1"/>
              <a:t>mmWave</a:t>
            </a:r>
            <a:r>
              <a:rPr lang="en-US" dirty="0"/>
              <a:t>, OFDM, massive MIMO</a:t>
            </a:r>
          </a:p>
          <a:p>
            <a:endParaRPr lang="en-US" b="1" dirty="0"/>
          </a:p>
          <a:p>
            <a:r>
              <a:rPr lang="en-US" b="1" dirty="0"/>
              <a:t>2. MAC / RLC / PDCP (L2)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Error correction</a:t>
            </a:r>
          </a:p>
          <a:p>
            <a:r>
              <a:rPr lang="en-US" dirty="0"/>
              <a:t>Encryption &amp; compression</a:t>
            </a:r>
          </a:p>
          <a:p>
            <a:endParaRPr lang="en-US" b="1" dirty="0"/>
          </a:p>
          <a:p>
            <a:r>
              <a:rPr lang="en-US" b="1" dirty="0"/>
              <a:t>3. Transport &amp; IP (L3)</a:t>
            </a:r>
          </a:p>
          <a:p>
            <a:r>
              <a:rPr lang="en-US" dirty="0"/>
              <a:t>UDP/TCP</a:t>
            </a:r>
          </a:p>
          <a:p>
            <a:r>
              <a:rPr lang="en-US" dirty="0"/>
              <a:t>QoS-aware routing</a:t>
            </a:r>
          </a:p>
          <a:p>
            <a:endParaRPr lang="en-US" b="1" dirty="0"/>
          </a:p>
          <a:p>
            <a:r>
              <a:rPr lang="en-US" b="1" dirty="0"/>
              <a:t>4. Application Layer</a:t>
            </a:r>
          </a:p>
          <a:p>
            <a:r>
              <a:rPr lang="en-US" dirty="0"/>
              <a:t>Voice, video, IoT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873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F4233-F937-F575-815E-35131731D7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550" y="152731"/>
            <a:ext cx="11258345" cy="933119"/>
          </a:xfrm>
        </p:spPr>
        <p:txBody>
          <a:bodyPr/>
          <a:lstStyle/>
          <a:p>
            <a:r>
              <a:rPr lang="en-US" dirty="0"/>
              <a:t>5G modules and layers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7106D4-B093-D59E-A7C5-001CC0FCED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4151" y="1274113"/>
            <a:ext cx="2941637" cy="5431155"/>
          </a:xfrm>
        </p:spPr>
        <p:txBody>
          <a:bodyPr>
            <a:normAutofit/>
          </a:bodyPr>
          <a:lstStyle/>
          <a:p>
            <a:r>
              <a:rPr lang="en-US" sz="1800" b="1" dirty="0" err="1"/>
              <a:t>gNB</a:t>
            </a:r>
            <a:r>
              <a:rPr lang="en-US" sz="1800" b="1" dirty="0"/>
              <a:t>-RU</a:t>
            </a:r>
          </a:p>
          <a:p>
            <a:r>
              <a:rPr lang="en-US" sz="1800" dirty="0"/>
              <a:t>Physical layer</a:t>
            </a:r>
          </a:p>
          <a:p>
            <a:r>
              <a:rPr lang="en-US" sz="1800" dirty="0"/>
              <a:t>RF manipulation</a:t>
            </a:r>
          </a:p>
          <a:p>
            <a:r>
              <a:rPr lang="en-US" sz="1800" b="1" dirty="0" err="1"/>
              <a:t>gNB</a:t>
            </a:r>
            <a:r>
              <a:rPr lang="en-US" sz="1800" b="1" dirty="0"/>
              <a:t>-DU</a:t>
            </a:r>
            <a:endParaRPr lang="en-US" sz="1800" dirty="0"/>
          </a:p>
          <a:p>
            <a:r>
              <a:rPr lang="en-US" sz="1800" dirty="0"/>
              <a:t>Lower-layer protocols</a:t>
            </a:r>
          </a:p>
          <a:p>
            <a:r>
              <a:rPr lang="en-US" sz="1800" dirty="0"/>
              <a:t>Real-time radio processing</a:t>
            </a:r>
          </a:p>
          <a:p>
            <a:r>
              <a:rPr lang="en-US" sz="1800" b="1" dirty="0" err="1"/>
              <a:t>gNB</a:t>
            </a:r>
            <a:r>
              <a:rPr lang="en-US" sz="1800" b="1" dirty="0"/>
              <a:t>-CU </a:t>
            </a:r>
            <a:endParaRPr lang="en-US" sz="1800" dirty="0"/>
          </a:p>
          <a:p>
            <a:r>
              <a:rPr lang="en-US" sz="1800" dirty="0"/>
              <a:t>Higher-layer protocols</a:t>
            </a:r>
          </a:p>
          <a:p>
            <a:r>
              <a:rPr lang="en-US" sz="1800" dirty="0"/>
              <a:t>Control &amp; user plane processing</a:t>
            </a:r>
          </a:p>
          <a:p>
            <a:r>
              <a:rPr lang="en-US" sz="1800" b="1" dirty="0"/>
              <a:t>5GC/EPC (Central/Edge)</a:t>
            </a:r>
          </a:p>
          <a:p>
            <a:r>
              <a:rPr lang="en-US" sz="1800" dirty="0"/>
              <a:t>session control</a:t>
            </a:r>
          </a:p>
          <a:p>
            <a:r>
              <a:rPr lang="en-US" sz="1800" dirty="0"/>
              <a:t>Mobility</a:t>
            </a:r>
          </a:p>
          <a:p>
            <a:r>
              <a:rPr lang="en-US" sz="1800" dirty="0"/>
              <a:t>routing to internet</a:t>
            </a:r>
            <a:endParaRPr lang="en-US" sz="1800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BD0E46-2F92-49BB-DC58-4BF972898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750" y="1035050"/>
            <a:ext cx="5637161" cy="36147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55FABE0-094C-3F8A-CA48-2BCBBEC54848}"/>
              </a:ext>
            </a:extLst>
          </p:cNvPr>
          <p:cNvSpPr txBox="1"/>
          <p:nvPr/>
        </p:nvSpPr>
        <p:spPr>
          <a:xfrm>
            <a:off x="3125788" y="1274113"/>
            <a:ext cx="3275012" cy="5242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b="1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L1 — Physical Layer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Radio transmission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OFDM, MIMO, </a:t>
            </a:r>
            <a:r>
              <a:rPr lang="en-US" dirty="0" err="1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mmWave</a:t>
            </a:r>
            <a:endParaRPr lang="en-US" dirty="0">
              <a:solidFill>
                <a:srgbClr val="782F4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Mostly in DU 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b="1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L2 — Data Link Layer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MAC – scheduling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RLC – retransmission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PDCP – encryption, compression</a:t>
            </a:r>
            <a:b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Split between DU and CU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b="1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L3 — Network Layer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IP routing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Mobility anchoring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QoS enforcement</a:t>
            </a:r>
            <a:b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solidFill>
                  <a:srgbClr val="782F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Mostly in CU + 5G core</a:t>
            </a:r>
          </a:p>
        </p:txBody>
      </p:sp>
    </p:spTree>
    <p:extLst>
      <p:ext uri="{BB962C8B-B14F-4D97-AF65-F5344CB8AC3E}">
        <p14:creationId xmlns:p14="http://schemas.microsoft.com/office/powerpoint/2010/main" val="2261218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547F3-42BB-CE02-40DE-413ACF2147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"/>
            <a:ext cx="10144539" cy="742949"/>
          </a:xfrm>
        </p:spPr>
        <p:txBody>
          <a:bodyPr/>
          <a:lstStyle/>
          <a:p>
            <a:r>
              <a:rPr lang="en-US" dirty="0"/>
              <a:t>Control Plane vs User Plane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C96BF6-02EC-72FC-C2C6-4CAAB06454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742950"/>
            <a:ext cx="10144539" cy="4514850"/>
          </a:xfrm>
        </p:spPr>
        <p:txBody>
          <a:bodyPr/>
          <a:lstStyle/>
          <a:p>
            <a:r>
              <a:rPr lang="en-US" b="1" dirty="0"/>
              <a:t>Control Plane (in 5GC)</a:t>
            </a:r>
            <a:endParaRPr lang="en-US" dirty="0"/>
          </a:p>
          <a:p>
            <a:r>
              <a:rPr lang="en-US" dirty="0"/>
              <a:t>Signaling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Mobility management</a:t>
            </a:r>
          </a:p>
          <a:p>
            <a:endParaRPr lang="en-US" dirty="0"/>
          </a:p>
          <a:p>
            <a:r>
              <a:rPr lang="pt-BR" b="1" dirty="0"/>
              <a:t>User Plane (in 5GC+gNB+UE)</a:t>
            </a:r>
            <a:endParaRPr lang="pt-BR" dirty="0"/>
          </a:p>
          <a:p>
            <a:r>
              <a:rPr lang="pt-BR" dirty="0"/>
              <a:t>Actual data (voice, video, sensor data)</a:t>
            </a:r>
          </a:p>
          <a:p>
            <a:endParaRPr lang="pt-BR" dirty="0"/>
          </a:p>
          <a:p>
            <a:r>
              <a:rPr lang="en-US" dirty="0"/>
              <a:t>Control and data can take different paths</a:t>
            </a:r>
            <a:br>
              <a:rPr lang="en-US" dirty="0"/>
            </a:br>
            <a:r>
              <a:rPr lang="en-US" dirty="0"/>
              <a:t>Enables edge computing &amp; low latency</a:t>
            </a:r>
            <a:endParaRPr lang="pt-BR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10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8319573-660A-DF0C-11B5-390D3DE2C794}"/>
              </a:ext>
            </a:extLst>
          </p:cNvPr>
          <p:cNvSpPr>
            <a:spLocks noGrp="1"/>
          </p:cNvSpPr>
          <p:nvPr/>
        </p:nvSpPr>
        <p:spPr>
          <a:xfrm>
            <a:off x="838200" y="52308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Fundamental Problems – How does 5G works?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86B12F4-9ABB-E71E-1EA1-6292B3F63C0A}"/>
              </a:ext>
            </a:extLst>
          </p:cNvPr>
          <p:cNvSpPr>
            <a:spLocks noGrp="1"/>
          </p:cNvSpPr>
          <p:nvPr/>
        </p:nvSpPr>
        <p:spPr>
          <a:xfrm>
            <a:off x="838200" y="198358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How can a cellphone join a network (finding which cell it is in, notifying the base station)?</a:t>
            </a:r>
          </a:p>
          <a:p>
            <a:r>
              <a:rPr lang="en-US" dirty="0"/>
              <a:t>How can a cellphone make a phone call (the phone initiates the data transfer)?</a:t>
            </a:r>
          </a:p>
          <a:p>
            <a:r>
              <a:rPr lang="en-US" dirty="0"/>
              <a:t>How can a cellphone be called (the base station initiates the data transfer)? </a:t>
            </a:r>
          </a:p>
          <a:p>
            <a:r>
              <a:rPr lang="en-US" dirty="0"/>
              <a:t>How can a cellphone receive continuous service even when moving (handover)?</a:t>
            </a:r>
          </a:p>
          <a:p>
            <a:r>
              <a:rPr lang="en-US" dirty="0"/>
              <a:t>How to plan the network optimally to cover the area?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9917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4EAFF73-DC6D-83DE-30CD-C156D875FCE8}"/>
              </a:ext>
            </a:extLst>
          </p:cNvPr>
          <p:cNvSpPr>
            <a:spLocks noGrp="1"/>
          </p:cNvSpPr>
          <p:nvPr/>
        </p:nvSpPr>
        <p:spPr>
          <a:xfrm>
            <a:off x="838200" y="52308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5G Basics -- Terms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4BE5F70-64D0-DA64-3D4A-242BC16BD016}"/>
              </a:ext>
            </a:extLst>
          </p:cNvPr>
          <p:cNvSpPr>
            <a:spLocks noGrp="1"/>
          </p:cNvSpPr>
          <p:nvPr/>
        </p:nvSpPr>
        <p:spPr>
          <a:xfrm>
            <a:off x="838200" y="198358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Base station: called </a:t>
            </a:r>
            <a:r>
              <a:rPr lang="en-US" dirty="0" err="1"/>
              <a:t>gNodeB</a:t>
            </a:r>
            <a:endParaRPr lang="en-US" dirty="0"/>
          </a:p>
          <a:p>
            <a:r>
              <a:rPr lang="en-US" dirty="0"/>
              <a:t>User device: called UE</a:t>
            </a:r>
          </a:p>
          <a:p>
            <a:r>
              <a:rPr lang="en-US" dirty="0" err="1"/>
              <a:t>gNB</a:t>
            </a:r>
            <a:r>
              <a:rPr lang="en-US" dirty="0"/>
              <a:t> may connect to each other with an interface named X2; </a:t>
            </a:r>
            <a:r>
              <a:rPr lang="en-US" dirty="0" err="1"/>
              <a:t>gNB</a:t>
            </a:r>
            <a:r>
              <a:rPr lang="en-US" dirty="0"/>
              <a:t> may connect to the Evolved Packet Core (EPC) with an interface called X1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219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D59401F-073A-3FDE-23B3-6D7A3BA53915}"/>
              </a:ext>
            </a:extLst>
          </p:cNvPr>
          <p:cNvSpPr>
            <a:spLocks noGrp="1"/>
          </p:cNvSpPr>
          <p:nvPr/>
        </p:nvSpPr>
        <p:spPr>
          <a:xfrm>
            <a:off x="838200" y="52308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5G Basics -- Joining an LTE network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E90EBBF-1C31-CA03-33D1-1506B904D151}"/>
              </a:ext>
            </a:extLst>
          </p:cNvPr>
          <p:cNvSpPr>
            <a:spLocks noGrp="1"/>
          </p:cNvSpPr>
          <p:nvPr/>
        </p:nvSpPr>
        <p:spPr>
          <a:xfrm>
            <a:off x="838200" y="198358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High level description: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UE receives the broadcast signals from neighboring </a:t>
            </a:r>
            <a:r>
              <a:rPr lang="en-US" dirty="0" err="1"/>
              <a:t>gNBs</a:t>
            </a:r>
            <a:r>
              <a:rPr lang="en-US" dirty="0"/>
              <a:t> and finds the one with the strongest signal.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UE sends connection request with the help of a random access channel to the selected </a:t>
            </a:r>
            <a:r>
              <a:rPr lang="en-US" dirty="0" err="1"/>
              <a:t>gNB</a:t>
            </a:r>
            <a:r>
              <a:rPr lang="en-US" dirty="0"/>
              <a:t>, which may accept the request.  </a:t>
            </a:r>
          </a:p>
        </p:txBody>
      </p:sp>
    </p:spTree>
    <p:extLst>
      <p:ext uri="{BB962C8B-B14F-4D97-AF65-F5344CB8AC3E}">
        <p14:creationId xmlns:p14="http://schemas.microsoft.com/office/powerpoint/2010/main" val="27646654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F39771A-5F2D-D683-57D1-45DE7A190E4F}"/>
              </a:ext>
            </a:extLst>
          </p:cNvPr>
          <p:cNvSpPr>
            <a:spLocks noGrp="1"/>
          </p:cNvSpPr>
          <p:nvPr/>
        </p:nvSpPr>
        <p:spPr>
          <a:xfrm>
            <a:off x="838200" y="52308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5G Basics -- Initiating data transfer from a cellphone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B5990A-8184-B364-DF55-9BB71AD4499E}"/>
              </a:ext>
            </a:extLst>
          </p:cNvPr>
          <p:cNvSpPr>
            <a:spLocks noGrp="1"/>
          </p:cNvSpPr>
          <p:nvPr/>
        </p:nvSpPr>
        <p:spPr>
          <a:xfrm>
            <a:off x="838200" y="198358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High level description:</a:t>
            </a:r>
          </a:p>
          <a:p>
            <a:pPr lvl="1"/>
            <a:r>
              <a:rPr lang="en-US" dirty="0"/>
              <a:t>LTE has an uplink channel for random access. A UE can inform the </a:t>
            </a:r>
            <a:r>
              <a:rPr lang="en-US" dirty="0" err="1"/>
              <a:t>gNB</a:t>
            </a:r>
            <a:r>
              <a:rPr lang="en-US" dirty="0"/>
              <a:t> by following the random access protocol and request resources for data transfer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3949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29B7208-682F-5F93-1193-71F93BEA2F2C}"/>
              </a:ext>
            </a:extLst>
          </p:cNvPr>
          <p:cNvSpPr>
            <a:spLocks noGrp="1"/>
          </p:cNvSpPr>
          <p:nvPr/>
        </p:nvSpPr>
        <p:spPr>
          <a:xfrm>
            <a:off x="838200" y="52308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5G Basics -- Finding a UE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236D5DB-587C-663B-5F28-E82D736A4019}"/>
              </a:ext>
            </a:extLst>
          </p:cNvPr>
          <p:cNvSpPr>
            <a:spLocks noGrp="1"/>
          </p:cNvSpPr>
          <p:nvPr/>
        </p:nvSpPr>
        <p:spPr>
          <a:xfrm>
            <a:off x="838200" y="198358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High level description: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gNB</a:t>
            </a:r>
            <a:r>
              <a:rPr lang="en-US" dirty="0"/>
              <a:t> keep records of the UEs associated with it. If there are data destined to this UE from the backbone network, the </a:t>
            </a:r>
            <a:r>
              <a:rPr lang="en-US" dirty="0" err="1"/>
              <a:t>gNB</a:t>
            </a:r>
            <a:r>
              <a:rPr lang="en-US" dirty="0"/>
              <a:t> will send a signal to notify this UE </a:t>
            </a:r>
          </a:p>
        </p:txBody>
      </p:sp>
    </p:spTree>
    <p:extLst>
      <p:ext uri="{BB962C8B-B14F-4D97-AF65-F5344CB8AC3E}">
        <p14:creationId xmlns:p14="http://schemas.microsoft.com/office/powerpoint/2010/main" val="10101997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C365AA3-B10E-C3DE-B782-F368D03D01A5}"/>
              </a:ext>
            </a:extLst>
          </p:cNvPr>
          <p:cNvSpPr>
            <a:spLocks noGrp="1"/>
          </p:cNvSpPr>
          <p:nvPr/>
        </p:nvSpPr>
        <p:spPr>
          <a:xfrm>
            <a:off x="838200" y="52308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LTE Basics -- Handover in LTE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C49028-C2CF-0EE3-4E1B-1FF39856F685}"/>
              </a:ext>
            </a:extLst>
          </p:cNvPr>
          <p:cNvSpPr>
            <a:spLocks noGrp="1"/>
          </p:cNvSpPr>
          <p:nvPr/>
        </p:nvSpPr>
        <p:spPr>
          <a:xfrm>
            <a:off x="838200" y="198358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High level description:</a:t>
            </a:r>
          </a:p>
          <a:p>
            <a:pPr lvl="1"/>
            <a:r>
              <a:rPr lang="en-US" dirty="0"/>
              <a:t>The UE and </a:t>
            </a:r>
            <a:r>
              <a:rPr lang="en-US" dirty="0" err="1"/>
              <a:t>gNBs</a:t>
            </a:r>
            <a:r>
              <a:rPr lang="en-US" dirty="0"/>
              <a:t> constantly monitor the signal quality and will switch the UE to another </a:t>
            </a:r>
            <a:r>
              <a:rPr lang="en-US" dirty="0" err="1"/>
              <a:t>gNB</a:t>
            </a:r>
            <a:r>
              <a:rPr lang="en-US" dirty="0"/>
              <a:t> if it will receive better signal or achieve better network utilization</a:t>
            </a:r>
          </a:p>
        </p:txBody>
      </p:sp>
    </p:spTree>
    <p:extLst>
      <p:ext uri="{BB962C8B-B14F-4D97-AF65-F5344CB8AC3E}">
        <p14:creationId xmlns:p14="http://schemas.microsoft.com/office/powerpoint/2010/main" val="2870225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7F269-8EE6-1AF4-3607-0E562A671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85620-B92C-E55D-C7D8-189048AB9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8" y="55563"/>
            <a:ext cx="10144539" cy="674687"/>
          </a:xfrm>
        </p:spPr>
        <p:txBody>
          <a:bodyPr/>
          <a:lstStyle/>
          <a:p>
            <a:r>
              <a:rPr lang="en-US" dirty="0"/>
              <a:t>Example: Voice/Video call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4C209C-7822-66BE-7E91-DF197CDC10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666750"/>
            <a:ext cx="10144539" cy="4591050"/>
          </a:xfrm>
        </p:spPr>
        <p:txBody>
          <a:bodyPr/>
          <a:lstStyle/>
          <a:p>
            <a:r>
              <a:rPr lang="en-US" sz="1800" b="1" dirty="0"/>
              <a:t>Steps</a:t>
            </a:r>
            <a:endParaRPr lang="en-US" sz="1800" dirty="0"/>
          </a:p>
          <a:p>
            <a:r>
              <a:rPr lang="en-US" sz="1800" dirty="0"/>
              <a:t>1. UE connects to </a:t>
            </a:r>
            <a:r>
              <a:rPr lang="en-US" sz="1800" dirty="0" err="1"/>
              <a:t>gNodeB</a:t>
            </a:r>
            <a:endParaRPr lang="en-US" sz="1800" dirty="0"/>
          </a:p>
          <a:p>
            <a:r>
              <a:rPr lang="en-US" sz="1800" dirty="0"/>
              <a:t>2. AMF (</a:t>
            </a:r>
            <a:r>
              <a:rPr lang="en-US" sz="1800" b="1" dirty="0"/>
              <a:t>Access and Mobility Management Function</a:t>
            </a:r>
            <a:r>
              <a:rPr lang="en-US" sz="1800" dirty="0"/>
              <a:t>) authenticates device</a:t>
            </a:r>
          </a:p>
          <a:p>
            <a:r>
              <a:rPr lang="en-US" sz="1800" dirty="0"/>
              <a:t>3. SMF (</a:t>
            </a:r>
            <a:r>
              <a:rPr lang="en-US" sz="1800" b="1" dirty="0"/>
              <a:t>Session Management Function) </a:t>
            </a:r>
            <a:r>
              <a:rPr lang="en-US" sz="1800" dirty="0"/>
              <a:t>sets up session</a:t>
            </a:r>
          </a:p>
          <a:p>
            <a:r>
              <a:rPr lang="en-US" sz="1800" dirty="0"/>
              <a:t>4. Voice/Video packets routed via UPF (at data center). UPF anchor mobility; Data center also relays/records/encrypts the data.</a:t>
            </a:r>
          </a:p>
          <a:p>
            <a:r>
              <a:rPr lang="en-US" sz="1800" dirty="0"/>
              <a:t>5. Voice/Video Packets forwarded to the </a:t>
            </a:r>
            <a:r>
              <a:rPr lang="en-US" sz="1800" dirty="0" err="1"/>
              <a:t>gNodeB</a:t>
            </a:r>
            <a:r>
              <a:rPr lang="en-US" sz="1800" dirty="0"/>
              <a:t> closest to the destined UE according to the IP (e.g. phone number, device IP)</a:t>
            </a:r>
          </a:p>
          <a:p>
            <a:endParaRPr lang="en-US" dirty="0"/>
          </a:p>
        </p:txBody>
      </p:sp>
      <p:sp>
        <p:nvSpPr>
          <p:cNvPr id="4" name="AutoShape 2" descr="How Communication Structures Function Mobile Phone Call Sequence">
            <a:extLst>
              <a:ext uri="{FF2B5EF4-FFF2-40B4-BE49-F238E27FC236}">
                <a16:creationId xmlns:a16="http://schemas.microsoft.com/office/drawing/2014/main" id="{72C18345-C857-E0F7-953A-A7057406B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871C3F6C-AE78-DECD-36A0-975CD0DE7A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8655E0-D381-9EB4-0B19-A9A2DF545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7" y="3429000"/>
            <a:ext cx="6203313" cy="3303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9EC34B7-EE91-CCDB-2B30-8DB29F8678C2}"/>
              </a:ext>
            </a:extLst>
          </p:cNvPr>
          <p:cNvSpPr txBox="1"/>
          <p:nvPr/>
        </p:nvSpPr>
        <p:spPr>
          <a:xfrm>
            <a:off x="7296150" y="6486335"/>
            <a:ext cx="47307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4"/>
              </a:rPr>
              <a:t>*What is a Cell Tower? Understanding How Cell Towers Work - </a:t>
            </a:r>
            <a:r>
              <a:rPr lang="en-US" sz="1000" dirty="0" err="1">
                <a:hlinkClick r:id="rId4"/>
              </a:rPr>
              <a:t>Dgtl</a:t>
            </a:r>
            <a:r>
              <a:rPr lang="en-US" sz="1000" dirty="0">
                <a:hlinkClick r:id="rId4"/>
              </a:rPr>
              <a:t> Infra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69182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907E-CF09-7059-0029-A33BF6E30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"/>
            <a:ext cx="10144539" cy="692149"/>
          </a:xfrm>
        </p:spPr>
        <p:txBody>
          <a:bodyPr/>
          <a:lstStyle/>
          <a:p>
            <a:r>
              <a:rPr lang="en-US" dirty="0"/>
              <a:t>Example: Web browsing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E4906A-7C31-481F-A8C2-103A5622B8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721100"/>
            <a:ext cx="10144539" cy="2387600"/>
          </a:xfrm>
        </p:spPr>
        <p:txBody>
          <a:bodyPr/>
          <a:lstStyle/>
          <a:p>
            <a:pPr marL="342900" indent="-342900">
              <a:buFontTx/>
              <a:buChar char="-"/>
            </a:pPr>
            <a:r>
              <a:rPr lang="en-US" dirty="0"/>
              <a:t>Similar to phone call. But the destination is the web server, not the        other UE. </a:t>
            </a:r>
          </a:p>
          <a:p>
            <a:pPr marL="342900" indent="-342900">
              <a:buFontTx/>
              <a:buChar char="-"/>
            </a:pPr>
            <a:r>
              <a:rPr lang="en-US" dirty="0"/>
              <a:t>Edge DC might save web caches, faster load time.</a:t>
            </a:r>
          </a:p>
        </p:txBody>
      </p:sp>
      <p:pic>
        <p:nvPicPr>
          <p:cNvPr id="4100" name="Picture 4" descr="Electronics 13 00888 g001">
            <a:extLst>
              <a:ext uri="{FF2B5EF4-FFF2-40B4-BE49-F238E27FC236}">
                <a16:creationId xmlns:a16="http://schemas.microsoft.com/office/drawing/2014/main" id="{39A36A37-30BB-C2B4-5819-0CE4F54EF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3999" y="638175"/>
            <a:ext cx="4829176" cy="3037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43F8019-21D7-137D-5F89-F20ACA666D1A}"/>
              </a:ext>
            </a:extLst>
          </p:cNvPr>
          <p:cNvSpPr txBox="1"/>
          <p:nvPr/>
        </p:nvSpPr>
        <p:spPr>
          <a:xfrm>
            <a:off x="6347032" y="3467184"/>
            <a:ext cx="53276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4"/>
              </a:rPr>
              <a:t>*Cyber5Gym: An Integrated Framework for 5G Cybersecurity Training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089670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BB058-3F88-1940-0ACF-0247F205B8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506" y="55563"/>
            <a:ext cx="11571031" cy="674687"/>
          </a:xfrm>
        </p:spPr>
        <p:txBody>
          <a:bodyPr/>
          <a:lstStyle/>
          <a:p>
            <a:r>
              <a:rPr lang="en-US" dirty="0"/>
              <a:t>Example: IOT</a:t>
            </a:r>
          </a:p>
        </p:txBody>
      </p:sp>
      <p:pic>
        <p:nvPicPr>
          <p:cNvPr id="2050" name="Picture 2" descr="5G IoT architecture">
            <a:extLst>
              <a:ext uri="{FF2B5EF4-FFF2-40B4-BE49-F238E27FC236}">
                <a16:creationId xmlns:a16="http://schemas.microsoft.com/office/drawing/2014/main" id="{1D0FF4D7-7FB5-FA23-D2A0-4CF0924979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3443" y="730250"/>
            <a:ext cx="6238875" cy="3785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overall IoT network environment in 5G network | Download Scientific  Diagram">
            <a:extLst>
              <a:ext uri="{FF2B5EF4-FFF2-40B4-BE49-F238E27FC236}">
                <a16:creationId xmlns:a16="http://schemas.microsoft.com/office/drawing/2014/main" id="{B5E0BDE9-0F82-3126-A4F8-7C3804E88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06" y="730250"/>
            <a:ext cx="5407943" cy="5719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24EE30-32FB-F18A-FA15-1BDE1B5D6E49}"/>
              </a:ext>
            </a:extLst>
          </p:cNvPr>
          <p:cNvSpPr txBox="1"/>
          <p:nvPr/>
        </p:nvSpPr>
        <p:spPr>
          <a:xfrm>
            <a:off x="177800" y="6548521"/>
            <a:ext cx="532764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5"/>
              </a:rPr>
              <a:t>*The overall IoT network environment in 5G network | Download Scientific Diagram</a:t>
            </a:r>
            <a:endParaRPr lang="en-US" sz="1000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80CC4887-2469-27C0-F9BD-511E430339E6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505449" y="4451519"/>
            <a:ext cx="640136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/>
              <a:t>Edge DC processes data locally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/>
              <a:t>Central DC does analytics (AI computation)</a:t>
            </a:r>
          </a:p>
        </p:txBody>
      </p:sp>
    </p:spTree>
    <p:extLst>
      <p:ext uri="{BB962C8B-B14F-4D97-AF65-F5344CB8AC3E}">
        <p14:creationId xmlns:p14="http://schemas.microsoft.com/office/powerpoint/2010/main" val="40940426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7965E-117A-C09B-B858-FCBE0D017E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67300" y="615950"/>
            <a:ext cx="6601238" cy="2894013"/>
          </a:xfrm>
        </p:spPr>
        <p:txBody>
          <a:bodyPr/>
          <a:lstStyle/>
          <a:p>
            <a:r>
              <a:rPr lang="en-US" dirty="0"/>
              <a:t>Q/A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C4284D-6761-B906-6D89-478436881A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589592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FSU">
      <a:dk1>
        <a:srgbClr val="000000"/>
      </a:dk1>
      <a:lt1>
        <a:srgbClr val="FFFFFF"/>
      </a:lt1>
      <a:dk2>
        <a:srgbClr val="782F40"/>
      </a:dk2>
      <a:lt2>
        <a:srgbClr val="E7E6E6"/>
      </a:lt2>
      <a:accent1>
        <a:srgbClr val="782F40"/>
      </a:accent1>
      <a:accent2>
        <a:srgbClr val="CEB888"/>
      </a:accent2>
      <a:accent3>
        <a:srgbClr val="415563"/>
      </a:accent3>
      <a:accent4>
        <a:srgbClr val="5BB8B2"/>
      </a:accent4>
      <a:accent5>
        <a:srgbClr val="FFC72C"/>
      </a:accent5>
      <a:accent6>
        <a:srgbClr val="A6192E"/>
      </a:accent6>
      <a:hlink>
        <a:srgbClr val="782F40"/>
      </a:hlink>
      <a:folHlink>
        <a:srgbClr val="000000"/>
      </a:folHlink>
    </a:clrScheme>
    <a:fontScheme name="Open Sans">
      <a:majorFont>
        <a:latin typeface="Open Sans SemiBold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heme1" id="{15C2AE4D-9D63-4B45-9EEE-77C26C127F7C}" vid="{60CF0C7E-7FE4-4869-8E14-041DA7ADA5F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0588468447371449BAB63944A88B568" ma:contentTypeVersion="14" ma:contentTypeDescription="Create a new document." ma:contentTypeScope="" ma:versionID="f5822371c3ea4a45fee21b5cdb83e6b5">
  <xsd:schema xmlns:xsd="http://www.w3.org/2001/XMLSchema" xmlns:xs="http://www.w3.org/2001/XMLSchema" xmlns:p="http://schemas.microsoft.com/office/2006/metadata/properties" xmlns:ns2="7551912c-87d1-46b1-9dc0-15ca10fd921a" xmlns:ns3="03ea1fd6-979a-463e-909e-bb2f2fdcfde5" targetNamespace="http://schemas.microsoft.com/office/2006/metadata/properties" ma:root="true" ma:fieldsID="6f9efc4a414d036586298f3da10a3916" ns2:_="" ns3:_="">
    <xsd:import namespace="7551912c-87d1-46b1-9dc0-15ca10fd921a"/>
    <xsd:import namespace="03ea1fd6-979a-463e-909e-bb2f2fdcfde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51912c-87d1-46b1-9dc0-15ca10fd921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443b83bf-5a34-45d0-bf74-ccf9241540c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3ea1fd6-979a-463e-909e-bb2f2fdcfde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965e630a-2803-43a9-9e5a-d2301062e728}" ma:internalName="TaxCatchAll" ma:showField="CatchAllData" ma:web="03ea1fd6-979a-463e-909e-bb2f2fdcfde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3ea1fd6-979a-463e-909e-bb2f2fdcfde5" xsi:nil="true"/>
    <lcf76f155ced4ddcb4097134ff3c332f xmlns="7551912c-87d1-46b1-9dc0-15ca10fd921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CC493C6-04D2-4D10-97A6-7A11F6288147}">
  <ds:schemaRefs>
    <ds:schemaRef ds:uri="03ea1fd6-979a-463e-909e-bb2f2fdcfde5"/>
    <ds:schemaRef ds:uri="7551912c-87d1-46b1-9dc0-15ca10fd921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23DA2B7-AFC9-4922-AB39-D1CF35CA49C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329BE45-B160-4729-9796-DCDAC4D248FD}">
  <ds:schemaRefs>
    <ds:schemaRef ds:uri="03ea1fd6-979a-463e-909e-bb2f2fdcfde5"/>
    <ds:schemaRef ds:uri="7551912c-87d1-46b1-9dc0-15ca10fd921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5379</TotalTime>
  <Words>1811</Words>
  <Application>Microsoft Office PowerPoint</Application>
  <PresentationFormat>Widescreen</PresentationFormat>
  <Paragraphs>166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Open Sans</vt:lpstr>
      <vt:lpstr>Open Sans Light</vt:lpstr>
      <vt:lpstr>Open Sans SemiBold</vt:lpstr>
      <vt:lpstr>Theme1</vt:lpstr>
      <vt:lpstr>5G Framework</vt:lpstr>
      <vt:lpstr>Content</vt:lpstr>
      <vt:lpstr>5G Background</vt:lpstr>
      <vt:lpstr>Features of 5G</vt:lpstr>
      <vt:lpstr>5G Infrastrutre</vt:lpstr>
      <vt:lpstr>5G Core Network Modules</vt:lpstr>
      <vt:lpstr>5G layers </vt:lpstr>
      <vt:lpstr>5G modules and layers</vt:lpstr>
      <vt:lpstr>Control Plane vs User Plane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Example: Voice/Video call</vt:lpstr>
      <vt:lpstr>Example: Web browsing</vt:lpstr>
      <vt:lpstr>Example: IOT</vt:lpstr>
      <vt:lpstr>Q/A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Katie Grab</dc:creator>
  <cp:lastModifiedBy>Zhuoyuan Liu</cp:lastModifiedBy>
  <cp:revision>138</cp:revision>
  <dcterms:created xsi:type="dcterms:W3CDTF">2024-03-13T12:25:39Z</dcterms:created>
  <dcterms:modified xsi:type="dcterms:W3CDTF">2026-01-14T01:48:12Z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0x01010090588468447371449BAB63944A88B568</vt:lpwstr>
  </property>
  <property fmtid="{D5CDD505-2E9C-101B-9397-08002B2CF9AE}" pid="3" name="MediaServiceImageTags">
    <vt:lpwstr/>
  </property>
</Properties>
</file>