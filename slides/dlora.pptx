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HF3wfUMONK1zEVxY7SrPe2ROU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211132-55B2-4904-A5E3-95F2DC4999DA}">
  <a:tblStyle styleId="{E1211132-55B2-4904-A5E3-95F2DC4999D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Throughput</c:v>
                </c:pt>
              </c:strCache>
            </c:strRef>
          </c:tx>
          <c:spPr>
            <a:solidFill>
              <a:srgbClr val="8AA0B5"/>
            </a:solidFill>
            <a:effectLst/>
          </c:spPr>
          <c:invertIfNegative val="0"/>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8AA0B5"/>
              </a:solidFill>
              <a:effectLst/>
            </c:spPr>
          </c:dPt>
          <c:dPt>
            <c:idx val="1"/>
            <c:invertIfNegative val="0"/>
            <c:bubble3D val="0"/>
            <c:spPr>
              <a:solidFill>
                <a:srgbClr val="8AA0B5"/>
              </a:solidFill>
              <a:effectLst/>
            </c:spPr>
          </c:dPt>
          <c:dPt>
            <c:idx val="2"/>
            <c:invertIfNegative val="0"/>
            <c:bubble3D val="0"/>
            <c:spPr>
              <a:solidFill>
                <a:srgbClr val="8AA0B5"/>
              </a:solidFill>
              <a:effectLst/>
            </c:spPr>
          </c:dPt>
          <c:dPt>
            <c:idx val="3"/>
            <c:invertIfNegative val="0"/>
            <c:bubble3D val="0"/>
            <c:spPr>
              <a:solidFill>
                <a:srgbClr val="00B4D8"/>
              </a:solidFill>
              <a:effectLst/>
            </c:spPr>
          </c:dPt>
          <c:cat>
            <c:multiLvlStrRef>
              <c:f>Sheet1!$A$2:$A$5</c:f>
              <c:multiLvlStrCache>
                <c:ptCount val="4"/>
                <c:lvl>
                  <c:pt idx="0">
                    <c:v>vLLM</c:v>
                  </c:pt>
                  <c:pt idx="1">
                    <c:v>HF PEFT</c:v>
                  </c:pt>
                  <c:pt idx="2">
                    <c:v>S-LoRA</c:v>
                  </c:pt>
                  <c:pt idx="3">
                    <c:v>dLoRA</c:v>
                  </c:pt>
                </c:lvl>
              </c:multiLvlStrCache>
            </c:multiLvlStrRef>
          </c:cat>
          <c:val>
            <c:numRef>
              <c:f>Sheet1!$B$2:$B$5</c:f>
              <c:numCache>
                <c:formatCode>General</c:formatCode>
                <c:ptCount val="4"/>
                <c:pt idx="0">
                  <c:v>1</c:v>
                </c:pt>
                <c:pt idx="1">
                  <c:v>2.2</c:v>
                </c:pt>
                <c:pt idx="2">
                  <c:v>18</c:v>
                </c:pt>
                <c:pt idx="3">
                  <c:v>57.9</c:v>
                </c:pt>
              </c:numCache>
            </c:numRef>
          </c:val>
        </c:ser>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CCC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This paper is from OSDI 2024 out of Peking University. It tackles a practical problem that comes up when you're running LLM inference at scale — specifically when you have lots of fine-tuned variants of the same base model that you need to serve simultaneously.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rgbClr val="E6E8F0"/>
                </a:solidFill>
                <a:highlight>
                  <a:srgbClr val="1F1F1F"/>
                </a:highlight>
                <a:latin typeface="Roboto"/>
                <a:ea typeface="Roboto"/>
                <a:cs typeface="Roboto"/>
                <a:sym typeface="Roboto"/>
              </a:rPr>
              <a:t>LoRA (Low-Rank Adaptation)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LoRA is a fine-tuning technique that avoids updating all the model's weights. Instead it freezes the base model and only trains two small matrices per layer — A and B. This is dramatically cheaper: 10,000x fewer parameters, 3x less GPU memory. And at inference time, you can just add BA back into W with no overhead. This is what makes LoRA great — it means one base model can support hundreds of fine-tuned variants just by swapping these small adapter files.</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what goes wrong when you try to serve all those adapters at once? Two things. First, existing systems like HuggingFace PEFT can only process requests for one adapter at a time. If three requests come in for three different adapters, they run sequentially. Second, even if you dispatch requests evenly across replicas, they finish at wildly different times because input and output lengths vary so much. The longest requests can be over 8x longer than average. This creates severe load imbalance.</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dLoRA solves both problems with two complementary mechanisms. Within each GPU worker, it uses cross-adapter batching to handle multiple adapter types in one pass. Across the cluster, it co-migrates requests and adapters to keep replicas balanced.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These two levels work together — the intra-replica piece maximizes GPU utilization locally, and the inter-replica piece keeps the cluster-wide load even.</a:t>
            </a:r>
            <a:endParaRPr/>
          </a:p>
        </p:txBody>
      </p:sp>
      <p:sp>
        <p:nvSpPr>
          <p:cNvPr id="56" name="Google Shape;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tricky part of the intra-replica design is deciding when to merge adapters and when not to. Merged inferences are faster per request but forces you to serve one adapter type at a time. Unmerged lets you batch across adapters but adds compute overhead from the extra matrix multiplications. Neither is always better — so it depends on how skewed your request mix is. dLoRA uses a credit-based algorithm that tracks the ratio of same-type requests in the queue and switches modes only when the gain outweighs the switching cost.</a:t>
            </a:r>
            <a:endParaRPr/>
          </a:p>
        </p:txBody>
      </p:sp>
      <p:sp>
        <p:nvSpPr>
          <p:cNvPr id="72" name="Google Shape;7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cross-replica balancing, the challenge is that you can't just move a request — its entire KV-cache state has to go with it, and so does its LoRA adapter if the destination replica doesn't have it. dLoRA handles this in two phases. Proactively, it routes incoming requests to the best-fit replica and pre-loads adapters for predicted bursts. Reactively, a global monitor watches for overloaded replicas and triggers an ILP solver that computes the optimal migration plan — which requests and adapters to move and where.</a:t>
            </a:r>
            <a:endParaRPr/>
          </a:p>
        </p:txBody>
      </p:sp>
      <p:sp>
        <p:nvSpPr>
          <p:cNvPr id="92" name="Google Shape;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dLoRA is built on top of vLLM, so it i</a:t>
            </a:r>
            <a:r>
              <a:rPr lang="en-US"/>
              <a:t>nherits</a:t>
            </a:r>
            <a:r>
              <a:rPr lang="en-US"/>
              <a:t> PagedAttention, </a:t>
            </a:r>
            <a:r>
              <a:rPr lang="en-US"/>
              <a:t>which</a:t>
            </a:r>
            <a:r>
              <a:rPr lang="en-US"/>
              <a:t> handles variable-length KV-caches efficiently. On top of that, dLoRA adds its own memory manager to balance GPU memory between KV-cache and adapter storage, since these two compete for the same pool. Adapters that aren't currently in use get swapped out to CPU memory and brought back when needed.</a:t>
            </a:r>
            <a:endParaRPr/>
          </a:p>
        </p:txBody>
      </p:sp>
      <p:sp>
        <p:nvSpPr>
          <p:cNvPr id="106" name="Google Shape;1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numbers are pretty striking. Against vLLM — which serves each adapter in isolation — dLoRA achieves up to 58x higher throughput. Against HuggingFace PEFT it's 26x. The more interesting comparison is S-LoRA, which is a concurrent system that also does multi-adapter batching. dLoRA still beats it by 1.8x on latency, primarily because of the dynamic merge/unmerge logic and the cross-replica co-migration that S-LoRA lacks. </a:t>
            </a:r>
            <a:endParaRPr/>
          </a:p>
        </p:txBody>
      </p:sp>
      <p:sp>
        <p:nvSpPr>
          <p:cNvPr id="114" name="Google Shape;1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dLoRA is the only system here that handles all three dimensions: batching across adapters, dynamic merge decisions, and cluster-level co-migration. That combination is what drives the performance gains.</a:t>
            </a:r>
            <a:endParaRPr/>
          </a:p>
        </p:txBody>
      </p:sp>
      <p:sp>
        <p:nvSpPr>
          <p:cNvPr id="131" name="Google Shape;1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1"/>
          <p:cNvSpPr/>
          <p:nvPr/>
        </p:nvSpPr>
        <p:spPr>
          <a:xfrm>
            <a:off x="0" y="0"/>
            <a:ext cx="164592" cy="5143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91440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0"/>
              <a:buFont typeface="Calibri"/>
              <a:buNone/>
            </a:pPr>
            <a:r>
              <a:rPr b="1" i="0" lang="en-US" sz="8000" u="none" cap="none" strike="noStrike">
                <a:solidFill>
                  <a:srgbClr val="FFFFFF"/>
                </a:solidFill>
                <a:latin typeface="Calibri"/>
                <a:ea typeface="Calibri"/>
                <a:cs typeface="Calibri"/>
                <a:sym typeface="Calibri"/>
              </a:rPr>
              <a:t>dLoRA</a:t>
            </a:r>
            <a:endParaRPr b="0" i="0" sz="8000" u="none" cap="none" strike="noStrike">
              <a:solidFill>
                <a:schemeClr val="dk1"/>
              </a:solidFill>
              <a:latin typeface="Calibri"/>
              <a:ea typeface="Calibri"/>
              <a:cs typeface="Calibri"/>
              <a:sym typeface="Calibri"/>
            </a:endParaRPr>
          </a:p>
        </p:txBody>
      </p:sp>
      <p:sp>
        <p:nvSpPr>
          <p:cNvPr id="18" name="Google Shape;18;p1"/>
          <p:cNvSpPr/>
          <p:nvPr/>
        </p:nvSpPr>
        <p:spPr>
          <a:xfrm>
            <a:off x="457200" y="2194560"/>
            <a:ext cx="68580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800"/>
              <a:buFont typeface="Calibri"/>
              <a:buNone/>
            </a:pPr>
            <a:r>
              <a:rPr b="0" i="0" lang="en-US" sz="1800" u="none" cap="none" strike="noStrike">
                <a:solidFill>
                  <a:srgbClr val="00B4D8"/>
                </a:solidFill>
                <a:latin typeface="Calibri"/>
                <a:ea typeface="Calibri"/>
                <a:cs typeface="Calibri"/>
                <a:sym typeface="Calibri"/>
              </a:rPr>
              <a:t>Dynamically Orchestrating Requests and Adapters for LoRA LLM Serving</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457200" y="3200400"/>
            <a:ext cx="1737360" cy="34747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57200" y="3200400"/>
            <a:ext cx="17373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OSDI 2024</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457200" y="374904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A0B5"/>
              </a:buClr>
              <a:buSzPts val="1200"/>
              <a:buFont typeface="Calibri"/>
              <a:buNone/>
            </a:pPr>
            <a:r>
              <a:rPr b="0" i="0" lang="en-US" sz="1200" u="none" cap="none" strike="noStrike">
                <a:solidFill>
                  <a:srgbClr val="8AA0B5"/>
                </a:solidFill>
                <a:latin typeface="Calibri"/>
                <a:ea typeface="Calibri"/>
                <a:cs typeface="Calibri"/>
                <a:sym typeface="Calibri"/>
              </a:rPr>
              <a:t>Bingyang Wu et al. · Peking University &amp; Shanghai AI Lab</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8"/>
        </a:solidFill>
      </p:bgPr>
    </p:bg>
    <p:spTree>
      <p:nvGrpSpPr>
        <p:cNvPr id="26" name="Shape 26"/>
        <p:cNvGrpSpPr/>
        <p:nvPr/>
      </p:nvGrpSpPr>
      <p:grpSpPr>
        <a:xfrm>
          <a:off x="0" y="0"/>
          <a:ext cx="0" cy="0"/>
          <a:chOff x="0" y="0"/>
          <a:chExt cx="0" cy="0"/>
        </a:xfrm>
      </p:grpSpPr>
      <p:sp>
        <p:nvSpPr>
          <p:cNvPr id="27" name="Google Shape;27;p2"/>
          <p:cNvSpPr/>
          <p:nvPr/>
        </p:nvSpPr>
        <p:spPr>
          <a:xfrm>
            <a:off x="0" y="0"/>
            <a:ext cx="9144000" cy="64008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What is LoRA?</a:t>
            </a:r>
            <a:endParaRPr b="0" i="0" sz="2000" u="none" cap="none" strike="noStrike">
              <a:solidFill>
                <a:schemeClr val="dk1"/>
              </a:solidFill>
              <a:latin typeface="Calibri"/>
              <a:ea typeface="Calibri"/>
              <a:cs typeface="Calibri"/>
              <a:sym typeface="Calibri"/>
            </a:endParaRPr>
          </a:p>
        </p:txBody>
      </p:sp>
      <p:sp>
        <p:nvSpPr>
          <p:cNvPr id="29" name="Google Shape;29;p2"/>
          <p:cNvSpPr/>
          <p:nvPr/>
        </p:nvSpPr>
        <p:spPr>
          <a:xfrm>
            <a:off x="457200" y="822960"/>
            <a:ext cx="5029200" cy="1280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500"/>
              <a:buFont typeface="Calibri"/>
              <a:buNone/>
            </a:pPr>
            <a:r>
              <a:rPr b="0" i="0" lang="en-US" sz="1500" u="none" cap="none" strike="noStrike">
                <a:solidFill>
                  <a:srgbClr val="0D1B2A"/>
                </a:solidFill>
                <a:latin typeface="Calibri"/>
                <a:ea typeface="Calibri"/>
                <a:cs typeface="Calibri"/>
                <a:sym typeface="Calibri"/>
              </a:rPr>
              <a:t>Fine-tuning LLMs is expensive. LoRA keeps the base model frozen and only trains two tiny matrices (A and B) that represent the weight update.</a:t>
            </a:r>
            <a:endParaRPr b="0" i="0" sz="1500" u="none" cap="none" strike="noStrike">
              <a:solidFill>
                <a:schemeClr val="dk1"/>
              </a:solidFill>
              <a:latin typeface="Calibri"/>
              <a:ea typeface="Calibri"/>
              <a:cs typeface="Calibri"/>
              <a:sym typeface="Calibri"/>
            </a:endParaRPr>
          </a:p>
        </p:txBody>
      </p:sp>
      <p:sp>
        <p:nvSpPr>
          <p:cNvPr id="30" name="Google Shape;30;p2"/>
          <p:cNvSpPr/>
          <p:nvPr/>
        </p:nvSpPr>
        <p:spPr>
          <a:xfrm>
            <a:off x="457200" y="2286000"/>
            <a:ext cx="475488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A5F"/>
              </a:buClr>
              <a:buSzPts val="1500"/>
              <a:buFont typeface="Calibri"/>
              <a:buNone/>
            </a:pPr>
            <a:r>
              <a:rPr b="1" i="0" lang="en-US" sz="1500" u="none" cap="none" strike="noStrike">
                <a:solidFill>
                  <a:srgbClr val="E07A5F"/>
                </a:solidFill>
                <a:latin typeface="Calibri"/>
                <a:ea typeface="Calibri"/>
                <a:cs typeface="Calibri"/>
                <a:sym typeface="Calibri"/>
              </a:rPr>
              <a:t>10,000×</a:t>
            </a:r>
            <a:r>
              <a:rPr b="0" i="0" lang="en-US" sz="1500" u="none" cap="none" strike="noStrike">
                <a:solidFill>
                  <a:srgbClr val="0D1B2A"/>
                </a:solidFill>
                <a:latin typeface="Calibri"/>
                <a:ea typeface="Calibri"/>
                <a:cs typeface="Calibri"/>
                <a:sym typeface="Calibri"/>
              </a:rPr>
              <a:t>  fewer parameters updated</a:t>
            </a:r>
            <a:br>
              <a:rPr b="0" i="0" lang="en-US" sz="1500" u="none" cap="none" strike="noStrike">
                <a:solidFill>
                  <a:srgbClr val="0D1B2A"/>
                </a:solidFill>
                <a:latin typeface="Calibri"/>
                <a:ea typeface="Calibri"/>
                <a:cs typeface="Calibri"/>
                <a:sym typeface="Calibri"/>
              </a:rPr>
            </a:br>
            <a:r>
              <a:rPr b="1" i="0" lang="en-US" sz="1500" u="none" cap="none" strike="noStrike">
                <a:solidFill>
                  <a:srgbClr val="E07A5F"/>
                </a:solidFill>
                <a:latin typeface="Calibri"/>
                <a:ea typeface="Calibri"/>
                <a:cs typeface="Calibri"/>
                <a:sym typeface="Calibri"/>
              </a:rPr>
              <a:t>3×</a:t>
            </a:r>
            <a:r>
              <a:rPr b="0" i="0" lang="en-US" sz="1500" u="none" cap="none" strike="noStrike">
                <a:solidFill>
                  <a:srgbClr val="0D1B2A"/>
                </a:solidFill>
                <a:latin typeface="Calibri"/>
                <a:ea typeface="Calibri"/>
                <a:cs typeface="Calibri"/>
                <a:sym typeface="Calibri"/>
              </a:rPr>
              <a:t>  less GPU memory vs. full fine-tune</a:t>
            </a:r>
            <a:br>
              <a:rPr b="0" i="0" lang="en-US" sz="1500" u="none" cap="none" strike="noStrike">
                <a:solidFill>
                  <a:srgbClr val="0D1B2A"/>
                </a:solidFill>
                <a:latin typeface="Calibri"/>
                <a:ea typeface="Calibri"/>
                <a:cs typeface="Calibri"/>
                <a:sym typeface="Calibri"/>
              </a:rPr>
            </a:br>
            <a:r>
              <a:rPr b="1" i="0" lang="en-US" sz="1500" u="none" cap="none" strike="noStrike">
                <a:solidFill>
                  <a:srgbClr val="E07A5F"/>
                </a:solidFill>
                <a:latin typeface="Calibri"/>
                <a:ea typeface="Calibri"/>
                <a:cs typeface="Calibri"/>
                <a:sym typeface="Calibri"/>
              </a:rPr>
              <a:t>Zero</a:t>
            </a:r>
            <a:r>
              <a:rPr b="0" i="0" lang="en-US" sz="1500" u="none" cap="none" strike="noStrike">
                <a:solidFill>
                  <a:srgbClr val="0D1B2A"/>
                </a:solidFill>
                <a:latin typeface="Calibri"/>
                <a:ea typeface="Calibri"/>
                <a:cs typeface="Calibri"/>
                <a:sym typeface="Calibri"/>
              </a:rPr>
              <a:t>  extra inference latency when merged</a:t>
            </a:r>
            <a:endParaRPr b="0" i="0" sz="1500" u="none" cap="none" strike="noStrike">
              <a:solidFill>
                <a:schemeClr val="dk1"/>
              </a:solidFill>
              <a:latin typeface="Calibri"/>
              <a:ea typeface="Calibri"/>
              <a:cs typeface="Calibri"/>
              <a:sym typeface="Calibri"/>
            </a:endParaRPr>
          </a:p>
        </p:txBody>
      </p:sp>
      <p:sp>
        <p:nvSpPr>
          <p:cNvPr id="31" name="Google Shape;31;p2"/>
          <p:cNvSpPr/>
          <p:nvPr/>
        </p:nvSpPr>
        <p:spPr>
          <a:xfrm>
            <a:off x="5943600" y="914400"/>
            <a:ext cx="1463040" cy="1280160"/>
          </a:xfrm>
          <a:prstGeom prst="rect">
            <a:avLst/>
          </a:prstGeom>
          <a:solidFill>
            <a:srgbClr val="0D1B2A"/>
          </a:solidFill>
          <a:ln cap="flat" cmpd="sng" w="254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943600" y="914400"/>
            <a:ext cx="1463040" cy="1280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W</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(frozen)</a:t>
            </a:r>
            <a:endParaRPr b="0" i="0" sz="1400" u="none" cap="none" strike="noStrike">
              <a:solidFill>
                <a:schemeClr val="dk1"/>
              </a:solidFill>
              <a:latin typeface="Calibri"/>
              <a:ea typeface="Calibri"/>
              <a:cs typeface="Calibri"/>
              <a:sym typeface="Calibri"/>
            </a:endParaRPr>
          </a:p>
        </p:txBody>
      </p:sp>
      <p:sp>
        <p:nvSpPr>
          <p:cNvPr id="33" name="Google Shape;33;p2"/>
          <p:cNvSpPr/>
          <p:nvPr/>
        </p:nvSpPr>
        <p:spPr>
          <a:xfrm>
            <a:off x="7406640" y="1280160"/>
            <a:ext cx="3200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2000"/>
              <a:buFont typeface="Calibri"/>
              <a:buNone/>
            </a:pPr>
            <a:r>
              <a:rPr b="1" i="0" lang="en-US" sz="2000" u="none" cap="none" strike="noStrike">
                <a:solidFill>
                  <a:srgbClr val="0D1B2A"/>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4" name="Google Shape;34;p2"/>
          <p:cNvSpPr/>
          <p:nvPr/>
        </p:nvSpPr>
        <p:spPr>
          <a:xfrm>
            <a:off x="5943600" y="2468880"/>
            <a:ext cx="685800" cy="777240"/>
          </a:xfrm>
          <a:prstGeom prst="rect">
            <a:avLst/>
          </a:prstGeom>
          <a:solidFill>
            <a:srgbClr val="E07A5F"/>
          </a:solidFill>
          <a:ln cap="flat" cmpd="sng" w="127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943600" y="2468880"/>
            <a:ext cx="68580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a:t>
            </a:r>
            <a:endParaRPr b="0" i="0" sz="1800" u="none" cap="none" strike="noStrike">
              <a:solidFill>
                <a:schemeClr val="dk1"/>
              </a:solidFill>
              <a:latin typeface="Calibri"/>
              <a:ea typeface="Calibri"/>
              <a:cs typeface="Calibri"/>
              <a:sym typeface="Calibri"/>
            </a:endParaRPr>
          </a:p>
        </p:txBody>
      </p:sp>
      <p:sp>
        <p:nvSpPr>
          <p:cNvPr id="36" name="Google Shape;36;p2"/>
          <p:cNvSpPr/>
          <p:nvPr/>
        </p:nvSpPr>
        <p:spPr>
          <a:xfrm>
            <a:off x="6720840" y="2468880"/>
            <a:ext cx="685800" cy="77724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720840" y="2468880"/>
            <a:ext cx="68580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B</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5943600" y="3474720"/>
            <a:ext cx="1463040" cy="9144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943600" y="3474720"/>
            <a:ext cx="146304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W + BA</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 fine-tuned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4" name="Shape 44"/>
        <p:cNvGrpSpPr/>
        <p:nvPr/>
      </p:nvGrpSpPr>
      <p:grpSpPr>
        <a:xfrm>
          <a:off x="0" y="0"/>
          <a:ext cx="0" cy="0"/>
          <a:chOff x="0" y="0"/>
          <a:chExt cx="0" cy="0"/>
        </a:xfrm>
      </p:grpSpPr>
      <p:sp>
        <p:nvSpPr>
          <p:cNvPr id="45" name="Google Shape;45;p3"/>
          <p:cNvSpPr/>
          <p:nvPr/>
        </p:nvSpPr>
        <p:spPr>
          <a:xfrm>
            <a:off x="0" y="0"/>
            <a:ext cx="9144000" cy="640080"/>
          </a:xfrm>
          <a:prstGeom prst="rect">
            <a:avLst/>
          </a:prstGeom>
          <a:solidFill>
            <a:srgbClr val="122035"/>
          </a:solidFill>
          <a:ln cap="flat" cmpd="sng" w="12700">
            <a:solidFill>
              <a:srgbClr val="122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2000"/>
              <a:buFont typeface="Calibri"/>
              <a:buNone/>
            </a:pPr>
            <a:r>
              <a:rPr b="1" i="0" lang="en-US" sz="2000" u="none" cap="none" strike="noStrike">
                <a:solidFill>
                  <a:srgbClr val="00B4D8"/>
                </a:solidFill>
                <a:latin typeface="Calibri"/>
                <a:ea typeface="Calibri"/>
                <a:cs typeface="Calibri"/>
                <a:sym typeface="Calibri"/>
              </a:rPr>
              <a:t>The Problem: Serving Many LoRA Models at Once</a:t>
            </a:r>
            <a:endParaRPr b="0" i="0" sz="2000" u="none" cap="none" strike="noStrike">
              <a:solidFill>
                <a:schemeClr val="dk1"/>
              </a:solidFill>
              <a:latin typeface="Calibri"/>
              <a:ea typeface="Calibri"/>
              <a:cs typeface="Calibri"/>
              <a:sym typeface="Calibri"/>
            </a:endParaRPr>
          </a:p>
        </p:txBody>
      </p:sp>
      <p:sp>
        <p:nvSpPr>
          <p:cNvPr id="47" name="Google Shape;47;p3"/>
          <p:cNvSpPr/>
          <p:nvPr/>
        </p:nvSpPr>
        <p:spPr>
          <a:xfrm>
            <a:off x="457200" y="868680"/>
            <a:ext cx="3749040" cy="3566160"/>
          </a:xfrm>
          <a:prstGeom prst="rect">
            <a:avLst/>
          </a:prstGeom>
          <a:solidFill>
            <a:srgbClr val="122035"/>
          </a:solidFill>
          <a:ln cap="flat" cmpd="sng" w="254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594360" y="1005840"/>
            <a:ext cx="3474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A5F"/>
              </a:buClr>
              <a:buSzPts val="1500"/>
              <a:buFont typeface="Calibri"/>
              <a:buNone/>
            </a:pPr>
            <a:r>
              <a:rPr b="1" i="0" lang="en-US" sz="1500" u="none" cap="none" strike="noStrike">
                <a:solidFill>
                  <a:srgbClr val="E07A5F"/>
                </a:solidFill>
                <a:latin typeface="Calibri"/>
                <a:ea typeface="Calibri"/>
                <a:cs typeface="Calibri"/>
                <a:sym typeface="Calibri"/>
              </a:rPr>
              <a:t>GPU Waste Within a Replica</a:t>
            </a:r>
            <a:endParaRPr b="0" i="0" sz="1500" u="none" cap="none" strike="noStrike">
              <a:solidFill>
                <a:schemeClr val="dk1"/>
              </a:solidFill>
              <a:latin typeface="Calibri"/>
              <a:ea typeface="Calibri"/>
              <a:cs typeface="Calibri"/>
              <a:sym typeface="Calibri"/>
            </a:endParaRPr>
          </a:p>
        </p:txBody>
      </p:sp>
      <p:sp>
        <p:nvSpPr>
          <p:cNvPr id="49" name="Google Shape;49;p3"/>
          <p:cNvSpPr/>
          <p:nvPr/>
        </p:nvSpPr>
        <p:spPr>
          <a:xfrm>
            <a:off x="594360" y="1554480"/>
            <a:ext cx="3474720" cy="2560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Systems like PEFT batch only one adapter at a time. With mixed requests, GPUs sit idle — up to 50% utilization loss.</a:t>
            </a:r>
            <a:endParaRPr b="0" i="0" sz="1300" u="none" cap="none" strike="noStrike">
              <a:solidFill>
                <a:schemeClr val="dk1"/>
              </a:solidFill>
              <a:latin typeface="Calibri"/>
              <a:ea typeface="Calibri"/>
              <a:cs typeface="Calibri"/>
              <a:sym typeface="Calibri"/>
            </a:endParaRPr>
          </a:p>
        </p:txBody>
      </p:sp>
      <p:sp>
        <p:nvSpPr>
          <p:cNvPr id="50" name="Google Shape;50;p3"/>
          <p:cNvSpPr/>
          <p:nvPr/>
        </p:nvSpPr>
        <p:spPr>
          <a:xfrm>
            <a:off x="4937760" y="868680"/>
            <a:ext cx="3749040" cy="3566160"/>
          </a:xfrm>
          <a:prstGeom prst="rect">
            <a:avLst/>
          </a:prstGeom>
          <a:solidFill>
            <a:srgbClr val="122035"/>
          </a:solidFill>
          <a:ln cap="flat" cmpd="sng" w="254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5074920" y="1005840"/>
            <a:ext cx="3474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Load Imbalance Across Replicas</a:t>
            </a:r>
            <a:endParaRPr b="0" i="0" sz="1500" u="none" cap="none" strike="noStrike">
              <a:solidFill>
                <a:schemeClr val="dk1"/>
              </a:solidFill>
              <a:latin typeface="Calibri"/>
              <a:ea typeface="Calibri"/>
              <a:cs typeface="Calibri"/>
              <a:sym typeface="Calibri"/>
            </a:endParaRPr>
          </a:p>
        </p:txBody>
      </p:sp>
      <p:sp>
        <p:nvSpPr>
          <p:cNvPr id="52" name="Google Shape;52;p3"/>
          <p:cNvSpPr/>
          <p:nvPr/>
        </p:nvSpPr>
        <p:spPr>
          <a:xfrm>
            <a:off x="5074920" y="1554480"/>
            <a:ext cx="3474720" cy="2560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LLM request lengths vary wildly. Uniform dispatching still causes imbalance — queuing delays differ by up to 8×.</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8"/>
        </a:solidFill>
      </p:bgPr>
    </p:bg>
    <p:spTree>
      <p:nvGrpSpPr>
        <p:cNvPr id="57" name="Shape 57"/>
        <p:cNvGrpSpPr/>
        <p:nvPr/>
      </p:nvGrpSpPr>
      <p:grpSpPr>
        <a:xfrm>
          <a:off x="0" y="0"/>
          <a:ext cx="0" cy="0"/>
          <a:chOff x="0" y="0"/>
          <a:chExt cx="0" cy="0"/>
        </a:xfrm>
      </p:grpSpPr>
      <p:sp>
        <p:nvSpPr>
          <p:cNvPr id="58" name="Google Shape;58;p4"/>
          <p:cNvSpPr/>
          <p:nvPr/>
        </p:nvSpPr>
        <p:spPr>
          <a:xfrm>
            <a:off x="0" y="0"/>
            <a:ext cx="9144000" cy="64008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dLoRA: Two-Level Solution</a:t>
            </a:r>
            <a:endParaRPr b="0" i="0" sz="2000" u="none" cap="none" strike="noStrike">
              <a:solidFill>
                <a:schemeClr val="dk1"/>
              </a:solidFill>
              <a:latin typeface="Calibri"/>
              <a:ea typeface="Calibri"/>
              <a:cs typeface="Calibri"/>
              <a:sym typeface="Calibri"/>
            </a:endParaRPr>
          </a:p>
        </p:txBody>
      </p:sp>
      <p:sp>
        <p:nvSpPr>
          <p:cNvPr id="60" name="Google Shape;60;p4"/>
          <p:cNvSpPr/>
          <p:nvPr/>
        </p:nvSpPr>
        <p:spPr>
          <a:xfrm>
            <a:off x="457200" y="868680"/>
            <a:ext cx="3749040" cy="3566160"/>
          </a:xfrm>
          <a:prstGeom prst="rect">
            <a:avLst/>
          </a:prstGeom>
          <a:solidFill>
            <a:srgbClr val="0D1B2A"/>
          </a:solidFill>
          <a:ln cap="flat" cmpd="sng" w="254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57200" y="868680"/>
            <a:ext cx="3749040" cy="457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594360" y="868680"/>
            <a:ext cx="3474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Intra-Replica</a:t>
            </a:r>
            <a:endParaRPr b="0" i="0" sz="1400" u="none" cap="none" strike="noStrike">
              <a:solidFill>
                <a:schemeClr val="dk1"/>
              </a:solidFill>
              <a:latin typeface="Calibri"/>
              <a:ea typeface="Calibri"/>
              <a:cs typeface="Calibri"/>
              <a:sym typeface="Calibri"/>
            </a:endParaRPr>
          </a:p>
        </p:txBody>
      </p:sp>
      <p:sp>
        <p:nvSpPr>
          <p:cNvPr id="63" name="Google Shape;63;p4"/>
          <p:cNvSpPr/>
          <p:nvPr/>
        </p:nvSpPr>
        <p:spPr>
          <a:xfrm>
            <a:off x="594360" y="1417320"/>
            <a:ext cx="3474720" cy="2834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Cross-Adapter Batching</a:t>
            </a:r>
            <a:br>
              <a:rPr b="1" i="0" lang="en-US" sz="1300" u="none" cap="none" strike="noStrike">
                <a:solidFill>
                  <a:srgbClr val="FFFFFF"/>
                </a:solidFill>
                <a:latin typeface="Calibri"/>
                <a:ea typeface="Calibri"/>
                <a:cs typeface="Calibri"/>
                <a:sym typeface="Calibri"/>
              </a:rPr>
            </a:br>
            <a:br>
              <a:rPr b="1" i="0" lang="en-US" sz="1300" u="none" cap="none" strike="noStrike">
                <a:solidFill>
                  <a:srgbClr val="FFFFFF"/>
                </a:solidFill>
                <a:latin typeface="Calibri"/>
                <a:ea typeface="Calibri"/>
                <a:cs typeface="Calibri"/>
                <a:sym typeface="Calibri"/>
              </a:rPr>
            </a:br>
            <a:r>
              <a:rPr b="0" i="0" lang="en-US" sz="1300" u="none" cap="none" strike="noStrike">
                <a:solidFill>
                  <a:srgbClr val="FFFFFF"/>
                </a:solidFill>
                <a:latin typeface="Calibri"/>
                <a:ea typeface="Calibri"/>
                <a:cs typeface="Calibri"/>
                <a:sym typeface="Calibri"/>
              </a:rPr>
              <a:t>Processes requests for different LoRA adapters in the same batch by dynamically switching between merged and unmerged inference.</a:t>
            </a:r>
            <a:endParaRPr b="0" i="0" sz="1300" u="none" cap="none" strike="noStrike">
              <a:solidFill>
                <a:schemeClr val="dk1"/>
              </a:solidFill>
              <a:latin typeface="Calibri"/>
              <a:ea typeface="Calibri"/>
              <a:cs typeface="Calibri"/>
              <a:sym typeface="Calibri"/>
            </a:endParaRPr>
          </a:p>
        </p:txBody>
      </p:sp>
      <p:sp>
        <p:nvSpPr>
          <p:cNvPr id="64" name="Google Shape;64;p4"/>
          <p:cNvSpPr/>
          <p:nvPr/>
        </p:nvSpPr>
        <p:spPr>
          <a:xfrm>
            <a:off x="4251960" y="2377440"/>
            <a:ext cx="6400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2200"/>
              <a:buFont typeface="Calibri"/>
              <a:buNone/>
            </a:pPr>
            <a:r>
              <a:rPr b="0" i="0" lang="en-US" sz="2200" u="none" cap="none" strike="noStrike">
                <a:solidFill>
                  <a:srgbClr val="0D1B2A"/>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65" name="Google Shape;65;p4"/>
          <p:cNvSpPr/>
          <p:nvPr/>
        </p:nvSpPr>
        <p:spPr>
          <a:xfrm>
            <a:off x="4937760" y="868680"/>
            <a:ext cx="3749040" cy="3566160"/>
          </a:xfrm>
          <a:prstGeom prst="rect">
            <a:avLst/>
          </a:prstGeom>
          <a:solidFill>
            <a:srgbClr val="0D1B2A"/>
          </a:solidFill>
          <a:ln cap="flat" cmpd="sng" w="254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4937760" y="868680"/>
            <a:ext cx="3749040" cy="457200"/>
          </a:xfrm>
          <a:prstGeom prst="rect">
            <a:avLst/>
          </a:prstGeom>
          <a:solidFill>
            <a:srgbClr val="E07A5F"/>
          </a:solidFill>
          <a:ln cap="flat" cmpd="sng" w="127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5074920" y="868680"/>
            <a:ext cx="3474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Inter-Replica</a:t>
            </a:r>
            <a:endParaRPr b="0" i="0" sz="1400" u="none" cap="none" strike="noStrike">
              <a:solidFill>
                <a:schemeClr val="dk1"/>
              </a:solidFill>
              <a:latin typeface="Calibri"/>
              <a:ea typeface="Calibri"/>
              <a:cs typeface="Calibri"/>
              <a:sym typeface="Calibri"/>
            </a:endParaRPr>
          </a:p>
        </p:txBody>
      </p:sp>
      <p:sp>
        <p:nvSpPr>
          <p:cNvPr id="68" name="Google Shape;68;p4"/>
          <p:cNvSpPr/>
          <p:nvPr/>
        </p:nvSpPr>
        <p:spPr>
          <a:xfrm>
            <a:off x="5074920" y="1417320"/>
            <a:ext cx="3474720" cy="2834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Request-Adapter Co-Migration</a:t>
            </a:r>
            <a:br>
              <a:rPr b="1" i="0" lang="en-US" sz="1300" u="none" cap="none" strike="noStrike">
                <a:solidFill>
                  <a:srgbClr val="FFFFFF"/>
                </a:solidFill>
                <a:latin typeface="Calibri"/>
                <a:ea typeface="Calibri"/>
                <a:cs typeface="Calibri"/>
                <a:sym typeface="Calibri"/>
              </a:rPr>
            </a:br>
            <a:br>
              <a:rPr b="1" i="0" lang="en-US" sz="1300" u="none" cap="none" strike="noStrike">
                <a:solidFill>
                  <a:srgbClr val="FFFFFF"/>
                </a:solidFill>
                <a:latin typeface="Calibri"/>
                <a:ea typeface="Calibri"/>
                <a:cs typeface="Calibri"/>
                <a:sym typeface="Calibri"/>
              </a:rPr>
            </a:br>
            <a:r>
              <a:rPr b="0" i="0" lang="en-US" sz="1300" u="none" cap="none" strike="noStrike">
                <a:solidFill>
                  <a:srgbClr val="FFFFFF"/>
                </a:solidFill>
                <a:latin typeface="Calibri"/>
                <a:ea typeface="Calibri"/>
                <a:cs typeface="Calibri"/>
                <a:sym typeface="Calibri"/>
              </a:rPr>
              <a:t>Proactively dispatches requests and reactively migrates both requests and their adapters across replicas to balance load.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73" name="Shape 73"/>
        <p:cNvGrpSpPr/>
        <p:nvPr/>
      </p:nvGrpSpPr>
      <p:grpSpPr>
        <a:xfrm>
          <a:off x="0" y="0"/>
          <a:ext cx="0" cy="0"/>
          <a:chOff x="0" y="0"/>
          <a:chExt cx="0" cy="0"/>
        </a:xfrm>
      </p:grpSpPr>
      <p:sp>
        <p:nvSpPr>
          <p:cNvPr id="74" name="Google Shape;74;p5"/>
          <p:cNvSpPr/>
          <p:nvPr/>
        </p:nvSpPr>
        <p:spPr>
          <a:xfrm>
            <a:off x="0" y="0"/>
            <a:ext cx="9144000" cy="640080"/>
          </a:xfrm>
          <a:prstGeom prst="rect">
            <a:avLst/>
          </a:prstGeom>
          <a:solidFill>
            <a:srgbClr val="122035"/>
          </a:solidFill>
          <a:ln cap="flat" cmpd="sng" w="12700">
            <a:solidFill>
              <a:srgbClr val="122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2000"/>
              <a:buFont typeface="Calibri"/>
              <a:buNone/>
            </a:pPr>
            <a:r>
              <a:rPr b="1" i="0" lang="en-US" sz="2000" u="none" cap="none" strike="noStrike">
                <a:solidFill>
                  <a:srgbClr val="00B4D8"/>
                </a:solidFill>
                <a:latin typeface="Calibri"/>
                <a:ea typeface="Calibri"/>
                <a:cs typeface="Calibri"/>
                <a:sym typeface="Calibri"/>
              </a:rPr>
              <a:t>Merged vs. Unmerged Inference</a:t>
            </a:r>
            <a:endParaRPr b="0" i="0" sz="2000" u="none" cap="none" strike="noStrike">
              <a:solidFill>
                <a:schemeClr val="dk1"/>
              </a:solidFill>
              <a:latin typeface="Calibri"/>
              <a:ea typeface="Calibri"/>
              <a:cs typeface="Calibri"/>
              <a:sym typeface="Calibri"/>
            </a:endParaRPr>
          </a:p>
        </p:txBody>
      </p:sp>
      <p:sp>
        <p:nvSpPr>
          <p:cNvPr id="76" name="Google Shape;76;p5"/>
          <p:cNvSpPr/>
          <p:nvPr/>
        </p:nvSpPr>
        <p:spPr>
          <a:xfrm>
            <a:off x="457200" y="7772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A0B5"/>
              </a:buClr>
              <a:buSzPts val="1400"/>
              <a:buFont typeface="Calibri"/>
              <a:buNone/>
            </a:pPr>
            <a:r>
              <a:rPr b="0" i="1" lang="en-US" sz="1400" u="none" cap="none" strike="noStrike">
                <a:solidFill>
                  <a:srgbClr val="8AA0B5"/>
                </a:solidFill>
                <a:latin typeface="Calibri"/>
                <a:ea typeface="Calibri"/>
                <a:cs typeface="Calibri"/>
                <a:sym typeface="Calibri"/>
              </a:rPr>
              <a:t>The core trade-off inside a replica:</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457200" y="1234440"/>
            <a:ext cx="2651760" cy="3566160"/>
          </a:xfrm>
          <a:prstGeom prst="rect">
            <a:avLst/>
          </a:prstGeom>
          <a:solidFill>
            <a:srgbClr val="122035"/>
          </a:solidFill>
          <a:ln cap="flat" cmpd="sng" w="254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457200" y="1234440"/>
            <a:ext cx="2651760" cy="438912"/>
          </a:xfrm>
          <a:prstGeom prst="rect">
            <a:avLst/>
          </a:prstGeom>
          <a:solidFill>
            <a:srgbClr val="E07A5F"/>
          </a:solidFill>
          <a:ln cap="flat" cmpd="sng" w="127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548640" y="1234440"/>
            <a:ext cx="246888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Merged</a:t>
            </a:r>
            <a:endParaRPr b="0" i="0" sz="1400" u="none" cap="none" strike="noStrike">
              <a:solidFill>
                <a:schemeClr val="dk1"/>
              </a:solidFill>
              <a:latin typeface="Calibri"/>
              <a:ea typeface="Calibri"/>
              <a:cs typeface="Calibri"/>
              <a:sym typeface="Calibri"/>
            </a:endParaRPr>
          </a:p>
        </p:txBody>
      </p:sp>
      <p:sp>
        <p:nvSpPr>
          <p:cNvPr id="80" name="Google Shape;80;p5"/>
          <p:cNvSpPr/>
          <p:nvPr/>
        </p:nvSpPr>
        <p:spPr>
          <a:xfrm>
            <a:off x="594360" y="1783080"/>
            <a:ext cx="2377440" cy="2834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Adapter baked into base model.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Fastest per-request — but locks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replica to one adapter type.</a:t>
            </a:r>
            <a:endParaRPr b="0" i="0" sz="1300" u="none" cap="none" strike="noStrike">
              <a:solidFill>
                <a:schemeClr val="dk1"/>
              </a:solidFill>
              <a:latin typeface="Calibri"/>
              <a:ea typeface="Calibri"/>
              <a:cs typeface="Calibri"/>
              <a:sym typeface="Calibri"/>
            </a:endParaRPr>
          </a:p>
        </p:txBody>
      </p:sp>
      <p:sp>
        <p:nvSpPr>
          <p:cNvPr id="81" name="Google Shape;81;p5"/>
          <p:cNvSpPr/>
          <p:nvPr/>
        </p:nvSpPr>
        <p:spPr>
          <a:xfrm>
            <a:off x="3291840" y="1234440"/>
            <a:ext cx="2651760" cy="3566160"/>
          </a:xfrm>
          <a:prstGeom prst="rect">
            <a:avLst/>
          </a:prstGeom>
          <a:solidFill>
            <a:srgbClr val="122035"/>
          </a:solidFill>
          <a:ln cap="flat" cmpd="sng" w="254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3291840" y="1234440"/>
            <a:ext cx="2651760" cy="43891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383280" y="1234440"/>
            <a:ext cx="246888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Unmerged</a:t>
            </a:r>
            <a:endParaRPr b="0" i="0" sz="1400" u="none" cap="none" strike="noStrike">
              <a:solidFill>
                <a:schemeClr val="dk1"/>
              </a:solidFill>
              <a:latin typeface="Calibri"/>
              <a:ea typeface="Calibri"/>
              <a:cs typeface="Calibri"/>
              <a:sym typeface="Calibri"/>
            </a:endParaRPr>
          </a:p>
        </p:txBody>
      </p:sp>
      <p:sp>
        <p:nvSpPr>
          <p:cNvPr id="84" name="Google Shape;84;p5"/>
          <p:cNvSpPr/>
          <p:nvPr/>
        </p:nvSpPr>
        <p:spPr>
          <a:xfrm>
            <a:off x="3429000" y="1783080"/>
            <a:ext cx="2377440" cy="2834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Base model shared across all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adapter types in one batch.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Extra ~39% compute overhead.</a:t>
            </a:r>
            <a:endParaRPr b="0" i="0" sz="1300" u="none" cap="none" strike="noStrike">
              <a:solidFill>
                <a:schemeClr val="dk1"/>
              </a:solidFill>
              <a:latin typeface="Calibri"/>
              <a:ea typeface="Calibri"/>
              <a:cs typeface="Calibri"/>
              <a:sym typeface="Calibri"/>
            </a:endParaRPr>
          </a:p>
        </p:txBody>
      </p:sp>
      <p:sp>
        <p:nvSpPr>
          <p:cNvPr id="85" name="Google Shape;85;p5"/>
          <p:cNvSpPr/>
          <p:nvPr/>
        </p:nvSpPr>
        <p:spPr>
          <a:xfrm>
            <a:off x="6126480" y="1234440"/>
            <a:ext cx="2651760" cy="3566160"/>
          </a:xfrm>
          <a:prstGeom prst="rect">
            <a:avLst/>
          </a:prstGeom>
          <a:solidFill>
            <a:srgbClr val="122035"/>
          </a:solidFill>
          <a:ln cap="flat" cmpd="sng" w="254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6126480" y="1234440"/>
            <a:ext cx="2651760" cy="438912"/>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6217920" y="1234440"/>
            <a:ext cx="246888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dLoRA: Dynamic</a:t>
            </a:r>
            <a:endParaRPr b="0" i="0" sz="1400" u="none" cap="none" strike="noStrike">
              <a:solidFill>
                <a:schemeClr val="dk1"/>
              </a:solidFill>
              <a:latin typeface="Calibri"/>
              <a:ea typeface="Calibri"/>
              <a:cs typeface="Calibri"/>
              <a:sym typeface="Calibri"/>
            </a:endParaRPr>
          </a:p>
        </p:txBody>
      </p:sp>
      <p:sp>
        <p:nvSpPr>
          <p:cNvPr id="88" name="Google Shape;88;p5"/>
          <p:cNvSpPr/>
          <p:nvPr/>
        </p:nvSpPr>
        <p:spPr>
          <a:xfrm>
            <a:off x="6263640" y="1783080"/>
            <a:ext cx="2377440" cy="2834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Credit-based algorithm switches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between modes at runtime based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on request skew and batch state.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8"/>
        </a:solidFill>
      </p:bgPr>
    </p:bg>
    <p:spTree>
      <p:nvGrpSpPr>
        <p:cNvPr id="93" name="Shape 93"/>
        <p:cNvGrpSpPr/>
        <p:nvPr/>
      </p:nvGrpSpPr>
      <p:grpSpPr>
        <a:xfrm>
          <a:off x="0" y="0"/>
          <a:ext cx="0" cy="0"/>
          <a:chOff x="0" y="0"/>
          <a:chExt cx="0" cy="0"/>
        </a:xfrm>
      </p:grpSpPr>
      <p:sp>
        <p:nvSpPr>
          <p:cNvPr id="94" name="Google Shape;94;p6"/>
          <p:cNvSpPr/>
          <p:nvPr/>
        </p:nvSpPr>
        <p:spPr>
          <a:xfrm>
            <a:off x="0" y="0"/>
            <a:ext cx="9144000" cy="64008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Load Balancing Across Replicas</a:t>
            </a:r>
            <a:endParaRPr b="0" i="0" sz="2000" u="none" cap="none" strike="noStrike">
              <a:solidFill>
                <a:schemeClr val="dk1"/>
              </a:solidFill>
              <a:latin typeface="Calibri"/>
              <a:ea typeface="Calibri"/>
              <a:cs typeface="Calibri"/>
              <a:sym typeface="Calibri"/>
            </a:endParaRPr>
          </a:p>
        </p:txBody>
      </p:sp>
      <p:sp>
        <p:nvSpPr>
          <p:cNvPr id="96" name="Google Shape;96;p6"/>
          <p:cNvSpPr/>
          <p:nvPr/>
        </p:nvSpPr>
        <p:spPr>
          <a:xfrm>
            <a:off x="457200" y="77724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400"/>
              <a:buFont typeface="Calibri"/>
              <a:buNone/>
            </a:pPr>
            <a:r>
              <a:rPr b="0" i="1" lang="en-US" sz="1400" u="none" cap="none" strike="noStrike">
                <a:solidFill>
                  <a:srgbClr val="0D1B2A"/>
                </a:solidFill>
                <a:latin typeface="Calibri"/>
                <a:ea typeface="Calibri"/>
                <a:cs typeface="Calibri"/>
                <a:sym typeface="Calibri"/>
              </a:rPr>
              <a:t>Migrating a request means its KV-cache state and LoRA adapter must move together.</a:t>
            </a:r>
            <a:endParaRPr b="0" i="0" sz="1400" u="none" cap="none" strike="noStrike">
              <a:solidFill>
                <a:schemeClr val="dk1"/>
              </a:solidFill>
              <a:latin typeface="Calibri"/>
              <a:ea typeface="Calibri"/>
              <a:cs typeface="Calibri"/>
              <a:sym typeface="Calibri"/>
            </a:endParaRPr>
          </a:p>
        </p:txBody>
      </p:sp>
      <p:sp>
        <p:nvSpPr>
          <p:cNvPr id="97" name="Google Shape;97;p6"/>
          <p:cNvSpPr/>
          <p:nvPr/>
        </p:nvSpPr>
        <p:spPr>
          <a:xfrm>
            <a:off x="457200" y="1371600"/>
            <a:ext cx="3749040" cy="3200400"/>
          </a:xfrm>
          <a:prstGeom prst="rect">
            <a:avLst/>
          </a:prstGeom>
          <a:solidFill>
            <a:srgbClr val="0D1B2A"/>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594360" y="1463040"/>
            <a:ext cx="3474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500"/>
              <a:buFont typeface="Calibri"/>
              <a:buNone/>
            </a:pPr>
            <a:r>
              <a:rPr b="1" i="0" lang="en-US" sz="1500" u="none" cap="none" strike="noStrike">
                <a:solidFill>
                  <a:srgbClr val="00B4D8"/>
                </a:solidFill>
                <a:latin typeface="Calibri"/>
                <a:ea typeface="Calibri"/>
                <a:cs typeface="Calibri"/>
                <a:sym typeface="Calibri"/>
              </a:rPr>
              <a:t>Proactive</a:t>
            </a:r>
            <a:endParaRPr b="0" i="0" sz="1500" u="none" cap="none" strike="noStrike">
              <a:solidFill>
                <a:schemeClr val="dk1"/>
              </a:solidFill>
              <a:latin typeface="Calibri"/>
              <a:ea typeface="Calibri"/>
              <a:cs typeface="Calibri"/>
              <a:sym typeface="Calibri"/>
            </a:endParaRPr>
          </a:p>
        </p:txBody>
      </p:sp>
      <p:sp>
        <p:nvSpPr>
          <p:cNvPr id="99" name="Google Shape;99;p6"/>
          <p:cNvSpPr/>
          <p:nvPr/>
        </p:nvSpPr>
        <p:spPr>
          <a:xfrm>
            <a:off x="594360" y="1920240"/>
            <a:ext cx="3474720" cy="2468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Route new requests to the replica with the most available resources. Pre-load adapters for predicted bursts.</a:t>
            </a:r>
            <a:endParaRPr b="0" i="0" sz="1300" u="none" cap="none" strike="noStrike">
              <a:solidFill>
                <a:schemeClr val="dk1"/>
              </a:solidFill>
              <a:latin typeface="Calibri"/>
              <a:ea typeface="Calibri"/>
              <a:cs typeface="Calibri"/>
              <a:sym typeface="Calibri"/>
            </a:endParaRPr>
          </a:p>
        </p:txBody>
      </p:sp>
      <p:sp>
        <p:nvSpPr>
          <p:cNvPr id="100" name="Google Shape;100;p6"/>
          <p:cNvSpPr/>
          <p:nvPr/>
        </p:nvSpPr>
        <p:spPr>
          <a:xfrm>
            <a:off x="4937760" y="1371600"/>
            <a:ext cx="3749040" cy="3200400"/>
          </a:xfrm>
          <a:prstGeom prst="rect">
            <a:avLst/>
          </a:prstGeom>
          <a:solidFill>
            <a:srgbClr val="0D1B2A"/>
          </a:solidFill>
          <a:ln cap="flat" cmpd="sng" w="1905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5074920" y="1463040"/>
            <a:ext cx="3474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A5F"/>
              </a:buClr>
              <a:buSzPts val="1500"/>
              <a:buFont typeface="Calibri"/>
              <a:buNone/>
            </a:pPr>
            <a:r>
              <a:rPr b="1" i="0" lang="en-US" sz="1500" u="none" cap="none" strike="noStrike">
                <a:solidFill>
                  <a:srgbClr val="E07A5F"/>
                </a:solidFill>
                <a:latin typeface="Calibri"/>
                <a:ea typeface="Calibri"/>
                <a:cs typeface="Calibri"/>
                <a:sym typeface="Calibri"/>
              </a:rPr>
              <a:t>Reactive</a:t>
            </a:r>
            <a:endParaRPr b="0" i="0" sz="1500" u="none" cap="none" strike="noStrike">
              <a:solidFill>
                <a:schemeClr val="dk1"/>
              </a:solidFill>
              <a:latin typeface="Calibri"/>
              <a:ea typeface="Calibri"/>
              <a:cs typeface="Calibri"/>
              <a:sym typeface="Calibri"/>
            </a:endParaRPr>
          </a:p>
        </p:txBody>
      </p:sp>
      <p:sp>
        <p:nvSpPr>
          <p:cNvPr id="102" name="Google Shape;102;p6"/>
          <p:cNvSpPr/>
          <p:nvPr/>
        </p:nvSpPr>
        <p:spPr>
          <a:xfrm>
            <a:off x="5074920" y="1920240"/>
            <a:ext cx="3474720" cy="2468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Global monitor detects overload. ILP solver finds the optimal plan to migrate requests + adapters and restore balance.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07" name="Shape 107"/>
        <p:cNvGrpSpPr/>
        <p:nvPr/>
      </p:nvGrpSpPr>
      <p:grpSpPr>
        <a:xfrm>
          <a:off x="0" y="0"/>
          <a:ext cx="0" cy="0"/>
          <a:chOff x="0" y="0"/>
          <a:chExt cx="0" cy="0"/>
        </a:xfrm>
      </p:grpSpPr>
      <p:sp>
        <p:nvSpPr>
          <p:cNvPr id="108" name="Google Shape;108;p7"/>
          <p:cNvSpPr/>
          <p:nvPr/>
        </p:nvSpPr>
        <p:spPr>
          <a:xfrm>
            <a:off x="0" y="0"/>
            <a:ext cx="9144000" cy="640080"/>
          </a:xfrm>
          <a:prstGeom prst="rect">
            <a:avLst/>
          </a:prstGeom>
          <a:solidFill>
            <a:srgbClr val="122035"/>
          </a:solidFill>
          <a:ln cap="flat" cmpd="sng" w="12700">
            <a:solidFill>
              <a:srgbClr val="122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2000"/>
              <a:buFont typeface="Calibri"/>
              <a:buNone/>
            </a:pPr>
            <a:r>
              <a:rPr b="1" i="0" lang="en-US" sz="2000" u="none" cap="none" strike="noStrike">
                <a:solidFill>
                  <a:srgbClr val="00B4D8"/>
                </a:solidFill>
                <a:latin typeface="Calibri"/>
                <a:ea typeface="Calibri"/>
                <a:cs typeface="Calibri"/>
                <a:sym typeface="Calibri"/>
              </a:rPr>
              <a:t>Implementation</a:t>
            </a:r>
            <a:endParaRPr b="0" i="0" sz="2000" u="none" cap="none" strike="noStrike">
              <a:solidFill>
                <a:schemeClr val="dk1"/>
              </a:solidFill>
              <a:latin typeface="Calibri"/>
              <a:ea typeface="Calibri"/>
              <a:cs typeface="Calibri"/>
              <a:sym typeface="Calibri"/>
            </a:endParaRPr>
          </a:p>
        </p:txBody>
      </p:sp>
      <p:sp>
        <p:nvSpPr>
          <p:cNvPr id="110" name="Google Shape;110;p7"/>
          <p:cNvSpPr/>
          <p:nvPr/>
        </p:nvSpPr>
        <p:spPr>
          <a:xfrm>
            <a:off x="914400" y="914400"/>
            <a:ext cx="7315200" cy="3931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500"/>
              <a:buFont typeface="Calibri"/>
              <a:buNone/>
            </a:pPr>
            <a:r>
              <a:rPr b="1" i="0" lang="en-US" sz="1500" u="none" cap="none" strike="noStrike">
                <a:solidFill>
                  <a:srgbClr val="00B4D8"/>
                </a:solidFill>
                <a:latin typeface="Calibri"/>
                <a:ea typeface="Calibri"/>
                <a:cs typeface="Calibri"/>
                <a:sym typeface="Calibri"/>
              </a:rPr>
              <a:t>Built on vLLM</a:t>
            </a:r>
            <a:endParaRPr b="0" i="0" sz="1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Inherits PagedAttention for efficient KV-cache management.</a:t>
            </a:r>
            <a:br>
              <a:rPr b="0" i="0" lang="en-US" sz="1500" u="none" cap="none" strike="noStrike">
                <a:solidFill>
                  <a:srgbClr val="FFFFFF"/>
                </a:solidFill>
                <a:latin typeface="Calibri"/>
                <a:ea typeface="Calibri"/>
                <a:cs typeface="Calibri"/>
                <a:sym typeface="Calibri"/>
              </a:rPr>
            </a:br>
            <a:br>
              <a:rPr b="0" i="0" lang="en-US" sz="1500" u="none" cap="none" strike="noStrike">
                <a:solidFill>
                  <a:srgbClr val="FFFFFF"/>
                </a:solidFill>
                <a:latin typeface="Calibri"/>
                <a:ea typeface="Calibri"/>
                <a:cs typeface="Calibri"/>
                <a:sym typeface="Calibri"/>
              </a:rPr>
            </a:br>
            <a:r>
              <a:rPr b="1" i="0" lang="en-US" sz="1500" u="none" cap="none" strike="noStrike">
                <a:solidFill>
                  <a:srgbClr val="00B4D8"/>
                </a:solidFill>
                <a:latin typeface="Calibri"/>
                <a:ea typeface="Calibri"/>
                <a:cs typeface="Calibri"/>
                <a:sym typeface="Calibri"/>
              </a:rPr>
              <a:t>Memory Manager</a:t>
            </a:r>
            <a:endParaRPr b="0" i="0" sz="1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GPU memory is shared between KV-cache and adapter weights — dynamically rebalanced by workload.</a:t>
            </a:r>
            <a:br>
              <a:rPr b="0" i="0" lang="en-US" sz="1500" u="none" cap="none" strike="noStrike">
                <a:solidFill>
                  <a:srgbClr val="FFFFFF"/>
                </a:solidFill>
                <a:latin typeface="Calibri"/>
                <a:ea typeface="Calibri"/>
                <a:cs typeface="Calibri"/>
                <a:sym typeface="Calibri"/>
              </a:rPr>
            </a:br>
            <a:br>
              <a:rPr b="0" i="0" lang="en-US" sz="1500" u="none" cap="none" strike="noStrike">
                <a:solidFill>
                  <a:srgbClr val="FFFFFF"/>
                </a:solidFill>
                <a:latin typeface="Calibri"/>
                <a:ea typeface="Calibri"/>
                <a:cs typeface="Calibri"/>
                <a:sym typeface="Calibri"/>
              </a:rPr>
            </a:br>
            <a:r>
              <a:rPr b="1" i="0" lang="en-US" sz="1500" u="none" cap="none" strike="noStrike">
                <a:solidFill>
                  <a:srgbClr val="00B4D8"/>
                </a:solidFill>
                <a:latin typeface="Calibri"/>
                <a:ea typeface="Calibri"/>
                <a:cs typeface="Calibri"/>
                <a:sym typeface="Calibri"/>
              </a:rPr>
              <a:t>Adapter Swapping</a:t>
            </a:r>
            <a:endParaRPr b="0" i="0" sz="1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Unused adapters are offloaded to CPU memory and swapped back on demand.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8"/>
        </a:solidFill>
      </p:bgPr>
    </p:bg>
    <p:spTree>
      <p:nvGrpSpPr>
        <p:cNvPr id="115" name="Shape 115"/>
        <p:cNvGrpSpPr/>
        <p:nvPr/>
      </p:nvGrpSpPr>
      <p:grpSpPr>
        <a:xfrm>
          <a:off x="0" y="0"/>
          <a:ext cx="0" cy="0"/>
          <a:chOff x="0" y="0"/>
          <a:chExt cx="0" cy="0"/>
        </a:xfrm>
      </p:grpSpPr>
      <p:sp>
        <p:nvSpPr>
          <p:cNvPr id="116" name="Google Shape;116;p8"/>
          <p:cNvSpPr/>
          <p:nvPr/>
        </p:nvSpPr>
        <p:spPr>
          <a:xfrm>
            <a:off x="0" y="0"/>
            <a:ext cx="9144000" cy="64008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Evaluation Results</a:t>
            </a:r>
            <a:endParaRPr b="0" i="0" sz="2000" u="none" cap="none" strike="noStrike">
              <a:solidFill>
                <a:schemeClr val="dk1"/>
              </a:solidFill>
              <a:latin typeface="Calibri"/>
              <a:ea typeface="Calibri"/>
              <a:cs typeface="Calibri"/>
              <a:sym typeface="Calibri"/>
            </a:endParaRPr>
          </a:p>
        </p:txBody>
      </p:sp>
      <p:sp>
        <p:nvSpPr>
          <p:cNvPr id="118" name="Google Shape;118;p8"/>
          <p:cNvSpPr/>
          <p:nvPr/>
        </p:nvSpPr>
        <p:spPr>
          <a:xfrm>
            <a:off x="457200" y="777240"/>
            <a:ext cx="2560320" cy="1920240"/>
          </a:xfrm>
          <a:prstGeom prst="rect">
            <a:avLst/>
          </a:prstGeom>
          <a:solidFill>
            <a:srgbClr val="0D1B2A"/>
          </a:solidFill>
          <a:ln cap="flat" cmpd="sng" w="254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457200" y="822960"/>
            <a:ext cx="256032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A5F"/>
              </a:buClr>
              <a:buSzPts val="4400"/>
              <a:buFont typeface="Calibri"/>
              <a:buNone/>
            </a:pPr>
            <a:r>
              <a:rPr b="1" i="0" lang="en-US" sz="4400" u="none" cap="none" strike="noStrike">
                <a:solidFill>
                  <a:srgbClr val="E07A5F"/>
                </a:solidFill>
                <a:latin typeface="Calibri"/>
                <a:ea typeface="Calibri"/>
                <a:cs typeface="Calibri"/>
                <a:sym typeface="Calibri"/>
              </a:rPr>
              <a:t>57.9×</a:t>
            </a:r>
            <a:endParaRPr b="0" i="0" sz="4400" u="none" cap="none" strike="noStrike">
              <a:solidFill>
                <a:schemeClr val="dk1"/>
              </a:solidFill>
              <a:latin typeface="Calibri"/>
              <a:ea typeface="Calibri"/>
              <a:cs typeface="Calibri"/>
              <a:sym typeface="Calibri"/>
            </a:endParaRPr>
          </a:p>
        </p:txBody>
      </p:sp>
      <p:sp>
        <p:nvSpPr>
          <p:cNvPr id="120" name="Google Shape;120;p8"/>
          <p:cNvSpPr/>
          <p:nvPr/>
        </p:nvSpPr>
        <p:spPr>
          <a:xfrm>
            <a:off x="548640" y="1783080"/>
            <a:ext cx="23774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throughput vs. vLLM</a:t>
            </a:r>
            <a:endParaRPr b="0" i="0" sz="1200" u="none" cap="none" strike="noStrike">
              <a:solidFill>
                <a:schemeClr val="dk1"/>
              </a:solidFill>
              <a:latin typeface="Calibri"/>
              <a:ea typeface="Calibri"/>
              <a:cs typeface="Calibri"/>
              <a:sym typeface="Calibri"/>
            </a:endParaRPr>
          </a:p>
        </p:txBody>
      </p:sp>
      <p:sp>
        <p:nvSpPr>
          <p:cNvPr id="121" name="Google Shape;121;p8"/>
          <p:cNvSpPr/>
          <p:nvPr/>
        </p:nvSpPr>
        <p:spPr>
          <a:xfrm>
            <a:off x="3291840" y="777240"/>
            <a:ext cx="2560320" cy="1920240"/>
          </a:xfrm>
          <a:prstGeom prst="rect">
            <a:avLst/>
          </a:prstGeom>
          <a:solidFill>
            <a:srgbClr val="0D1B2A"/>
          </a:solidFill>
          <a:ln cap="flat" cmpd="sng" w="254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3291840" y="822960"/>
            <a:ext cx="256032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4400"/>
              <a:buFont typeface="Calibri"/>
              <a:buNone/>
            </a:pPr>
            <a:r>
              <a:rPr b="1" i="0" lang="en-US" sz="4400" u="none" cap="none" strike="noStrike">
                <a:solidFill>
                  <a:srgbClr val="00B4D8"/>
                </a:solidFill>
                <a:latin typeface="Calibri"/>
                <a:ea typeface="Calibri"/>
                <a:cs typeface="Calibri"/>
                <a:sym typeface="Calibri"/>
              </a:rPr>
              <a:t>26.0×</a:t>
            </a:r>
            <a:endParaRPr b="0" i="0" sz="4400" u="none" cap="none" strike="noStrike">
              <a:solidFill>
                <a:schemeClr val="dk1"/>
              </a:solidFill>
              <a:latin typeface="Calibri"/>
              <a:ea typeface="Calibri"/>
              <a:cs typeface="Calibri"/>
              <a:sym typeface="Calibri"/>
            </a:endParaRPr>
          </a:p>
        </p:txBody>
      </p:sp>
      <p:sp>
        <p:nvSpPr>
          <p:cNvPr id="123" name="Google Shape;123;p8"/>
          <p:cNvSpPr/>
          <p:nvPr/>
        </p:nvSpPr>
        <p:spPr>
          <a:xfrm>
            <a:off x="3383280" y="1783080"/>
            <a:ext cx="23774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throughput vs. HF PEFT</a:t>
            </a:r>
            <a:endParaRPr b="0" i="0" sz="1200" u="none" cap="none" strike="noStrike">
              <a:solidFill>
                <a:schemeClr val="dk1"/>
              </a:solidFill>
              <a:latin typeface="Calibri"/>
              <a:ea typeface="Calibri"/>
              <a:cs typeface="Calibri"/>
              <a:sym typeface="Calibri"/>
            </a:endParaRPr>
          </a:p>
        </p:txBody>
      </p:sp>
      <p:sp>
        <p:nvSpPr>
          <p:cNvPr id="124" name="Google Shape;124;p8"/>
          <p:cNvSpPr/>
          <p:nvPr/>
        </p:nvSpPr>
        <p:spPr>
          <a:xfrm>
            <a:off x="6126480" y="777240"/>
            <a:ext cx="2560320" cy="1920240"/>
          </a:xfrm>
          <a:prstGeom prst="rect">
            <a:avLst/>
          </a:prstGeom>
          <a:solidFill>
            <a:srgbClr val="0D1B2A"/>
          </a:solidFill>
          <a:ln cap="flat" cmpd="sng" w="254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6126480" y="822960"/>
            <a:ext cx="256032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4400"/>
              <a:buFont typeface="Calibri"/>
              <a:buNone/>
            </a:pPr>
            <a:r>
              <a:rPr b="1" i="0" lang="en-US" sz="4400" u="none" cap="none" strike="noStrike">
                <a:solidFill>
                  <a:srgbClr val="F4A261"/>
                </a:solidFill>
                <a:latin typeface="Calibri"/>
                <a:ea typeface="Calibri"/>
                <a:cs typeface="Calibri"/>
                <a:sym typeface="Calibri"/>
              </a:rPr>
              <a:t>1.8×</a:t>
            </a:r>
            <a:endParaRPr b="0" i="0" sz="4400" u="none" cap="none" strike="noStrike">
              <a:solidFill>
                <a:schemeClr val="dk1"/>
              </a:solidFill>
              <a:latin typeface="Calibri"/>
              <a:ea typeface="Calibri"/>
              <a:cs typeface="Calibri"/>
              <a:sym typeface="Calibri"/>
            </a:endParaRPr>
          </a:p>
        </p:txBody>
      </p:sp>
      <p:sp>
        <p:nvSpPr>
          <p:cNvPr id="126" name="Google Shape;126;p8"/>
          <p:cNvSpPr/>
          <p:nvPr/>
        </p:nvSpPr>
        <p:spPr>
          <a:xfrm>
            <a:off x="6217920" y="1783080"/>
            <a:ext cx="23774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lower latency vs. S-LoRA</a:t>
            </a:r>
            <a:endParaRPr b="0" i="0" sz="1200" u="none" cap="none" strike="noStrike">
              <a:solidFill>
                <a:schemeClr val="dk1"/>
              </a:solidFill>
              <a:latin typeface="Calibri"/>
              <a:ea typeface="Calibri"/>
              <a:cs typeface="Calibri"/>
              <a:sym typeface="Calibri"/>
            </a:endParaRPr>
          </a:p>
        </p:txBody>
      </p:sp>
      <p:graphicFrame>
        <p:nvGraphicFramePr>
          <p:cNvPr id="127" name="Google Shape;127;p8"/>
          <p:cNvGraphicFramePr/>
          <p:nvPr/>
        </p:nvGraphicFramePr>
        <p:xfrm>
          <a:off x="457200" y="2834640"/>
          <a:ext cx="8229600" cy="2103000"/>
        </p:xfrm>
        <a:graphic>
          <a:graphicData uri="http://schemas.openxmlformats.org/drawingml/2006/chart">
            <c:chart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32" name="Shape 132"/>
        <p:cNvGrpSpPr/>
        <p:nvPr/>
      </p:nvGrpSpPr>
      <p:grpSpPr>
        <a:xfrm>
          <a:off x="0" y="0"/>
          <a:ext cx="0" cy="0"/>
          <a:chOff x="0" y="0"/>
          <a:chExt cx="0" cy="0"/>
        </a:xfrm>
      </p:grpSpPr>
      <p:sp>
        <p:nvSpPr>
          <p:cNvPr id="133" name="Google Shape;133;p9"/>
          <p:cNvSpPr/>
          <p:nvPr/>
        </p:nvSpPr>
        <p:spPr>
          <a:xfrm>
            <a:off x="0" y="0"/>
            <a:ext cx="9144000" cy="640080"/>
          </a:xfrm>
          <a:prstGeom prst="rect">
            <a:avLst/>
          </a:prstGeom>
          <a:solidFill>
            <a:srgbClr val="122035"/>
          </a:solidFill>
          <a:ln cap="flat" cmpd="sng" w="12700">
            <a:solidFill>
              <a:srgbClr val="122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
          <p:cNvSpPr/>
          <p:nvPr/>
        </p:nvSpPr>
        <p:spPr>
          <a:xfrm>
            <a:off x="411480" y="0"/>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2000"/>
              <a:buFont typeface="Calibri"/>
              <a:buNone/>
            </a:pPr>
            <a:r>
              <a:rPr b="1" i="0" lang="en-US" sz="2000" u="none" cap="none" strike="noStrike">
                <a:solidFill>
                  <a:srgbClr val="00B4D8"/>
                </a:solidFill>
                <a:latin typeface="Calibri"/>
                <a:ea typeface="Calibri"/>
                <a:cs typeface="Calibri"/>
                <a:sym typeface="Calibri"/>
              </a:rPr>
              <a:t>How dLoRA Compares</a:t>
            </a:r>
            <a:endParaRPr b="0" i="0" sz="2000" u="none" cap="none" strike="noStrike">
              <a:solidFill>
                <a:schemeClr val="dk1"/>
              </a:solidFill>
              <a:latin typeface="Calibri"/>
              <a:ea typeface="Calibri"/>
              <a:cs typeface="Calibri"/>
              <a:sym typeface="Calibri"/>
            </a:endParaRPr>
          </a:p>
        </p:txBody>
      </p:sp>
      <p:graphicFrame>
        <p:nvGraphicFramePr>
          <p:cNvPr id="135" name="Google Shape;135;p9"/>
          <p:cNvGraphicFramePr/>
          <p:nvPr/>
        </p:nvGraphicFramePr>
        <p:xfrm>
          <a:off x="731520" y="777240"/>
          <a:ext cx="3000000" cy="3000000"/>
        </p:xfrm>
        <a:graphic>
          <a:graphicData uri="http://schemas.openxmlformats.org/drawingml/2006/table">
            <a:tbl>
              <a:tblPr>
                <a:noFill/>
                <a:tableStyleId>{E1211132-55B2-4904-A5E3-95F2DC4999DA}</a:tableStyleId>
              </a:tblPr>
              <a:tblGrid>
                <a:gridCol w="2011675"/>
                <a:gridCol w="1920250"/>
                <a:gridCol w="1920250"/>
                <a:gridCol w="1828800"/>
              </a:tblGrid>
              <a:tr h="685800">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System</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Multi-adapter batch</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Load balancing</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Dynamic merge</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r>
              <a:tr h="685800">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vLLM</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r>
              <a:tr h="685800">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HF PEFT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Partial</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r>
              <a:tr h="685800">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S-LoRA</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Basic</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FFFFFF"/>
                        </a:buClr>
                        <a:buSzPts val="1400"/>
                        <a:buFont typeface="Calibri"/>
                        <a:buNone/>
                      </a:pPr>
                      <a:r>
                        <a:rPr lang="en-US" sz="1400" u="none" cap="none" strike="noStrike">
                          <a:solidFill>
                            <a:srgbClr val="FFFFFF"/>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r>
              <a:tr h="685800">
                <a:tc>
                  <a:txBody>
                    <a:bodyPr/>
                    <a:lstStyle/>
                    <a:p>
                      <a:pPr indent="0" lvl="0" marL="0" marR="0" rtl="0" algn="ctr">
                        <a:spcBef>
                          <a:spcPts val="0"/>
                        </a:spcBef>
                        <a:spcAft>
                          <a:spcPts val="0"/>
                        </a:spcAft>
                        <a:buClr>
                          <a:srgbClr val="00B4D8"/>
                        </a:buClr>
                        <a:buSzPts val="1400"/>
                        <a:buFont typeface="Calibri"/>
                        <a:buNone/>
                      </a:pPr>
                      <a:r>
                        <a:rPr b="1" lang="en-US" sz="1400" u="none" cap="none" strike="noStrike">
                          <a:solidFill>
                            <a:srgbClr val="00B4D8"/>
                          </a:solidFill>
                          <a:latin typeface="Calibri"/>
                          <a:ea typeface="Calibri"/>
                          <a:cs typeface="Calibri"/>
                          <a:sym typeface="Calibri"/>
                        </a:rPr>
                        <a:t>dLoRA</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00B4D8"/>
                        </a:buClr>
                        <a:buSzPts val="1400"/>
                        <a:buFont typeface="Calibri"/>
                        <a:buNone/>
                      </a:pPr>
                      <a:r>
                        <a:rPr lang="en-US" sz="1400" u="none" cap="none" strike="noStrike">
                          <a:solidFill>
                            <a:srgbClr val="00B4D8"/>
                          </a:solidFill>
                          <a:latin typeface="Calibri"/>
                          <a:ea typeface="Calibri"/>
                          <a:cs typeface="Calibri"/>
                          <a:sym typeface="Calibri"/>
                        </a:rPr>
                        <a: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00B4D8"/>
                        </a:buClr>
                        <a:buSzPts val="1400"/>
                        <a:buFont typeface="Calibri"/>
                        <a:buNone/>
                      </a:pPr>
                      <a:r>
                        <a:rPr lang="en-US" sz="1400" u="none" cap="none" strike="noStrike">
                          <a:solidFill>
                            <a:srgbClr val="00B4D8"/>
                          </a:solidFill>
                          <a:latin typeface="Calibri"/>
                          <a:ea typeface="Calibri"/>
                          <a:cs typeface="Calibri"/>
                          <a:sym typeface="Calibri"/>
                        </a:rPr>
                        <a:t>✓ (ILP)</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c>
                  <a:txBody>
                    <a:bodyPr/>
                    <a:lstStyle/>
                    <a:p>
                      <a:pPr indent="0" lvl="0" marL="0" marR="0" rtl="0" algn="ctr">
                        <a:spcBef>
                          <a:spcPts val="0"/>
                        </a:spcBef>
                        <a:spcAft>
                          <a:spcPts val="0"/>
                        </a:spcAft>
                        <a:buClr>
                          <a:srgbClr val="00B4D8"/>
                        </a:buClr>
                        <a:buSzPts val="1400"/>
                        <a:buFont typeface="Calibri"/>
                        <a:buNone/>
                      </a:pPr>
                      <a:r>
                        <a:rPr lang="en-US" sz="1400" u="none" cap="none" strike="noStrike">
                          <a:solidFill>
                            <a:srgbClr val="00B4D8"/>
                          </a:solidFill>
                          <a:latin typeface="Calibri"/>
                          <a:ea typeface="Calibri"/>
                          <a:cs typeface="Calibri"/>
                          <a:sym typeface="Calibri"/>
                        </a:rPr>
                        <a:t>✓ (credit)</a:t>
                      </a:r>
                      <a:endParaRPr sz="1400" u="none" cap="none" strike="noStrike">
                        <a:latin typeface="Calibri"/>
                        <a:ea typeface="Calibri"/>
                        <a:cs typeface="Calibri"/>
                        <a:sym typeface="Calibri"/>
                      </a:endParaRPr>
                    </a:p>
                  </a:txBody>
                  <a:tcPr marT="45725" marB="45725" marR="91450" marL="91450">
                    <a:lnL cap="flat" cmpd="sng" w="12700">
                      <a:solidFill>
                        <a:srgbClr val="1A2A3A"/>
                      </a:solidFill>
                      <a:prstDash val="solid"/>
                      <a:round/>
                      <a:headEnd len="sm" w="sm" type="none"/>
                      <a:tailEnd len="sm" w="sm" type="none"/>
                    </a:lnL>
                    <a:lnR cap="flat" cmpd="sng" w="12700">
                      <a:solidFill>
                        <a:srgbClr val="1A2A3A"/>
                      </a:solidFill>
                      <a:prstDash val="solid"/>
                      <a:round/>
                      <a:headEnd len="sm" w="sm" type="none"/>
                      <a:tailEnd len="sm" w="sm" type="none"/>
                    </a:lnR>
                    <a:lnT cap="flat" cmpd="sng" w="12700">
                      <a:solidFill>
                        <a:srgbClr val="1A2A3A"/>
                      </a:solidFill>
                      <a:prstDash val="solid"/>
                      <a:round/>
                      <a:headEnd len="sm" w="sm" type="none"/>
                      <a:tailEnd len="sm" w="sm" type="none"/>
                    </a:lnT>
                    <a:lnB cap="flat" cmpd="sng" w="12700">
                      <a:solidFill>
                        <a:srgbClr val="1A2A3A"/>
                      </a:solidFill>
                      <a:prstDash val="solid"/>
                      <a:round/>
                      <a:headEnd len="sm" w="sm" type="none"/>
                      <a:tailEnd len="sm" w="sm" type="none"/>
                    </a:lnB>
                    <a:solidFill>
                      <a:srgbClr val="122035"/>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40" name="Shape 140"/>
        <p:cNvGrpSpPr/>
        <p:nvPr/>
      </p:nvGrpSpPr>
      <p:grpSpPr>
        <a:xfrm>
          <a:off x="0" y="0"/>
          <a:ext cx="0" cy="0"/>
          <a:chOff x="0" y="0"/>
          <a:chExt cx="0" cy="0"/>
        </a:xfrm>
      </p:grpSpPr>
      <p:sp>
        <p:nvSpPr>
          <p:cNvPr id="141" name="Google Shape;141;p10"/>
          <p:cNvSpPr/>
          <p:nvPr/>
        </p:nvSpPr>
        <p:spPr>
          <a:xfrm>
            <a:off x="0" y="0"/>
            <a:ext cx="164592" cy="5143500"/>
          </a:xfrm>
          <a:prstGeom prst="rect">
            <a:avLst/>
          </a:prstGeom>
          <a:solidFill>
            <a:srgbClr val="E07A5F"/>
          </a:solidFill>
          <a:ln cap="flat" cmpd="sng" w="12700">
            <a:solidFill>
              <a:srgbClr val="E0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
          <p:cNvSpPr/>
          <p:nvPr/>
        </p:nvSpPr>
        <p:spPr>
          <a:xfrm>
            <a:off x="2571746" y="1946925"/>
            <a:ext cx="51690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7000">
                <a:solidFill>
                  <a:srgbClr val="FFFFFF"/>
                </a:solidFill>
                <a:latin typeface="Calibri"/>
                <a:ea typeface="Calibri"/>
                <a:cs typeface="Calibri"/>
                <a:sym typeface="Calibri"/>
              </a:rPr>
              <a:t>Thank You</a:t>
            </a:r>
            <a:endParaRPr b="0" i="0" sz="7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2026-02-17T23:17:55Z</dcterms:created>
  <dc:creator>PptxGenJS</dc:creator>
</cp:coreProperties>
</file>