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03" autoAdjust="0"/>
  </p:normalViewPr>
  <p:slideViewPr>
    <p:cSldViewPr snapToGrid="0">
      <p:cViewPr varScale="1">
        <p:scale>
          <a:sx n="77" d="100"/>
          <a:sy n="77" d="100"/>
        </p:scale>
        <p:origin x="24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856406-F7E3-480F-A2B0-EE5A0C988308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6225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 dirty="0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Zhuge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44D8A-383D-4CD3-B2A2-780A0D7F3C1E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477500" cy="1828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00" b="1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Achieving Consistent Low Latency for Wireless</a:t>
            </a:r>
            <a:r>
              <a:rPr lang="en-US" sz="3300" b="1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Real-Time Communications with the Shortest Control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49D23-16B0-428B-96F1-1E143BCABC95}"/>
              </a:ext>
            </a:extLst>
          </p:cNvPr>
          <p:cNvSpPr>
            <a:spLocks noGrp="1"/>
          </p:cNvSpPr>
          <p:nvPr/>
        </p:nvSpPr>
        <p:spPr>
          <a:xfrm>
            <a:off x="704850" y="48196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Zili Meng et al.  ·  ACM SIGCOMM 2022</a:t>
            </a:r>
          </a:p>
        </p:txBody>
      </p:sp>
    </p:spTree>
    <p:extLst>
      <p:ext uri="{BB962C8B-B14F-4D97-AF65-F5344CB8AC3E}">
        <p14:creationId xmlns:p14="http://schemas.microsoft.com/office/powerpoint/2010/main" val="46157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2CA3C9-3532-4605-B6DE-E3E3CADA087E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Wireless latency has a long tail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D6FEEB-C019-4A5A-83B0-08A622C83D2D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Fig. 2(a)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9373" y="1461242"/>
            <a:ext cx="4658305" cy="4391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BC8ECF-81BE-4E6E-AC8F-59674E88C8CF}"/>
              </a:ext>
            </a:extLst>
          </p:cNvPr>
          <p:cNvSpPr>
            <a:spLocks noGrp="1"/>
          </p:cNvSpPr>
          <p:nvPr/>
        </p:nvSpPr>
        <p:spPr>
          <a:xfrm>
            <a:off x="6572250" y="2447925"/>
            <a:ext cx="465830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Fraction of RTT</a:t>
            </a:r>
            <a:r>
              <a:rPr lang="en-US" sz="2250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250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measurements</a:t>
            </a:r>
            <a:r>
              <a:rPr lang="en-US" sz="225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250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that exceed 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A4C5B-EF2B-4CE8-B43C-5BF4A7C5B822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45720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Wireless connections have many more</a:t>
            </a:r>
            <a:r>
              <a:rPr lang="en-US" sz="2175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high-RTT events than Ethernet.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473F31-A17E-F078-40DD-28042CF2A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247438"/>
            <a:ext cx="371187" cy="288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4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308ABC-DC4B-4980-A3E1-62520DF8EA1B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Bandwidth drops fill the AP 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28B88B-952A-4656-92CD-8EA081D2E3D9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Fig. 3(a</a:t>
            </a:r>
            <a:r>
              <a:rPr lang="en-US"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)</a:t>
            </a:r>
            <a:endParaRPr sz="1200" b="0" dirty="0">
              <a:solidFill>
                <a:srgbClr val="78858D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55956"/>
            <a:ext cx="6076950" cy="35556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D7CD9A-9A2E-468E-A105-DDC2C099EA4E}"/>
              </a:ext>
            </a:extLst>
          </p:cNvPr>
          <p:cNvSpPr>
            <a:spLocks noGrp="1"/>
          </p:cNvSpPr>
          <p:nvPr/>
        </p:nvSpPr>
        <p:spPr>
          <a:xfrm>
            <a:off x="7086600" y="2286000"/>
            <a:ext cx="43053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275" b="1">
                <a:solidFill>
                  <a:srgbClr val="BE4E3E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 dirty="0">
                <a:solidFill>
                  <a:srgbClr val="BE4E3E"/>
                </a:solidFill>
                <a:latin typeface="DejaVu Sans"/>
                <a:ea typeface="DejaVu Sans"/>
                <a:cs typeface="DejaVu Sans"/>
              </a:rPr>
              <a:t>10 → 3 Mb/s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98721-9E44-471F-AEF2-CF1F3A5414CA}"/>
              </a:ext>
            </a:extLst>
          </p:cNvPr>
          <p:cNvSpPr>
            <a:spLocks noGrp="1"/>
          </p:cNvSpPr>
          <p:nvPr/>
        </p:nvSpPr>
        <p:spPr>
          <a:xfrm>
            <a:off x="7134225" y="3352800"/>
            <a:ext cx="419100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7 Mb accumulates each second</a:t>
            </a:r>
          </a:p>
          <a:p>
            <a:pPr algn="l">
              <a:defRPr sz="217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until the sender slows down.</a:t>
            </a:r>
          </a:p>
        </p:txBody>
      </p:sp>
    </p:spTree>
    <p:extLst>
      <p:ext uri="{BB962C8B-B14F-4D97-AF65-F5344CB8AC3E}">
        <p14:creationId xmlns:p14="http://schemas.microsoft.com/office/powerpoint/2010/main" val="162083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A9BCCB-B924-4D86-A72D-BEF57158C8AE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The feedback loop crosses the bottleneck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89FBE9-B09D-42E2-8B80-5EB4827A279F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Fig.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" y="1624159"/>
            <a:ext cx="10382250" cy="30667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59E8C2-9E2F-4C7C-9E40-332E7B8DFA1F}"/>
              </a:ext>
            </a:extLst>
          </p:cNvPr>
          <p:cNvSpPr>
            <a:spLocks noGrp="1"/>
          </p:cNvSpPr>
          <p:nvPr/>
        </p:nvSpPr>
        <p:spPr>
          <a:xfrm>
            <a:off x="1438275" y="4972050"/>
            <a:ext cx="9544050" cy="1009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7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Data waits at the AP, crosses wireless, reaches the client,</a:t>
            </a:r>
          </a:p>
          <a:p>
            <a:pPr algn="ctr">
              <a:defRPr sz="217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then feedback returns to the sender.</a:t>
            </a:r>
          </a:p>
        </p:txBody>
      </p:sp>
    </p:spTree>
    <p:extLst>
      <p:ext uri="{BB962C8B-B14F-4D97-AF65-F5344CB8AC3E}">
        <p14:creationId xmlns:p14="http://schemas.microsoft.com/office/powerpoint/2010/main" val="155011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0FBB5C-81DB-4623-8ACE-05198B27FE00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Zhuge acts at the access 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9F2DD-277E-4207-BCCF-D58F607C2DF3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Fig. 5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842721"/>
            <a:ext cx="10515600" cy="22581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EFD603-1CF3-480E-A5E0-BBA77A93C226}"/>
              </a:ext>
            </a:extLst>
          </p:cNvPr>
          <p:cNvSpPr>
            <a:spLocks noGrp="1"/>
          </p:cNvSpPr>
          <p:nvPr/>
        </p:nvSpPr>
        <p:spPr>
          <a:xfrm>
            <a:off x="1000125" y="4629150"/>
            <a:ext cx="438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Fortune Teller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2A714D-8E17-4363-AF75-9227B8618133}"/>
              </a:ext>
            </a:extLst>
          </p:cNvPr>
          <p:cNvSpPr>
            <a:spLocks noGrp="1"/>
          </p:cNvSpPr>
          <p:nvPr/>
        </p:nvSpPr>
        <p:spPr>
          <a:xfrm>
            <a:off x="1000125" y="518160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Predicts delay when data arrives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7B64DA-8DB5-48B0-A7DF-B17DFB5DAA1B}"/>
              </a:ext>
            </a:extLst>
          </p:cNvPr>
          <p:cNvSpPr>
            <a:spLocks noGrp="1"/>
          </p:cNvSpPr>
          <p:nvPr/>
        </p:nvSpPr>
        <p:spPr>
          <a:xfrm>
            <a:off x="6353175" y="4629150"/>
            <a:ext cx="48958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BE4E3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>
                <a:solidFill>
                  <a:srgbClr val="BE4E3E"/>
                </a:solidFill>
                <a:latin typeface="DejaVu Sans"/>
                <a:ea typeface="DejaVu Sans"/>
                <a:cs typeface="DejaVu Sans"/>
              </a:rPr>
              <a:t>Feedback Updater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255CAB-222E-4BB2-9C5E-D9D39CB9F444}"/>
              </a:ext>
            </a:extLst>
          </p:cNvPr>
          <p:cNvSpPr>
            <a:spLocks noGrp="1"/>
          </p:cNvSpPr>
          <p:nvPr/>
        </p:nvSpPr>
        <p:spPr>
          <a:xfrm>
            <a:off x="6353175" y="51816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Signals the sender through feedback</a:t>
            </a:r>
          </a:p>
        </p:txBody>
      </p:sp>
    </p:spTree>
    <p:extLst>
      <p:ext uri="{BB962C8B-B14F-4D97-AF65-F5344CB8AC3E}">
        <p14:creationId xmlns:p14="http://schemas.microsoft.com/office/powerpoint/2010/main" val="66656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C2F3E0E-E837-48CB-89E9-401D259930F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Fortune Teller estimates wireless delay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57A21-0674-47AD-8624-92A9C91A9589}"/>
              </a:ext>
            </a:extLst>
          </p:cNvPr>
          <p:cNvSpPr>
            <a:spLocks noGrp="1"/>
          </p:cNvSpPr>
          <p:nvPr/>
        </p:nvSpPr>
        <p:spPr>
          <a:xfrm>
            <a:off x="647700" y="6267450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Figs. 6–7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00244-1938-42F9-ACA9-F4251015AB0A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106680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75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totalDelay = qLong + qShort + tx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FEDE8-1149-4CC3-8EBA-1D925DC9FFD4}"/>
              </a:ext>
            </a:extLst>
          </p:cNvPr>
          <p:cNvSpPr>
            <a:spLocks noGrp="1"/>
          </p:cNvSpPr>
          <p:nvPr/>
        </p:nvSpPr>
        <p:spPr>
          <a:xfrm>
            <a:off x="752475" y="2771775"/>
            <a:ext cx="1666875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qLong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0E9792-5B85-41BD-9ACC-7349B29ABF53}"/>
              </a:ext>
            </a:extLst>
          </p:cNvPr>
          <p:cNvSpPr>
            <a:spLocks noGrp="1"/>
          </p:cNvSpPr>
          <p:nvPr/>
        </p:nvSpPr>
        <p:spPr>
          <a:xfrm>
            <a:off x="2352675" y="27717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586B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586B76"/>
                </a:solidFill>
                <a:latin typeface="DejaVu Sans"/>
                <a:ea typeface="DejaVu Sans"/>
                <a:cs typeface="DejaVu Sans"/>
              </a:rPr>
              <a:t>queue size ÷ average departure rate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0A047B-2D35-4052-83C2-AD4AD340F77F}"/>
              </a:ext>
            </a:extLst>
          </p:cNvPr>
          <p:cNvSpPr>
            <a:spLocks noGrp="1"/>
          </p:cNvSpPr>
          <p:nvPr/>
        </p:nvSpPr>
        <p:spPr>
          <a:xfrm>
            <a:off x="752475" y="3600450"/>
            <a:ext cx="1666875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qShort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D4026C-5679-49A7-B8AF-1BED39F1E18A}"/>
              </a:ext>
            </a:extLst>
          </p:cNvPr>
          <p:cNvSpPr>
            <a:spLocks noGrp="1"/>
          </p:cNvSpPr>
          <p:nvPr/>
        </p:nvSpPr>
        <p:spPr>
          <a:xfrm>
            <a:off x="2352675" y="3600450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586B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586B76"/>
                </a:solidFill>
                <a:latin typeface="DejaVu Sans"/>
                <a:ea typeface="DejaVu Sans"/>
                <a:cs typeface="DejaVu Sans"/>
              </a:rPr>
              <a:t>front packet waiting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632A7A-1DC8-4596-9D99-7D9FB2794D12}"/>
              </a:ext>
            </a:extLst>
          </p:cNvPr>
          <p:cNvSpPr>
            <a:spLocks noGrp="1"/>
          </p:cNvSpPr>
          <p:nvPr/>
        </p:nvSpPr>
        <p:spPr>
          <a:xfrm>
            <a:off x="752475" y="4429125"/>
            <a:ext cx="1666875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tx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533CF6-8219-4435-B08E-AD1F7A77F482}"/>
              </a:ext>
            </a:extLst>
          </p:cNvPr>
          <p:cNvSpPr>
            <a:spLocks noGrp="1"/>
          </p:cNvSpPr>
          <p:nvPr/>
        </p:nvSpPr>
        <p:spPr>
          <a:xfrm>
            <a:off x="2352675" y="442912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586B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586B76"/>
                </a:solidFill>
                <a:latin typeface="DejaVu Sans"/>
                <a:ea typeface="DejaVu Sans"/>
                <a:cs typeface="DejaVu Sans"/>
              </a:rPr>
              <a:t>wireless transmission interval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34050" y="3268241"/>
            <a:ext cx="5610225" cy="15407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BDF2DF0-98EA-437A-AA07-07634A46A5AE}"/>
              </a:ext>
            </a:extLst>
          </p:cNvPr>
          <p:cNvSpPr>
            <a:spLocks noGrp="1"/>
          </p:cNvSpPr>
          <p:nvPr/>
        </p:nvSpPr>
        <p:spPr>
          <a:xfrm>
            <a:off x="5886450" y="5410200"/>
            <a:ext cx="5381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BE4E3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E4E3E"/>
                </a:solidFill>
                <a:latin typeface="DejaVu Sans"/>
                <a:ea typeface="DejaVu Sans"/>
                <a:cs typeface="DejaVu Sans"/>
              </a:rPr>
              <a:t>qShort reacts first after the bandwidth drop.</a:t>
            </a:r>
          </a:p>
        </p:txBody>
      </p:sp>
    </p:spTree>
    <p:extLst>
      <p:ext uri="{BB962C8B-B14F-4D97-AF65-F5344CB8AC3E}">
        <p14:creationId xmlns:p14="http://schemas.microsoft.com/office/powerpoint/2010/main" val="212681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8189F7-D4D3-4EDD-BC1C-351B9B3AFA9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Feedback Updater uses earlier ACKs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B605AF-DFD8-4021-B32B-B59BD0D91327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Fig. 9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1357" y="1485900"/>
            <a:ext cx="994928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DBFFD3-B5C1-4B7C-AFD9-5C5CFF56D0E8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Trace simulations show fewer delays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4302C-5CAC-47A9-B6EE-76A38FA61C25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Figs. 11 and 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B2905-1232-40C4-BBA8-08F1F1EE11BE}"/>
              </a:ext>
            </a:extLst>
          </p:cNvPr>
          <p:cNvSpPr>
            <a:spLocks noGrp="1"/>
          </p:cNvSpPr>
          <p:nvPr/>
        </p:nvSpPr>
        <p:spPr>
          <a:xfrm>
            <a:off x="723900" y="1838325"/>
            <a:ext cx="476250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625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5625" b="1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45–75%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65911F-4364-4A5E-AD1D-9AE022197448}"/>
              </a:ext>
            </a:extLst>
          </p:cNvPr>
          <p:cNvSpPr>
            <a:spLocks noGrp="1"/>
          </p:cNvSpPr>
          <p:nvPr/>
        </p:nvSpPr>
        <p:spPr>
          <a:xfrm>
            <a:off x="752475" y="2876550"/>
            <a:ext cx="485775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fewer RTT events above 200 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5FB2B-3411-416F-B1B6-8FCE5859FA98}"/>
              </a:ext>
            </a:extLst>
          </p:cNvPr>
          <p:cNvSpPr>
            <a:spLocks noGrp="1"/>
          </p:cNvSpPr>
          <p:nvPr/>
        </p:nvSpPr>
        <p:spPr>
          <a:xfrm>
            <a:off x="6619875" y="1838325"/>
            <a:ext cx="4810125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625" b="1">
                <a:solidFill>
                  <a:srgbClr val="BE4E3E"/>
                </a:solidFill>
                <a:latin typeface="DejaVu Sans"/>
                <a:ea typeface="DejaVu Sans"/>
                <a:cs typeface="DejaVu Sans"/>
              </a:defRPr>
            </a:pPr>
            <a:r>
              <a:rPr sz="5625" b="1">
                <a:solidFill>
                  <a:srgbClr val="BE4E3E"/>
                </a:solidFill>
                <a:latin typeface="DejaVu Sans"/>
                <a:ea typeface="DejaVu Sans"/>
                <a:cs typeface="DejaVu Sans"/>
              </a:rPr>
              <a:t>38–92%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0E14C-6CF7-4829-8937-49FE6C0488B3}"/>
              </a:ext>
            </a:extLst>
          </p:cNvPr>
          <p:cNvSpPr>
            <a:spLocks noGrp="1"/>
          </p:cNvSpPr>
          <p:nvPr/>
        </p:nvSpPr>
        <p:spPr>
          <a:xfrm>
            <a:off x="6638925" y="2876550"/>
            <a:ext cx="4695825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fewer video frames delayed</a:t>
            </a:r>
          </a:p>
          <a:p>
            <a:pPr algn="l">
              <a:defRPr sz="2100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more than 400 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59A03-B1F0-4E06-85F5-4F2A29EF6274}"/>
              </a:ext>
            </a:extLst>
          </p:cNvPr>
          <p:cNvSpPr>
            <a:spLocks noGrp="1"/>
          </p:cNvSpPr>
          <p:nvPr/>
        </p:nvSpPr>
        <p:spPr>
          <a:xfrm>
            <a:off x="781050" y="4772025"/>
            <a:ext cx="10544175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586B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586B76"/>
                </a:solidFill>
                <a:latin typeface="DejaVu Sans"/>
                <a:ea typeface="DejaVu Sans"/>
                <a:cs typeface="DejaVu Sans"/>
              </a:rPr>
              <a:t>RTP/RTCP across five wireless traces, compared with the best baseline</a:t>
            </a:r>
          </a:p>
        </p:txBody>
      </p:sp>
    </p:spTree>
    <p:extLst>
      <p:ext uri="{BB962C8B-B14F-4D97-AF65-F5344CB8AC3E}">
        <p14:creationId xmlns:p14="http://schemas.microsoft.com/office/powerpoint/2010/main" val="830666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368351-1619-4502-9A0C-38819FF6B8FB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OpenWrt testbed improves latency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2E068A-80C1-48C2-97C2-067F25A822B2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Fig. 18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639801"/>
            <a:ext cx="10629900" cy="32640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A72239-67EC-4534-81D0-094FB4AB8339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52197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17–95% fewer high RTT events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CAAA1-BFC2-49A9-B67E-7D0AFE50CE7D}"/>
              </a:ext>
            </a:extLst>
          </p:cNvPr>
          <p:cNvSpPr>
            <a:spLocks noGrp="1"/>
          </p:cNvSpPr>
          <p:nvPr/>
        </p:nvSpPr>
        <p:spPr>
          <a:xfrm>
            <a:off x="6324600" y="5238750"/>
            <a:ext cx="5143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BE4E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BE4E3E"/>
                </a:solidFill>
                <a:latin typeface="DejaVu Sans"/>
                <a:ea typeface="DejaVu Sans"/>
                <a:cs typeface="DejaVu Sans"/>
              </a:rPr>
              <a:t>9–67% fewer delayed frames</a:t>
            </a:r>
          </a:p>
        </p:txBody>
      </p:sp>
    </p:spTree>
    <p:extLst>
      <p:ext uri="{BB962C8B-B14F-4D97-AF65-F5344CB8AC3E}">
        <p14:creationId xmlns:p14="http://schemas.microsoft.com/office/powerpoint/2010/main" val="149663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3DCC63-02C1-4EC8-8632-626B397FE5A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Scope and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D13AD0-76ED-4F41-90E5-3B2D7B3D989C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Source: Meng et al., §6–7 and Fig. 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B81C5-6D21-4CD4-896E-0B15FF9ED2CB}"/>
              </a:ext>
            </a:extLst>
          </p:cNvPr>
          <p:cNvSpPr>
            <a:spLocks noGrp="1"/>
          </p:cNvSpPr>
          <p:nvPr/>
        </p:nvSpPr>
        <p:spPr>
          <a:xfrm>
            <a:off x="771525" y="1619250"/>
            <a:ext cx="5191125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Last-mile downlink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09BC1-EF33-43A2-B9AD-2E7D6EF903BE}"/>
              </a:ext>
            </a:extLst>
          </p:cNvPr>
          <p:cNvSpPr>
            <a:spLocks noGrp="1"/>
          </p:cNvSpPr>
          <p:nvPr/>
        </p:nvSpPr>
        <p:spPr>
          <a:xfrm>
            <a:off x="771525" y="2143125"/>
            <a:ext cx="9715500" cy="847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Applying it to the wireless first mile</a:t>
            </a:r>
          </a:p>
          <a:p>
            <a:pPr algn="l">
              <a:def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would require client integration.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B6B26B-F541-4A0D-92BB-4717688FBFEC}"/>
              </a:ext>
            </a:extLst>
          </p:cNvPr>
          <p:cNvSpPr>
            <a:spLocks noGrp="1"/>
          </p:cNvSpPr>
          <p:nvPr/>
        </p:nvSpPr>
        <p:spPr>
          <a:xfrm>
            <a:off x="771525" y="3343275"/>
            <a:ext cx="5238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Prediction 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4DB9C-E8E4-4B0E-8225-D386FA67610C}"/>
              </a:ext>
            </a:extLst>
          </p:cNvPr>
          <p:cNvSpPr>
            <a:spLocks noGrp="1"/>
          </p:cNvSpPr>
          <p:nvPr/>
        </p:nvSpPr>
        <p:spPr>
          <a:xfrm>
            <a:off x="771525" y="388620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Estimates become less accurate at high delays.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87181B-932A-4FF2-8C08-EDB02382B00E}"/>
              </a:ext>
            </a:extLst>
          </p:cNvPr>
          <p:cNvSpPr>
            <a:spLocks noGrp="1"/>
          </p:cNvSpPr>
          <p:nvPr/>
        </p:nvSpPr>
        <p:spPr>
          <a:xfrm>
            <a:off x="771525" y="48768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37E87"/>
                </a:solidFill>
                <a:latin typeface="DejaVu Sans"/>
                <a:ea typeface="DejaVu Sans"/>
                <a:cs typeface="DejaVu Sans"/>
              </a:rPr>
              <a:t>Severe bandwidth drops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7B2506-B8DB-4B5E-8BF2-FD8BD7E74819}"/>
              </a:ext>
            </a:extLst>
          </p:cNvPr>
          <p:cNvSpPr>
            <a:spLocks noGrp="1"/>
          </p:cNvSpPr>
          <p:nvPr/>
        </p:nvSpPr>
        <p:spPr>
          <a:xfrm>
            <a:off x="771525" y="541020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D4B"/>
                </a:solidFill>
                <a:latin typeface="DejaVu Sans"/>
                <a:ea typeface="DejaVu Sans"/>
                <a:cs typeface="DejaVu Sans"/>
              </a:rPr>
              <a:t>Loss and TCP timeouts can limit the benefit.</a:t>
            </a:r>
          </a:p>
        </p:txBody>
      </p:sp>
    </p:spTree>
    <p:extLst>
      <p:ext uri="{BB962C8B-B14F-4D97-AF65-F5344CB8AC3E}">
        <p14:creationId xmlns:p14="http://schemas.microsoft.com/office/powerpoint/2010/main" val="1497416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39813A-D2DA-48EF-B5A2-F04EC5377780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dirty="0">
                <a:solidFill>
                  <a:srgbClr val="162C3B"/>
                </a:solidFill>
                <a:latin typeface="DejaVu Sans"/>
              </a:rPr>
              <a:t>Takeaway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C8F4EA-D26E-494A-BD69-35B2A7ADF390}"/>
              </a:ext>
            </a:extLst>
          </p:cNvPr>
          <p:cNvSpPr>
            <a:spLocks noGrp="1"/>
          </p:cNvSpPr>
          <p:nvPr/>
        </p:nvSpPr>
        <p:spPr>
          <a:xfrm>
            <a:off x="6572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7885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78858D"/>
                </a:solidFill>
                <a:latin typeface="DejaVu Sans"/>
                <a:ea typeface="DejaVu Sans"/>
                <a:cs typeface="DejaVu Sans"/>
              </a:rPr>
              <a:t>Meng et al., SIGCOMM 2022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68298A-148D-473D-B3F1-490A85FACBF2}"/>
              </a:ext>
            </a:extLst>
          </p:cNvPr>
          <p:cNvSpPr>
            <a:spLocks noGrp="1"/>
          </p:cNvSpPr>
          <p:nvPr/>
        </p:nvSpPr>
        <p:spPr>
          <a:xfrm>
            <a:off x="790575" y="1628775"/>
            <a:ext cx="106489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50" b="1">
                <a:solidFill>
                  <a:srgbClr val="037E87"/>
                </a:solidFill>
                <a:latin typeface="DejaVu Sans"/>
                <a:ea typeface="DejaVu Sans"/>
                <a:cs typeface="DejaVu Sans"/>
              </a:defRPr>
            </a:pPr>
            <a:endParaRPr sz="3450" b="1" dirty="0"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83B05-E874-4FF0-8CAA-7D1BFFE849DC}"/>
              </a:ext>
            </a:extLst>
          </p:cNvPr>
          <p:cNvSpPr>
            <a:spLocks noGrp="1"/>
          </p:cNvSpPr>
          <p:nvPr/>
        </p:nvSpPr>
        <p:spPr>
          <a:xfrm>
            <a:off x="790575" y="2628900"/>
            <a:ext cx="106489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dirty="0">
                <a:solidFill>
                  <a:srgbClr val="162C3B"/>
                </a:solidFill>
                <a:latin typeface="DejaVu Sans"/>
                <a:ea typeface="DejaVu Sans"/>
                <a:cs typeface="DejaVu Sans"/>
              </a:rPr>
              <a:t>Use feedback already returning to the sender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29962-4FA8-449F-AC6F-8CBCB28449EC}"/>
              </a:ext>
            </a:extLst>
          </p:cNvPr>
          <p:cNvSpPr>
            <a:spLocks noGrp="1"/>
          </p:cNvSpPr>
          <p:nvPr/>
        </p:nvSpPr>
        <p:spPr>
          <a:xfrm>
            <a:off x="790575" y="3895725"/>
            <a:ext cx="10648950" cy="1057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sz="2925" b="1" dirty="0">
                <a:solidFill>
                  <a:srgbClr val="162C3B"/>
                </a:solidFill>
                <a:latin typeface="DejaVu Sans"/>
              </a:rPr>
              <a:t>Sender adapts sooner</a:t>
            </a:r>
            <a:r>
              <a:rPr lang="en-US" sz="2925" b="1" dirty="0">
                <a:solidFill>
                  <a:srgbClr val="162C3B"/>
                </a:solidFill>
                <a:latin typeface="DejaVu Sans"/>
              </a:rPr>
              <a:t>,</a:t>
            </a:r>
            <a:r>
              <a:rPr sz="2925" b="1" dirty="0">
                <a:solidFill>
                  <a:srgbClr val="162C3B"/>
                </a:solidFill>
                <a:latin typeface="DejaVu Sans"/>
              </a:rPr>
              <a:t> the queue stays shorter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89E20-8AD7-0555-3B2C-1FEA85DF0935}"/>
              </a:ext>
            </a:extLst>
          </p:cNvPr>
          <p:cNvSpPr txBox="1"/>
          <p:nvPr/>
        </p:nvSpPr>
        <p:spPr>
          <a:xfrm>
            <a:off x="790575" y="1686394"/>
            <a:ext cx="4185761" cy="54245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>
              <a:defRPr sz="2925" b="1">
                <a:solidFill>
                  <a:srgbClr val="162C3B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r>
              <a:rPr lang="en-US" dirty="0"/>
              <a:t>Predict delay at AP</a:t>
            </a:r>
          </a:p>
        </p:txBody>
      </p:sp>
    </p:spTree>
    <p:extLst>
      <p:ext uri="{BB962C8B-B14F-4D97-AF65-F5344CB8AC3E}">
        <p14:creationId xmlns:p14="http://schemas.microsoft.com/office/powerpoint/2010/main" val="1887516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DocSecurity>0</DocSecurity>
  <PresentationFormat>Widescreen</PresentationFormat>
  <Paragraphs>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Thien Le</cp:lastModifiedBy>
  <cp:revision>1</cp:revision>
  <dcterms:created xsi:type="dcterms:W3CDTF">2026-09-28T14:44:38Z</dcterms:created>
  <dcterms:modified xsi:type="dcterms:W3CDTF">2026-09-28T20:00:58Z</dcterms:modified>
</cp:coreProperties>
</file>