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e8dff7d97ec4222" /><Relationship Type="http://schemas.openxmlformats.org/officeDocument/2006/relationships/extended-properties" Target="/docProps/app.xml" Id="Rfe344d4a4aef480f" /><Relationship Type="http://schemas.openxmlformats.org/officeDocument/2006/relationships/officeDocument" Target="/ppt/presentation.xml" Id="R8837280691894ca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821c54e34c04f1b"/>
  </p:sldMasterIdLst>
  <p:notesMasterIdLst>
    <p:notesMasterId xmlns:r="http://schemas.openxmlformats.org/officeDocument/2006/relationships" r:id="R79cac09f36774db6"/>
  </p:notesMasterIdLst>
  <p:sldIdLst>
    <p:sldId xmlns:r="http://schemas.openxmlformats.org/officeDocument/2006/relationships" id="256" r:id="Re1f3ea364496430f"/>
    <p:sldId xmlns:r="http://schemas.openxmlformats.org/officeDocument/2006/relationships" id="257" r:id="Ra35929547edf411a"/>
    <p:sldId xmlns:r="http://schemas.openxmlformats.org/officeDocument/2006/relationships" id="258" r:id="Rd00cea78b2a4468e"/>
    <p:sldId xmlns:r="http://schemas.openxmlformats.org/officeDocument/2006/relationships" id="259" r:id="R2252cd72745b4fd0"/>
    <p:sldId xmlns:r="http://schemas.openxmlformats.org/officeDocument/2006/relationships" id="260" r:id="R7cf8a6a4a65848f5"/>
    <p:sldId xmlns:r="http://schemas.openxmlformats.org/officeDocument/2006/relationships" id="261" r:id="R33358cc973dd4ce7"/>
    <p:sldId xmlns:r="http://schemas.openxmlformats.org/officeDocument/2006/relationships" id="262" r:id="R74e2602dde0a4c9b"/>
    <p:sldId xmlns:r="http://schemas.openxmlformats.org/officeDocument/2006/relationships" id="263" r:id="R0bc0820073154138"/>
    <p:sldId xmlns:r="http://schemas.openxmlformats.org/officeDocument/2006/relationships" id="264" r:id="R9d75b0e3020d4f59"/>
    <p:sldId xmlns:r="http://schemas.openxmlformats.org/officeDocument/2006/relationships" id="265" r:id="R801dba533ee0454d"/>
    <p:sldId xmlns:r="http://schemas.openxmlformats.org/officeDocument/2006/relationships" id="266" r:id="R5615998e0a9d479d"/>
    <p:sldId xmlns:r="http://schemas.openxmlformats.org/officeDocument/2006/relationships" id="267" r:id="R577576c3524f43c5"/>
    <p:sldId xmlns:r="http://schemas.openxmlformats.org/officeDocument/2006/relationships" id="268" r:id="R26731b016f4a41f3"/>
  </p:sldIdLst>
  <p:sldSz cx="1219169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7e7925099204053" /><Relationship Type="http://schemas.openxmlformats.org/officeDocument/2006/relationships/slideMaster" Target="/ppt/slideMasters/slideMaster1.xml" Id="Ra821c54e34c04f1b" /><Relationship Type="http://schemas.openxmlformats.org/officeDocument/2006/relationships/notesMaster" Target="/ppt/notesMasters/notesMaster1.xml" Id="R79cac09f36774db6" /><Relationship Type="http://schemas.openxmlformats.org/officeDocument/2006/relationships/presProps" Target="/ppt/presProps.xml" Id="R9455ce8904084670" /><Relationship Type="http://schemas.openxmlformats.org/officeDocument/2006/relationships/tableStyles" Target="/ppt/tableStyles.xml" Id="R45f8b29b62e14155" /><Relationship Type="http://schemas.openxmlformats.org/officeDocument/2006/relationships/slide" Target="/ppt/slides/slide1.xml" Id="Re1f3ea364496430f" /><Relationship Type="http://schemas.openxmlformats.org/officeDocument/2006/relationships/slide" Target="/ppt/slides/slide2.xml" Id="Ra35929547edf411a" /><Relationship Type="http://schemas.openxmlformats.org/officeDocument/2006/relationships/slide" Target="/ppt/slides/slide3.xml" Id="Rd00cea78b2a4468e" /><Relationship Type="http://schemas.openxmlformats.org/officeDocument/2006/relationships/slide" Target="/ppt/slides/slide4.xml" Id="R2252cd72745b4fd0" /><Relationship Type="http://schemas.openxmlformats.org/officeDocument/2006/relationships/slide" Target="/ppt/slides/slide5.xml" Id="R7cf8a6a4a65848f5" /><Relationship Type="http://schemas.openxmlformats.org/officeDocument/2006/relationships/slide" Target="/ppt/slides/slide6.xml" Id="R33358cc973dd4ce7" /><Relationship Type="http://schemas.openxmlformats.org/officeDocument/2006/relationships/slide" Target="/ppt/slides/slide7.xml" Id="R74e2602dde0a4c9b" /><Relationship Type="http://schemas.openxmlformats.org/officeDocument/2006/relationships/slide" Target="/ppt/slides/slide8.xml" Id="R0bc0820073154138" /><Relationship Type="http://schemas.openxmlformats.org/officeDocument/2006/relationships/slide" Target="/ppt/slides/slide9.xml" Id="R9d75b0e3020d4f59" /><Relationship Type="http://schemas.openxmlformats.org/officeDocument/2006/relationships/slide" Target="/ppt/slides/slide10.xml" Id="R801dba533ee0454d" /><Relationship Type="http://schemas.openxmlformats.org/officeDocument/2006/relationships/slide" Target="/ppt/slides/slide11.xml" Id="R5615998e0a9d479d" /><Relationship Type="http://schemas.openxmlformats.org/officeDocument/2006/relationships/slide" Target="/ppt/slides/slide12.xml" Id="R577576c3524f43c5" /><Relationship Type="http://schemas.openxmlformats.org/officeDocument/2006/relationships/slide" Target="/ppt/slides/slide13.xml" Id="R26731b016f4a41f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2bcf2e37b5241c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112d551648b4fe3" /><Relationship Type="http://schemas.openxmlformats.org/officeDocument/2006/relationships/notesMaster" Target="/ppt/notesMasters/notesMaster1.xml" Id="R5a5ca58724ee484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91b03e7a35848af" /><Relationship Type="http://schemas.openxmlformats.org/officeDocument/2006/relationships/notesMaster" Target="/ppt/notesMasters/notesMaster1.xml" Id="R4e5d926075434b8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d6c57a7828744b8" /><Relationship Type="http://schemas.openxmlformats.org/officeDocument/2006/relationships/notesMaster" Target="/ppt/notesMasters/notesMaster1.xml" Id="Ra914d5441fdd496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4dd262697c24ab7" /><Relationship Type="http://schemas.openxmlformats.org/officeDocument/2006/relationships/notesMaster" Target="/ppt/notesMasters/notesMaster1.xml" Id="R94031ef045a04fc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5cfec5c20fd4ca1" /><Relationship Type="http://schemas.openxmlformats.org/officeDocument/2006/relationships/notesMaster" Target="/ppt/notesMasters/notesMaster1.xml" Id="R83b6c946e2b74de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282b48bfede4668" /><Relationship Type="http://schemas.openxmlformats.org/officeDocument/2006/relationships/notesMaster" Target="/ppt/notesMasters/notesMaster1.xml" Id="R84e79dd1c60f4d9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667c5f50b254884" /><Relationship Type="http://schemas.openxmlformats.org/officeDocument/2006/relationships/notesMaster" Target="/ppt/notesMasters/notesMaster1.xml" Id="R4eeeda0bef7b4e2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3f64724865944c7" /><Relationship Type="http://schemas.openxmlformats.org/officeDocument/2006/relationships/notesMaster" Target="/ppt/notesMasters/notesMaster1.xml" Id="R2b8455d196ef4bc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9696e205f374031" /><Relationship Type="http://schemas.openxmlformats.org/officeDocument/2006/relationships/notesMaster" Target="/ppt/notesMasters/notesMaster1.xml" Id="Rcad9ae68bc8947c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4338fbb23df472e" /><Relationship Type="http://schemas.openxmlformats.org/officeDocument/2006/relationships/notesMaster" Target="/ppt/notesMasters/notesMaster1.xml" Id="R3835e5da55b0461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ddf854116a94a12" /><Relationship Type="http://schemas.openxmlformats.org/officeDocument/2006/relationships/notesMaster" Target="/ppt/notesMasters/notesMaster1.xml" Id="Rfea391b7b2f44ef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c652f0f5d4046c2" /><Relationship Type="http://schemas.openxmlformats.org/officeDocument/2006/relationships/notesMaster" Target="/ppt/notesMasters/notesMaster1.xml" Id="Rd43eaacd0444414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fda92bc549646e3" /><Relationship Type="http://schemas.openxmlformats.org/officeDocument/2006/relationships/notesMaster" Target="/ppt/notesMasters/notesMaster1.xml" Id="R6435cf25ffdc4c3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e21f43ac27434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f6a4dd22b6c42b7" /><Relationship Type="http://schemas.openxmlformats.org/officeDocument/2006/relationships/slideLayout" Target="/ppt/slideLayouts/slideLayout1.xml" Id="Rab3fe5c9986e440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b3fe5c9986e440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9e1b6b6fcf4e04" /><Relationship Type="http://schemas.openxmlformats.org/officeDocument/2006/relationships/notesSlide" Target="/ppt/notesSlides/notesSlide1.xml" Id="Rc6859b9f64a94c1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33530ad63b4524" /><Relationship Type="http://schemas.openxmlformats.org/officeDocument/2006/relationships/notesSlide" Target="/ppt/notesSlides/notesSlide2.xml" Id="R8112968fbfde490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edd7091ee24a89" /><Relationship Type="http://schemas.openxmlformats.org/officeDocument/2006/relationships/notesSlide" Target="/ppt/notesSlides/notesSlide3.xml" Id="R4b4c719d29c7401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ce3a4a4cff45e0" /><Relationship Type="http://schemas.openxmlformats.org/officeDocument/2006/relationships/notesSlide" Target="/ppt/notesSlides/notesSlide4.xml" Id="R7359197a01554b0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22ca43b175480c" /><Relationship Type="http://schemas.openxmlformats.org/officeDocument/2006/relationships/notesSlide" Target="/ppt/notesSlides/notesSlide5.xml" Id="Rd51b4040df0742c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14b05850424688" /><Relationship Type="http://schemas.openxmlformats.org/officeDocument/2006/relationships/notesSlide" Target="/ppt/notesSlides/notesSlide6.xml" Id="Ra5f2b1dc8d43470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ad5f1b544845b3" /><Relationship Type="http://schemas.openxmlformats.org/officeDocument/2006/relationships/notesSlide" Target="/ppt/notesSlides/notesSlide7.xml" Id="R8945a7c9b2a4455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f0cad29cb34176" /><Relationship Type="http://schemas.openxmlformats.org/officeDocument/2006/relationships/notesSlide" Target="/ppt/notesSlides/notesSlide8.xml" Id="Rd897252bfbb747c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e08c94205747d7" /><Relationship Type="http://schemas.openxmlformats.org/officeDocument/2006/relationships/notesSlide" Target="/ppt/notesSlides/notesSlide9.xml" Id="R2f9d09b4f2d14eb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9f280f61204ea2" /><Relationship Type="http://schemas.openxmlformats.org/officeDocument/2006/relationships/notesSlide" Target="/ppt/notesSlides/notesSlide10.xml" Id="R8c6ea1a96e25447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6a508b31514ed6" /><Relationship Type="http://schemas.openxmlformats.org/officeDocument/2006/relationships/notesSlide" Target="/ppt/notesSlides/notesSlide11.xml" Id="Rb3888db35921460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b4a4fe5ef04c27" /><Relationship Type="http://schemas.openxmlformats.org/officeDocument/2006/relationships/notesSlide" Target="/ppt/notesSlides/notesSlide12.xml" Id="Ra308455813444da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7851b5599c4c71" /><Relationship Type="http://schemas.openxmlformats.org/officeDocument/2006/relationships/hyperlink" Target="https://www.usenix.org/system/files/nsdi25-xie.pdf" TargetMode="External" Id="R05ac6c4d0dbd4d0e" /><Relationship Type="http://schemas.openxmlformats.org/officeDocument/2006/relationships/hyperlink" Target="https://www.usenix.org/system/files/nsdi25_slides-xie.pdf" TargetMode="External" Id="Rec93f79f8d204837" /><Relationship Type="http://schemas.openxmlformats.org/officeDocument/2006/relationships/hyperlink" Target="https://github.com/netlab-wisconsin/MegaStation" TargetMode="External" Id="R5ded4dadb4864f53" /><Relationship Type="http://schemas.openxmlformats.org/officeDocument/2006/relationships/hyperlink" Target="https://www.youtube.com/watch?v=J8n9HY3dcFs" TargetMode="External" Id="Rfaa9b22d6f72490c" /><Relationship Type="http://schemas.openxmlformats.org/officeDocument/2006/relationships/notesSlide" Target="/ppt/notesSlides/notesSlide13.xml" Id="R4232718bb0164fa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5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 1 TextBox 2">
            <a:extLst xmlns:a="http://schemas.openxmlformats.org/drawingml/2006/main">
              <a:ext uri="{FF2B5EF4-FFF2-40B4-BE49-F238E27FC236}">
                <a16:creationId xmlns:a16="http://schemas.microsoft.com/office/drawing/2014/main" id="{5D809B51-D191-418E-9B9B-FA9CDA0A6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5488"/>
            <a:ext cx="47548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42D7D1"/>
                </a:solidFill>
                <a:latin typeface="Arial"/>
                <a:ea typeface="Arial"/>
                <a:cs typeface="Arial"/>
              </a:rPr>
              <a:t>NSDI 2025 · PAPER SUMMARY</a:t>
            </a:r>
          </a:p>
        </p:txBody>
      </p:sp>
      <p:sp>
        <p:nvSpPr>
          <p:cNvPr id="2" name="Slide 1 TextBox 3">
            <a:extLst xmlns:a="http://schemas.openxmlformats.org/drawingml/2006/main">
              <a:ext uri="{FF2B5EF4-FFF2-40B4-BE49-F238E27FC236}">
                <a16:creationId xmlns:a16="http://schemas.microsoft.com/office/drawing/2014/main" id="{E58B38D2-5708-4412-A95A-9AA517889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051560"/>
            <a:ext cx="7498080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EEF7FB"/>
                </a:solidFill>
                <a:latin typeface="Arial"/>
                <a:ea typeface="Arial"/>
                <a:cs typeface="Arial"/>
              </a:rPr>
              <a:t>MegaStation</a:t>
            </a:r>
          </a:p>
        </p:txBody>
      </p:sp>
      <p:sp>
        <p:nvSpPr>
          <p:cNvPr id="3" name="Slide 1 TextBox 4">
            <a:extLst xmlns:a="http://schemas.openxmlformats.org/drawingml/2006/main">
              <a:ext uri="{FF2B5EF4-FFF2-40B4-BE49-F238E27FC236}">
                <a16:creationId xmlns:a16="http://schemas.microsoft.com/office/drawing/2014/main" id="{C932E389-F0A5-42F6-A2E9-C5CC788E4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938528"/>
            <a:ext cx="9875520" cy="868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EEF7FB"/>
                </a:solidFill>
                <a:latin typeface="Arial"/>
                <a:ea typeface="Arial"/>
                <a:cs typeface="Arial"/>
              </a:rPr>
              <a:t>Treat a pool of GPUs like one </a:t>
            </a:r>
            <a:r>
              <a:rPr sz="2200" b="1">
                <a:solidFill>
                  <a:srgbClr val="42D7D1"/>
                </a:solidFill>
                <a:latin typeface="Arial"/>
                <a:ea typeface="Arial"/>
                <a:cs typeface="Arial"/>
              </a:rPr>
              <a:t>dynamically scheduled processor</a:t>
            </a:r>
            <a:r>
              <a:rPr sz="2200" b="0">
                <a:solidFill>
                  <a:srgbClr val="EEF7FB"/>
                </a:solidFill>
                <a:latin typeface="Arial"/>
                <a:ea typeface="Arial"/>
                <a:cs typeface="Arial"/>
              </a:rPr>
              <a:t> for massive-MIMO baseband work.</a:t>
            </a:r>
          </a:p>
        </p:txBody>
      </p:sp>
      <p:sp>
        <p:nvSpPr>
          <p:cNvPr id="4" name="Slide 1 TextBox 5">
            <a:extLst xmlns:a="http://schemas.openxmlformats.org/drawingml/2006/main">
              <a:ext uri="{FF2B5EF4-FFF2-40B4-BE49-F238E27FC236}">
                <a16:creationId xmlns:a16="http://schemas.microsoft.com/office/drawing/2014/main" id="{1141695F-355C-412E-AFF3-A3ECA8ED6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246120"/>
            <a:ext cx="987552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1700" b="0">
                <a:solidFill>
                  <a:srgbClr val="A9C0CB"/>
                </a:solidFill>
                <a:latin typeface="Arial"/>
                <a:ea typeface="Arial"/>
                <a:cs typeface="Arial"/>
              </a:rPr>
              <a:t>Building Massive MIMO Baseband Processing on a Single-Node Supercomputer</a:t>
            </a:r>
          </a:p>
        </p:txBody>
      </p:sp>
      <p:sp>
        <p:nvSpPr>
          <p:cNvPr id="5" name="Slide 1 TextBox 6">
            <a:extLst xmlns:a="http://schemas.openxmlformats.org/drawingml/2006/main">
              <a:ext uri="{FF2B5EF4-FFF2-40B4-BE49-F238E27FC236}">
                <a16:creationId xmlns:a16="http://schemas.microsoft.com/office/drawing/2014/main" id="{76F992E8-A40B-4F4C-B675-CF0D1D416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675888"/>
            <a:ext cx="960120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EEF7FB"/>
                </a:solidFill>
                <a:latin typeface="Arial"/>
                <a:ea typeface="Arial"/>
                <a:cs typeface="Arial"/>
              </a:rPr>
              <a:t>Xincheng Xie · Wentao Hou · Zerui Guo · Ming Liu</a:t>
            </a:r>
          </a:p>
        </p:txBody>
      </p:sp>
      <p:sp>
        <p:nvSpPr>
          <p:cNvPr id="6" name="Slide 1 TextBox 8">
            <a:extLst xmlns:a="http://schemas.openxmlformats.org/drawingml/2006/main">
              <a:ext uri="{FF2B5EF4-FFF2-40B4-BE49-F238E27FC236}">
                <a16:creationId xmlns:a16="http://schemas.microsoft.com/office/drawing/2014/main" id="{3170CCBE-118F-4C5A-B609-073530AFD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709160"/>
            <a:ext cx="13258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EEF7FB"/>
                </a:solidFill>
                <a:latin typeface="Arial"/>
                <a:ea typeface="Arial"/>
                <a:cs typeface="Arial"/>
              </a:rPr>
              <a:t>5G / vRAN</a:t>
            </a:r>
          </a:p>
        </p:txBody>
      </p:sp>
      <p:sp>
        <p:nvSpPr>
          <p:cNvPr id="7" name="Slide 1 TextBox 10">
            <a:extLst xmlns:a="http://schemas.openxmlformats.org/drawingml/2006/main">
              <a:ext uri="{FF2B5EF4-FFF2-40B4-BE49-F238E27FC236}">
                <a16:creationId xmlns:a16="http://schemas.microsoft.com/office/drawing/2014/main" id="{19A7C0C5-5516-4A23-9FA4-FF2A631EB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8840" y="4709160"/>
            <a:ext cx="13258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EEF7FB"/>
                </a:solidFill>
                <a:latin typeface="Arial"/>
                <a:ea typeface="Arial"/>
                <a:cs typeface="Arial"/>
              </a:rPr>
              <a:t>Massive MIMO</a:t>
            </a:r>
          </a:p>
        </p:txBody>
      </p:sp>
      <p:sp>
        <p:nvSpPr>
          <p:cNvPr id="8" name="Slide 1 TextBox 12">
            <a:extLst xmlns:a="http://schemas.openxmlformats.org/drawingml/2006/main">
              <a:ext uri="{FF2B5EF4-FFF2-40B4-BE49-F238E27FC236}">
                <a16:creationId xmlns:a16="http://schemas.microsoft.com/office/drawing/2014/main" id="{5F755A34-349E-40D2-9775-BB23C8F9C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312" y="4709160"/>
            <a:ext cx="13258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EEF7FB"/>
                </a:solidFill>
                <a:latin typeface="Arial"/>
                <a:ea typeface="Arial"/>
                <a:cs typeface="Arial"/>
              </a:rPr>
              <a:t>GPU pooling</a:t>
            </a:r>
          </a:p>
        </p:txBody>
      </p:sp>
      <p:sp>
        <p:nvSpPr>
          <p:cNvPr id="9" name="Slide 1 TextBox 14">
            <a:extLst xmlns:a="http://schemas.openxmlformats.org/drawingml/2006/main">
              <a:ext uri="{FF2B5EF4-FFF2-40B4-BE49-F238E27FC236}">
                <a16:creationId xmlns:a16="http://schemas.microsoft.com/office/drawing/2014/main" id="{53DE6F04-C59C-4D63-8779-5B0CB72CD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9784" y="4709160"/>
            <a:ext cx="13258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EEF7FB"/>
                </a:solidFill>
                <a:latin typeface="Arial"/>
                <a:ea typeface="Arial"/>
                <a:cs typeface="Arial"/>
              </a:rPr>
              <a:t>Dynamic scheduling</a:t>
            </a:r>
          </a:p>
        </p:txBody>
      </p:sp>
      <p:sp>
        <p:nvSpPr>
          <p:cNvPr id="10" name="Slide 1 TextBox 15">
            <a:extLst xmlns:a="http://schemas.openxmlformats.org/drawingml/2006/main">
              <a:ext uri="{FF2B5EF4-FFF2-40B4-BE49-F238E27FC236}">
                <a16:creationId xmlns:a16="http://schemas.microsoft.com/office/drawing/2014/main" id="{A60F0CDE-6AE0-4173-AFA2-A043CB420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6477000"/>
            <a:ext cx="98755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630" b="0">
                <a:solidFill>
                  <a:srgbClr val="7894A2"/>
                </a:solidFill>
                <a:latin typeface="Arial"/>
                <a:ea typeface="Arial"/>
                <a:cs typeface="Arial"/>
              </a:rPr>
              <a:t>Paper and talk materials: USENIX NSDI ’25 [1][2][4]</a:t>
            </a:r>
          </a:p>
        </p:txBody>
      </p:sp>
      <p:sp>
        <p:nvSpPr>
          <p:cNvPr id="11" name="Slide 1 TextBox 16">
            <a:extLst xmlns:a="http://schemas.openxmlformats.org/drawingml/2006/main">
              <a:ext uri="{FF2B5EF4-FFF2-40B4-BE49-F238E27FC236}">
                <a16:creationId xmlns:a16="http://schemas.microsoft.com/office/drawing/2014/main" id="{0A236BF3-C5DC-4D68-AE9D-3691858F4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7000"/>
            <a:ext cx="59436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680" b="0">
                <a:solidFill>
                  <a:srgbClr val="7894A2"/>
                </a:solidFill>
                <a:latin typeface="Arial"/>
                <a:ea typeface="Arial"/>
                <a:cs typeface="Arial"/>
              </a:rPr>
              <a:t>1 / 13</a:t>
            </a:r>
          </a:p>
        </p:txBody>
      </p:sp>
    </p:spTree>
    <p:extLst>
      <p:ext uri="{BB962C8B-B14F-4D97-AF65-F5344CB8AC3E}">
        <p14:creationId xmlns:p14="http://schemas.microsoft.com/office/powerpoint/2010/main" val="7921337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5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 2 TextBox 2">
            <a:extLst xmlns:a="http://schemas.openxmlformats.org/drawingml/2006/main">
              <a:ext uri="{FF2B5EF4-FFF2-40B4-BE49-F238E27FC236}">
                <a16:creationId xmlns:a16="http://schemas.microsoft.com/office/drawing/2014/main" id="{4CD044B1-45B8-433C-A74B-9FB023B2F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4048"/>
            <a:ext cx="594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2D7D1"/>
                </a:solidFill>
                <a:latin typeface="Arial"/>
                <a:ea typeface="Arial"/>
                <a:cs typeface="Arial"/>
              </a:rPr>
              <a:t>THE ONE-SLIDE VERSION</a:t>
            </a:r>
          </a:p>
        </p:txBody>
      </p:sp>
      <p:sp>
        <p:nvSpPr>
          <p:cNvPr id="2" name="Slide 2 TextBox 3">
            <a:extLst xmlns:a="http://schemas.openxmlformats.org/drawingml/2006/main">
              <a:ext uri="{FF2B5EF4-FFF2-40B4-BE49-F238E27FC236}">
                <a16:creationId xmlns:a16="http://schemas.microsoft.com/office/drawing/2014/main" id="{9DB20170-4E39-4125-84C0-75B2EB318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838200"/>
            <a:ext cx="1088136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EF7FB"/>
                </a:solidFill>
                <a:latin typeface="Arial"/>
                <a:ea typeface="Arial"/>
                <a:cs typeface="Arial"/>
              </a:rPr>
              <a:t>Why this paper exists</a:t>
            </a:r>
          </a:p>
        </p:txBody>
      </p:sp>
      <p:sp>
        <p:nvSpPr>
          <p:cNvPr id="3" name="Slide 2 TextBox 4">
            <a:extLst xmlns:a="http://schemas.openxmlformats.org/drawingml/2006/main">
              <a:ext uri="{FF2B5EF4-FFF2-40B4-BE49-F238E27FC236}">
                <a16:creationId xmlns:a16="http://schemas.microsoft.com/office/drawing/2014/main" id="{8524293E-596F-4945-8473-2399CE423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6477000"/>
            <a:ext cx="996696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630" b="0">
                <a:solidFill>
                  <a:srgbClr val="7894A2"/>
                </a:solidFill>
                <a:latin typeface="Arial"/>
                <a:ea typeface="Arial"/>
                <a:cs typeface="Arial"/>
              </a:rPr>
              <a:t>Motivation and key insight: [1][2]</a:t>
            </a:r>
          </a:p>
        </p:txBody>
      </p:sp>
      <p:sp>
        <p:nvSpPr>
          <p:cNvPr id="4" name="Slide 2 TextBox 5">
            <a:extLst xmlns:a="http://schemas.openxmlformats.org/drawingml/2006/main">
              <a:ext uri="{FF2B5EF4-FFF2-40B4-BE49-F238E27FC236}">
                <a16:creationId xmlns:a16="http://schemas.microsoft.com/office/drawing/2014/main" id="{78CA96BE-5468-4E31-BC86-8DD2BC735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7000"/>
            <a:ext cx="59436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680" b="0">
                <a:solidFill>
                  <a:srgbClr val="7894A2"/>
                </a:solidFill>
                <a:latin typeface="Arial"/>
                <a:ea typeface="Arial"/>
                <a:cs typeface="Arial"/>
              </a:rPr>
              <a:t>2 / 13</a:t>
            </a:r>
          </a:p>
        </p:txBody>
      </p:sp>
      <p:sp>
        <p:nvSpPr>
          <p:cNvPr id="5" name="Slide 2 TextBox 7">
            <a:extLst xmlns:a="http://schemas.openxmlformats.org/drawingml/2006/main">
              <a:ext uri="{FF2B5EF4-FFF2-40B4-BE49-F238E27FC236}">
                <a16:creationId xmlns:a16="http://schemas.microsoft.com/office/drawing/2014/main" id="{1DD9F5AA-DD64-4210-A283-5DC658D4D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1737360"/>
            <a:ext cx="3191256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A9C0CB"/>
                </a:solidFill>
                <a:latin typeface="Arial"/>
                <a:ea typeface="Arial"/>
                <a:cs typeface="Arial"/>
              </a:rPr>
              <a:t>PRESSURE</a:t>
            </a:r>
          </a:p>
        </p:txBody>
      </p:sp>
      <p:sp>
        <p:nvSpPr>
          <p:cNvPr id="6" name="Slide 2 TextBox 8">
            <a:extLst xmlns:a="http://schemas.openxmlformats.org/drawingml/2006/main">
              <a:ext uri="{FF2B5EF4-FFF2-40B4-BE49-F238E27FC236}">
                <a16:creationId xmlns:a16="http://schemas.microsoft.com/office/drawing/2014/main" id="{23821845-8A65-426C-94DA-DBBD32C10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039112"/>
            <a:ext cx="3191256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FFAD5C"/>
                </a:solidFill>
                <a:latin typeface="Arial"/>
                <a:ea typeface="Arial"/>
                <a:cs typeface="Arial"/>
              </a:rPr>
              <a:t>More antennas, more users</a:t>
            </a:r>
          </a:p>
        </p:txBody>
      </p:sp>
      <p:sp>
        <p:nvSpPr>
          <p:cNvPr id="7" name="Slide 2 TextBox 9">
            <a:extLst xmlns:a="http://schemas.openxmlformats.org/drawingml/2006/main">
              <a:ext uri="{FF2B5EF4-FFF2-40B4-BE49-F238E27FC236}">
                <a16:creationId xmlns:a16="http://schemas.microsoft.com/office/drawing/2014/main" id="{7CA426E8-6FFF-4FF1-9FFC-FBD92D807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914650"/>
            <a:ext cx="3191256" cy="1880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A9C0CB"/>
                </a:solidFill>
                <a:latin typeface="Arial"/>
                <a:ea typeface="Arial"/>
                <a:cs typeface="Arial"/>
              </a:rPr>
              <a:t>Massive MIMO raises radio capacity, but every frame creates substantial baseband computation under millisecond deadlines.</a:t>
            </a:r>
          </a:p>
        </p:txBody>
      </p:sp>
      <p:sp>
        <p:nvSpPr>
          <p:cNvPr id="8" name="Slide 2 TextBox 11">
            <a:extLst xmlns:a="http://schemas.openxmlformats.org/drawingml/2006/main">
              <a:ext uri="{FF2B5EF4-FFF2-40B4-BE49-F238E27FC236}">
                <a16:creationId xmlns:a16="http://schemas.microsoft.com/office/drawing/2014/main" id="{5368F46A-85D9-484E-BDAD-E7D6AD9DA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7992" y="1737360"/>
            <a:ext cx="3191256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A9C0CB"/>
                </a:solidFill>
                <a:latin typeface="Arial"/>
                <a:ea typeface="Arial"/>
                <a:cs typeface="Arial"/>
              </a:rPr>
              <a:t>MISMATCH</a:t>
            </a:r>
          </a:p>
        </p:txBody>
      </p:sp>
      <p:sp>
        <p:nvSpPr>
          <p:cNvPr id="9" name="Slide 2 TextBox 12">
            <a:extLst xmlns:a="http://schemas.openxmlformats.org/drawingml/2006/main">
              <a:ext uri="{FF2B5EF4-FFF2-40B4-BE49-F238E27FC236}">
                <a16:creationId xmlns:a16="http://schemas.microsoft.com/office/drawing/2014/main" id="{FC6AE4EA-B7E8-4493-B9B0-41568AE85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7992" y="2039112"/>
            <a:ext cx="3191256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FF7373"/>
                </a:solidFill>
                <a:latin typeface="Arial"/>
                <a:ea typeface="Arial"/>
                <a:cs typeface="Arial"/>
              </a:rPr>
              <a:t>Static software, irregular GPUs</a:t>
            </a:r>
          </a:p>
        </p:txBody>
      </p:sp>
      <p:sp>
        <p:nvSpPr>
          <p:cNvPr id="10" name="Slide 2 TextBox 13">
            <a:extLst xmlns:a="http://schemas.openxmlformats.org/drawingml/2006/main">
              <a:ext uri="{FF2B5EF4-FFF2-40B4-BE49-F238E27FC236}">
                <a16:creationId xmlns:a16="http://schemas.microsoft.com/office/drawing/2014/main" id="{6DBA41DC-6BBF-40B1-B7B1-91FF24645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7992" y="2914650"/>
            <a:ext cx="3191256" cy="1880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A9C0CB"/>
                </a:solidFill>
                <a:latin typeface="Arial"/>
                <a:ea typeface="Arial"/>
                <a:cs typeface="Arial"/>
              </a:rPr>
              <a:t>Frame-, symbol-, and task-level parallelism each work well in some resource states and poorly in others.</a:t>
            </a:r>
          </a:p>
        </p:txBody>
      </p:sp>
      <p:sp>
        <p:nvSpPr>
          <p:cNvPr id="11" name="Slide 2 TextBox 15">
            <a:extLst xmlns:a="http://schemas.openxmlformats.org/drawingml/2006/main">
              <a:ext uri="{FF2B5EF4-FFF2-40B4-BE49-F238E27FC236}">
                <a16:creationId xmlns:a16="http://schemas.microsoft.com/office/drawing/2014/main" id="{F423FDA4-0F09-4546-A53E-C0AEAEC8C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1312" y="1737360"/>
            <a:ext cx="3191256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A9C0CB"/>
                </a:solidFill>
                <a:latin typeface="Arial"/>
                <a:ea typeface="Arial"/>
                <a:cs typeface="Arial"/>
              </a:rPr>
              <a:t>OPPORTUNITY</a:t>
            </a:r>
          </a:p>
        </p:txBody>
      </p:sp>
      <p:sp>
        <p:nvSpPr>
          <p:cNvPr id="12" name="Slide 2 TextBox 16">
            <a:extLst xmlns:a="http://schemas.openxmlformats.org/drawingml/2006/main">
              <a:ext uri="{FF2B5EF4-FFF2-40B4-BE49-F238E27FC236}">
                <a16:creationId xmlns:a16="http://schemas.microsoft.com/office/drawing/2014/main" id="{20171832-44E9-461B-8281-44F28C2B7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1312" y="2039112"/>
            <a:ext cx="3191256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42D7D1"/>
                </a:solidFill>
                <a:latin typeface="Arial"/>
                <a:ea typeface="Arial"/>
                <a:cs typeface="Arial"/>
              </a:rPr>
              <a:t>Adapt the pipeline at runtime</a:t>
            </a:r>
          </a:p>
        </p:txBody>
      </p:sp>
      <p:sp>
        <p:nvSpPr>
          <p:cNvPr id="13" name="Slide 2 TextBox 17">
            <a:extLst xmlns:a="http://schemas.openxmlformats.org/drawingml/2006/main">
              <a:ext uri="{FF2B5EF4-FFF2-40B4-BE49-F238E27FC236}">
                <a16:creationId xmlns:a16="http://schemas.microsoft.com/office/drawing/2014/main" id="{D7D68A5D-461E-4689-B075-5B33E78E0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1312" y="2914650"/>
            <a:ext cx="3191256" cy="1880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A9C0CB"/>
                </a:solidFill>
                <a:latin typeface="Arial"/>
                <a:ea typeface="Arial"/>
                <a:cs typeface="Arial"/>
              </a:rPr>
              <a:t>MegaStation monitors the GPU pool, changes execution granularity, and schedules urgent ready work.</a:t>
            </a:r>
          </a:p>
        </p:txBody>
      </p:sp>
      <p:sp>
        <p:nvSpPr>
          <p:cNvPr id="14" name="Slide 2 TextBox 19">
            <a:extLst xmlns:a="http://schemas.openxmlformats.org/drawingml/2006/main">
              <a:ext uri="{FF2B5EF4-FFF2-40B4-BE49-F238E27FC236}">
                <a16:creationId xmlns:a16="http://schemas.microsoft.com/office/drawing/2014/main" id="{ACABC02E-8B61-42E1-9847-8D6494671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413248"/>
            <a:ext cx="104698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7FB"/>
                </a:solidFill>
                <a:latin typeface="Arial"/>
                <a:ea typeface="Arial"/>
                <a:cs typeface="Arial"/>
              </a:rPr>
              <a:t>Thesis: </a:t>
            </a:r>
            <a:r>
              <a:rPr sz="1500" b="0">
                <a:solidFill>
                  <a:srgbClr val="EEF7FB"/>
                </a:solidFill>
                <a:latin typeface="Arial"/>
                <a:ea typeface="Arial"/>
                <a:cs typeface="Arial"/>
              </a:rPr>
              <a:t>the hardware substrate is not just “more GPUs.” It enables a different software architecture for the RAN.</a:t>
            </a:r>
          </a:p>
        </p:txBody>
      </p:sp>
    </p:spTree>
    <p:extLst>
      <p:ext uri="{BB962C8B-B14F-4D97-AF65-F5344CB8AC3E}">
        <p14:creationId xmlns:p14="http://schemas.microsoft.com/office/powerpoint/2010/main" val="12823409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5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lide 3 TextBox 2">
            <a:extLst xmlns:a="http://schemas.openxmlformats.org/drawingml/2006/main">
              <a:ext uri="{FF2B5EF4-FFF2-40B4-BE49-F238E27FC236}">
                <a16:creationId xmlns:a16="http://schemas.microsoft.com/office/drawing/2014/main" id="{F3E11BE7-A4E2-48CB-87D1-D0041939B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4048"/>
            <a:ext cx="594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2D7D1"/>
                </a:solidFill>
                <a:latin typeface="Arial"/>
                <a:ea typeface="Arial"/>
                <a:cs typeface="Arial"/>
              </a:rPr>
              <a:t>WHERE IT FITS</a:t>
            </a:r>
          </a:p>
        </p:txBody>
      </p:sp>
      <p:sp>
        <p:nvSpPr>
          <p:cNvPr id="2" name="Slide 3 TextBox 3">
            <a:extLst xmlns:a="http://schemas.openxmlformats.org/drawingml/2006/main">
              <a:ext uri="{FF2B5EF4-FFF2-40B4-BE49-F238E27FC236}">
                <a16:creationId xmlns:a16="http://schemas.microsoft.com/office/drawing/2014/main" id="{A70557B1-F2E5-4466-BA55-EB2EC5606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838200"/>
            <a:ext cx="1088136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EF7FB"/>
                </a:solidFill>
                <a:latin typeface="Arial"/>
                <a:ea typeface="Arial"/>
                <a:cs typeface="Arial"/>
              </a:rPr>
              <a:t>MegaStation lives inside the virtualized baseband unit</a:t>
            </a:r>
          </a:p>
        </p:txBody>
      </p:sp>
      <p:sp>
        <p:nvSpPr>
          <p:cNvPr id="3" name="Slide 3 TextBox 4">
            <a:extLst xmlns:a="http://schemas.openxmlformats.org/drawingml/2006/main">
              <a:ext uri="{FF2B5EF4-FFF2-40B4-BE49-F238E27FC236}">
                <a16:creationId xmlns:a16="http://schemas.microsoft.com/office/drawing/2014/main" id="{79E5331A-A75D-4FB6-A80E-ECAC8EA05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6477000"/>
            <a:ext cx="996696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630" b="0">
                <a:solidFill>
                  <a:srgbClr val="7894A2"/>
                </a:solidFill>
                <a:latin typeface="Arial"/>
                <a:ea typeface="Arial"/>
                <a:cs typeface="Arial"/>
              </a:rPr>
              <a:t>Architecture and pipeline: paper §§1–2, Fig. 1 [1]</a:t>
            </a:r>
          </a:p>
        </p:txBody>
      </p:sp>
      <p:sp>
        <p:nvSpPr>
          <p:cNvPr id="4" name="Slide 3 TextBox 5">
            <a:extLst xmlns:a="http://schemas.openxmlformats.org/drawingml/2006/main">
              <a:ext uri="{FF2B5EF4-FFF2-40B4-BE49-F238E27FC236}">
                <a16:creationId xmlns:a16="http://schemas.microsoft.com/office/drawing/2014/main" id="{CB353C45-09F9-4A2D-8F86-FCF1F51C6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7000"/>
            <a:ext cx="59436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680" b="0">
                <a:solidFill>
                  <a:srgbClr val="7894A2"/>
                </a:solidFill>
                <a:latin typeface="Arial"/>
                <a:ea typeface="Arial"/>
                <a:cs typeface="Arial"/>
              </a:rPr>
              <a:t>3 / 13</a:t>
            </a:r>
          </a:p>
        </p:txBody>
      </p:sp>
      <p:sp>
        <p:nvSpPr>
          <p:cNvPr id="5" name="Slide 3 TextBox 7">
            <a:extLst xmlns:a="http://schemas.openxmlformats.org/drawingml/2006/main">
              <a:ext uri="{FF2B5EF4-FFF2-40B4-BE49-F238E27FC236}">
                <a16:creationId xmlns:a16="http://schemas.microsoft.com/office/drawing/2014/main" id="{CC8DF5B3-B463-4EE9-8AAC-B85CB8686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20240"/>
            <a:ext cx="205740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1450" b="1">
                <a:solidFill>
                  <a:srgbClr val="EEF7FB"/>
                </a:solidFill>
                <a:latin typeface="Arial"/>
                <a:ea typeface="Arial"/>
                <a:cs typeface="Arial"/>
              </a:rPr>
              <a:t>Phones / devices</a:t>
            </a:r>
          </a:p>
        </p:txBody>
      </p:sp>
      <p:sp>
        <p:nvSpPr>
          <p:cNvPr id="6" name="Slide 3 TextBox 8">
            <a:extLst xmlns:a="http://schemas.openxmlformats.org/drawingml/2006/main">
              <a:ext uri="{FF2B5EF4-FFF2-40B4-BE49-F238E27FC236}">
                <a16:creationId xmlns:a16="http://schemas.microsoft.com/office/drawing/2014/main" id="{556545E2-E299-4906-BFA1-A41F380E1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313432"/>
            <a:ext cx="2020824" cy="4846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9C0CB"/>
                </a:solidFill>
                <a:latin typeface="Arial"/>
                <a:ea typeface="Arial"/>
                <a:cs typeface="Arial"/>
              </a:rPr>
              <a:t>Transmit wireless signals</a:t>
            </a:r>
          </a:p>
        </p:txBody>
      </p:sp>
      <p:sp>
        <p:nvSpPr>
          <p:cNvPr id="7" name="Slide 3 TextBox 10">
            <a:extLst xmlns:a="http://schemas.openxmlformats.org/drawingml/2006/main">
              <a:ext uri="{FF2B5EF4-FFF2-40B4-BE49-F238E27FC236}">
                <a16:creationId xmlns:a16="http://schemas.microsoft.com/office/drawing/2014/main" id="{3B3709AC-E1BB-4C70-8B1F-EAD2D7A8E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1920240"/>
            <a:ext cx="205740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1450" b="1">
                <a:solidFill>
                  <a:srgbClr val="EEF7FB"/>
                </a:solidFill>
                <a:latin typeface="Arial"/>
                <a:ea typeface="Arial"/>
                <a:cs typeface="Arial"/>
              </a:rPr>
              <a:t>Radio Unit (RU)</a:t>
            </a:r>
          </a:p>
        </p:txBody>
      </p:sp>
      <p:sp>
        <p:nvSpPr>
          <p:cNvPr id="8" name="Slide 3 TextBox 11">
            <a:extLst xmlns:a="http://schemas.openxmlformats.org/drawingml/2006/main">
              <a:ext uri="{FF2B5EF4-FFF2-40B4-BE49-F238E27FC236}">
                <a16:creationId xmlns:a16="http://schemas.microsoft.com/office/drawing/2014/main" id="{03EDC879-638A-4DA9-8F14-5FE1E8C84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4448" y="2313432"/>
            <a:ext cx="2020824" cy="4846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9C0CB"/>
                </a:solidFill>
                <a:latin typeface="Arial"/>
                <a:ea typeface="Arial"/>
                <a:cs typeface="Arial"/>
              </a:rPr>
              <a:t>Antenna array + digitization</a:t>
            </a:r>
          </a:p>
        </p:txBody>
      </p:sp>
      <p:sp>
        <p:nvSpPr>
          <p:cNvPr id="9" name="Slide 3 TextBox 13">
            <a:extLst xmlns:a="http://schemas.openxmlformats.org/drawingml/2006/main">
              <a:ext uri="{FF2B5EF4-FFF2-40B4-BE49-F238E27FC236}">
                <a16:creationId xmlns:a16="http://schemas.microsoft.com/office/drawing/2014/main" id="{B64DBB3F-59D9-41EE-9EDC-BAA8E3BC4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20240"/>
            <a:ext cx="205740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1450" b="1">
                <a:solidFill>
                  <a:srgbClr val="EEF7FB"/>
                </a:solidFill>
                <a:latin typeface="Arial"/>
                <a:ea typeface="Arial"/>
                <a:cs typeface="Arial"/>
              </a:rPr>
              <a:t>vRAN baseband</a:t>
            </a:r>
          </a:p>
        </p:txBody>
      </p:sp>
      <p:sp>
        <p:nvSpPr>
          <p:cNvPr id="10" name="Slide 3 TextBox 14">
            <a:extLst xmlns:a="http://schemas.openxmlformats.org/drawingml/2006/main">
              <a:ext uri="{FF2B5EF4-FFF2-40B4-BE49-F238E27FC236}">
                <a16:creationId xmlns:a16="http://schemas.microsoft.com/office/drawing/2014/main" id="{FD8150F7-2A0D-4F55-A553-06D4F6E09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2313432"/>
            <a:ext cx="2020824" cy="4846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9C0CB"/>
                </a:solidFill>
                <a:latin typeface="Arial"/>
                <a:ea typeface="Arial"/>
                <a:cs typeface="Arial"/>
              </a:rPr>
              <a:t>MegaStation schedules processing</a:t>
            </a:r>
          </a:p>
        </p:txBody>
      </p:sp>
      <p:sp>
        <p:nvSpPr>
          <p:cNvPr id="11" name="Slide 3 TextBox 16">
            <a:extLst xmlns:a="http://schemas.openxmlformats.org/drawingml/2006/main">
              <a:ext uri="{FF2B5EF4-FFF2-40B4-BE49-F238E27FC236}">
                <a16:creationId xmlns:a16="http://schemas.microsoft.com/office/drawing/2014/main" id="{55C6E467-4277-4A5B-9EB8-0779D8F2D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1920240"/>
            <a:ext cx="205740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1450" b="1">
                <a:solidFill>
                  <a:srgbClr val="EEF7FB"/>
                </a:solidFill>
                <a:latin typeface="Arial"/>
                <a:ea typeface="Arial"/>
                <a:cs typeface="Arial"/>
              </a:rPr>
              <a:t>Mobile core</a:t>
            </a:r>
          </a:p>
        </p:txBody>
      </p:sp>
      <p:sp>
        <p:nvSpPr>
          <p:cNvPr id="12" name="Slide 3 TextBox 17">
            <a:extLst xmlns:a="http://schemas.openxmlformats.org/drawingml/2006/main">
              <a:ext uri="{FF2B5EF4-FFF2-40B4-BE49-F238E27FC236}">
                <a16:creationId xmlns:a16="http://schemas.microsoft.com/office/drawing/2014/main" id="{0251C935-43B7-4325-B98F-4878EAFC7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728" y="2313432"/>
            <a:ext cx="2020824" cy="4846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9C0CB"/>
                </a:solidFill>
                <a:latin typeface="Arial"/>
                <a:ea typeface="Arial"/>
                <a:cs typeface="Arial"/>
              </a:rPr>
              <a:t>Routes data and services</a:t>
            </a:r>
          </a:p>
        </p:txBody>
      </p:sp>
      <p:sp>
        <p:nvSpPr>
          <p:cNvPr id="13" name="Slide 3 TextBox 22">
            <a:extLst xmlns:a="http://schemas.openxmlformats.org/drawingml/2006/main">
              <a:ext uri="{FF2B5EF4-FFF2-40B4-BE49-F238E27FC236}">
                <a16:creationId xmlns:a16="http://schemas.microsoft.com/office/drawing/2014/main" id="{2D526A74-C31B-45E0-9AE6-C7807E464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474720"/>
            <a:ext cx="4928616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A9C0CB"/>
                </a:solidFill>
                <a:latin typeface="Arial"/>
                <a:ea typeface="Arial"/>
                <a:cs typeface="Arial"/>
              </a:rPr>
              <a:t>UPLINK PIPELINE</a:t>
            </a:r>
          </a:p>
        </p:txBody>
      </p:sp>
      <p:sp>
        <p:nvSpPr>
          <p:cNvPr id="14" name="Slide 3 TextBox 23">
            <a:extLst xmlns:a="http://schemas.openxmlformats.org/drawingml/2006/main">
              <a:ext uri="{FF2B5EF4-FFF2-40B4-BE49-F238E27FC236}">
                <a16:creationId xmlns:a16="http://schemas.microsoft.com/office/drawing/2014/main" id="{3458AA88-5222-4886-9D08-9A49C9FD3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776472"/>
            <a:ext cx="4928616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42D7D1"/>
                </a:solidFill>
                <a:latin typeface="Arial"/>
                <a:ea typeface="Arial"/>
                <a:cs typeface="Arial"/>
              </a:rPr>
              <a:t>FFT → zero forcing → equalization → demodulation → decoding</a:t>
            </a:r>
          </a:p>
        </p:txBody>
      </p:sp>
      <p:sp>
        <p:nvSpPr>
          <p:cNvPr id="15" name="Slide 3 TextBox 24">
            <a:extLst xmlns:a="http://schemas.openxmlformats.org/drawingml/2006/main">
              <a:ext uri="{FF2B5EF4-FFF2-40B4-BE49-F238E27FC236}">
                <a16:creationId xmlns:a16="http://schemas.microsoft.com/office/drawing/2014/main" id="{EC4B7C19-9DE5-4C58-9D8F-78A283349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324350"/>
            <a:ext cx="4928616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1150" b="0">
                <a:solidFill>
                  <a:srgbClr val="A9C0CB"/>
                </a:solidFill>
                <a:latin typeface="Arial"/>
                <a:ea typeface="Arial"/>
                <a:cs typeface="Arial"/>
              </a:rPr>
              <a:t>Radio samples become user data.</a:t>
            </a:r>
          </a:p>
        </p:txBody>
      </p:sp>
      <p:sp>
        <p:nvSpPr>
          <p:cNvPr id="16" name="Slide 3 TextBox 26">
            <a:extLst xmlns:a="http://schemas.openxmlformats.org/drawingml/2006/main">
              <a:ext uri="{FF2B5EF4-FFF2-40B4-BE49-F238E27FC236}">
                <a16:creationId xmlns:a16="http://schemas.microsoft.com/office/drawing/2014/main" id="{7CA43786-A8D7-4DAB-99CE-CA6C31A0E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1072" y="3474720"/>
            <a:ext cx="4928616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A9C0CB"/>
                </a:solidFill>
                <a:latin typeface="Arial"/>
                <a:ea typeface="Arial"/>
                <a:cs typeface="Arial"/>
              </a:rPr>
              <a:t>DOWNLINK PIPELINE</a:t>
            </a:r>
          </a:p>
        </p:txBody>
      </p:sp>
      <p:sp>
        <p:nvSpPr>
          <p:cNvPr id="17" name="Slide 3 TextBox 27">
            <a:extLst xmlns:a="http://schemas.openxmlformats.org/drawingml/2006/main">
              <a:ext uri="{FF2B5EF4-FFF2-40B4-BE49-F238E27FC236}">
                <a16:creationId xmlns:a16="http://schemas.microsoft.com/office/drawing/2014/main" id="{87E88DC5-0FE3-4682-9358-7EA274927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1072" y="3776472"/>
            <a:ext cx="4928616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FFAD5C"/>
                </a:solidFill>
                <a:latin typeface="Arial"/>
                <a:ea typeface="Arial"/>
                <a:cs typeface="Arial"/>
              </a:rPr>
              <a:t>Encoding → modulation → precoding → IFFT</a:t>
            </a:r>
          </a:p>
        </p:txBody>
      </p:sp>
      <p:sp>
        <p:nvSpPr>
          <p:cNvPr id="18" name="Slide 3 TextBox 28">
            <a:extLst xmlns:a="http://schemas.openxmlformats.org/drawingml/2006/main">
              <a:ext uri="{FF2B5EF4-FFF2-40B4-BE49-F238E27FC236}">
                <a16:creationId xmlns:a16="http://schemas.microsoft.com/office/drawing/2014/main" id="{D6597F3F-4ADA-4784-AF74-ABC4ECD77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1072" y="4324350"/>
            <a:ext cx="4928616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1150" b="0">
                <a:solidFill>
                  <a:srgbClr val="A9C0CB"/>
                </a:solidFill>
                <a:latin typeface="Arial"/>
                <a:ea typeface="Arial"/>
                <a:cs typeface="Arial"/>
              </a:rPr>
              <a:t>User data becomes radio samples.</a:t>
            </a:r>
          </a:p>
        </p:txBody>
      </p:sp>
      <p:sp>
        <p:nvSpPr>
          <p:cNvPr id="19" name="Slide 3 TextBox 30">
            <a:extLst xmlns:a="http://schemas.openxmlformats.org/drawingml/2006/main">
              <a:ext uri="{FF2B5EF4-FFF2-40B4-BE49-F238E27FC236}">
                <a16:creationId xmlns:a16="http://schemas.microsoft.com/office/drawing/2014/main" id="{83DC25C9-0E94-471D-936A-5BB972D5E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51435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1450" b="1">
                <a:solidFill>
                  <a:srgbClr val="EEF7FB"/>
                </a:solidFill>
                <a:latin typeface="Arial"/>
                <a:ea typeface="Arial"/>
                <a:cs typeface="Arial"/>
              </a:rPr>
              <a:t>Scope: </a:t>
            </a:r>
            <a:r>
              <a:rPr sz="1450" b="0">
                <a:solidFill>
                  <a:srgbClr val="EEF7FB"/>
                </a:solidFill>
                <a:latin typeface="Arial"/>
                <a:ea typeface="Arial"/>
                <a:cs typeface="Arial"/>
              </a:rPr>
              <a:t>MegaStation does not redesign the 5G air interface. It redesigns how baseband tasks are executed on compute infrastructure.</a:t>
            </a:r>
          </a:p>
        </p:txBody>
      </p:sp>
    </p:spTree>
    <p:extLst>
      <p:ext uri="{BB962C8B-B14F-4D97-AF65-F5344CB8AC3E}">
        <p14:creationId xmlns:p14="http://schemas.microsoft.com/office/powerpoint/2010/main" val="95428805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5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 4 TextBox 2">
            <a:extLst xmlns:a="http://schemas.openxmlformats.org/drawingml/2006/main">
              <a:ext uri="{FF2B5EF4-FFF2-40B4-BE49-F238E27FC236}">
                <a16:creationId xmlns:a16="http://schemas.microsoft.com/office/drawing/2014/main" id="{EE8BFCD3-1634-445D-966C-4C5F43CEE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4048"/>
            <a:ext cx="594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2D7D1"/>
                </a:solidFill>
                <a:latin typeface="Arial"/>
                <a:ea typeface="Arial"/>
                <a:cs typeface="Arial"/>
              </a:rPr>
              <a:t>RESEARCH LANDSCAPE</a:t>
            </a:r>
          </a:p>
        </p:txBody>
      </p:sp>
      <p:sp>
        <p:nvSpPr>
          <p:cNvPr id="2" name="Slide 4 TextBox 3">
            <a:extLst xmlns:a="http://schemas.openxmlformats.org/drawingml/2006/main">
              <a:ext uri="{FF2B5EF4-FFF2-40B4-BE49-F238E27FC236}">
                <a16:creationId xmlns:a16="http://schemas.microsoft.com/office/drawing/2014/main" id="{119BD595-ECD8-4690-98D3-335C7283E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838200"/>
            <a:ext cx="1088136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EF7FB"/>
                </a:solidFill>
                <a:latin typeface="Arial"/>
                <a:ea typeface="Arial"/>
                <a:cs typeface="Arial"/>
              </a:rPr>
              <a:t>Three hardware directions, three trade-offs</a:t>
            </a:r>
          </a:p>
        </p:txBody>
      </p:sp>
      <p:sp>
        <p:nvSpPr>
          <p:cNvPr id="3" name="Slide 4 TextBox 4">
            <a:extLst xmlns:a="http://schemas.openxmlformats.org/drawingml/2006/main">
              <a:ext uri="{FF2B5EF4-FFF2-40B4-BE49-F238E27FC236}">
                <a16:creationId xmlns:a16="http://schemas.microsoft.com/office/drawing/2014/main" id="{BF5EFF3F-B6E0-451B-ABA1-834C651C9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6477000"/>
            <a:ext cx="996696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630" b="0">
                <a:solidFill>
                  <a:srgbClr val="7894A2"/>
                </a:solidFill>
                <a:latin typeface="Arial"/>
                <a:ea typeface="Arial"/>
                <a:cs typeface="Arial"/>
              </a:rPr>
              <a:t>Prior substrates and SNC properties: paper §§1–2 [1]; conference slides [2]</a:t>
            </a:r>
          </a:p>
        </p:txBody>
      </p:sp>
      <p:sp>
        <p:nvSpPr>
          <p:cNvPr id="4" name="Slide 4 TextBox 5">
            <a:extLst xmlns:a="http://schemas.openxmlformats.org/drawingml/2006/main">
              <a:ext uri="{FF2B5EF4-FFF2-40B4-BE49-F238E27FC236}">
                <a16:creationId xmlns:a16="http://schemas.microsoft.com/office/drawing/2014/main" id="{9B218814-7750-41A3-86BB-FBC02647C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7000"/>
            <a:ext cx="59436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680" b="0">
                <a:solidFill>
                  <a:srgbClr val="7894A2"/>
                </a:solidFill>
                <a:latin typeface="Arial"/>
                <a:ea typeface="Arial"/>
                <a:cs typeface="Arial"/>
              </a:rPr>
              <a:t>4 / 13</a:t>
            </a:r>
          </a:p>
        </p:txBody>
      </p:sp>
      <p:sp>
        <p:nvSpPr>
          <p:cNvPr id="5" name="Slide 4 TextBox 7">
            <a:extLst xmlns:a="http://schemas.openxmlformats.org/drawingml/2006/main">
              <a:ext uri="{FF2B5EF4-FFF2-40B4-BE49-F238E27FC236}">
                <a16:creationId xmlns:a16="http://schemas.microsoft.com/office/drawing/2014/main" id="{C922B0F0-C8B2-490B-9DCF-E681DEB24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1737360"/>
            <a:ext cx="3191256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A9C0CB"/>
                </a:solidFill>
                <a:latin typeface="Arial"/>
                <a:ea typeface="Arial"/>
                <a:cs typeface="Arial"/>
              </a:rPr>
              <a:t>GENERAL-PURPOSE</a:t>
            </a:r>
          </a:p>
        </p:txBody>
      </p:sp>
      <p:sp>
        <p:nvSpPr>
          <p:cNvPr id="6" name="Slide 4 TextBox 8">
            <a:extLst xmlns:a="http://schemas.openxmlformats.org/drawingml/2006/main">
              <a:ext uri="{FF2B5EF4-FFF2-40B4-BE49-F238E27FC236}">
                <a16:creationId xmlns:a16="http://schemas.microsoft.com/office/drawing/2014/main" id="{F1590603-C988-4FDE-8C98-CC2B1F95C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039112"/>
            <a:ext cx="3191256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42D7D1"/>
                </a:solidFill>
                <a:latin typeface="Arial"/>
                <a:ea typeface="Arial"/>
                <a:cs typeface="Arial"/>
              </a:rPr>
              <a:t>x86 server clusters</a:t>
            </a:r>
          </a:p>
        </p:txBody>
      </p:sp>
      <p:sp>
        <p:nvSpPr>
          <p:cNvPr id="7" name="Slide 4 TextBox 9">
            <a:extLst xmlns:a="http://schemas.openxmlformats.org/drawingml/2006/main">
              <a:ext uri="{FF2B5EF4-FFF2-40B4-BE49-F238E27FC236}">
                <a16:creationId xmlns:a16="http://schemas.microsoft.com/office/drawing/2014/main" id="{72A0EB59-577C-4929-9642-11A0791D6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914650"/>
            <a:ext cx="3191256" cy="20638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A9C0CB"/>
                </a:solidFill>
                <a:latin typeface="Arial"/>
                <a:ea typeface="Arial"/>
                <a:cs typeface="Arial"/>
              </a:rPr>
              <a:t>+ Programmable
– More servers, physical space, cost, and cross-node coordination at scale
BigStation · Hydra</a:t>
            </a:r>
          </a:p>
        </p:txBody>
      </p:sp>
      <p:sp>
        <p:nvSpPr>
          <p:cNvPr id="8" name="Slide 4 TextBox 11">
            <a:extLst xmlns:a="http://schemas.openxmlformats.org/drawingml/2006/main">
              <a:ext uri="{FF2B5EF4-FFF2-40B4-BE49-F238E27FC236}">
                <a16:creationId xmlns:a16="http://schemas.microsoft.com/office/drawing/2014/main" id="{E55BAACB-21D3-46D9-BBFD-64F91C8DC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7992" y="1737360"/>
            <a:ext cx="3191256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A9C0CB"/>
                </a:solidFill>
                <a:latin typeface="Arial"/>
                <a:ea typeface="Arial"/>
                <a:cs typeface="Arial"/>
              </a:rPr>
              <a:t>SPECIALIZED</a:t>
            </a:r>
          </a:p>
        </p:txBody>
      </p:sp>
      <p:sp>
        <p:nvSpPr>
          <p:cNvPr id="9" name="Slide 4 TextBox 12">
            <a:extLst xmlns:a="http://schemas.openxmlformats.org/drawingml/2006/main">
              <a:ext uri="{FF2B5EF4-FFF2-40B4-BE49-F238E27FC236}">
                <a16:creationId xmlns:a16="http://schemas.microsoft.com/office/drawing/2014/main" id="{A24DE4C1-F95B-4472-BFBC-448670691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7992" y="2039112"/>
            <a:ext cx="3191256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FFAD5C"/>
                </a:solidFill>
                <a:latin typeface="Arial"/>
                <a:ea typeface="Arial"/>
                <a:cs typeface="Arial"/>
              </a:rPr>
              <a:t>FPGA / fixed accelerators</a:t>
            </a:r>
          </a:p>
        </p:txBody>
      </p:sp>
      <p:sp>
        <p:nvSpPr>
          <p:cNvPr id="10" name="Slide 4 TextBox 13">
            <a:extLst xmlns:a="http://schemas.openxmlformats.org/drawingml/2006/main">
              <a:ext uri="{FF2B5EF4-FFF2-40B4-BE49-F238E27FC236}">
                <a16:creationId xmlns:a16="http://schemas.microsoft.com/office/drawing/2014/main" id="{6A4D33A5-8F94-4B0E-A743-659410F95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7992" y="2914650"/>
            <a:ext cx="3191256" cy="20638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A9C0CB"/>
                </a:solidFill>
                <a:latin typeface="Arial"/>
                <a:ea typeface="Arial"/>
                <a:cs typeface="Arial"/>
              </a:rPr>
              <a:t>+ Efficient
– Harder to reconfigure, partition, and manage as MIMO settings or traffic change
LuMaMi</a:t>
            </a:r>
          </a:p>
        </p:txBody>
      </p:sp>
      <p:sp>
        <p:nvSpPr>
          <p:cNvPr id="11" name="Slide 4 TextBox 15">
            <a:extLst xmlns:a="http://schemas.openxmlformats.org/drawingml/2006/main">
              <a:ext uri="{FF2B5EF4-FFF2-40B4-BE49-F238E27FC236}">
                <a16:creationId xmlns:a16="http://schemas.microsoft.com/office/drawing/2014/main" id="{3EE7AFEA-5C0C-4C73-8232-BE8F54287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1312" y="1737360"/>
            <a:ext cx="3191256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A9C0CB"/>
                </a:solidFill>
                <a:latin typeface="Arial"/>
                <a:ea typeface="Arial"/>
                <a:cs typeface="Arial"/>
              </a:rPr>
              <a:t>EMERGING PLATFORM</a:t>
            </a:r>
          </a:p>
        </p:txBody>
      </p:sp>
      <p:sp>
        <p:nvSpPr>
          <p:cNvPr id="12" name="Slide 4 TextBox 16">
            <a:extLst xmlns:a="http://schemas.openxmlformats.org/drawingml/2006/main">
              <a:ext uri="{FF2B5EF4-FFF2-40B4-BE49-F238E27FC236}">
                <a16:creationId xmlns:a16="http://schemas.microsoft.com/office/drawing/2014/main" id="{A340269A-7D7C-43A2-A1E5-C9328730A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1312" y="2039112"/>
            <a:ext cx="3191256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1900" b="1">
                <a:solidFill>
                  <a:srgbClr val="42D7D1"/>
                </a:solidFill>
                <a:latin typeface="Arial"/>
                <a:ea typeface="Arial"/>
                <a:cs typeface="Arial"/>
              </a:rPr>
              <a:t>Single-node supercomputer</a:t>
            </a:r>
          </a:p>
        </p:txBody>
      </p:sp>
      <p:sp>
        <p:nvSpPr>
          <p:cNvPr id="13" name="Slide 4 TextBox 17">
            <a:extLst xmlns:a="http://schemas.openxmlformats.org/drawingml/2006/main">
              <a:ext uri="{FF2B5EF4-FFF2-40B4-BE49-F238E27FC236}">
                <a16:creationId xmlns:a16="http://schemas.microsoft.com/office/drawing/2014/main" id="{968FC515-DA55-43C0-8F5A-B30C75C2E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1312" y="2914650"/>
            <a:ext cx="3191256" cy="20638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A9C0CB"/>
                </a:solidFill>
                <a:latin typeface="Arial"/>
                <a:ea typeface="Arial"/>
                <a:cs typeface="Arial"/>
              </a:rPr>
              <a:t>+ Dense, programmable GPU pool
+ Add or remove GPUs while keeping a host-native stack
GigaIO FabreX</a:t>
            </a:r>
          </a:p>
        </p:txBody>
      </p:sp>
      <p:sp>
        <p:nvSpPr>
          <p:cNvPr id="14" name="Slide 4 TextBox 19">
            <a:extLst xmlns:a="http://schemas.openxmlformats.org/drawingml/2006/main">
              <a:ext uri="{FF2B5EF4-FFF2-40B4-BE49-F238E27FC236}">
                <a16:creationId xmlns:a16="http://schemas.microsoft.com/office/drawing/2014/main" id="{038152D2-1B58-460B-9375-CD7170870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541264"/>
            <a:ext cx="1037844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1450" b="1">
                <a:solidFill>
                  <a:srgbClr val="EEF7FB"/>
                </a:solidFill>
                <a:latin typeface="Arial"/>
                <a:ea typeface="Arial"/>
                <a:cs typeface="Arial"/>
              </a:rPr>
              <a:t>Open question: </a:t>
            </a:r>
            <a:r>
              <a:rPr sz="1450" b="0">
                <a:solidFill>
                  <a:srgbClr val="EEF7FB"/>
                </a:solidFill>
                <a:latin typeface="Arial"/>
                <a:ea typeface="Arial"/>
                <a:cs typeface="Arial"/>
              </a:rPr>
              <a:t>If the platform becomes composable, should the baseband software remain statically partitioned?</a:t>
            </a:r>
          </a:p>
        </p:txBody>
      </p:sp>
    </p:spTree>
    <p:extLst>
      <p:ext uri="{BB962C8B-B14F-4D97-AF65-F5344CB8AC3E}">
        <p14:creationId xmlns:p14="http://schemas.microsoft.com/office/powerpoint/2010/main" val="14524352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5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 5 TextBox 2">
            <a:extLst xmlns:a="http://schemas.openxmlformats.org/drawingml/2006/main">
              <a:ext uri="{FF2B5EF4-FFF2-40B4-BE49-F238E27FC236}">
                <a16:creationId xmlns:a16="http://schemas.microsoft.com/office/drawing/2014/main" id="{C8F36697-D1EE-4947-9EBC-69C25A75F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4048"/>
            <a:ext cx="594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2D7D1"/>
                </a:solidFill>
                <a:latin typeface="Arial"/>
                <a:ea typeface="Arial"/>
                <a:cs typeface="Arial"/>
              </a:rPr>
              <a:t>THE HIDDEN BOTTLENECK</a:t>
            </a:r>
          </a:p>
        </p:txBody>
      </p:sp>
      <p:sp>
        <p:nvSpPr>
          <p:cNvPr id="2" name="Slide 5 TextBox 3">
            <a:extLst xmlns:a="http://schemas.openxmlformats.org/drawingml/2006/main">
              <a:ext uri="{FF2B5EF4-FFF2-40B4-BE49-F238E27FC236}">
                <a16:creationId xmlns:a16="http://schemas.microsoft.com/office/drawing/2014/main" id="{87CE7324-E5E2-4BB8-AF67-598AB9A02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838200"/>
            <a:ext cx="1088136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EF7FB"/>
                </a:solidFill>
                <a:latin typeface="Arial"/>
                <a:ea typeface="Arial"/>
                <a:cs typeface="Arial"/>
              </a:rPr>
              <a:t>No single execution granularity wins everywhere</a:t>
            </a:r>
          </a:p>
        </p:txBody>
      </p:sp>
      <p:sp>
        <p:nvSpPr>
          <p:cNvPr id="3" name="Slide 5 TextBox 4">
            <a:extLst xmlns:a="http://schemas.openxmlformats.org/drawingml/2006/main">
              <a:ext uri="{FF2B5EF4-FFF2-40B4-BE49-F238E27FC236}">
                <a16:creationId xmlns:a16="http://schemas.microsoft.com/office/drawing/2014/main" id="{46986D3C-2541-48A2-8AAB-FCFB37092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6477000"/>
            <a:ext cx="996696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630" b="0">
                <a:solidFill>
                  <a:srgbClr val="7894A2"/>
                </a:solidFill>
                <a:latin typeface="Arial"/>
                <a:ea typeface="Arial"/>
                <a:cs typeface="Arial"/>
              </a:rPr>
              <a:t>Characterization and “no one-size-fits-all” finding: paper §3 [1]</a:t>
            </a:r>
          </a:p>
        </p:txBody>
      </p:sp>
      <p:sp>
        <p:nvSpPr>
          <p:cNvPr id="4" name="Slide 5 TextBox 5">
            <a:extLst xmlns:a="http://schemas.openxmlformats.org/drawingml/2006/main">
              <a:ext uri="{FF2B5EF4-FFF2-40B4-BE49-F238E27FC236}">
                <a16:creationId xmlns:a16="http://schemas.microsoft.com/office/drawing/2014/main" id="{85836AAB-C5AB-467E-A8D3-2BB322828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7000"/>
            <a:ext cx="59436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680" b="0">
                <a:solidFill>
                  <a:srgbClr val="7894A2"/>
                </a:solidFill>
                <a:latin typeface="Arial"/>
                <a:ea typeface="Arial"/>
                <a:cs typeface="Arial"/>
              </a:rPr>
              <a:t>5 / 13</a:t>
            </a:r>
          </a:p>
        </p:txBody>
      </p:sp>
      <p:sp>
        <p:nvSpPr>
          <p:cNvPr id="5" name="Slide 5 TextBox 6">
            <a:extLst xmlns:a="http://schemas.openxmlformats.org/drawingml/2006/main">
              <a:ext uri="{FF2B5EF4-FFF2-40B4-BE49-F238E27FC236}">
                <a16:creationId xmlns:a16="http://schemas.microsoft.com/office/drawing/2014/main" id="{83ACFBCB-5D87-458C-8995-C2683020C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792224"/>
            <a:ext cx="150876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FFAD5C"/>
                </a:solidFill>
                <a:latin typeface="Arial"/>
                <a:ea typeface="Arial"/>
                <a:cs typeface="Arial"/>
              </a:rPr>
              <a:t>FRAME LEVEL</a:t>
            </a:r>
          </a:p>
        </p:txBody>
      </p:sp>
      <p:sp>
        <p:nvSpPr>
          <p:cNvPr id="6" name="Slide 5 TextBox 8">
            <a:extLst xmlns:a="http://schemas.openxmlformats.org/drawingml/2006/main">
              <a:ext uri="{FF2B5EF4-FFF2-40B4-BE49-F238E27FC236}">
                <a16:creationId xmlns:a16="http://schemas.microsoft.com/office/drawing/2014/main" id="{6662888F-9793-4F06-A1C1-8527AEAF2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80" y="1810512"/>
            <a:ext cx="5913882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AF4FA"/>
                </a:solidFill>
                <a:latin typeface="Arial"/>
                <a:ea typeface="Arial"/>
                <a:cs typeface="Arial"/>
              </a:rPr>
              <a:t>large job · low coordination</a:t>
            </a:r>
          </a:p>
        </p:txBody>
      </p:sp>
      <p:sp>
        <p:nvSpPr>
          <p:cNvPr id="7" name="Slide 5 TextBox 10">
            <a:extLst xmlns:a="http://schemas.openxmlformats.org/drawingml/2006/main">
              <a:ext uri="{FF2B5EF4-FFF2-40B4-BE49-F238E27FC236}">
                <a16:creationId xmlns:a16="http://schemas.microsoft.com/office/drawing/2014/main" id="{71A1F8F8-95D0-4423-B448-A9DB9AE7F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4162" y="1810512"/>
            <a:ext cx="318439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9C0CB"/>
                </a:solidFill>
                <a:latin typeface="Arial"/>
                <a:ea typeface="Arial"/>
                <a:cs typeface="Arial"/>
              </a:rPr>
              <a:t>may waste gaps</a:t>
            </a:r>
          </a:p>
        </p:txBody>
      </p:sp>
      <p:sp>
        <p:nvSpPr>
          <p:cNvPr id="8" name="Slide 5 TextBox 11">
            <a:extLst xmlns:a="http://schemas.openxmlformats.org/drawingml/2006/main">
              <a:ext uri="{FF2B5EF4-FFF2-40B4-BE49-F238E27FC236}">
                <a16:creationId xmlns:a16="http://schemas.microsoft.com/office/drawing/2014/main" id="{D3140948-16FE-4C35-A743-CC2DB4430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596896"/>
            <a:ext cx="150876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42D7D1"/>
                </a:solidFill>
                <a:latin typeface="Arial"/>
                <a:ea typeface="Arial"/>
                <a:cs typeface="Arial"/>
              </a:rPr>
              <a:t>SYMBOL LEVEL</a:t>
            </a:r>
          </a:p>
        </p:txBody>
      </p:sp>
      <p:sp>
        <p:nvSpPr>
          <p:cNvPr id="9" name="Slide 5 TextBox 13">
            <a:extLst xmlns:a="http://schemas.openxmlformats.org/drawingml/2006/main">
              <a:ext uri="{FF2B5EF4-FFF2-40B4-BE49-F238E27FC236}">
                <a16:creationId xmlns:a16="http://schemas.microsoft.com/office/drawing/2014/main" id="{A779B991-E597-4511-8181-8D3D9E52C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80" y="2615184"/>
            <a:ext cx="263852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AF4FA"/>
                </a:solidFill>
                <a:latin typeface="Arial"/>
                <a:ea typeface="Arial"/>
                <a:cs typeface="Arial"/>
              </a:rPr>
              <a:t>symbol</a:t>
            </a:r>
          </a:p>
        </p:txBody>
      </p:sp>
      <p:sp>
        <p:nvSpPr>
          <p:cNvPr id="10" name="Slide 5 TextBox 15">
            <a:extLst xmlns:a="http://schemas.openxmlformats.org/drawingml/2006/main">
              <a:ext uri="{FF2B5EF4-FFF2-40B4-BE49-F238E27FC236}">
                <a16:creationId xmlns:a16="http://schemas.microsoft.com/office/drawing/2014/main" id="{BE4DAEFE-9023-4D07-9F35-AE75D9F49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8800" y="2615184"/>
            <a:ext cx="263852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AF4FA"/>
                </a:solidFill>
                <a:latin typeface="Arial"/>
                <a:ea typeface="Arial"/>
                <a:cs typeface="Arial"/>
              </a:rPr>
              <a:t>symbol</a:t>
            </a:r>
          </a:p>
        </p:txBody>
      </p:sp>
      <p:sp>
        <p:nvSpPr>
          <p:cNvPr id="11" name="Slide 5 TextBox 17">
            <a:extLst xmlns:a="http://schemas.openxmlformats.org/drawingml/2006/main">
              <a:ext uri="{FF2B5EF4-FFF2-40B4-BE49-F238E27FC236}">
                <a16:creationId xmlns:a16="http://schemas.microsoft.com/office/drawing/2014/main" id="{930ABD15-1587-41D5-8FA3-4D4591579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7321" y="2615184"/>
            <a:ext cx="1455706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9C0CB"/>
                </a:solidFill>
                <a:latin typeface="Arial"/>
                <a:ea typeface="Arial"/>
                <a:cs typeface="Arial"/>
              </a:rPr>
              <a:t>shuffle</a:t>
            </a:r>
          </a:p>
        </p:txBody>
      </p:sp>
      <p:sp>
        <p:nvSpPr>
          <p:cNvPr id="12" name="Slide 5 TextBox 19">
            <a:extLst xmlns:a="http://schemas.openxmlformats.org/drawingml/2006/main">
              <a:ext uri="{FF2B5EF4-FFF2-40B4-BE49-F238E27FC236}">
                <a16:creationId xmlns:a16="http://schemas.microsoft.com/office/drawing/2014/main" id="{C1430A9E-0793-4810-AAC3-4E545D13F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3026" y="2615184"/>
            <a:ext cx="2365534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AF4FA"/>
                </a:solidFill>
                <a:latin typeface="Arial"/>
                <a:ea typeface="Arial"/>
                <a:cs typeface="Arial"/>
              </a:rPr>
              <a:t>symbol</a:t>
            </a:r>
          </a:p>
        </p:txBody>
      </p:sp>
      <p:sp>
        <p:nvSpPr>
          <p:cNvPr id="13" name="Slide 5 TextBox 20">
            <a:extLst xmlns:a="http://schemas.openxmlformats.org/drawingml/2006/main">
              <a:ext uri="{FF2B5EF4-FFF2-40B4-BE49-F238E27FC236}">
                <a16:creationId xmlns:a16="http://schemas.microsoft.com/office/drawing/2014/main" id="{0AFF0409-F4B9-4A66-AE57-7C5A84FB1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401568"/>
            <a:ext cx="150876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4EA5FF"/>
                </a:solidFill>
                <a:latin typeface="Arial"/>
                <a:ea typeface="Arial"/>
                <a:cs typeface="Arial"/>
              </a:rPr>
              <a:t>TASK LEVEL</a:t>
            </a:r>
          </a:p>
        </p:txBody>
      </p:sp>
      <p:sp>
        <p:nvSpPr>
          <p:cNvPr id="14" name="Slide 5 TextBox 22">
            <a:extLst xmlns:a="http://schemas.openxmlformats.org/drawingml/2006/main">
              <a:ext uri="{FF2B5EF4-FFF2-40B4-BE49-F238E27FC236}">
                <a16:creationId xmlns:a16="http://schemas.microsoft.com/office/drawing/2014/main" id="{FCE9780A-8D2F-413A-BF8B-0672DF9C7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80" y="3419856"/>
            <a:ext cx="154667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AF4FA"/>
                </a:solidFill>
                <a:latin typeface="Arial"/>
                <a:ea typeface="Arial"/>
                <a:cs typeface="Arial"/>
              </a:rPr>
              <a:t>FFT</a:t>
            </a:r>
          </a:p>
        </p:txBody>
      </p:sp>
      <p:sp>
        <p:nvSpPr>
          <p:cNvPr id="15" name="Slide 5 TextBox 24">
            <a:extLst xmlns:a="http://schemas.openxmlformats.org/drawingml/2006/main">
              <a:ext uri="{FF2B5EF4-FFF2-40B4-BE49-F238E27FC236}">
                <a16:creationId xmlns:a16="http://schemas.microsoft.com/office/drawing/2014/main" id="{B48FD24C-954C-44C2-940D-B88CCF1C9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6950" y="3419856"/>
            <a:ext cx="2092643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AF4FA"/>
                </a:solidFill>
                <a:latin typeface="Arial"/>
                <a:ea typeface="Arial"/>
                <a:cs typeface="Arial"/>
              </a:rPr>
              <a:t>equalize</a:t>
            </a:r>
          </a:p>
        </p:txBody>
      </p:sp>
      <p:sp>
        <p:nvSpPr>
          <p:cNvPr id="16" name="Slide 5 TextBox 26">
            <a:extLst xmlns:a="http://schemas.openxmlformats.org/drawingml/2006/main">
              <a:ext uri="{FF2B5EF4-FFF2-40B4-BE49-F238E27FC236}">
                <a16:creationId xmlns:a16="http://schemas.microsoft.com/office/drawing/2014/main" id="{9B7FDC33-7ACF-48E5-8197-267133C36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3419856"/>
            <a:ext cx="1091756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9C0CB"/>
                </a:solidFill>
                <a:latin typeface="Arial"/>
                <a:ea typeface="Arial"/>
                <a:cs typeface="Arial"/>
              </a:rPr>
              <a:t>wait</a:t>
            </a:r>
          </a:p>
        </p:txBody>
      </p:sp>
      <p:sp>
        <p:nvSpPr>
          <p:cNvPr id="17" name="Slide 5 TextBox 28">
            <a:extLst xmlns:a="http://schemas.openxmlformats.org/drawingml/2006/main">
              <a:ext uri="{FF2B5EF4-FFF2-40B4-BE49-F238E27FC236}">
                <a16:creationId xmlns:a16="http://schemas.microsoft.com/office/drawing/2014/main" id="{790CC60F-0E62-453B-8902-22CEA0F37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1348" y="3419856"/>
            <a:ext cx="1819656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AF4FA"/>
                </a:solidFill>
                <a:latin typeface="Arial"/>
                <a:ea typeface="Arial"/>
                <a:cs typeface="Arial"/>
              </a:rPr>
              <a:t>decode</a:t>
            </a:r>
          </a:p>
        </p:txBody>
      </p:sp>
      <p:sp>
        <p:nvSpPr>
          <p:cNvPr id="18" name="Slide 5 TextBox 30">
            <a:extLst xmlns:a="http://schemas.openxmlformats.org/drawingml/2006/main">
              <a:ext uri="{FF2B5EF4-FFF2-40B4-BE49-F238E27FC236}">
                <a16:creationId xmlns:a16="http://schemas.microsoft.com/office/drawing/2014/main" id="{CD90C7B7-354A-4766-A2A6-1596A4548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004" y="3419856"/>
            <a:ext cx="2547557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9C0CB"/>
                </a:solidFill>
                <a:latin typeface="Arial"/>
                <a:ea typeface="Arial"/>
                <a:cs typeface="Arial"/>
              </a:rPr>
              <a:t>queues / copies</a:t>
            </a:r>
          </a:p>
        </p:txBody>
      </p:sp>
      <p:sp>
        <p:nvSpPr>
          <p:cNvPr id="19" name="Slide 5 TextBox 32">
            <a:extLst xmlns:a="http://schemas.openxmlformats.org/drawingml/2006/main">
              <a:ext uri="{FF2B5EF4-FFF2-40B4-BE49-F238E27FC236}">
                <a16:creationId xmlns:a16="http://schemas.microsoft.com/office/drawing/2014/main" id="{20F1BA15-A03E-4479-AFC3-157282938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526280"/>
            <a:ext cx="4928616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A9C0CB"/>
                </a:solidFill>
                <a:latin typeface="Arial"/>
                <a:ea typeface="Arial"/>
                <a:cs typeface="Arial"/>
              </a:rPr>
              <a:t>HARDWARE AVAILABILITY CHANGES</a:t>
            </a:r>
          </a:p>
        </p:txBody>
      </p:sp>
      <p:sp>
        <p:nvSpPr>
          <p:cNvPr id="20" name="Slide 5 TextBox 33">
            <a:extLst xmlns:a="http://schemas.openxmlformats.org/drawingml/2006/main">
              <a:ext uri="{FF2B5EF4-FFF2-40B4-BE49-F238E27FC236}">
                <a16:creationId xmlns:a16="http://schemas.microsoft.com/office/drawing/2014/main" id="{5EA0DA9F-804F-4EC1-82F9-23789D469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828032"/>
            <a:ext cx="4928616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2D7D1"/>
                </a:solidFill>
                <a:latin typeface="Arial"/>
                <a:ea typeface="Arial"/>
                <a:cs typeface="Arial"/>
              </a:rPr>
              <a:t>Full · fragmented · partial · delayed</a:t>
            </a:r>
          </a:p>
        </p:txBody>
      </p:sp>
      <p:sp>
        <p:nvSpPr>
          <p:cNvPr id="21" name="Slide 5 TextBox 34">
            <a:extLst xmlns:a="http://schemas.openxmlformats.org/drawingml/2006/main">
              <a:ext uri="{FF2B5EF4-FFF2-40B4-BE49-F238E27FC236}">
                <a16:creationId xmlns:a16="http://schemas.microsoft.com/office/drawing/2014/main" id="{5C5C3BC9-F461-4EC4-BCB5-15E904E01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5381625"/>
            <a:ext cx="4928616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1150" b="0">
                <a:solidFill>
                  <a:srgbClr val="A9C0CB"/>
                </a:solidFill>
                <a:latin typeface="Arial"/>
                <a:ea typeface="Arial"/>
                <a:cs typeface="Arial"/>
              </a:rPr>
              <a:t>The free capacity available to a job changes over time.</a:t>
            </a:r>
          </a:p>
        </p:txBody>
      </p:sp>
      <p:sp>
        <p:nvSpPr>
          <p:cNvPr id="22" name="Slide 5 TextBox 36">
            <a:extLst xmlns:a="http://schemas.openxmlformats.org/drawingml/2006/main">
              <a:ext uri="{FF2B5EF4-FFF2-40B4-BE49-F238E27FC236}">
                <a16:creationId xmlns:a16="http://schemas.microsoft.com/office/drawing/2014/main" id="{D4E9171E-6ED9-4175-8826-D0BEAE561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1072" y="4526280"/>
            <a:ext cx="4928616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A9C0CB"/>
                </a:solidFill>
                <a:latin typeface="Arial"/>
                <a:ea typeface="Arial"/>
                <a:cs typeface="Arial"/>
              </a:rPr>
              <a:t>THE TRADE-OFF MOVES</a:t>
            </a:r>
          </a:p>
        </p:txBody>
      </p:sp>
      <p:sp>
        <p:nvSpPr>
          <p:cNvPr id="23" name="Slide 5 TextBox 37">
            <a:extLst xmlns:a="http://schemas.openxmlformats.org/drawingml/2006/main">
              <a:ext uri="{FF2B5EF4-FFF2-40B4-BE49-F238E27FC236}">
                <a16:creationId xmlns:a16="http://schemas.microsoft.com/office/drawing/2014/main" id="{E8B46CD5-D675-42C8-86F6-B1600C479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1072" y="4828032"/>
            <a:ext cx="4928616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AD5C"/>
                </a:solidFill>
                <a:latin typeface="Arial"/>
                <a:ea typeface="Arial"/>
                <a:cs typeface="Arial"/>
              </a:rPr>
              <a:t>Parallelism versus communication</a:t>
            </a:r>
          </a:p>
        </p:txBody>
      </p:sp>
      <p:sp>
        <p:nvSpPr>
          <p:cNvPr id="24" name="Slide 5 TextBox 38">
            <a:extLst xmlns:a="http://schemas.openxmlformats.org/drawingml/2006/main">
              <a:ext uri="{FF2B5EF4-FFF2-40B4-BE49-F238E27FC236}">
                <a16:creationId xmlns:a16="http://schemas.microsoft.com/office/drawing/2014/main" id="{B6836176-F31D-420C-BCDE-36A11CB2F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1072" y="5381625"/>
            <a:ext cx="4928616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1150" b="0">
                <a:solidFill>
                  <a:srgbClr val="A9C0CB"/>
                </a:solidFill>
                <a:latin typeface="Arial"/>
                <a:ea typeface="Arial"/>
                <a:cs typeface="Arial"/>
              </a:rPr>
              <a:t>Fine granularity fills gaps; coarse granularity can reduce copying and queueing.</a:t>
            </a:r>
          </a:p>
        </p:txBody>
      </p:sp>
    </p:spTree>
    <p:extLst>
      <p:ext uri="{BB962C8B-B14F-4D97-AF65-F5344CB8AC3E}">
        <p14:creationId xmlns:p14="http://schemas.microsoft.com/office/powerpoint/2010/main" val="33899339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5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 6 TextBox 2">
            <a:extLst xmlns:a="http://schemas.openxmlformats.org/drawingml/2006/main">
              <a:ext uri="{FF2B5EF4-FFF2-40B4-BE49-F238E27FC236}">
                <a16:creationId xmlns:a16="http://schemas.microsoft.com/office/drawing/2014/main" id="{0538E343-03B1-4EE9-9787-0AD6C58B3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4048"/>
            <a:ext cx="594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2D7D1"/>
                </a:solidFill>
                <a:latin typeface="Arial"/>
                <a:ea typeface="Arial"/>
                <a:cs typeface="Arial"/>
              </a:rPr>
              <a:t>KEY IDEA</a:t>
            </a:r>
          </a:p>
        </p:txBody>
      </p:sp>
      <p:sp>
        <p:nvSpPr>
          <p:cNvPr id="2" name="Slide 6 TextBox 3">
            <a:extLst xmlns:a="http://schemas.openxmlformats.org/drawingml/2006/main">
              <a:ext uri="{FF2B5EF4-FFF2-40B4-BE49-F238E27FC236}">
                <a16:creationId xmlns:a16="http://schemas.microsoft.com/office/drawing/2014/main" id="{079DB7BF-1F22-436D-8322-1FD29593F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838200"/>
            <a:ext cx="1088136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EF7FB"/>
                </a:solidFill>
                <a:latin typeface="Arial"/>
                <a:ea typeface="Arial"/>
                <a:cs typeface="Arial"/>
              </a:rPr>
              <a:t>Borrow a processor idea: dynamic instruction scheduling</a:t>
            </a:r>
          </a:p>
        </p:txBody>
      </p:sp>
      <p:sp>
        <p:nvSpPr>
          <p:cNvPr id="3" name="Slide 6 TextBox 4">
            <a:extLst xmlns:a="http://schemas.openxmlformats.org/drawingml/2006/main">
              <a:ext uri="{FF2B5EF4-FFF2-40B4-BE49-F238E27FC236}">
                <a16:creationId xmlns:a16="http://schemas.microsoft.com/office/drawing/2014/main" id="{4FD404AC-15C0-4A7A-B9C0-E893C5273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6477000"/>
            <a:ext cx="996696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630" b="0">
                <a:solidFill>
                  <a:srgbClr val="7894A2"/>
                </a:solidFill>
                <a:latin typeface="Arial"/>
                <a:ea typeface="Arial"/>
                <a:cs typeface="Arial"/>
              </a:rPr>
              <a:t>MegaStation design and processor analogy: paper §4.1 [1]; slides pp. 11–15 [2]</a:t>
            </a:r>
          </a:p>
        </p:txBody>
      </p:sp>
      <p:sp>
        <p:nvSpPr>
          <p:cNvPr id="4" name="Slide 6 TextBox 5">
            <a:extLst xmlns:a="http://schemas.openxmlformats.org/drawingml/2006/main">
              <a:ext uri="{FF2B5EF4-FFF2-40B4-BE49-F238E27FC236}">
                <a16:creationId xmlns:a16="http://schemas.microsoft.com/office/drawing/2014/main" id="{2F3AE843-8600-42EE-B305-A017E0BDE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7000"/>
            <a:ext cx="59436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680" b="0">
                <a:solidFill>
                  <a:srgbClr val="7894A2"/>
                </a:solidFill>
                <a:latin typeface="Arial"/>
                <a:ea typeface="Arial"/>
                <a:cs typeface="Arial"/>
              </a:rPr>
              <a:t>6 / 13</a:t>
            </a:r>
          </a:p>
        </p:txBody>
      </p:sp>
      <p:sp>
        <p:nvSpPr>
          <p:cNvPr id="5" name="Slide 6 TextBox 7">
            <a:extLst xmlns:a="http://schemas.openxmlformats.org/drawingml/2006/main">
              <a:ext uri="{FF2B5EF4-FFF2-40B4-BE49-F238E27FC236}">
                <a16:creationId xmlns:a16="http://schemas.microsoft.com/office/drawing/2014/main" id="{2FCF1F84-FDFF-484F-8C46-AB2FD6850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783080"/>
            <a:ext cx="438912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9C0CB"/>
                </a:solidFill>
                <a:latin typeface="Arial"/>
                <a:ea typeface="Arial"/>
                <a:cs typeface="Arial"/>
              </a:rPr>
              <a:t>PROCESSOR ANALOGY</a:t>
            </a:r>
          </a:p>
        </p:txBody>
      </p:sp>
      <p:sp>
        <p:nvSpPr>
          <p:cNvPr id="6" name="Slide 6 TextBox 8">
            <a:extLst xmlns:a="http://schemas.openxmlformats.org/drawingml/2006/main">
              <a:ext uri="{FF2B5EF4-FFF2-40B4-BE49-F238E27FC236}">
                <a16:creationId xmlns:a16="http://schemas.microsoft.com/office/drawing/2014/main" id="{9B7E3E38-0E2E-44DB-A380-A8A20FB83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212848"/>
            <a:ext cx="4617720" cy="20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70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42D7D1"/>
                </a:solidFill>
              </a:rPr>
              <a:t>→  </a:t>
            </a:r>
            <a:r>
              <a:rPr sz="1600">
                <a:solidFill>
                  <a:srgbClr val="EEF7FB"/>
                </a:solidFill>
                <a:latin typeface="Arial"/>
                <a:ea typeface="Arial"/>
                <a:cs typeface="Arial"/>
              </a:rPr>
              <a:t>Baseband task → instruction</a:t>
            </a:r>
          </a:p>
          <a:p xmlns:a="http://schemas.openxmlformats.org/drawingml/2006/main">
            <a:pPr algn="l">
              <a:spcAft>
                <a:spcPts val="70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42D7D1"/>
                </a:solidFill>
              </a:rPr>
              <a:t>→  </a:t>
            </a:r>
            <a:r>
              <a:rPr sz="1600">
                <a:solidFill>
                  <a:srgbClr val="EEF7FB"/>
                </a:solidFill>
                <a:latin typeface="Arial"/>
                <a:ea typeface="Arial"/>
                <a:cs typeface="Arial"/>
              </a:rPr>
              <a:t>GPU resources → functional units</a:t>
            </a:r>
          </a:p>
          <a:p xmlns:a="http://schemas.openxmlformats.org/drawingml/2006/main">
            <a:pPr algn="l">
              <a:spcAft>
                <a:spcPts val="70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42D7D1"/>
                </a:solidFill>
              </a:rPr>
              <a:t>→  </a:t>
            </a:r>
            <a:r>
              <a:rPr sz="1600">
                <a:solidFill>
                  <a:srgbClr val="EEF7FB"/>
                </a:solidFill>
                <a:latin typeface="Arial"/>
                <a:ea typeface="Arial"/>
                <a:cs typeface="Arial"/>
              </a:rPr>
              <a:t>Data dependencies → instruction graph</a:t>
            </a:r>
          </a:p>
          <a:p xmlns:a="http://schemas.openxmlformats.org/drawingml/2006/main">
            <a:pPr algn="l">
              <a:spcAft>
                <a:spcPts val="70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42D7D1"/>
                </a:solidFill>
              </a:rPr>
              <a:t>→  </a:t>
            </a:r>
            <a:r>
              <a:rPr sz="1600">
                <a:solidFill>
                  <a:srgbClr val="EEF7FB"/>
                </a:solidFill>
                <a:latin typeface="Arial"/>
                <a:ea typeface="Arial"/>
                <a:cs typeface="Arial"/>
              </a:rPr>
              <a:t>GPU status → scoreboard</a:t>
            </a:r>
          </a:p>
        </p:txBody>
      </p:sp>
      <p:sp>
        <p:nvSpPr>
          <p:cNvPr id="7" name="Slide 6 TextBox 10">
            <a:extLst xmlns:a="http://schemas.openxmlformats.org/drawingml/2006/main">
              <a:ext uri="{FF2B5EF4-FFF2-40B4-BE49-F238E27FC236}">
                <a16:creationId xmlns:a16="http://schemas.microsoft.com/office/drawing/2014/main" id="{396AA0D5-351C-41F6-A9C6-4B825AC58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783080"/>
            <a:ext cx="438912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9C0CB"/>
                </a:solidFill>
                <a:latin typeface="Arial"/>
                <a:ea typeface="Arial"/>
                <a:cs typeface="Arial"/>
              </a:rPr>
              <a:t>RUNTIME BEHAVIOR</a:t>
            </a:r>
          </a:p>
        </p:txBody>
      </p:sp>
      <p:sp>
        <p:nvSpPr>
          <p:cNvPr id="8" name="Slide 6 TextBox 11">
            <a:extLst xmlns:a="http://schemas.openxmlformats.org/drawingml/2006/main">
              <a:ext uri="{FF2B5EF4-FFF2-40B4-BE49-F238E27FC236}">
                <a16:creationId xmlns:a16="http://schemas.microsoft.com/office/drawing/2014/main" id="{0D2B24D9-48D3-46B7-A7B9-6C3F63C0F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212848"/>
            <a:ext cx="4617720" cy="20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70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42D7D1"/>
                </a:solidFill>
              </a:rPr>
              <a:t>→  </a:t>
            </a:r>
            <a:r>
              <a:rPr sz="1600">
                <a:solidFill>
                  <a:srgbClr val="EEF7FB"/>
                </a:solidFill>
                <a:latin typeface="Arial"/>
                <a:ea typeface="Arial"/>
                <a:cs typeface="Arial"/>
              </a:rPr>
              <a:t>Track which work is ready</a:t>
            </a:r>
          </a:p>
          <a:p xmlns:a="http://schemas.openxmlformats.org/drawingml/2006/main">
            <a:pPr algn="l">
              <a:spcAft>
                <a:spcPts val="70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42D7D1"/>
                </a:solidFill>
              </a:rPr>
              <a:t>→  </a:t>
            </a:r>
            <a:r>
              <a:rPr sz="1600">
                <a:solidFill>
                  <a:srgbClr val="EEF7FB"/>
                </a:solidFill>
                <a:latin typeface="Arial"/>
                <a:ea typeface="Arial"/>
                <a:cs typeface="Arial"/>
              </a:rPr>
              <a:t>Estimate resources and latency</a:t>
            </a:r>
          </a:p>
          <a:p xmlns:a="http://schemas.openxmlformats.org/drawingml/2006/main">
            <a:pPr algn="l">
              <a:spcAft>
                <a:spcPts val="70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42D7D1"/>
                </a:solidFill>
              </a:rPr>
              <a:t>→  </a:t>
            </a:r>
            <a:r>
              <a:rPr sz="1600">
                <a:solidFill>
                  <a:srgbClr val="EEF7FB"/>
                </a:solidFill>
                <a:latin typeface="Arial"/>
                <a:ea typeface="Arial"/>
                <a:cs typeface="Arial"/>
              </a:rPr>
              <a:t>Prioritize by remaining slack</a:t>
            </a:r>
          </a:p>
          <a:p xmlns:a="http://schemas.openxmlformats.org/drawingml/2006/main">
            <a:pPr algn="l">
              <a:spcAft>
                <a:spcPts val="70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42D7D1"/>
                </a:solidFill>
              </a:rPr>
              <a:t>→  </a:t>
            </a:r>
            <a:r>
              <a:rPr sz="1600">
                <a:solidFill>
                  <a:srgbClr val="EEF7FB"/>
                </a:solidFill>
                <a:latin typeface="Arial"/>
                <a:ea typeface="Arial"/>
                <a:cs typeface="Arial"/>
              </a:rPr>
              <a:t>Change granularity and placement on the fly</a:t>
            </a:r>
          </a:p>
        </p:txBody>
      </p:sp>
      <p:sp>
        <p:nvSpPr>
          <p:cNvPr id="9" name="Slide 6 TextBox 13">
            <a:extLst xmlns:a="http://schemas.openxmlformats.org/drawingml/2006/main">
              <a:ext uri="{FF2B5EF4-FFF2-40B4-BE49-F238E27FC236}">
                <a16:creationId xmlns:a16="http://schemas.microsoft.com/office/drawing/2014/main" id="{3D6318A7-26B6-4886-9443-C4700559C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257800"/>
            <a:ext cx="102412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EF7FB"/>
                </a:solidFill>
                <a:latin typeface="Arial"/>
                <a:ea typeface="Arial"/>
                <a:cs typeface="Arial"/>
              </a:rPr>
              <a:t>The contribution is a new </a:t>
            </a:r>
            <a:r>
              <a:rPr sz="1800" b="1">
                <a:solidFill>
                  <a:srgbClr val="FFAD5C"/>
                </a:solidFill>
                <a:latin typeface="Arial"/>
                <a:ea typeface="Arial"/>
                <a:cs typeface="Arial"/>
              </a:rPr>
              <a:t>control plane for computation</a:t>
            </a:r>
            <a:r>
              <a:rPr sz="1800" b="0">
                <a:solidFill>
                  <a:srgbClr val="EEF7FB"/>
                </a:solidFill>
                <a:latin typeface="Arial"/>
                <a:ea typeface="Arial"/>
                <a:cs typeface="Arial"/>
              </a:rPr>
              <a:t>—not a faster FFT.</a:t>
            </a:r>
          </a:p>
        </p:txBody>
      </p:sp>
    </p:spTree>
    <p:extLst>
      <p:ext uri="{BB962C8B-B14F-4D97-AF65-F5344CB8AC3E}">
        <p14:creationId xmlns:p14="http://schemas.microsoft.com/office/powerpoint/2010/main" val="39687748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5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 7 TextBox 2">
            <a:extLst xmlns:a="http://schemas.openxmlformats.org/drawingml/2006/main">
              <a:ext uri="{FF2B5EF4-FFF2-40B4-BE49-F238E27FC236}">
                <a16:creationId xmlns:a16="http://schemas.microsoft.com/office/drawing/2014/main" id="{288F947B-C2F1-46A8-A841-404152D4F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4048"/>
            <a:ext cx="594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2D7D1"/>
                </a:solidFill>
                <a:latin typeface="Arial"/>
                <a:ea typeface="Arial"/>
                <a:cs typeface="Arial"/>
              </a:rPr>
              <a:t>SYSTEM ARCHITECTURE</a:t>
            </a:r>
          </a:p>
        </p:txBody>
      </p:sp>
      <p:sp>
        <p:nvSpPr>
          <p:cNvPr id="2" name="Slide 7 TextBox 3">
            <a:extLst xmlns:a="http://schemas.openxmlformats.org/drawingml/2006/main">
              <a:ext uri="{FF2B5EF4-FFF2-40B4-BE49-F238E27FC236}">
                <a16:creationId xmlns:a16="http://schemas.microsoft.com/office/drawing/2014/main" id="{849BC4D6-A11E-44A1-8EFF-3BCD7D4CA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838200"/>
            <a:ext cx="1088136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EF7FB"/>
                </a:solidFill>
                <a:latin typeface="Arial"/>
                <a:ea typeface="Arial"/>
                <a:cs typeface="Arial"/>
              </a:rPr>
              <a:t>From incoming frame to the GPU pool</a:t>
            </a:r>
          </a:p>
        </p:txBody>
      </p:sp>
      <p:sp>
        <p:nvSpPr>
          <p:cNvPr id="3" name="Slide 7 TextBox 4">
            <a:extLst xmlns:a="http://schemas.openxmlformats.org/drawingml/2006/main">
              <a:ext uri="{FF2B5EF4-FFF2-40B4-BE49-F238E27FC236}">
                <a16:creationId xmlns:a16="http://schemas.microsoft.com/office/drawing/2014/main" id="{98BBC53E-9B73-4AB8-94F4-FD5811955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6477000"/>
            <a:ext cx="996696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630" b="0">
                <a:solidFill>
                  <a:srgbClr val="7894A2"/>
                </a:solidFill>
                <a:latin typeface="Arial"/>
                <a:ea typeface="Arial"/>
                <a:cs typeface="Arial"/>
              </a:rPr>
              <a:t>Components and LROC scheduler: paper §§4.1–4.6 [1]</a:t>
            </a:r>
          </a:p>
        </p:txBody>
      </p:sp>
      <p:sp>
        <p:nvSpPr>
          <p:cNvPr id="4" name="Slide 7 TextBox 5">
            <a:extLst xmlns:a="http://schemas.openxmlformats.org/drawingml/2006/main">
              <a:ext uri="{FF2B5EF4-FFF2-40B4-BE49-F238E27FC236}">
                <a16:creationId xmlns:a16="http://schemas.microsoft.com/office/drawing/2014/main" id="{E84FCD04-A929-423F-8706-0A6A98B2E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7000"/>
            <a:ext cx="59436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680" b="0">
                <a:solidFill>
                  <a:srgbClr val="7894A2"/>
                </a:solidFill>
                <a:latin typeface="Arial"/>
                <a:ea typeface="Arial"/>
                <a:cs typeface="Arial"/>
              </a:rPr>
              <a:t>7 / 13</a:t>
            </a:r>
          </a:p>
        </p:txBody>
      </p:sp>
      <p:sp>
        <p:nvSpPr>
          <p:cNvPr id="5" name="Slide 7 TextBox 7">
            <a:extLst xmlns:a="http://schemas.openxmlformats.org/drawingml/2006/main">
              <a:ext uri="{FF2B5EF4-FFF2-40B4-BE49-F238E27FC236}">
                <a16:creationId xmlns:a16="http://schemas.microsoft.com/office/drawing/2014/main" id="{B6FF0CB0-F93A-4C8A-BE07-D26A3A829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783080"/>
            <a:ext cx="205740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1450" b="1">
                <a:solidFill>
                  <a:srgbClr val="EEF7FB"/>
                </a:solidFill>
                <a:latin typeface="Arial"/>
                <a:ea typeface="Arial"/>
                <a:cs typeface="Arial"/>
              </a:rPr>
              <a:t>1 · Instruction unit</a:t>
            </a:r>
          </a:p>
        </p:txBody>
      </p:sp>
      <p:sp>
        <p:nvSpPr>
          <p:cNvPr id="6" name="Slide 7 TextBox 8">
            <a:extLst xmlns:a="http://schemas.openxmlformats.org/drawingml/2006/main">
              <a:ext uri="{FF2B5EF4-FFF2-40B4-BE49-F238E27FC236}">
                <a16:creationId xmlns:a16="http://schemas.microsoft.com/office/drawing/2014/main" id="{591673AD-E995-422D-A2BF-6C42A0D8D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176272"/>
            <a:ext cx="2020824" cy="521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9C0CB"/>
                </a:solidFill>
                <a:latin typeface="Arial"/>
                <a:ea typeface="Arial"/>
                <a:cs typeface="Arial"/>
              </a:rPr>
              <a:t>Parse frames into 11 task types; build dependencies</a:t>
            </a:r>
          </a:p>
        </p:txBody>
      </p:sp>
      <p:sp>
        <p:nvSpPr>
          <p:cNvPr id="7" name="Slide 7 TextBox 10">
            <a:extLst xmlns:a="http://schemas.openxmlformats.org/drawingml/2006/main">
              <a:ext uri="{FF2B5EF4-FFF2-40B4-BE49-F238E27FC236}">
                <a16:creationId xmlns:a16="http://schemas.microsoft.com/office/drawing/2014/main" id="{9AC60210-4F68-4386-AA79-74D2D8D37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1783080"/>
            <a:ext cx="205740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1450" b="1">
                <a:solidFill>
                  <a:srgbClr val="EEF7FB"/>
                </a:solidFill>
                <a:latin typeface="Arial"/>
                <a:ea typeface="Arial"/>
                <a:cs typeface="Arial"/>
              </a:rPr>
              <a:t>2 · Scoreboard</a:t>
            </a:r>
          </a:p>
        </p:txBody>
      </p:sp>
      <p:sp>
        <p:nvSpPr>
          <p:cNvPr id="8" name="Slide 7 TextBox 11">
            <a:extLst xmlns:a="http://schemas.openxmlformats.org/drawingml/2006/main">
              <a:ext uri="{FF2B5EF4-FFF2-40B4-BE49-F238E27FC236}">
                <a16:creationId xmlns:a16="http://schemas.microsoft.com/office/drawing/2014/main" id="{8F7F5CC7-109D-489C-9586-AF6F4CF39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4448" y="2176272"/>
            <a:ext cx="2020824" cy="521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9C0CB"/>
                </a:solidFill>
                <a:latin typeface="Arial"/>
                <a:ea typeface="Arial"/>
                <a:cs typeface="Arial"/>
              </a:rPr>
              <a:t>Track readiness, execution, resources, and GPU status</a:t>
            </a:r>
          </a:p>
        </p:txBody>
      </p:sp>
      <p:sp>
        <p:nvSpPr>
          <p:cNvPr id="9" name="Slide 7 TextBox 13">
            <a:extLst xmlns:a="http://schemas.openxmlformats.org/drawingml/2006/main">
              <a:ext uri="{FF2B5EF4-FFF2-40B4-BE49-F238E27FC236}">
                <a16:creationId xmlns:a16="http://schemas.microsoft.com/office/drawing/2014/main" id="{70670234-E4E8-4591-AD79-90B5B1B6D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783080"/>
            <a:ext cx="205740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1450" b="1">
                <a:solidFill>
                  <a:srgbClr val="EEF7FB"/>
                </a:solidFill>
                <a:latin typeface="Arial"/>
                <a:ea typeface="Arial"/>
                <a:cs typeface="Arial"/>
              </a:rPr>
              <a:t>3 · Pipeline schedulers</a:t>
            </a:r>
          </a:p>
        </p:txBody>
      </p:sp>
      <p:sp>
        <p:nvSpPr>
          <p:cNvPr id="10" name="Slide 7 TextBox 14">
            <a:extLst xmlns:a="http://schemas.openxmlformats.org/drawingml/2006/main">
              <a:ext uri="{FF2B5EF4-FFF2-40B4-BE49-F238E27FC236}">
                <a16:creationId xmlns:a16="http://schemas.microsoft.com/office/drawing/2014/main" id="{8B5EC12F-583E-4267-9FD2-907101720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2176272"/>
            <a:ext cx="2020824" cy="521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9C0CB"/>
                </a:solidFill>
                <a:latin typeface="Arial"/>
                <a:ea typeface="Arial"/>
                <a:cs typeface="Arial"/>
              </a:rPr>
              <a:t>Choose urgent ready work and placement</a:t>
            </a:r>
          </a:p>
        </p:txBody>
      </p:sp>
      <p:sp>
        <p:nvSpPr>
          <p:cNvPr id="11" name="Slide 7 TextBox 16">
            <a:extLst xmlns:a="http://schemas.openxmlformats.org/drawingml/2006/main">
              <a:ext uri="{FF2B5EF4-FFF2-40B4-BE49-F238E27FC236}">
                <a16:creationId xmlns:a16="http://schemas.microsoft.com/office/drawing/2014/main" id="{9FFEE161-5B99-48BB-830B-6170B2ACF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1783080"/>
            <a:ext cx="205740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1450" b="1">
                <a:solidFill>
                  <a:srgbClr val="EEF7FB"/>
                </a:solidFill>
                <a:latin typeface="Arial"/>
                <a:ea typeface="Arial"/>
                <a:cs typeface="Arial"/>
              </a:rPr>
              <a:t>4 · GPU executors</a:t>
            </a:r>
          </a:p>
        </p:txBody>
      </p:sp>
      <p:sp>
        <p:nvSpPr>
          <p:cNvPr id="12" name="Slide 7 TextBox 17">
            <a:extLst xmlns:a="http://schemas.openxmlformats.org/drawingml/2006/main">
              <a:ext uri="{FF2B5EF4-FFF2-40B4-BE49-F238E27FC236}">
                <a16:creationId xmlns:a16="http://schemas.microsoft.com/office/drawing/2014/main" id="{5CAC95D8-768F-4F83-9F98-F2F978D5C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728" y="2176272"/>
            <a:ext cx="2020824" cy="521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9C0CB"/>
                </a:solidFill>
                <a:latin typeface="Arial"/>
                <a:ea typeface="Arial"/>
                <a:cs typeface="Arial"/>
              </a:rPr>
              <a:t>Run baseband kernels across the pool</a:t>
            </a:r>
          </a:p>
        </p:txBody>
      </p:sp>
      <p:sp>
        <p:nvSpPr>
          <p:cNvPr id="13" name="Slide 7 TextBox 23">
            <a:extLst xmlns:a="http://schemas.openxmlformats.org/drawingml/2006/main">
              <a:ext uri="{FF2B5EF4-FFF2-40B4-BE49-F238E27FC236}">
                <a16:creationId xmlns:a16="http://schemas.microsoft.com/office/drawing/2014/main" id="{B4DE1456-FB72-485B-8947-8E32ABF97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364992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A9C0CB"/>
                </a:solidFill>
                <a:latin typeface="Arial"/>
                <a:ea typeface="Arial"/>
                <a:cs typeface="Arial"/>
              </a:rPr>
              <a:t>DEADLINE POLICY</a:t>
            </a:r>
          </a:p>
        </p:txBody>
      </p:sp>
      <p:sp>
        <p:nvSpPr>
          <p:cNvPr id="14" name="Slide 7 TextBox 24">
            <a:extLst xmlns:a="http://schemas.openxmlformats.org/drawingml/2006/main">
              <a:ext uri="{FF2B5EF4-FFF2-40B4-BE49-F238E27FC236}">
                <a16:creationId xmlns:a16="http://schemas.microsoft.com/office/drawing/2014/main" id="{B01209B5-8B73-4933-98C3-B3CF1FF17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602736"/>
            <a:ext cx="214884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EEF7FB"/>
                </a:solidFill>
                <a:latin typeface="Arial"/>
                <a:ea typeface="Arial"/>
                <a:cs typeface="Arial"/>
              </a:rPr>
              <a:t>Least slack first</a:t>
            </a:r>
          </a:p>
        </p:txBody>
      </p:sp>
      <p:sp>
        <p:nvSpPr>
          <p:cNvPr id="15" name="Slide 7 TextBox 25">
            <a:extLst xmlns:a="http://schemas.openxmlformats.org/drawingml/2006/main">
              <a:ext uri="{FF2B5EF4-FFF2-40B4-BE49-F238E27FC236}">
                <a16:creationId xmlns:a16="http://schemas.microsoft.com/office/drawing/2014/main" id="{B72933FD-2030-4405-A57B-2FB1E9FB2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3593592"/>
            <a:ext cx="2542032" cy="338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A9C0CB"/>
                </a:solidFill>
                <a:latin typeface="Arial"/>
                <a:ea typeface="Arial"/>
                <a:cs typeface="Arial"/>
              </a:rPr>
              <a:t>Urgent frames move ahead.</a:t>
            </a:r>
          </a:p>
        </p:txBody>
      </p:sp>
      <p:sp>
        <p:nvSpPr>
          <p:cNvPr id="16" name="Slide 7 TextBox 28">
            <a:extLst xmlns:a="http://schemas.openxmlformats.org/drawingml/2006/main">
              <a:ext uri="{FF2B5EF4-FFF2-40B4-BE49-F238E27FC236}">
                <a16:creationId xmlns:a16="http://schemas.microsoft.com/office/drawing/2014/main" id="{00C5A148-1212-4853-824C-644FB25D0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3364992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A9C0CB"/>
                </a:solidFill>
                <a:latin typeface="Arial"/>
                <a:ea typeface="Arial"/>
                <a:cs typeface="Arial"/>
              </a:rPr>
              <a:t>FILL GAPS</a:t>
            </a:r>
          </a:p>
        </p:txBody>
      </p:sp>
      <p:sp>
        <p:nvSpPr>
          <p:cNvPr id="17" name="Slide 7 TextBox 29">
            <a:extLst xmlns:a="http://schemas.openxmlformats.org/drawingml/2006/main">
              <a:ext uri="{FF2B5EF4-FFF2-40B4-BE49-F238E27FC236}">
                <a16:creationId xmlns:a16="http://schemas.microsoft.com/office/drawing/2014/main" id="{7079615B-7CD1-4BFB-90F8-6DBD62E96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3602736"/>
            <a:ext cx="214884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EEF7FB"/>
                </a:solidFill>
                <a:latin typeface="Arial"/>
                <a:ea typeface="Arial"/>
                <a:cs typeface="Arial"/>
              </a:rPr>
              <a:t>Reorder</a:t>
            </a:r>
          </a:p>
        </p:txBody>
      </p:sp>
      <p:sp>
        <p:nvSpPr>
          <p:cNvPr id="18" name="Slide 7 TextBox 30">
            <a:extLst xmlns:a="http://schemas.openxmlformats.org/drawingml/2006/main">
              <a:ext uri="{FF2B5EF4-FFF2-40B4-BE49-F238E27FC236}">
                <a16:creationId xmlns:a16="http://schemas.microsoft.com/office/drawing/2014/main" id="{261B8025-AEAA-43C1-9A9D-CDD91EEE6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3593592"/>
            <a:ext cx="2542032" cy="338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A9C0CB"/>
                </a:solidFill>
                <a:latin typeface="Arial"/>
                <a:ea typeface="Arial"/>
                <a:cs typeface="Arial"/>
              </a:rPr>
              <a:t>Independent ready tasks use idle SMs.</a:t>
            </a:r>
          </a:p>
        </p:txBody>
      </p:sp>
      <p:sp>
        <p:nvSpPr>
          <p:cNvPr id="19" name="Slide 7 TextBox 33">
            <a:extLst xmlns:a="http://schemas.openxmlformats.org/drawingml/2006/main">
              <a:ext uri="{FF2B5EF4-FFF2-40B4-BE49-F238E27FC236}">
                <a16:creationId xmlns:a16="http://schemas.microsoft.com/office/drawing/2014/main" id="{30183F1F-AFCE-4B9A-8CD7-467A33E94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507992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A9C0CB"/>
                </a:solidFill>
                <a:latin typeface="Arial"/>
                <a:ea typeface="Arial"/>
                <a:cs typeface="Arial"/>
              </a:rPr>
              <a:t>PRESERVE LOCALITY</a:t>
            </a:r>
          </a:p>
        </p:txBody>
      </p:sp>
      <p:sp>
        <p:nvSpPr>
          <p:cNvPr id="20" name="Slide 7 TextBox 34">
            <a:extLst xmlns:a="http://schemas.openxmlformats.org/drawingml/2006/main">
              <a:ext uri="{FF2B5EF4-FFF2-40B4-BE49-F238E27FC236}">
                <a16:creationId xmlns:a16="http://schemas.microsoft.com/office/drawing/2014/main" id="{1AB9CCEA-F27B-4896-8526-9F370933B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745736"/>
            <a:ext cx="214884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EEF7FB"/>
                </a:solidFill>
                <a:latin typeface="Arial"/>
                <a:ea typeface="Arial"/>
                <a:cs typeface="Arial"/>
              </a:rPr>
              <a:t>Coalesce</a:t>
            </a:r>
          </a:p>
        </p:txBody>
      </p:sp>
      <p:sp>
        <p:nvSpPr>
          <p:cNvPr id="21" name="Slide 7 TextBox 35">
            <a:extLst xmlns:a="http://schemas.openxmlformats.org/drawingml/2006/main">
              <a:ext uri="{FF2B5EF4-FFF2-40B4-BE49-F238E27FC236}">
                <a16:creationId xmlns:a16="http://schemas.microsoft.com/office/drawing/2014/main" id="{F313E953-1BC6-4311-A3A6-A91D06310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4736592"/>
            <a:ext cx="2542032" cy="338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A9C0CB"/>
                </a:solidFill>
                <a:latin typeface="Arial"/>
                <a:ea typeface="Arial"/>
                <a:cs typeface="Arial"/>
              </a:rPr>
              <a:t>Related work stays together when useful.</a:t>
            </a:r>
          </a:p>
        </p:txBody>
      </p:sp>
      <p:sp>
        <p:nvSpPr>
          <p:cNvPr id="22" name="Slide 7 TextBox 38">
            <a:extLst xmlns:a="http://schemas.openxmlformats.org/drawingml/2006/main">
              <a:ext uri="{FF2B5EF4-FFF2-40B4-BE49-F238E27FC236}">
                <a16:creationId xmlns:a16="http://schemas.microsoft.com/office/drawing/2014/main" id="{6E3F6DE3-A36F-4B31-8357-B7903FD27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507992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A9C0CB"/>
                </a:solidFill>
                <a:latin typeface="Arial"/>
                <a:ea typeface="Arial"/>
                <a:cs typeface="Arial"/>
              </a:rPr>
              <a:t>AVOID STALLS</a:t>
            </a:r>
          </a:p>
        </p:txBody>
      </p:sp>
      <p:sp>
        <p:nvSpPr>
          <p:cNvPr id="23" name="Slide 7 TextBox 39">
            <a:extLst xmlns:a="http://schemas.openxmlformats.org/drawingml/2006/main">
              <a:ext uri="{FF2B5EF4-FFF2-40B4-BE49-F238E27FC236}">
                <a16:creationId xmlns:a16="http://schemas.microsoft.com/office/drawing/2014/main" id="{C386D050-8166-4E29-AD88-4F66BB709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745736"/>
            <a:ext cx="214884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EEF7FB"/>
                </a:solidFill>
                <a:latin typeface="Arial"/>
                <a:ea typeface="Arial"/>
                <a:cs typeface="Arial"/>
              </a:rPr>
              <a:t>Over-commit</a:t>
            </a:r>
          </a:p>
        </p:txBody>
      </p:sp>
      <p:sp>
        <p:nvSpPr>
          <p:cNvPr id="24" name="Slide 7 TextBox 40">
            <a:extLst xmlns:a="http://schemas.openxmlformats.org/drawingml/2006/main">
              <a:ext uri="{FF2B5EF4-FFF2-40B4-BE49-F238E27FC236}">
                <a16:creationId xmlns:a16="http://schemas.microsoft.com/office/drawing/2014/main" id="{04519C2E-9D2D-4AC3-B7E3-6FE66411F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4736592"/>
            <a:ext cx="2542032" cy="338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A9C0CB"/>
                </a:solidFill>
                <a:latin typeface="Arial"/>
                <a:ea typeface="Arial"/>
                <a:cs typeface="Arial"/>
              </a:rPr>
              <a:t>Delayed work enters lower-priority streams.</a:t>
            </a:r>
          </a:p>
        </p:txBody>
      </p:sp>
    </p:spTree>
    <p:extLst>
      <p:ext uri="{BB962C8B-B14F-4D97-AF65-F5344CB8AC3E}">
        <p14:creationId xmlns:p14="http://schemas.microsoft.com/office/powerpoint/2010/main" val="121922754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5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 8 TextBox 2">
            <a:extLst xmlns:a="http://schemas.openxmlformats.org/drawingml/2006/main">
              <a:ext uri="{FF2B5EF4-FFF2-40B4-BE49-F238E27FC236}">
                <a16:creationId xmlns:a16="http://schemas.microsoft.com/office/drawing/2014/main" id="{36BB6C80-5542-459B-823B-61147D39F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4048"/>
            <a:ext cx="594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2D7D1"/>
                </a:solidFill>
                <a:latin typeface="Arial"/>
                <a:ea typeface="Arial"/>
                <a:cs typeface="Arial"/>
              </a:rPr>
              <a:t>A CONCRETE INTUITION</a:t>
            </a:r>
          </a:p>
        </p:txBody>
      </p:sp>
      <p:sp>
        <p:nvSpPr>
          <p:cNvPr id="2" name="Slide 8 TextBox 3">
            <a:extLst xmlns:a="http://schemas.openxmlformats.org/drawingml/2006/main">
              <a:ext uri="{FF2B5EF4-FFF2-40B4-BE49-F238E27FC236}">
                <a16:creationId xmlns:a16="http://schemas.microsoft.com/office/drawing/2014/main" id="{41F7C3A9-770A-4A38-85C3-8C9D17F5F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838200"/>
            <a:ext cx="1088136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EF7FB"/>
                </a:solidFill>
                <a:latin typeface="Arial"/>
                <a:ea typeface="Arial"/>
                <a:cs typeface="Arial"/>
              </a:rPr>
              <a:t>The scheduler changes its answer as resources change</a:t>
            </a:r>
          </a:p>
        </p:txBody>
      </p:sp>
      <p:sp>
        <p:nvSpPr>
          <p:cNvPr id="3" name="Slide 8 TextBox 4">
            <a:extLst xmlns:a="http://schemas.openxmlformats.org/drawingml/2006/main">
              <a:ext uri="{FF2B5EF4-FFF2-40B4-BE49-F238E27FC236}">
                <a16:creationId xmlns:a16="http://schemas.microsoft.com/office/drawing/2014/main" id="{F8C67FD5-6137-46BF-A348-EE9DF13AA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6477000"/>
            <a:ext cx="996696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630" b="0">
                <a:solidFill>
                  <a:srgbClr val="7894A2"/>
                </a:solidFill>
                <a:latin typeface="Arial"/>
                <a:ea typeface="Arial"/>
                <a:cs typeface="Arial"/>
              </a:rPr>
              <a:t>Adaptive granularity and overload behavior: paper §§4.1, 4.4–4.7 [1]</a:t>
            </a:r>
          </a:p>
        </p:txBody>
      </p:sp>
      <p:sp>
        <p:nvSpPr>
          <p:cNvPr id="4" name="Slide 8 TextBox 5">
            <a:extLst xmlns:a="http://schemas.openxmlformats.org/drawingml/2006/main">
              <a:ext uri="{FF2B5EF4-FFF2-40B4-BE49-F238E27FC236}">
                <a16:creationId xmlns:a16="http://schemas.microsoft.com/office/drawing/2014/main" id="{4D2DFEDE-0F4F-4011-B7A6-29374DD26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7000"/>
            <a:ext cx="59436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680" b="0">
                <a:solidFill>
                  <a:srgbClr val="7894A2"/>
                </a:solidFill>
                <a:latin typeface="Arial"/>
                <a:ea typeface="Arial"/>
                <a:cs typeface="Arial"/>
              </a:rPr>
              <a:t>8 / 13</a:t>
            </a:r>
          </a:p>
        </p:txBody>
      </p:sp>
      <p:sp>
        <p:nvSpPr>
          <p:cNvPr id="5" name="Slide 8 TextBox 7">
            <a:extLst xmlns:a="http://schemas.openxmlformats.org/drawingml/2006/main">
              <a:ext uri="{FF2B5EF4-FFF2-40B4-BE49-F238E27FC236}">
                <a16:creationId xmlns:a16="http://schemas.microsoft.com/office/drawing/2014/main" id="{78A09A0F-B962-476A-B566-9869411D8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1737360"/>
            <a:ext cx="3191256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A9C0CB"/>
                </a:solidFill>
                <a:latin typeface="Arial"/>
                <a:ea typeface="Arial"/>
                <a:cs typeface="Arial"/>
              </a:rPr>
              <a:t>CASE A</a:t>
            </a:r>
          </a:p>
        </p:txBody>
      </p:sp>
      <p:sp>
        <p:nvSpPr>
          <p:cNvPr id="6" name="Slide 8 TextBox 8">
            <a:extLst xmlns:a="http://schemas.openxmlformats.org/drawingml/2006/main">
              <a:ext uri="{FF2B5EF4-FFF2-40B4-BE49-F238E27FC236}">
                <a16:creationId xmlns:a16="http://schemas.microsoft.com/office/drawing/2014/main" id="{B9E8CAA9-05EB-4340-879A-6D5E86EB5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039112"/>
            <a:ext cx="3191256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1900" b="1">
                <a:solidFill>
                  <a:srgbClr val="42D7D1"/>
                </a:solidFill>
                <a:latin typeface="Arial"/>
                <a:ea typeface="Arial"/>
                <a:cs typeface="Arial"/>
              </a:rPr>
              <a:t>One GPU has room</a:t>
            </a:r>
          </a:p>
        </p:txBody>
      </p:sp>
      <p:sp>
        <p:nvSpPr>
          <p:cNvPr id="7" name="Slide 8 TextBox 9">
            <a:extLst xmlns:a="http://schemas.openxmlformats.org/drawingml/2006/main">
              <a:ext uri="{FF2B5EF4-FFF2-40B4-BE49-F238E27FC236}">
                <a16:creationId xmlns:a16="http://schemas.microsoft.com/office/drawing/2014/main" id="{7DBC0DCD-FBB2-45AF-8CCE-0ED748E9B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624328"/>
            <a:ext cx="3191256" cy="20848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A9C0CB"/>
                </a:solidFill>
                <a:latin typeface="Arial"/>
                <a:ea typeface="Arial"/>
                <a:cs typeface="Arial"/>
              </a:rPr>
              <a:t>Keep dependent work local and run a coarser unit. Avoid unnecessary transfer.
LOCAL</a:t>
            </a:r>
          </a:p>
        </p:txBody>
      </p:sp>
      <p:sp>
        <p:nvSpPr>
          <p:cNvPr id="8" name="Slide 8 TextBox 11">
            <a:extLst xmlns:a="http://schemas.openxmlformats.org/drawingml/2006/main">
              <a:ext uri="{FF2B5EF4-FFF2-40B4-BE49-F238E27FC236}">
                <a16:creationId xmlns:a16="http://schemas.microsoft.com/office/drawing/2014/main" id="{25CA3BA2-8F2B-4507-BEA9-C75EE2EDB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7992" y="1737360"/>
            <a:ext cx="3191256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A9C0CB"/>
                </a:solidFill>
                <a:latin typeface="Arial"/>
                <a:ea typeface="Arial"/>
                <a:cs typeface="Arial"/>
              </a:rPr>
              <a:t>CASE B</a:t>
            </a:r>
          </a:p>
        </p:txBody>
      </p:sp>
      <p:sp>
        <p:nvSpPr>
          <p:cNvPr id="9" name="Slide 8 TextBox 12">
            <a:extLst xmlns:a="http://schemas.openxmlformats.org/drawingml/2006/main">
              <a:ext uri="{FF2B5EF4-FFF2-40B4-BE49-F238E27FC236}">
                <a16:creationId xmlns:a16="http://schemas.microsoft.com/office/drawing/2014/main" id="{391DF54A-3E3F-40B0-81C5-184156A41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7992" y="2039112"/>
            <a:ext cx="3191256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1900" b="1">
                <a:solidFill>
                  <a:srgbClr val="FFAD5C"/>
                </a:solidFill>
                <a:latin typeface="Arial"/>
                <a:ea typeface="Arial"/>
                <a:cs typeface="Arial"/>
              </a:rPr>
              <a:t>Capacity is fragmented</a:t>
            </a:r>
          </a:p>
        </p:txBody>
      </p:sp>
      <p:sp>
        <p:nvSpPr>
          <p:cNvPr id="10" name="Slide 8 TextBox 13">
            <a:extLst xmlns:a="http://schemas.openxmlformats.org/drawingml/2006/main">
              <a:ext uri="{FF2B5EF4-FFF2-40B4-BE49-F238E27FC236}">
                <a16:creationId xmlns:a16="http://schemas.microsoft.com/office/drawing/2014/main" id="{50CB75CA-6FAA-46FB-8706-3A4D27F99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7992" y="2624328"/>
            <a:ext cx="3191256" cy="20848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A9C0CB"/>
                </a:solidFill>
                <a:latin typeface="Arial"/>
                <a:ea typeface="Arial"/>
                <a:cs typeface="Arial"/>
              </a:rPr>
              <a:t>Split into finer ready tasks only when the extra parallelism outweighs shuffling.
SPLIT</a:t>
            </a:r>
          </a:p>
        </p:txBody>
      </p:sp>
      <p:sp>
        <p:nvSpPr>
          <p:cNvPr id="11" name="Slide 8 TextBox 15">
            <a:extLst xmlns:a="http://schemas.openxmlformats.org/drawingml/2006/main">
              <a:ext uri="{FF2B5EF4-FFF2-40B4-BE49-F238E27FC236}">
                <a16:creationId xmlns:a16="http://schemas.microsoft.com/office/drawing/2014/main" id="{F03612C9-0B56-401C-9688-765951CEC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1312" y="1737360"/>
            <a:ext cx="3191256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A9C0CB"/>
                </a:solidFill>
                <a:latin typeface="Arial"/>
                <a:ea typeface="Arial"/>
                <a:cs typeface="Arial"/>
              </a:rPr>
              <a:t>CASE C</a:t>
            </a:r>
          </a:p>
        </p:txBody>
      </p:sp>
      <p:sp>
        <p:nvSpPr>
          <p:cNvPr id="12" name="Slide 8 TextBox 16">
            <a:extLst xmlns:a="http://schemas.openxmlformats.org/drawingml/2006/main">
              <a:ext uri="{FF2B5EF4-FFF2-40B4-BE49-F238E27FC236}">
                <a16:creationId xmlns:a16="http://schemas.microsoft.com/office/drawing/2014/main" id="{796BB69D-F974-4D3F-BE74-D1A44F4E3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1312" y="2039112"/>
            <a:ext cx="3191256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1900" b="1">
                <a:solidFill>
                  <a:srgbClr val="FF7373"/>
                </a:solidFill>
                <a:latin typeface="Arial"/>
                <a:ea typeface="Arial"/>
                <a:cs typeface="Arial"/>
              </a:rPr>
              <a:t>Nothing is free</a:t>
            </a:r>
          </a:p>
        </p:txBody>
      </p:sp>
      <p:sp>
        <p:nvSpPr>
          <p:cNvPr id="13" name="Slide 8 TextBox 17">
            <a:extLst xmlns:a="http://schemas.openxmlformats.org/drawingml/2006/main">
              <a:ext uri="{FF2B5EF4-FFF2-40B4-BE49-F238E27FC236}">
                <a16:creationId xmlns:a16="http://schemas.microsoft.com/office/drawing/2014/main" id="{38FD9F1A-A2B5-46EE-BE66-7C6FB9B7A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1312" y="2624328"/>
            <a:ext cx="3191256" cy="20848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A9C0CB"/>
                </a:solidFill>
                <a:latin typeface="Arial"/>
                <a:ea typeface="Arial"/>
                <a:cs typeface="Arial"/>
              </a:rPr>
              <a:t>Use deadlines, queue state, and low-priority execution; shed obsolete frames if overloaded.
DELAY</a:t>
            </a:r>
          </a:p>
        </p:txBody>
      </p:sp>
      <p:sp>
        <p:nvSpPr>
          <p:cNvPr id="14" name="Slide 8 TextBox 19">
            <a:extLst xmlns:a="http://schemas.openxmlformats.org/drawingml/2006/main">
              <a:ext uri="{FF2B5EF4-FFF2-40B4-BE49-F238E27FC236}">
                <a16:creationId xmlns:a16="http://schemas.microsoft.com/office/drawing/2014/main" id="{23FEDDB7-9BAA-43CB-8021-158E4FCAF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367528"/>
            <a:ext cx="1037844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7FB"/>
                </a:solidFill>
                <a:latin typeface="Arial"/>
                <a:ea typeface="Arial"/>
                <a:cs typeface="Arial"/>
              </a:rPr>
              <a:t>General lesson: </a:t>
            </a:r>
            <a:r>
              <a:rPr sz="1500" b="0">
                <a:solidFill>
                  <a:srgbClr val="EEF7FB"/>
                </a:solidFill>
                <a:latin typeface="Arial"/>
                <a:ea typeface="Arial"/>
                <a:cs typeface="Arial"/>
              </a:rPr>
              <a:t>Expose application structure—dependencies, deadlines, and locality—to the resource scheduler.</a:t>
            </a:r>
          </a:p>
        </p:txBody>
      </p:sp>
    </p:spTree>
    <p:extLst>
      <p:ext uri="{BB962C8B-B14F-4D97-AF65-F5344CB8AC3E}">
        <p14:creationId xmlns:p14="http://schemas.microsoft.com/office/powerpoint/2010/main" val="155495655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5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 9 TextBox 2">
            <a:extLst xmlns:a="http://schemas.openxmlformats.org/drawingml/2006/main">
              <a:ext uri="{FF2B5EF4-FFF2-40B4-BE49-F238E27FC236}">
                <a16:creationId xmlns:a16="http://schemas.microsoft.com/office/drawing/2014/main" id="{4EE44280-1E22-489B-A02D-D179EDF39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4048"/>
            <a:ext cx="594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2D7D1"/>
                </a:solidFill>
                <a:latin typeface="Arial"/>
                <a:ea typeface="Arial"/>
                <a:cs typeface="Arial"/>
              </a:rPr>
              <a:t>EVALUATION</a:t>
            </a:r>
          </a:p>
        </p:txBody>
      </p:sp>
      <p:sp>
        <p:nvSpPr>
          <p:cNvPr id="2" name="Slide 9 TextBox 3">
            <a:extLst xmlns:a="http://schemas.openxmlformats.org/drawingml/2006/main">
              <a:ext uri="{FF2B5EF4-FFF2-40B4-BE49-F238E27FC236}">
                <a16:creationId xmlns:a16="http://schemas.microsoft.com/office/drawing/2014/main" id="{1C6C63E1-DD37-4ACE-834D-92BD2924E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838200"/>
            <a:ext cx="1088136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EF7FB"/>
                </a:solidFill>
                <a:latin typeface="Arial"/>
                <a:ea typeface="Arial"/>
                <a:cs typeface="Arial"/>
              </a:rPr>
              <a:t>Does adaptation pay off?</a:t>
            </a:r>
          </a:p>
        </p:txBody>
      </p:sp>
      <p:sp>
        <p:nvSpPr>
          <p:cNvPr id="3" name="Slide 9 TextBox 4">
            <a:extLst xmlns:a="http://schemas.openxmlformats.org/drawingml/2006/main">
              <a:ext uri="{FF2B5EF4-FFF2-40B4-BE49-F238E27FC236}">
                <a16:creationId xmlns:a16="http://schemas.microsoft.com/office/drawing/2014/main" id="{F096B4F5-11B4-4D52-BB82-B94673ED5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6477000"/>
            <a:ext cx="996696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630" b="0">
                <a:solidFill>
                  <a:srgbClr val="7894A2"/>
                </a:solidFill>
                <a:latin typeface="Arial"/>
                <a:ea typeface="Arial"/>
                <a:cs typeface="Arial"/>
              </a:rPr>
              <a:t>Evaluation setup and results: paper §§5.1–5.6 [1]. Conference deck displays up to 3× [2].</a:t>
            </a:r>
          </a:p>
        </p:txBody>
      </p:sp>
      <p:sp>
        <p:nvSpPr>
          <p:cNvPr id="4" name="Slide 9 TextBox 5">
            <a:extLst xmlns:a="http://schemas.openxmlformats.org/drawingml/2006/main">
              <a:ext uri="{FF2B5EF4-FFF2-40B4-BE49-F238E27FC236}">
                <a16:creationId xmlns:a16="http://schemas.microsoft.com/office/drawing/2014/main" id="{F2E0C299-895C-4FE4-BBF4-A7852173D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7000"/>
            <a:ext cx="59436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680" b="0">
                <a:solidFill>
                  <a:srgbClr val="7894A2"/>
                </a:solidFill>
                <a:latin typeface="Arial"/>
                <a:ea typeface="Arial"/>
                <a:cs typeface="Arial"/>
              </a:rPr>
              <a:t>9 / 13</a:t>
            </a:r>
          </a:p>
        </p:txBody>
      </p:sp>
      <p:sp>
        <p:nvSpPr>
          <p:cNvPr id="5" name="Slide 9 TextBox 8">
            <a:extLst xmlns:a="http://schemas.openxmlformats.org/drawingml/2006/main">
              <a:ext uri="{FF2B5EF4-FFF2-40B4-BE49-F238E27FC236}">
                <a16:creationId xmlns:a16="http://schemas.microsoft.com/office/drawing/2014/main" id="{44DF270E-C4FE-4C44-81CB-FBAF4294A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1764792"/>
            <a:ext cx="278892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2900" b="1">
                <a:solidFill>
                  <a:srgbClr val="42D7D1"/>
                </a:solidFill>
                <a:latin typeface="Arial"/>
                <a:ea typeface="Arial"/>
                <a:cs typeface="Arial"/>
              </a:rPr>
              <a:t>66.2%</a:t>
            </a:r>
          </a:p>
        </p:txBody>
      </p:sp>
      <p:sp>
        <p:nvSpPr>
          <p:cNvPr id="6" name="Slide 9 TextBox 9">
            <a:extLst xmlns:a="http://schemas.openxmlformats.org/drawingml/2006/main">
              <a:ext uri="{FF2B5EF4-FFF2-40B4-BE49-F238E27FC236}">
                <a16:creationId xmlns:a16="http://schemas.microsoft.com/office/drawing/2014/main" id="{CAA8EBCE-0A41-4AA5-B766-733E697ED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2350008"/>
            <a:ext cx="2761488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A9C0CB"/>
                </a:solidFill>
                <a:latin typeface="Arial"/>
                <a:ea typeface="Arial"/>
                <a:cs typeface="Arial"/>
              </a:rPr>
              <a:t>up to lower tail frame-processing latency</a:t>
            </a:r>
          </a:p>
        </p:txBody>
      </p:sp>
      <p:sp>
        <p:nvSpPr>
          <p:cNvPr id="7" name="Slide 9 TextBox 12">
            <a:extLst xmlns:a="http://schemas.openxmlformats.org/drawingml/2006/main">
              <a:ext uri="{FF2B5EF4-FFF2-40B4-BE49-F238E27FC236}">
                <a16:creationId xmlns:a16="http://schemas.microsoft.com/office/drawing/2014/main" id="{408CB939-C7CB-4235-8224-91AFC8E9F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8536" y="1764792"/>
            <a:ext cx="278892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2900" b="1">
                <a:solidFill>
                  <a:srgbClr val="FFAD5C"/>
                </a:solidFill>
                <a:latin typeface="Arial"/>
                <a:ea typeface="Arial"/>
                <a:cs typeface="Arial"/>
              </a:rPr>
              <a:t>4×</a:t>
            </a:r>
          </a:p>
        </p:txBody>
      </p:sp>
      <p:sp>
        <p:nvSpPr>
          <p:cNvPr id="8" name="Slide 9 TextBox 13">
            <a:extLst xmlns:a="http://schemas.openxmlformats.org/drawingml/2006/main">
              <a:ext uri="{FF2B5EF4-FFF2-40B4-BE49-F238E27FC236}">
                <a16:creationId xmlns:a16="http://schemas.microsoft.com/office/drawing/2014/main" id="{30B936FD-CD84-41DC-A8A7-0B5E623FA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8536" y="2350008"/>
            <a:ext cx="2761488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A9C0CB"/>
                </a:solidFill>
                <a:latin typeface="Arial"/>
                <a:ea typeface="Arial"/>
                <a:cs typeface="Arial"/>
              </a:rPr>
              <a:t>up to higher throughput in the paper’s evaluation</a:t>
            </a:r>
          </a:p>
        </p:txBody>
      </p:sp>
      <p:sp>
        <p:nvSpPr>
          <p:cNvPr id="9" name="Slide 9 TextBox 16">
            <a:extLst xmlns:a="http://schemas.openxmlformats.org/drawingml/2006/main">
              <a:ext uri="{FF2B5EF4-FFF2-40B4-BE49-F238E27FC236}">
                <a16:creationId xmlns:a16="http://schemas.microsoft.com/office/drawing/2014/main" id="{01BA45B8-94E3-482B-A174-5955F9B1A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3364992"/>
            <a:ext cx="278892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2900" b="1">
                <a:solidFill>
                  <a:srgbClr val="4EA5FF"/>
                </a:solidFill>
                <a:latin typeface="Arial"/>
                <a:ea typeface="Arial"/>
                <a:cs typeface="Arial"/>
              </a:rPr>
              <a:t>1.2–3.6 ms</a:t>
            </a:r>
          </a:p>
        </p:txBody>
      </p:sp>
      <p:sp>
        <p:nvSpPr>
          <p:cNvPr id="10" name="Slide 9 TextBox 17">
            <a:extLst xmlns:a="http://schemas.openxmlformats.org/drawingml/2006/main">
              <a:ext uri="{FF2B5EF4-FFF2-40B4-BE49-F238E27FC236}">
                <a16:creationId xmlns:a16="http://schemas.microsoft.com/office/drawing/2014/main" id="{8A6E7BB5-1AD3-4EDF-84F6-C1C1409B5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3950208"/>
            <a:ext cx="2761488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A9C0CB"/>
                </a:solidFill>
                <a:latin typeface="Arial"/>
                <a:ea typeface="Arial"/>
                <a:cs typeface="Arial"/>
              </a:rPr>
              <a:t>reported P99.99 latency across tested MIMO configurations</a:t>
            </a:r>
          </a:p>
        </p:txBody>
      </p:sp>
      <p:sp>
        <p:nvSpPr>
          <p:cNvPr id="11" name="Slide 9 TextBox 20">
            <a:extLst xmlns:a="http://schemas.openxmlformats.org/drawingml/2006/main">
              <a:ext uri="{FF2B5EF4-FFF2-40B4-BE49-F238E27FC236}">
                <a16:creationId xmlns:a16="http://schemas.microsoft.com/office/drawing/2014/main" id="{C5A689AB-6FD4-492A-B4DA-F015A0D2C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8536" y="3364992"/>
            <a:ext cx="278892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2900" b="1">
                <a:solidFill>
                  <a:srgbClr val="FF7373"/>
                </a:solidFill>
                <a:latin typeface="Arial"/>
                <a:ea typeface="Arial"/>
                <a:cs typeface="Arial"/>
              </a:rPr>
              <a:t>8 RUs</a:t>
            </a:r>
          </a:p>
        </p:txBody>
      </p:sp>
      <p:sp>
        <p:nvSpPr>
          <p:cNvPr id="12" name="Slide 9 TextBox 21">
            <a:extLst xmlns:a="http://schemas.openxmlformats.org/drawingml/2006/main">
              <a:ext uri="{FF2B5EF4-FFF2-40B4-BE49-F238E27FC236}">
                <a16:creationId xmlns:a16="http://schemas.microsoft.com/office/drawing/2014/main" id="{4B4E63BA-28CE-4F54-B4AD-A31F3973B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8536" y="3950208"/>
            <a:ext cx="2761488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A9C0CB"/>
                </a:solidFill>
                <a:latin typeface="Arial"/>
                <a:ea typeface="Arial"/>
                <a:cs typeface="Arial"/>
              </a:rPr>
              <a:t>supported under 128×64 MIMO on 6 GPUs in the scale test</a:t>
            </a:r>
          </a:p>
        </p:txBody>
      </p:sp>
      <p:sp>
        <p:nvSpPr>
          <p:cNvPr id="13" name="Slide 9 TextBox 23">
            <a:extLst xmlns:a="http://schemas.openxmlformats.org/drawingml/2006/main">
              <a:ext uri="{FF2B5EF4-FFF2-40B4-BE49-F238E27FC236}">
                <a16:creationId xmlns:a16="http://schemas.microsoft.com/office/drawing/2014/main" id="{62D6427C-58B0-4D8D-B16B-6C5FDEA04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128" y="1828800"/>
            <a:ext cx="3291840" cy="329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EF7FB"/>
                </a:solidFill>
                <a:latin typeface="Arial"/>
                <a:ea typeface="Arial"/>
                <a:cs typeface="Arial"/>
              </a:rPr>
              <a:t>What was tested</a:t>
            </a:r>
          </a:p>
        </p:txBody>
      </p:sp>
      <p:sp>
        <p:nvSpPr>
          <p:cNvPr id="14" name="Slide 9 TextBox 24">
            <a:extLst xmlns:a="http://schemas.openxmlformats.org/drawingml/2006/main">
              <a:ext uri="{FF2B5EF4-FFF2-40B4-BE49-F238E27FC236}">
                <a16:creationId xmlns:a16="http://schemas.microsoft.com/office/drawing/2014/main" id="{7B7257A1-580C-4136-BB8D-779A17C0E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128" y="2331720"/>
            <a:ext cx="3246120" cy="1874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50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42D7D1"/>
                </a:solidFill>
              </a:rPr>
              <a:t>→  </a:t>
            </a:r>
            <a:r>
              <a:rPr sz="1300">
                <a:solidFill>
                  <a:srgbClr val="A9C0CB"/>
                </a:solidFill>
                <a:latin typeface="Arial"/>
                <a:ea typeface="Arial"/>
                <a:cs typeface="Arial"/>
              </a:rPr>
              <a:t>GigaIO FabreX SNC</a:t>
            </a:r>
          </a:p>
          <a:p xmlns:a="http://schemas.openxmlformats.org/drawingml/2006/main">
            <a:pPr algn="l">
              <a:spcAft>
                <a:spcPts val="50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42D7D1"/>
                </a:solidFill>
              </a:rPr>
              <a:t>→  </a:t>
            </a:r>
            <a:r>
              <a:rPr sz="1300">
                <a:solidFill>
                  <a:srgbClr val="A9C0CB"/>
                </a:solidFill>
                <a:latin typeface="Arial"/>
                <a:ea typeface="Arial"/>
                <a:cs typeface="Arial"/>
              </a:rPr>
              <a:t>NVIDIA A100 / V100 GPUs</a:t>
            </a:r>
          </a:p>
          <a:p xmlns:a="http://schemas.openxmlformats.org/drawingml/2006/main">
            <a:pPr algn="l">
              <a:spcAft>
                <a:spcPts val="50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42D7D1"/>
                </a:solidFill>
              </a:rPr>
              <a:t>→  </a:t>
            </a:r>
            <a:r>
              <a:rPr sz="1300">
                <a:solidFill>
                  <a:srgbClr val="A9C0CB"/>
                </a:solidFill>
                <a:latin typeface="Arial"/>
                <a:ea typeface="Arial"/>
                <a:cs typeface="Arial"/>
              </a:rPr>
              <a:t>Five MIMO configurations</a:t>
            </a:r>
          </a:p>
          <a:p xmlns:a="http://schemas.openxmlformats.org/drawingml/2006/main">
            <a:pPr algn="l">
              <a:spcAft>
                <a:spcPts val="50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42D7D1"/>
                </a:solidFill>
              </a:rPr>
              <a:t>→  </a:t>
            </a:r>
            <a:r>
              <a:rPr sz="1300">
                <a:solidFill>
                  <a:srgbClr val="A9C0CB"/>
                </a:solidFill>
                <a:latin typeface="Arial"/>
                <a:ea typeface="Arial"/>
                <a:cs typeface="Arial"/>
              </a:rPr>
              <a:t>Frame-, symbol-, and task-level GPU baselines</a:t>
            </a:r>
          </a:p>
          <a:p xmlns:a="http://schemas.openxmlformats.org/drawingml/2006/main">
            <a:pPr algn="l">
              <a:spcAft>
                <a:spcPts val="50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42D7D1"/>
                </a:solidFill>
              </a:rPr>
              <a:t>→  </a:t>
            </a:r>
            <a:r>
              <a:rPr sz="1300">
                <a:solidFill>
                  <a:srgbClr val="A9C0CB"/>
                </a:solidFill>
                <a:latin typeface="Arial"/>
                <a:ea typeface="Arial"/>
                <a:cs typeface="Arial"/>
              </a:rPr>
              <a:t>Scalability, failures, fragmentation, and heterogeneous GPUs</a:t>
            </a:r>
          </a:p>
        </p:txBody>
      </p:sp>
      <p:sp>
        <p:nvSpPr>
          <p:cNvPr id="15" name="Slide 9 TextBox 26">
            <a:extLst xmlns:a="http://schemas.openxmlformats.org/drawingml/2006/main">
              <a:ext uri="{FF2B5EF4-FFF2-40B4-BE49-F238E27FC236}">
                <a16:creationId xmlns:a16="http://schemas.microsoft.com/office/drawing/2014/main" id="{4BED8420-4B00-482E-8F21-28142C8B8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257800"/>
            <a:ext cx="1033272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7FB"/>
                </a:solidFill>
                <a:latin typeface="Arial"/>
                <a:ea typeface="Arial"/>
                <a:cs typeface="Arial"/>
              </a:rPr>
              <a:t>Read carefully: </a:t>
            </a:r>
            <a:r>
              <a:rPr sz="1500" b="0">
                <a:solidFill>
                  <a:srgbClr val="EEF7FB"/>
                </a:solidFill>
                <a:latin typeface="Arial"/>
                <a:ea typeface="Arial"/>
                <a:cs typeface="Arial"/>
              </a:rPr>
              <a:t>These are maximum results from particular configurations—not a universal 4× speedup.</a:t>
            </a:r>
          </a:p>
        </p:txBody>
      </p:sp>
    </p:spTree>
    <p:extLst>
      <p:ext uri="{BB962C8B-B14F-4D97-AF65-F5344CB8AC3E}">
        <p14:creationId xmlns:p14="http://schemas.microsoft.com/office/powerpoint/2010/main" val="3819575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5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 10 TextBox 2">
            <a:extLst xmlns:a="http://schemas.openxmlformats.org/drawingml/2006/main">
              <a:ext uri="{FF2B5EF4-FFF2-40B4-BE49-F238E27FC236}">
                <a16:creationId xmlns:a16="http://schemas.microsoft.com/office/drawing/2014/main" id="{E8722C42-A846-4871-85BE-18CFC93C7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4048"/>
            <a:ext cx="594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2D7D1"/>
                </a:solidFill>
                <a:latin typeface="Arial"/>
                <a:ea typeface="Arial"/>
                <a:cs typeface="Arial"/>
              </a:rPr>
              <a:t>CRITICAL READING</a:t>
            </a:r>
          </a:p>
        </p:txBody>
      </p:sp>
      <p:sp>
        <p:nvSpPr>
          <p:cNvPr id="2" name="Slide 10 TextBox 3">
            <a:extLst xmlns:a="http://schemas.openxmlformats.org/drawingml/2006/main">
              <a:ext uri="{FF2B5EF4-FFF2-40B4-BE49-F238E27FC236}">
                <a16:creationId xmlns:a16="http://schemas.microsoft.com/office/drawing/2014/main" id="{D7F9FCE8-1417-4349-8737-D2A300A3A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838200"/>
            <a:ext cx="1088136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EF7FB"/>
                </a:solidFill>
                <a:latin typeface="Arial"/>
                <a:ea typeface="Arial"/>
                <a:cs typeface="Arial"/>
              </a:rPr>
              <a:t>Strong result, but not a universal win</a:t>
            </a:r>
          </a:p>
        </p:txBody>
      </p:sp>
      <p:sp>
        <p:nvSpPr>
          <p:cNvPr id="3" name="Slide 10 TextBox 4">
            <a:extLst xmlns:a="http://schemas.openxmlformats.org/drawingml/2006/main">
              <a:ext uri="{FF2B5EF4-FFF2-40B4-BE49-F238E27FC236}">
                <a16:creationId xmlns:a16="http://schemas.microsoft.com/office/drawing/2014/main" id="{8E1E35B5-00D3-440C-9A92-3EBDB7229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6477000"/>
            <a:ext cx="996696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630" b="0">
                <a:solidFill>
                  <a:srgbClr val="7894A2"/>
                </a:solidFill>
                <a:latin typeface="Arial"/>
                <a:ea typeface="Arial"/>
                <a:cs typeface="Arial"/>
              </a:rPr>
              <a:t>Small-MIMO result and methodology: paper §§4.3, 5.1, Appendix A.4 [1]; repository prerequisites [3]</a:t>
            </a:r>
          </a:p>
        </p:txBody>
      </p:sp>
      <p:sp>
        <p:nvSpPr>
          <p:cNvPr id="4" name="Slide 10 TextBox 5">
            <a:extLst xmlns:a="http://schemas.openxmlformats.org/drawingml/2006/main">
              <a:ext uri="{FF2B5EF4-FFF2-40B4-BE49-F238E27FC236}">
                <a16:creationId xmlns:a16="http://schemas.microsoft.com/office/drawing/2014/main" id="{BA3A8884-9695-4BC1-A261-0B52AEDA5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7000"/>
            <a:ext cx="59436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680" b="0">
                <a:solidFill>
                  <a:srgbClr val="7894A2"/>
                </a:solidFill>
                <a:latin typeface="Arial"/>
                <a:ea typeface="Arial"/>
                <a:cs typeface="Arial"/>
              </a:rPr>
              <a:t>10 / 13</a:t>
            </a:r>
          </a:p>
        </p:txBody>
      </p:sp>
      <p:sp>
        <p:nvSpPr>
          <p:cNvPr id="5" name="Slide 10 TextBox 7">
            <a:extLst xmlns:a="http://schemas.openxmlformats.org/drawingml/2006/main">
              <a:ext uri="{FF2B5EF4-FFF2-40B4-BE49-F238E27FC236}">
                <a16:creationId xmlns:a16="http://schemas.microsoft.com/office/drawing/2014/main" id="{C886CBD5-F90B-48FE-9A1D-5661EE63F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1792224"/>
            <a:ext cx="448056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42D7D1"/>
                </a:solidFill>
                <a:latin typeface="Arial"/>
                <a:ea typeface="Arial"/>
                <a:cs typeface="Arial"/>
              </a:rPr>
              <a:t>WHAT IS CONVINCING</a:t>
            </a:r>
          </a:p>
        </p:txBody>
      </p:sp>
      <p:sp>
        <p:nvSpPr>
          <p:cNvPr id="6" name="Slide 10 TextBox 8">
            <a:extLst xmlns:a="http://schemas.openxmlformats.org/drawingml/2006/main">
              <a:ext uri="{FF2B5EF4-FFF2-40B4-BE49-F238E27FC236}">
                <a16:creationId xmlns:a16="http://schemas.microsoft.com/office/drawing/2014/main" id="{B98798F8-8FD5-41CD-841D-488E2FFAA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2267712"/>
            <a:ext cx="4572000" cy="2240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70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1450" b="1">
                <a:solidFill>
                  <a:srgbClr val="42D7D1"/>
                </a:solidFill>
              </a:rPr>
              <a:t>→  </a:t>
            </a:r>
            <a:r>
              <a:rPr sz="1450">
                <a:solidFill>
                  <a:srgbClr val="EEF7FB"/>
                </a:solidFill>
                <a:latin typeface="Arial"/>
                <a:ea typeface="Arial"/>
                <a:cs typeface="Arial"/>
              </a:rPr>
              <a:t>Real implementation on an SNC platform</a:t>
            </a:r>
          </a:p>
          <a:p xmlns:a="http://schemas.openxmlformats.org/drawingml/2006/main">
            <a:pPr algn="l">
              <a:spcAft>
                <a:spcPts val="70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1450" b="1">
                <a:solidFill>
                  <a:srgbClr val="42D7D1"/>
                </a:solidFill>
              </a:rPr>
              <a:t>→  </a:t>
            </a:r>
            <a:r>
              <a:rPr sz="1450">
                <a:solidFill>
                  <a:srgbClr val="EEF7FB"/>
                </a:solidFill>
                <a:latin typeface="Arial"/>
                <a:ea typeface="Arial"/>
                <a:cs typeface="Arial"/>
              </a:rPr>
              <a:t>Compares several fixed-granularity strategies</a:t>
            </a:r>
          </a:p>
          <a:p xmlns:a="http://schemas.openxmlformats.org/drawingml/2006/main">
            <a:pPr algn="l">
              <a:spcAft>
                <a:spcPts val="70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1450" b="1">
                <a:solidFill>
                  <a:srgbClr val="42D7D1"/>
                </a:solidFill>
              </a:rPr>
              <a:t>→  </a:t>
            </a:r>
            <a:r>
              <a:rPr sz="1450">
                <a:solidFill>
                  <a:srgbClr val="EEF7FB"/>
                </a:solidFill>
                <a:latin typeface="Arial"/>
                <a:ea typeface="Arial"/>
                <a:cs typeface="Arial"/>
              </a:rPr>
              <a:t>Tests fragmentation, scaling, heterogeneity, and GPU availability changes</a:t>
            </a:r>
          </a:p>
          <a:p xmlns:a="http://schemas.openxmlformats.org/drawingml/2006/main">
            <a:pPr algn="l">
              <a:spcAft>
                <a:spcPts val="70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1450" b="1">
                <a:solidFill>
                  <a:srgbClr val="42D7D1"/>
                </a:solidFill>
              </a:rPr>
              <a:t>→  </a:t>
            </a:r>
            <a:r>
              <a:rPr sz="1450">
                <a:solidFill>
                  <a:srgbClr val="EEF7FB"/>
                </a:solidFill>
                <a:latin typeface="Arial"/>
                <a:ea typeface="Arial"/>
                <a:cs typeface="Arial"/>
              </a:rPr>
              <a:t>Connects measured behavior to design choices</a:t>
            </a:r>
          </a:p>
        </p:txBody>
      </p:sp>
      <p:sp>
        <p:nvSpPr>
          <p:cNvPr id="7" name="Slide 10 TextBox 10">
            <a:extLst xmlns:a="http://schemas.openxmlformats.org/drawingml/2006/main">
              <a:ext uri="{FF2B5EF4-FFF2-40B4-BE49-F238E27FC236}">
                <a16:creationId xmlns:a16="http://schemas.microsoft.com/office/drawing/2014/main" id="{9D08E3D8-EF24-42CA-A41B-BFD2926A3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224" y="1792224"/>
            <a:ext cx="448056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FFAD5C"/>
                </a:solidFill>
                <a:latin typeface="Arial"/>
                <a:ea typeface="Arial"/>
                <a:cs typeface="Arial"/>
              </a:rPr>
              <a:t>BOUNDARIES AND CAVEATS</a:t>
            </a:r>
          </a:p>
        </p:txBody>
      </p:sp>
      <p:sp>
        <p:nvSpPr>
          <p:cNvPr id="8" name="Slide 10 TextBox 11">
            <a:extLst xmlns:a="http://schemas.openxmlformats.org/drawingml/2006/main">
              <a:ext uri="{FF2B5EF4-FFF2-40B4-BE49-F238E27FC236}">
                <a16:creationId xmlns:a16="http://schemas.microsoft.com/office/drawing/2014/main" id="{6AE10B1C-8F28-4ABD-BE90-3ED39954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224" y="2267712"/>
            <a:ext cx="4572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70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1420" b="1">
                <a:solidFill>
                  <a:srgbClr val="42D7D1"/>
                </a:solidFill>
              </a:rPr>
              <a:t>→  </a:t>
            </a:r>
            <a:r>
              <a:rPr sz="1420">
                <a:solidFill>
                  <a:srgbClr val="EEF7FB"/>
                </a:solidFill>
                <a:latin typeface="Arial"/>
                <a:ea typeface="Arial"/>
                <a:cs typeface="Arial"/>
              </a:rPr>
              <a:t>For small MIMO, Hydra is faster because MegaStation adds scheduling overhead</a:t>
            </a:r>
          </a:p>
          <a:p xmlns:a="http://schemas.openxmlformats.org/drawingml/2006/main">
            <a:pPr algn="l">
              <a:spcAft>
                <a:spcPts val="70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1420" b="1">
                <a:solidFill>
                  <a:srgbClr val="42D7D1"/>
                </a:solidFill>
              </a:rPr>
              <a:t>→  </a:t>
            </a:r>
            <a:r>
              <a:rPr sz="1420">
                <a:solidFill>
                  <a:srgbClr val="EEF7FB"/>
                </a:solidFill>
                <a:latin typeface="Arial"/>
                <a:ea typeface="Arial"/>
                <a:cs typeface="Arial"/>
              </a:rPr>
              <a:t>GPU resource usage is estimated rather than exposed directly</a:t>
            </a:r>
          </a:p>
          <a:p xmlns:a="http://schemas.openxmlformats.org/drawingml/2006/main">
            <a:pPr algn="l">
              <a:spcAft>
                <a:spcPts val="70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1420" b="1">
                <a:solidFill>
                  <a:srgbClr val="42D7D1"/>
                </a:solidFill>
              </a:rPr>
              <a:t>→  </a:t>
            </a:r>
            <a:r>
              <a:rPr sz="1420">
                <a:solidFill>
                  <a:srgbClr val="EEF7FB"/>
                </a:solidFill>
                <a:latin typeface="Arial"/>
                <a:ea typeface="Arial"/>
                <a:cs typeface="Arial"/>
              </a:rPr>
              <a:t>The testbed emulates RUs instead of reporting a carrier deployment</a:t>
            </a:r>
          </a:p>
          <a:p xmlns:a="http://schemas.openxmlformats.org/drawingml/2006/main">
            <a:pPr algn="l">
              <a:spcAft>
                <a:spcPts val="70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1420" b="1">
                <a:solidFill>
                  <a:srgbClr val="42D7D1"/>
                </a:solidFill>
              </a:rPr>
              <a:t>→  </a:t>
            </a:r>
            <a:r>
              <a:rPr sz="1420">
                <a:solidFill>
                  <a:srgbClr val="EEF7FB"/>
                </a:solidFill>
                <a:latin typeface="Arial"/>
                <a:ea typeface="Arial"/>
                <a:cs typeface="Arial"/>
              </a:rPr>
              <a:t>Reproduction requires NVIDIA Aerial source access</a:t>
            </a:r>
          </a:p>
        </p:txBody>
      </p:sp>
      <p:sp>
        <p:nvSpPr>
          <p:cNvPr id="9" name="Slide 10 TextBox 13">
            <a:extLst xmlns:a="http://schemas.openxmlformats.org/drawingml/2006/main">
              <a:ext uri="{FF2B5EF4-FFF2-40B4-BE49-F238E27FC236}">
                <a16:creationId xmlns:a16="http://schemas.microsoft.com/office/drawing/2014/main" id="{0652D4E9-5137-4C18-B25D-E2253B7C3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486400"/>
            <a:ext cx="102412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1450" b="1">
                <a:solidFill>
                  <a:srgbClr val="EEF7FB"/>
                </a:solidFill>
                <a:latin typeface="Arial"/>
                <a:ea typeface="Arial"/>
                <a:cs typeface="Arial"/>
              </a:rPr>
              <a:t>Interpretation: </a:t>
            </a:r>
            <a:r>
              <a:rPr sz="1450" b="0">
                <a:solidFill>
                  <a:srgbClr val="EEF7FB"/>
                </a:solidFill>
                <a:latin typeface="Arial"/>
                <a:ea typeface="Arial"/>
                <a:cs typeface="Arial"/>
              </a:rPr>
              <a:t>Adaptation helps most when workload size and resource irregularity repay its control overhead.</a:t>
            </a:r>
          </a:p>
        </p:txBody>
      </p:sp>
    </p:spTree>
    <p:extLst>
      <p:ext uri="{BB962C8B-B14F-4D97-AF65-F5344CB8AC3E}">
        <p14:creationId xmlns:p14="http://schemas.microsoft.com/office/powerpoint/2010/main" val="96806318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5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 11 TextBox 2">
            <a:extLst xmlns:a="http://schemas.openxmlformats.org/drawingml/2006/main">
              <a:ext uri="{FF2B5EF4-FFF2-40B4-BE49-F238E27FC236}">
                <a16:creationId xmlns:a16="http://schemas.microsoft.com/office/drawing/2014/main" id="{82EE20D1-D04A-44E1-AD17-A6326BB62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4048"/>
            <a:ext cx="594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2D7D1"/>
                </a:solidFill>
                <a:latin typeface="Arial"/>
                <a:ea typeface="Arial"/>
                <a:cs typeface="Arial"/>
              </a:rPr>
              <a:t>BROADER RESEARCH OPPORTUNITIES</a:t>
            </a:r>
          </a:p>
        </p:txBody>
      </p:sp>
      <p:sp>
        <p:nvSpPr>
          <p:cNvPr id="2" name="Slide 11 TextBox 3">
            <a:extLst xmlns:a="http://schemas.openxmlformats.org/drawingml/2006/main">
              <a:ext uri="{FF2B5EF4-FFF2-40B4-BE49-F238E27FC236}">
                <a16:creationId xmlns:a16="http://schemas.microsoft.com/office/drawing/2014/main" id="{DECC44B2-97B0-4303-A67D-D1361F874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838200"/>
            <a:ext cx="1088136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EF7FB"/>
                </a:solidFill>
                <a:latin typeface="Arial"/>
                <a:ea typeface="Arial"/>
                <a:cs typeface="Arial"/>
              </a:rPr>
              <a:t>The paper opens more questions than “how fast is MegaStation?”</a:t>
            </a:r>
          </a:p>
        </p:txBody>
      </p:sp>
      <p:sp>
        <p:nvSpPr>
          <p:cNvPr id="3" name="Slide 11 TextBox 4">
            <a:extLst xmlns:a="http://schemas.openxmlformats.org/drawingml/2006/main">
              <a:ext uri="{FF2B5EF4-FFF2-40B4-BE49-F238E27FC236}">
                <a16:creationId xmlns:a16="http://schemas.microsoft.com/office/drawing/2014/main" id="{E9C5225F-855B-4648-9D29-FD572A649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6477000"/>
            <a:ext cx="996696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630" b="0">
                <a:solidFill>
                  <a:srgbClr val="7894A2"/>
                </a:solidFill>
                <a:latin typeface="Arial"/>
                <a:ea typeface="Arial"/>
                <a:cs typeface="Arial"/>
              </a:rPr>
              <a:t>Directions synthesized from design assumptions, evaluation, and related work [1]</a:t>
            </a:r>
          </a:p>
        </p:txBody>
      </p:sp>
      <p:sp>
        <p:nvSpPr>
          <p:cNvPr id="4" name="Slide 11 TextBox 5">
            <a:extLst xmlns:a="http://schemas.openxmlformats.org/drawingml/2006/main">
              <a:ext uri="{FF2B5EF4-FFF2-40B4-BE49-F238E27FC236}">
                <a16:creationId xmlns:a16="http://schemas.microsoft.com/office/drawing/2014/main" id="{2B051C32-61E4-4D2C-A7C6-59F3FE118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7000"/>
            <a:ext cx="59436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680" b="0">
                <a:solidFill>
                  <a:srgbClr val="7894A2"/>
                </a:solidFill>
                <a:latin typeface="Arial"/>
                <a:ea typeface="Arial"/>
                <a:cs typeface="Arial"/>
              </a:rPr>
              <a:t>11 / 13</a:t>
            </a:r>
          </a:p>
        </p:txBody>
      </p:sp>
      <p:sp>
        <p:nvSpPr>
          <p:cNvPr id="5" name="Slide 11 TextBox 7">
            <a:extLst xmlns:a="http://schemas.openxmlformats.org/drawingml/2006/main">
              <a:ext uri="{FF2B5EF4-FFF2-40B4-BE49-F238E27FC236}">
                <a16:creationId xmlns:a16="http://schemas.microsoft.com/office/drawing/2014/main" id="{6ECC1D17-7FE9-4C56-8945-3FB4F74BA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691640"/>
            <a:ext cx="470916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7FB"/>
                </a:solidFill>
                <a:latin typeface="Arial"/>
                <a:ea typeface="Arial"/>
                <a:cs typeface="Arial"/>
              </a:rPr>
              <a:t>1 · RAN-specific GPU interfaces</a:t>
            </a:r>
          </a:p>
        </p:txBody>
      </p:sp>
      <p:sp>
        <p:nvSpPr>
          <p:cNvPr id="6" name="Slide 11 TextBox 8">
            <a:extLst xmlns:a="http://schemas.openxmlformats.org/drawingml/2006/main">
              <a:ext uri="{FF2B5EF4-FFF2-40B4-BE49-F238E27FC236}">
                <a16:creationId xmlns:a16="http://schemas.microsoft.com/office/drawing/2014/main" id="{512EA5F1-ECB8-4D3A-87BE-020BA0BCE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075688"/>
            <a:ext cx="4754880" cy="329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1150" b="0">
                <a:solidFill>
                  <a:srgbClr val="A9C0CB"/>
                </a:solidFill>
                <a:latin typeface="Arial"/>
                <a:ea typeface="Arial"/>
                <a:cs typeface="Arial"/>
              </a:rPr>
              <a:t>Predictable preemption, occupancy, and deadline-aware scheduling.</a:t>
            </a:r>
          </a:p>
        </p:txBody>
      </p:sp>
      <p:sp>
        <p:nvSpPr>
          <p:cNvPr id="7" name="Slide 11 TextBox 10">
            <a:extLst xmlns:a="http://schemas.openxmlformats.org/drawingml/2006/main">
              <a:ext uri="{FF2B5EF4-FFF2-40B4-BE49-F238E27FC236}">
                <a16:creationId xmlns:a16="http://schemas.microsoft.com/office/drawing/2014/main" id="{8840A0B1-2731-4BC9-BDF7-BF95E0A8A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1691640"/>
            <a:ext cx="470916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7FB"/>
                </a:solidFill>
                <a:latin typeface="Arial"/>
                <a:ea typeface="Arial"/>
                <a:cs typeface="Arial"/>
              </a:rPr>
              <a:t>2 · Cross-layer control</a:t>
            </a:r>
          </a:p>
        </p:txBody>
      </p:sp>
      <p:sp>
        <p:nvSpPr>
          <p:cNvPr id="8" name="Slide 11 TextBox 11">
            <a:extLst xmlns:a="http://schemas.openxmlformats.org/drawingml/2006/main">
              <a:ext uri="{FF2B5EF4-FFF2-40B4-BE49-F238E27FC236}">
                <a16:creationId xmlns:a16="http://schemas.microsoft.com/office/drawing/2014/main" id="{740D7914-D78B-446C-8B50-DBED02298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2075688"/>
            <a:ext cx="4754880" cy="329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1150" b="0">
                <a:solidFill>
                  <a:srgbClr val="A9C0CB"/>
                </a:solidFill>
                <a:latin typeface="Arial"/>
                <a:ea typeface="Arial"/>
                <a:cs typeface="Arial"/>
              </a:rPr>
              <a:t>Jointly optimize radio scheduling, baseband deadlines, and GPU placement.</a:t>
            </a:r>
          </a:p>
        </p:txBody>
      </p:sp>
      <p:sp>
        <p:nvSpPr>
          <p:cNvPr id="9" name="Slide 11 TextBox 13">
            <a:extLst xmlns:a="http://schemas.openxmlformats.org/drawingml/2006/main">
              <a:ext uri="{FF2B5EF4-FFF2-40B4-BE49-F238E27FC236}">
                <a16:creationId xmlns:a16="http://schemas.microsoft.com/office/drawing/2014/main" id="{71B2624C-FDA2-44E0-9A68-36A159B2E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3044952"/>
            <a:ext cx="470916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7FB"/>
                </a:solidFill>
                <a:latin typeface="Arial"/>
                <a:ea typeface="Arial"/>
                <a:cs typeface="Arial"/>
              </a:rPr>
              <a:t>3 · Multi-tenant isolation</a:t>
            </a:r>
          </a:p>
        </p:txBody>
      </p:sp>
      <p:sp>
        <p:nvSpPr>
          <p:cNvPr id="10" name="Slide 11 TextBox 14">
            <a:extLst xmlns:a="http://schemas.openxmlformats.org/drawingml/2006/main">
              <a:ext uri="{FF2B5EF4-FFF2-40B4-BE49-F238E27FC236}">
                <a16:creationId xmlns:a16="http://schemas.microsoft.com/office/drawing/2014/main" id="{8AC292AD-238A-4CCE-82F3-952CA6EBF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3429000"/>
            <a:ext cx="4754880" cy="329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1150" b="0">
                <a:solidFill>
                  <a:srgbClr val="A9C0CB"/>
                </a:solidFill>
                <a:latin typeface="Arial"/>
                <a:ea typeface="Arial"/>
                <a:cs typeface="Arial"/>
              </a:rPr>
              <a:t>Give several cells or network functions performance guarantees.</a:t>
            </a:r>
          </a:p>
        </p:txBody>
      </p:sp>
      <p:sp>
        <p:nvSpPr>
          <p:cNvPr id="11" name="Slide 11 TextBox 16">
            <a:extLst xmlns:a="http://schemas.openxmlformats.org/drawingml/2006/main">
              <a:ext uri="{FF2B5EF4-FFF2-40B4-BE49-F238E27FC236}">
                <a16:creationId xmlns:a16="http://schemas.microsoft.com/office/drawing/2014/main" id="{F18EDCE5-6A2D-41FA-A513-9DC0A07F2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3044952"/>
            <a:ext cx="470916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7FB"/>
                </a:solidFill>
                <a:latin typeface="Arial"/>
                <a:ea typeface="Arial"/>
                <a:cs typeface="Arial"/>
              </a:rPr>
              <a:t>4 · Energy and cost</a:t>
            </a:r>
          </a:p>
        </p:txBody>
      </p:sp>
      <p:sp>
        <p:nvSpPr>
          <p:cNvPr id="12" name="Slide 11 TextBox 17">
            <a:extLst xmlns:a="http://schemas.openxmlformats.org/drawingml/2006/main">
              <a:ext uri="{FF2B5EF4-FFF2-40B4-BE49-F238E27FC236}">
                <a16:creationId xmlns:a16="http://schemas.microsoft.com/office/drawing/2014/main" id="{7393D9E1-F5F1-4F40-AE61-1CB97784A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3429000"/>
            <a:ext cx="4754880" cy="329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1150" b="0">
                <a:solidFill>
                  <a:srgbClr val="A9C0CB"/>
                </a:solidFill>
                <a:latin typeface="Arial"/>
                <a:ea typeface="Arial"/>
                <a:cs typeface="Arial"/>
              </a:rPr>
              <a:t>Reassign or power down accelerators while preserving deadlines.</a:t>
            </a:r>
          </a:p>
        </p:txBody>
      </p:sp>
      <p:sp>
        <p:nvSpPr>
          <p:cNvPr id="13" name="Slide 11 TextBox 19">
            <a:extLst xmlns:a="http://schemas.openxmlformats.org/drawingml/2006/main">
              <a:ext uri="{FF2B5EF4-FFF2-40B4-BE49-F238E27FC236}">
                <a16:creationId xmlns:a16="http://schemas.microsoft.com/office/drawing/2014/main" id="{BF020D15-FEF4-4569-8B41-B0F82A7EB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4398264"/>
            <a:ext cx="470916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7FB"/>
                </a:solidFill>
                <a:latin typeface="Arial"/>
                <a:ea typeface="Arial"/>
                <a:cs typeface="Arial"/>
              </a:rPr>
              <a:t>5 · Heterogeneous accelerators</a:t>
            </a:r>
          </a:p>
        </p:txBody>
      </p:sp>
      <p:sp>
        <p:nvSpPr>
          <p:cNvPr id="14" name="Slide 11 TextBox 20">
            <a:extLst xmlns:a="http://schemas.openxmlformats.org/drawingml/2006/main">
              <a:ext uri="{FF2B5EF4-FFF2-40B4-BE49-F238E27FC236}">
                <a16:creationId xmlns:a16="http://schemas.microsoft.com/office/drawing/2014/main" id="{BE40B548-6F71-4107-A99A-97F758233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4782312"/>
            <a:ext cx="4754880" cy="329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1150" b="0">
                <a:solidFill>
                  <a:srgbClr val="A9C0CB"/>
                </a:solidFill>
                <a:latin typeface="Arial"/>
                <a:ea typeface="Arial"/>
                <a:cs typeface="Arial"/>
              </a:rPr>
              <a:t>Span GPUs, FPGAs, DPUs, and future accelerators with one abstraction.</a:t>
            </a:r>
          </a:p>
        </p:txBody>
      </p:sp>
      <p:sp>
        <p:nvSpPr>
          <p:cNvPr id="15" name="Slide 11 TextBox 22">
            <a:extLst xmlns:a="http://schemas.openxmlformats.org/drawingml/2006/main">
              <a:ext uri="{FF2B5EF4-FFF2-40B4-BE49-F238E27FC236}">
                <a16:creationId xmlns:a16="http://schemas.microsoft.com/office/drawing/2014/main" id="{944C505F-5CEF-4A63-946B-2E2FB97B0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4398264"/>
            <a:ext cx="470916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7FB"/>
                </a:solidFill>
                <a:latin typeface="Arial"/>
                <a:ea typeface="Arial"/>
                <a:cs typeface="Arial"/>
              </a:rPr>
              <a:t>6 · Production validation</a:t>
            </a:r>
          </a:p>
        </p:txBody>
      </p:sp>
      <p:sp>
        <p:nvSpPr>
          <p:cNvPr id="16" name="Slide 11 TextBox 23">
            <a:extLst xmlns:a="http://schemas.openxmlformats.org/drawingml/2006/main">
              <a:ext uri="{FF2B5EF4-FFF2-40B4-BE49-F238E27FC236}">
                <a16:creationId xmlns:a16="http://schemas.microsoft.com/office/drawing/2014/main" id="{0B43C4E0-6E68-480A-BE01-DE7DB8928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4782312"/>
            <a:ext cx="4754880" cy="329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1150" b="0">
                <a:solidFill>
                  <a:srgbClr val="A9C0CB"/>
                </a:solidFill>
                <a:latin typeface="Arial"/>
                <a:ea typeface="Arial"/>
                <a:cs typeface="Arial"/>
              </a:rPr>
              <a:t>Test real fronthaul, mobility, bursts, and long-running carrier operations.</a:t>
            </a:r>
          </a:p>
        </p:txBody>
      </p:sp>
    </p:spTree>
    <p:extLst>
      <p:ext uri="{BB962C8B-B14F-4D97-AF65-F5344CB8AC3E}">
        <p14:creationId xmlns:p14="http://schemas.microsoft.com/office/powerpoint/2010/main" val="188554024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5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 12 TextBox 2">
            <a:extLst xmlns:a="http://schemas.openxmlformats.org/drawingml/2006/main">
              <a:ext uri="{FF2B5EF4-FFF2-40B4-BE49-F238E27FC236}">
                <a16:creationId xmlns:a16="http://schemas.microsoft.com/office/drawing/2014/main" id="{44F2FBDA-666C-46E1-B35B-10A3FE1F0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4048"/>
            <a:ext cx="594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2D7D1"/>
                </a:solidFill>
                <a:latin typeface="Arial"/>
                <a:ea typeface="Arial"/>
                <a:cs typeface="Arial"/>
              </a:rPr>
              <a:t>TAKEAWAY</a:t>
            </a:r>
          </a:p>
        </p:txBody>
      </p:sp>
      <p:sp>
        <p:nvSpPr>
          <p:cNvPr id="2" name="Slide 12 TextBox 3">
            <a:extLst xmlns:a="http://schemas.openxmlformats.org/drawingml/2006/main">
              <a:ext uri="{FF2B5EF4-FFF2-40B4-BE49-F238E27FC236}">
                <a16:creationId xmlns:a16="http://schemas.microsoft.com/office/drawing/2014/main" id="{2CC03CBC-E1AC-4C81-9F75-91631E950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838200"/>
            <a:ext cx="1088136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EF7FB"/>
                </a:solidFill>
                <a:latin typeface="Arial"/>
                <a:ea typeface="Arial"/>
                <a:cs typeface="Arial"/>
              </a:rPr>
              <a:t>Three ideas to remember</a:t>
            </a:r>
          </a:p>
        </p:txBody>
      </p:sp>
      <p:sp>
        <p:nvSpPr>
          <p:cNvPr id="3" name="Slide 12 TextBox 4">
            <a:extLst xmlns:a="http://schemas.openxmlformats.org/drawingml/2006/main">
              <a:ext uri="{FF2B5EF4-FFF2-40B4-BE49-F238E27FC236}">
                <a16:creationId xmlns:a16="http://schemas.microsoft.com/office/drawing/2014/main" id="{81C8D2D8-F6DE-4220-9018-0042AD6B6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6477000"/>
            <a:ext cx="996696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630" b="0">
                <a:solidFill>
                  <a:srgbClr val="7894A2"/>
                </a:solidFill>
                <a:latin typeface="Arial"/>
                <a:ea typeface="Arial"/>
                <a:cs typeface="Arial"/>
              </a:rPr>
              <a:t>Synthesis of the paper’s motivation, design, and conclusion [1]</a:t>
            </a:r>
          </a:p>
        </p:txBody>
      </p:sp>
      <p:sp>
        <p:nvSpPr>
          <p:cNvPr id="4" name="Slide 12 TextBox 5">
            <a:extLst xmlns:a="http://schemas.openxmlformats.org/drawingml/2006/main">
              <a:ext uri="{FF2B5EF4-FFF2-40B4-BE49-F238E27FC236}">
                <a16:creationId xmlns:a16="http://schemas.microsoft.com/office/drawing/2014/main" id="{2D71DDBF-777A-4AB3-B7BA-5EB12A3B5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7000"/>
            <a:ext cx="59436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680" b="0">
                <a:solidFill>
                  <a:srgbClr val="7894A2"/>
                </a:solidFill>
                <a:latin typeface="Arial"/>
                <a:ea typeface="Arial"/>
                <a:cs typeface="Arial"/>
              </a:rPr>
              <a:t>12 / 13</a:t>
            </a:r>
          </a:p>
        </p:txBody>
      </p:sp>
      <p:sp>
        <p:nvSpPr>
          <p:cNvPr id="5" name="Slide 12 TextBox 7">
            <a:extLst xmlns:a="http://schemas.openxmlformats.org/drawingml/2006/main">
              <a:ext uri="{FF2B5EF4-FFF2-40B4-BE49-F238E27FC236}">
                <a16:creationId xmlns:a16="http://schemas.microsoft.com/office/drawing/2014/main" id="{8F649F59-537B-443B-B255-B615A07D0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783080"/>
            <a:ext cx="64008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3400" b="1">
                <a:solidFill>
                  <a:srgbClr val="42D7D1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Slide 12 TextBox 8">
            <a:extLst xmlns:a="http://schemas.openxmlformats.org/drawingml/2006/main">
              <a:ext uri="{FF2B5EF4-FFF2-40B4-BE49-F238E27FC236}">
                <a16:creationId xmlns:a16="http://schemas.microsoft.com/office/drawing/2014/main" id="{23E0861B-FFFD-4649-AD76-5597614D5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514600"/>
            <a:ext cx="2971800" cy="749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1900" b="1">
                <a:solidFill>
                  <a:srgbClr val="EEF7FB"/>
                </a:solidFill>
                <a:latin typeface="Arial"/>
                <a:ea typeface="Arial"/>
                <a:cs typeface="Arial"/>
              </a:rPr>
              <a:t>The RAN is becoming software infrastructure</a:t>
            </a:r>
          </a:p>
        </p:txBody>
      </p:sp>
      <p:sp>
        <p:nvSpPr>
          <p:cNvPr id="7" name="Slide 12 TextBox 9">
            <a:extLst xmlns:a="http://schemas.openxmlformats.org/drawingml/2006/main">
              <a:ext uri="{FF2B5EF4-FFF2-40B4-BE49-F238E27FC236}">
                <a16:creationId xmlns:a16="http://schemas.microsoft.com/office/drawing/2014/main" id="{A840BC24-3C9E-4EE2-BD2D-A0FAA69F0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3502152"/>
            <a:ext cx="3017520" cy="749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C0CB"/>
                </a:solidFill>
                <a:latin typeface="Arial"/>
                <a:ea typeface="Arial"/>
                <a:cs typeface="Arial"/>
              </a:rPr>
              <a:t>Virtualization makes compute scheduling part of wireless-system design.</a:t>
            </a:r>
          </a:p>
        </p:txBody>
      </p:sp>
      <p:sp>
        <p:nvSpPr>
          <p:cNvPr id="8" name="Slide 12 TextBox 11">
            <a:extLst xmlns:a="http://schemas.openxmlformats.org/drawingml/2006/main">
              <a:ext uri="{FF2B5EF4-FFF2-40B4-BE49-F238E27FC236}">
                <a16:creationId xmlns:a16="http://schemas.microsoft.com/office/drawing/2014/main" id="{C2D7D326-93E1-4881-B729-70656B6B7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4568" y="1783080"/>
            <a:ext cx="64008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3400" b="1">
                <a:solidFill>
                  <a:srgbClr val="FFAD5C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Slide 12 TextBox 12">
            <a:extLst xmlns:a="http://schemas.openxmlformats.org/drawingml/2006/main">
              <a:ext uri="{FF2B5EF4-FFF2-40B4-BE49-F238E27FC236}">
                <a16:creationId xmlns:a16="http://schemas.microsoft.com/office/drawing/2014/main" id="{7CA7B160-5163-4BF5-9BB7-1F166B799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4568" y="2514600"/>
            <a:ext cx="2971800" cy="749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1900" b="1">
                <a:solidFill>
                  <a:srgbClr val="EEF7FB"/>
                </a:solidFill>
                <a:latin typeface="Arial"/>
                <a:ea typeface="Arial"/>
                <a:cs typeface="Arial"/>
              </a:rPr>
              <a:t>More hardware is not enough</a:t>
            </a:r>
          </a:p>
        </p:txBody>
      </p:sp>
      <p:sp>
        <p:nvSpPr>
          <p:cNvPr id="10" name="Slide 12 TextBox 13">
            <a:extLst xmlns:a="http://schemas.openxmlformats.org/drawingml/2006/main">
              <a:ext uri="{FF2B5EF4-FFF2-40B4-BE49-F238E27FC236}">
                <a16:creationId xmlns:a16="http://schemas.microsoft.com/office/drawing/2014/main" id="{DC4701EF-3CE5-4206-8779-D59E022B9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4568" y="3502152"/>
            <a:ext cx="3017520" cy="749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C0CB"/>
                </a:solidFill>
                <a:latin typeface="Arial"/>
                <a:ea typeface="Arial"/>
                <a:cs typeface="Arial"/>
              </a:rPr>
              <a:t>Irregular availability creates a software–hardware parallelism mismatch.</a:t>
            </a:r>
          </a:p>
        </p:txBody>
      </p:sp>
      <p:sp>
        <p:nvSpPr>
          <p:cNvPr id="11" name="Slide 12 TextBox 15">
            <a:extLst xmlns:a="http://schemas.openxmlformats.org/drawingml/2006/main">
              <a:ext uri="{FF2B5EF4-FFF2-40B4-BE49-F238E27FC236}">
                <a16:creationId xmlns:a16="http://schemas.microsoft.com/office/drawing/2014/main" id="{BE2FB29B-FA16-4B20-B68E-A0D746815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888" y="1783080"/>
            <a:ext cx="64008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3400" b="1">
                <a:solidFill>
                  <a:srgbClr val="4EA5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2" name="Slide 12 TextBox 16">
            <a:extLst xmlns:a="http://schemas.openxmlformats.org/drawingml/2006/main">
              <a:ext uri="{FF2B5EF4-FFF2-40B4-BE49-F238E27FC236}">
                <a16:creationId xmlns:a16="http://schemas.microsoft.com/office/drawing/2014/main" id="{E448CD61-6ACC-4D1C-B871-8D3DB9F37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888" y="2514600"/>
            <a:ext cx="2971800" cy="749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1900" b="1">
                <a:solidFill>
                  <a:srgbClr val="EEF7FB"/>
                </a:solidFill>
                <a:latin typeface="Arial"/>
                <a:ea typeface="Arial"/>
                <a:cs typeface="Arial"/>
              </a:rPr>
              <a:t>Expose structure, then adapt</a:t>
            </a:r>
          </a:p>
        </p:txBody>
      </p:sp>
      <p:sp>
        <p:nvSpPr>
          <p:cNvPr id="13" name="Slide 12 TextBox 17">
            <a:extLst xmlns:a="http://schemas.openxmlformats.org/drawingml/2006/main">
              <a:ext uri="{FF2B5EF4-FFF2-40B4-BE49-F238E27FC236}">
                <a16:creationId xmlns:a16="http://schemas.microsoft.com/office/drawing/2014/main" id="{F0BA6E98-A49E-4830-8B5F-A6EA5E493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888" y="3502152"/>
            <a:ext cx="3017520" cy="749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C0CB"/>
                </a:solidFill>
                <a:latin typeface="Arial"/>
                <a:ea typeface="Arial"/>
                <a:cs typeface="Arial"/>
              </a:rPr>
              <a:t>Dependencies, locality, and deadlines let the runtime rebuild the pipeline.</a:t>
            </a:r>
          </a:p>
        </p:txBody>
      </p:sp>
      <p:sp>
        <p:nvSpPr>
          <p:cNvPr id="14" name="Slide 12 TextBox 19">
            <a:extLst xmlns:a="http://schemas.openxmlformats.org/drawingml/2006/main">
              <a:ext uri="{FF2B5EF4-FFF2-40B4-BE49-F238E27FC236}">
                <a16:creationId xmlns:a16="http://schemas.microsoft.com/office/drawing/2014/main" id="{24BAA536-D8E7-4354-A438-8F81F3381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143500"/>
            <a:ext cx="1037844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1700" b="0">
                <a:solidFill>
                  <a:srgbClr val="EEF7FB"/>
                </a:solidFill>
                <a:latin typeface="Arial"/>
                <a:ea typeface="Arial"/>
                <a:cs typeface="Arial"/>
              </a:rPr>
              <a:t>MegaStation’s bigger contribution is a research pattern: </a:t>
            </a:r>
            <a:r>
              <a:rPr sz="1700" b="1">
                <a:solidFill>
                  <a:srgbClr val="42D7D1"/>
                </a:solidFill>
                <a:latin typeface="Arial"/>
                <a:ea typeface="Arial"/>
                <a:cs typeface="Arial"/>
              </a:rPr>
              <a:t>application–platform co-design for composable infrastructure.</a:t>
            </a:r>
          </a:p>
        </p:txBody>
      </p:sp>
    </p:spTree>
    <p:extLst>
      <p:ext uri="{BB962C8B-B14F-4D97-AF65-F5344CB8AC3E}">
        <p14:creationId xmlns:p14="http://schemas.microsoft.com/office/powerpoint/2010/main" val="152687542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15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 13 TextBox 2">
            <a:extLst xmlns:a="http://schemas.openxmlformats.org/drawingml/2006/main">
              <a:ext uri="{FF2B5EF4-FFF2-40B4-BE49-F238E27FC236}">
                <a16:creationId xmlns:a16="http://schemas.microsoft.com/office/drawing/2014/main" id="{B92CBFD1-D9D1-4E99-A727-6AFC532B6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4048"/>
            <a:ext cx="594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2D7D1"/>
                </a:solidFill>
                <a:latin typeface="Arial"/>
                <a:ea typeface="Arial"/>
                <a:cs typeface="Arial"/>
              </a:rPr>
              <a:t>SOURCES</a:t>
            </a:r>
          </a:p>
        </p:txBody>
      </p:sp>
      <p:sp>
        <p:nvSpPr>
          <p:cNvPr id="2" name="Slide 13 TextBox 3">
            <a:extLst xmlns:a="http://schemas.openxmlformats.org/drawingml/2006/main">
              <a:ext uri="{FF2B5EF4-FFF2-40B4-BE49-F238E27FC236}">
                <a16:creationId xmlns:a16="http://schemas.microsoft.com/office/drawing/2014/main" id="{3D9BA9AF-9DA5-4989-AC03-F32FDFA44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838200"/>
            <a:ext cx="1088136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EF7FB"/>
                </a:solidFill>
                <a:latin typeface="Arial"/>
                <a:ea typeface="Arial"/>
                <a:cs typeface="Arial"/>
              </a:rPr>
              <a:t>Primary materials</a:t>
            </a:r>
          </a:p>
        </p:txBody>
      </p:sp>
      <p:sp>
        <p:nvSpPr>
          <p:cNvPr id="3" name="Slide 13 TextBox 4">
            <a:extLst xmlns:a="http://schemas.openxmlformats.org/drawingml/2006/main">
              <a:ext uri="{FF2B5EF4-FFF2-40B4-BE49-F238E27FC236}">
                <a16:creationId xmlns:a16="http://schemas.microsoft.com/office/drawing/2014/main" id="{0F8D508A-556C-4898-9CBB-7D06F46A9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6477000"/>
            <a:ext cx="996696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630" b="0">
                <a:solidFill>
                  <a:srgbClr val="7894A2"/>
                </a:solidFill>
                <a:latin typeface="Arial"/>
                <a:ea typeface="Arial"/>
                <a:cs typeface="Arial"/>
              </a:rPr>
              <a:t>All sources are the course / USENIX materials supplied for this presentation.</a:t>
            </a:r>
          </a:p>
        </p:txBody>
      </p:sp>
      <p:sp>
        <p:nvSpPr>
          <p:cNvPr id="4" name="Slide 13 TextBox 5">
            <a:extLst xmlns:a="http://schemas.openxmlformats.org/drawingml/2006/main">
              <a:ext uri="{FF2B5EF4-FFF2-40B4-BE49-F238E27FC236}">
                <a16:creationId xmlns:a16="http://schemas.microsoft.com/office/drawing/2014/main" id="{3845D5C8-7DAA-4BC6-8D0D-0A65AA3F7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7000"/>
            <a:ext cx="59436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680" b="0">
                <a:solidFill>
                  <a:srgbClr val="7894A2"/>
                </a:solidFill>
                <a:latin typeface="Arial"/>
                <a:ea typeface="Arial"/>
                <a:cs typeface="Arial"/>
              </a:rPr>
              <a:t>13 / 13</a:t>
            </a:r>
          </a:p>
        </p:txBody>
      </p:sp>
      <p:sp>
        <p:nvSpPr>
          <p:cNvPr id="5" name="Slide 13 TextBox 6">
            <a:extLst xmlns:a="http://schemas.openxmlformats.org/drawingml/2006/main">
              <a:ext uri="{FF2B5EF4-FFF2-40B4-BE49-F238E27FC236}">
                <a16:creationId xmlns:a16="http://schemas.microsoft.com/office/drawing/2014/main" id="{027EC21C-0B48-49D7-9C46-16CE1CABD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481328"/>
            <a:ext cx="4114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42D7D1"/>
                </a:solidFill>
                <a:latin typeface="Arial"/>
                <a:ea typeface="Arial"/>
                <a:cs typeface="Arial"/>
              </a:rPr>
              <a:t>[1]</a:t>
            </a:r>
          </a:p>
        </p:txBody>
      </p:sp>
      <p:sp>
        <p:nvSpPr>
          <p:cNvPr id="6" name="Slide 13 TextBox 7">
            <a:extLst xmlns:a="http://schemas.openxmlformats.org/drawingml/2006/main">
              <a:ext uri="{FF2B5EF4-FFF2-40B4-BE49-F238E27FC236}">
                <a16:creationId xmlns:a16="http://schemas.microsoft.com/office/drawing/2014/main" id="{503F4DAA-F45B-4E26-A386-42AF55B40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481328"/>
            <a:ext cx="987552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EF7FB"/>
                </a:solidFill>
                <a:latin typeface="Arial"/>
                <a:ea typeface="Arial"/>
                <a:cs typeface="Arial"/>
              </a:rPr>
              <a:t>Xie et al. “Building Massive MIMO Baseband Processing on a Single-Node Supercomputer.” NSDI 2025.</a:t>
            </a:r>
          </a:p>
        </p:txBody>
      </p:sp>
      <p:sp>
        <p:nvSpPr>
          <p:cNvPr id="7" name="Slide 13 TextBox 8">
            <a:extLst xmlns:a="http://schemas.openxmlformats.org/drawingml/2006/main">
              <a:ext uri="{FF2B5EF4-FFF2-40B4-BE49-F238E27FC236}">
                <a16:creationId xmlns:a16="http://schemas.microsoft.com/office/drawing/2014/main" id="{850B3C09-31F7-4B43-AA88-248924AFA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755648"/>
            <a:ext cx="987552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2D7D1"/>
                </a:solidFill>
                <a:latin typeface="Arial"/>
                <a:ea typeface="Arial"/>
                <a:cs typeface="Arial"/>
                <a:hlinkClick xmlns:r="http://schemas.openxmlformats.org/officeDocument/2006/relationships" r:id="R05ac6c4d0dbd4d0e"/>
              </a:rPr>
              <a:t>https://www.usenix.org/system/files/nsdi25-xie.pdf</a:t>
            </a:r>
          </a:p>
        </p:txBody>
      </p:sp>
      <p:sp>
        <p:nvSpPr>
          <p:cNvPr id="8" name="Slide 13 TextBox 9">
            <a:extLst xmlns:a="http://schemas.openxmlformats.org/drawingml/2006/main">
              <a:ext uri="{FF2B5EF4-FFF2-40B4-BE49-F238E27FC236}">
                <a16:creationId xmlns:a16="http://schemas.microsoft.com/office/drawing/2014/main" id="{0342F5AD-1E40-4B6B-9573-CC2AC2323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267712"/>
            <a:ext cx="4114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42D7D1"/>
                </a:solidFill>
                <a:latin typeface="Arial"/>
                <a:ea typeface="Arial"/>
                <a:cs typeface="Arial"/>
              </a:rPr>
              <a:t>[2]</a:t>
            </a:r>
          </a:p>
        </p:txBody>
      </p:sp>
      <p:sp>
        <p:nvSpPr>
          <p:cNvPr id="9" name="Slide 13 TextBox 10">
            <a:extLst xmlns:a="http://schemas.openxmlformats.org/drawingml/2006/main">
              <a:ext uri="{FF2B5EF4-FFF2-40B4-BE49-F238E27FC236}">
                <a16:creationId xmlns:a16="http://schemas.microsoft.com/office/drawing/2014/main" id="{49E1B47C-F003-40F0-8A45-A2B8C41C5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267712"/>
            <a:ext cx="987552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EF7FB"/>
                </a:solidFill>
                <a:latin typeface="Arial"/>
                <a:ea typeface="Arial"/>
                <a:cs typeface="Arial"/>
              </a:rPr>
              <a:t>Authors’ NSDI 2025 presentation slides.</a:t>
            </a:r>
          </a:p>
        </p:txBody>
      </p:sp>
      <p:sp>
        <p:nvSpPr>
          <p:cNvPr id="10" name="Slide 13 TextBox 11">
            <a:extLst xmlns:a="http://schemas.openxmlformats.org/drawingml/2006/main">
              <a:ext uri="{FF2B5EF4-FFF2-40B4-BE49-F238E27FC236}">
                <a16:creationId xmlns:a16="http://schemas.microsoft.com/office/drawing/2014/main" id="{AB8FBACA-6CA3-485C-AC90-9E64F6531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542032"/>
            <a:ext cx="987552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2D7D1"/>
                </a:solidFill>
                <a:latin typeface="Arial"/>
                <a:ea typeface="Arial"/>
                <a:cs typeface="Arial"/>
                <a:hlinkClick xmlns:r="http://schemas.openxmlformats.org/officeDocument/2006/relationships" r:id="Rec93f79f8d204837"/>
              </a:rPr>
              <a:t>https://www.usenix.org/system/files/nsdi25_slides-xie.pdf</a:t>
            </a:r>
          </a:p>
        </p:txBody>
      </p:sp>
      <p:sp>
        <p:nvSpPr>
          <p:cNvPr id="11" name="Slide 13 TextBox 12">
            <a:extLst xmlns:a="http://schemas.openxmlformats.org/drawingml/2006/main">
              <a:ext uri="{FF2B5EF4-FFF2-40B4-BE49-F238E27FC236}">
                <a16:creationId xmlns:a16="http://schemas.microsoft.com/office/drawing/2014/main" id="{71FC88CE-5D21-4649-9AA4-9ED5A290F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054096"/>
            <a:ext cx="4114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42D7D1"/>
                </a:solidFill>
                <a:latin typeface="Arial"/>
                <a:ea typeface="Arial"/>
                <a:cs typeface="Arial"/>
              </a:rPr>
              <a:t>[3]</a:t>
            </a:r>
          </a:p>
        </p:txBody>
      </p:sp>
      <p:sp>
        <p:nvSpPr>
          <p:cNvPr id="12" name="Slide 13 TextBox 13">
            <a:extLst xmlns:a="http://schemas.openxmlformats.org/drawingml/2006/main">
              <a:ext uri="{FF2B5EF4-FFF2-40B4-BE49-F238E27FC236}">
                <a16:creationId xmlns:a16="http://schemas.microsoft.com/office/drawing/2014/main" id="{688DC789-29EE-4C2E-A348-830515A94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054096"/>
            <a:ext cx="987552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EF7FB"/>
                </a:solidFill>
                <a:latin typeface="Arial"/>
                <a:ea typeface="Arial"/>
                <a:cs typeface="Arial"/>
              </a:rPr>
              <a:t>MegaStation source repository, NetLab Wisconsin.</a:t>
            </a:r>
          </a:p>
        </p:txBody>
      </p:sp>
      <p:sp>
        <p:nvSpPr>
          <p:cNvPr id="13" name="Slide 13 TextBox 14">
            <a:extLst xmlns:a="http://schemas.openxmlformats.org/drawingml/2006/main">
              <a:ext uri="{FF2B5EF4-FFF2-40B4-BE49-F238E27FC236}">
                <a16:creationId xmlns:a16="http://schemas.microsoft.com/office/drawing/2014/main" id="{7CE1DE49-90AC-4AC3-8BA1-00C615F77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328416"/>
            <a:ext cx="987552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2D7D1"/>
                </a:solidFill>
                <a:latin typeface="Arial"/>
                <a:ea typeface="Arial"/>
                <a:cs typeface="Arial"/>
                <a:hlinkClick xmlns:r="http://schemas.openxmlformats.org/officeDocument/2006/relationships" r:id="R5ded4dadb4864f53"/>
              </a:rPr>
              <a:t>https://github.com/netlab-wisconsin/MegaStation</a:t>
            </a:r>
          </a:p>
        </p:txBody>
      </p:sp>
      <p:sp>
        <p:nvSpPr>
          <p:cNvPr id="14" name="Slide 13 TextBox 15">
            <a:extLst xmlns:a="http://schemas.openxmlformats.org/drawingml/2006/main">
              <a:ext uri="{FF2B5EF4-FFF2-40B4-BE49-F238E27FC236}">
                <a16:creationId xmlns:a16="http://schemas.microsoft.com/office/drawing/2014/main" id="{D7FDEB70-8F66-4443-973D-A251558C7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840480"/>
            <a:ext cx="4114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42D7D1"/>
                </a:solidFill>
                <a:latin typeface="Arial"/>
                <a:ea typeface="Arial"/>
                <a:cs typeface="Arial"/>
              </a:rPr>
              <a:t>[4]</a:t>
            </a:r>
          </a:p>
        </p:txBody>
      </p:sp>
      <p:sp>
        <p:nvSpPr>
          <p:cNvPr id="15" name="Slide 13 TextBox 16">
            <a:extLst xmlns:a="http://schemas.openxmlformats.org/drawingml/2006/main">
              <a:ext uri="{FF2B5EF4-FFF2-40B4-BE49-F238E27FC236}">
                <a16:creationId xmlns:a16="http://schemas.microsoft.com/office/drawing/2014/main" id="{60F2DE96-5F99-43BE-8742-5B8C2CCD3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840480"/>
            <a:ext cx="987552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EF7FB"/>
                </a:solidFill>
                <a:latin typeface="Arial"/>
                <a:ea typeface="Arial"/>
                <a:cs typeface="Arial"/>
              </a:rPr>
              <a:t>Authors’ NSDI 2025 presentation video.</a:t>
            </a:r>
          </a:p>
        </p:txBody>
      </p:sp>
      <p:sp>
        <p:nvSpPr>
          <p:cNvPr id="16" name="Slide 13 TextBox 17">
            <a:extLst xmlns:a="http://schemas.openxmlformats.org/drawingml/2006/main">
              <a:ext uri="{FF2B5EF4-FFF2-40B4-BE49-F238E27FC236}">
                <a16:creationId xmlns:a16="http://schemas.microsoft.com/office/drawing/2014/main" id="{DDA7FAA8-8BBC-4A9A-8077-E8A6B3D51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114800"/>
            <a:ext cx="987552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2D7D1"/>
                </a:solidFill>
                <a:latin typeface="Arial"/>
                <a:ea typeface="Arial"/>
                <a:cs typeface="Arial"/>
                <a:hlinkClick xmlns:r="http://schemas.openxmlformats.org/officeDocument/2006/relationships" r:id="Rfaa9b22d6f72490c"/>
              </a:rPr>
              <a:t>https://www.youtube.com/watch?v=J8n9HY3dcFs</a:t>
            </a:r>
          </a:p>
        </p:txBody>
      </p:sp>
      <p:sp>
        <p:nvSpPr>
          <p:cNvPr id="17" name="Slide 13 TextBox 19">
            <a:extLst xmlns:a="http://schemas.openxmlformats.org/drawingml/2006/main">
              <a:ext uri="{FF2B5EF4-FFF2-40B4-BE49-F238E27FC236}">
                <a16:creationId xmlns:a16="http://schemas.microsoft.com/office/drawing/2014/main" id="{43744A66-B076-4CA0-910D-7CBAE768D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124450"/>
            <a:ext cx="1024128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defRPr sz="1500">
                <a:solidFill>
                  <a:srgbClr val="EAF4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7FB"/>
                </a:solidFill>
                <a:latin typeface="Arial"/>
                <a:ea typeface="Arial"/>
                <a:cs typeface="Arial"/>
              </a:rPr>
              <a:t>Suggested discussion: </a:t>
            </a:r>
            <a:r>
              <a:rPr sz="1500" b="0">
                <a:solidFill>
                  <a:srgbClr val="EEF7FB"/>
                </a:solidFill>
                <a:latin typeface="Arial"/>
                <a:ea typeface="Arial"/>
                <a:cs typeface="Arial"/>
              </a:rPr>
              <a:t>Which should adapt first—the radio workload, the software pipeline, or the accelerator scheduler?</a:t>
            </a:r>
          </a:p>
        </p:txBody>
      </p:sp>
    </p:spTree>
    <p:extLst>
      <p:ext uri="{BB962C8B-B14F-4D97-AF65-F5344CB8AC3E}">
        <p14:creationId xmlns:p14="http://schemas.microsoft.com/office/powerpoint/2010/main" val="18005433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2026-09-14T17:46:34.2660000Z</dcterms:created>
  <dcterms:modified xsi:type="dcterms:W3CDTF">2026-09-14T17:46:34.2660000Z</dcterms:modified>
</coreProperties>
</file>