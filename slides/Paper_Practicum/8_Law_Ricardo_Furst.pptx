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0853" autoAdjust="0"/>
  </p:normalViewPr>
  <p:slideViewPr>
    <p:cSldViewPr snapToGrid="0" snapToObjects="1">
      <p:cViewPr varScale="1">
        <p:scale>
          <a:sx n="80" d="100"/>
          <a:sy n="80" d="100"/>
        </p:scale>
        <p:origin x="132" y="9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9084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paper was Law which is by Yibin Shen and Zili Meng at </a:t>
            </a:r>
            <a:r>
              <a:rPr lang="en-US" dirty="0" err="1"/>
              <a:t>HongKong</a:t>
            </a:r>
            <a:r>
              <a:rPr lang="en-US" dirty="0"/>
              <a:t> university of science and tech.  </a:t>
            </a:r>
          </a:p>
          <a:p>
            <a:r>
              <a:rPr lang="en-US" dirty="0" err="1"/>
              <a:t>Lookint</a:t>
            </a:r>
            <a:r>
              <a:rPr lang="en-US" dirty="0"/>
              <a:t> at the history of </a:t>
            </a:r>
            <a:r>
              <a:rPr lang="en-US" dirty="0" err="1"/>
              <a:t>wifi</a:t>
            </a:r>
            <a:r>
              <a:rPr lang="en-US" dirty="0"/>
              <a:t> we can see how Wi-Fi  grew queues, retransmissions and rate adaptation and how each of those are added for throughput, reliability or fairness. </a:t>
            </a:r>
          </a:p>
          <a:p>
            <a:r>
              <a:rPr lang="en-US" dirty="0"/>
              <a:t>This paper shows that those same three mechanisms are what make latency spike on a home Wi-Fi link, and it redesigns them so that no packet will  sits  for longer than a fixed amount of time.</a:t>
            </a:r>
          </a:p>
          <a:p>
            <a:r>
              <a:rPr lang="en-US" dirty="0"/>
              <a:t>The trick that makes this possible is something only a real-time video application can offer, which is tolerance for losing a few packets.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There are two reasons we picked this paper.</a:t>
            </a:r>
          </a:p>
          <a:p>
            <a:pPr rtl="0"/>
            <a:r>
              <a:rPr lang="en-US" dirty="0"/>
              <a:t>Layered queues, retries and rate adaptation were each added to Wi-Fi to make it faster, more reliable or fairer. This paper shows that, working together, those same mechanisms are what cause latency spikes.</a:t>
            </a:r>
          </a:p>
          <a:p>
            <a:pPr rtl="0"/>
            <a:r>
              <a:rPr lang="en-US" dirty="0"/>
              <a:t>Second, it takes advantage of something video apps can do: live video can handle losing a few packets. It has tools to cover for them, like forward error correction, or FEC, which sends a bit of extra data to rebuild lost packets. So Law makes a trade: and it gives up a little loss in exchange for a hard cap on delay.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Ultra-low-latency applications impose really </a:t>
            </a:r>
            <a:r>
              <a:rPr lang="en-US" dirty="0" err="1"/>
              <a:t>really</a:t>
            </a:r>
            <a:r>
              <a:rPr lang="en-US" dirty="0"/>
              <a:t> strict latency requirements. Think gaming right?  A fighting game or a shooter game rely on incredible precision and accuracy and timing from a gameplay standpoint. </a:t>
            </a:r>
          </a:p>
          <a:p>
            <a:r>
              <a:rPr lang="en-US" dirty="0"/>
              <a:t> so usually cloud gaming wants under 100 ms end to end, as reliably as 99.9% of the time if not better. On average it is already good around 25 </a:t>
            </a:r>
            <a:r>
              <a:rPr lang="en-US" dirty="0" err="1"/>
              <a:t>ms.</a:t>
            </a:r>
            <a:r>
              <a:rPr lang="en-US" dirty="0"/>
              <a:t> But the tail is the problem – the tail referring to the slowest packets of the bunch.</a:t>
            </a:r>
          </a:p>
          <a:p>
            <a:endParaRPr lang="en-US" dirty="0"/>
          </a:p>
          <a:p>
            <a:r>
              <a:rPr lang="en-US" dirty="0"/>
              <a:t> previous measurements found that 99.9th-percentile frame delivery latency was above 200 ms. So there's a big gap between typical and consistent low latency, and consistency is what these apps and games really need. </a:t>
            </a:r>
            <a:r>
              <a:rPr lang="en-US" dirty="0" err="1"/>
              <a:t>YoU</a:t>
            </a:r>
            <a:r>
              <a:rPr lang="en-US" dirty="0"/>
              <a:t> </a:t>
            </a:r>
            <a:r>
              <a:rPr lang="en-US" dirty="0" err="1"/>
              <a:t>dont</a:t>
            </a:r>
            <a:r>
              <a:rPr lang="en-US" dirty="0"/>
              <a:t> need usually fast, you need  "always" fast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focus on Wi-Fi?  Because the rest of the path has been getting really </a:t>
            </a:r>
            <a:r>
              <a:rPr lang="en-US" dirty="0" err="1"/>
              <a:t>really</a:t>
            </a:r>
            <a:r>
              <a:rPr lang="en-US" dirty="0"/>
              <a:t> fast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Services like Netflix, YouTube and cloud gaming use CDNs, content delivery networks. These are servers spread around the world that keep copies of content close to you. Thanks to CDNs and nearby edge servers, you can usually reach a server in about 10 milliseconds one way. One study found the round trip took under 20 milliseconds in 90% of cloud-gaming sessions.</a:t>
            </a:r>
          </a:p>
          <a:p>
            <a:endParaRPr lang="en-US" dirty="0"/>
          </a:p>
          <a:p>
            <a:r>
              <a:rPr lang="en-US" dirty="0"/>
              <a:t>you can probably reach a nearby server within about 10 ms one way, and one recent study found base roundtrip time under 20 ms in 90% of cases. </a:t>
            </a:r>
          </a:p>
          <a:p>
            <a:pPr rtl="0">
              <a:buNone/>
            </a:pPr>
            <a:r>
              <a:rPr lang="en-US" dirty="0"/>
              <a:t>The authors measured this on their campus for two weeks. Whenever total delay went over 70 milliseconds, more than 95% of it came from the Wi-Fi last hop the wireless jump from the router to your device. And when they broke that down, more than 80% of the Wi-Fi delay was packets waiting in line, or queueing.</a:t>
            </a:r>
          </a:p>
          <a:p>
            <a:pPr rtl="0">
              <a:buNone/>
            </a:pPr>
            <a:r>
              <a:rPr lang="en-US" dirty="0"/>
              <a:t>So the tail is really a waiting-in-line problem, right at the last hop.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paper's core argument is that Wi-Fi was never designed for super-low-latency apps. Like I said before, it was designed for speed, reliability and fairness.</a:t>
            </a:r>
          </a:p>
          <a:p>
            <a:pPr rtl="0"/>
            <a:r>
              <a:rPr lang="en-US" dirty="0"/>
              <a:t>So That leaves three gaps.</a:t>
            </a:r>
          </a:p>
          <a:p>
            <a:pPr rtl="0"/>
            <a:r>
              <a:rPr lang="en-US" dirty="0"/>
              <a:t>One: there are too many waiting lines. A packet waits in the operating system's Wi-Fi queue, then in the driver's queue for retries, then in the Wi-Fi chip's own queue of up to 8 frames. Each line is managed separately, and none of them knows about the others.</a:t>
            </a:r>
          </a:p>
          <a:p>
            <a:pPr rtl="0"/>
            <a:endParaRPr lang="en-US" dirty="0"/>
          </a:p>
          <a:p>
            <a:pPr rtl="0"/>
            <a:r>
              <a:rPr lang="en-US" dirty="0"/>
              <a:t>Two: retries ignore time. When a send fails, the chip waits a moment and tries again, and again. Failed packets even get sent back for more rounds. One widely used driver only gives up after 31 attempts, and that can take over 100 milliseconds, while every packet behind it waits.</a:t>
            </a:r>
          </a:p>
          <a:p>
            <a:pPr rtl="0"/>
            <a:endParaRPr lang="en-US" dirty="0"/>
          </a:p>
          <a:p>
            <a:pPr rtl="0"/>
            <a:r>
              <a:rPr lang="en-US" dirty="0"/>
              <a:t>Three: rate adaptation ignores the queue. It picks a speed based only on signal quality. So when the signal gets shaky, it slows down, even while packets keep piling up in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Here's a real trace of 60 packets from the paper.</a:t>
            </a:r>
          </a:p>
          <a:p>
            <a:pPr rtl="0"/>
            <a:r>
              <a:rPr lang="en-US" dirty="0"/>
              <a:t>At packet 11, a packet is lost. The signal has started to get shaky. The packets after it go through tons of retries: about 15 milliseconds just to get one frame through, and about 25 for a bundle of frames. So the line starts building and piling up</a:t>
            </a:r>
          </a:p>
          <a:p>
            <a:pPr rtl="0"/>
            <a:r>
              <a:rPr lang="en-US" dirty="0"/>
              <a:t>Around packet 21, rate adaptation lowers the speed setting. It wants to send slower when the signal is not steady or consistent. But now we're sending slower and the line is still getting bigger and bigger, so the waiting time climbs even more, up to about 80 milliseconds.</a:t>
            </a:r>
          </a:p>
          <a:p>
            <a:pPr rtl="0"/>
            <a:r>
              <a:rPr lang="en-US" dirty="0"/>
              <a:t>And in that case the delay shoots up fast but comes down slowly. With multiple layers of queues, no single layer can clear what the others have piled up.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Before proposing Law, the authors show that the obvious fixes or tweaks don't work.</a:t>
            </a:r>
          </a:p>
          <a:p>
            <a:pPr rtl="0"/>
            <a:endParaRPr lang="en-US" dirty="0"/>
          </a:p>
          <a:p>
            <a:pPr rtl="0"/>
            <a:r>
              <a:rPr lang="en-US" dirty="0"/>
              <a:t>First fix: put a time limit on each line. A 25-millisecond limit on the first queue, and the chip's queue capped at 8 frames. Result: packet loss goes up 8 </a:t>
            </a:r>
            <a:r>
              <a:rPr lang="en-US" i="1" dirty="0"/>
              <a:t>times</a:t>
            </a:r>
            <a:r>
              <a:rPr lang="en-US" dirty="0"/>
              <a:t>, and the slowest 1 in 10,000 packets still take almost 200 milliseconds.</a:t>
            </a:r>
          </a:p>
          <a:p>
            <a:pPr rtl="0"/>
            <a:endParaRPr lang="en-US" dirty="0"/>
          </a:p>
          <a:p>
            <a:pPr rtl="0"/>
            <a:r>
              <a:rPr lang="en-US" dirty="0"/>
              <a:t>Second fix: just remove the chip's queue. Now, before every send, the chip has to stop and ask the driver for the next packet. On shared Wi-Fi, someone else grabs that moment of stopping, so you  would just keep missing your chance to send. The slowest packets now take over 400 milliseconds, and loss goes up two and a half times.</a:t>
            </a:r>
          </a:p>
          <a:p>
            <a:pPr rtl="0"/>
            <a:endParaRPr lang="en-US" dirty="0"/>
          </a:p>
          <a:p>
            <a:pPr rtl="0"/>
            <a:r>
              <a:rPr lang="en-US" dirty="0"/>
              <a:t>Third fix: just retry less. That doesn't work either. How many retries a packet needs changes by up to 15 times depending on signal strength. So any fixed limit is too loose in some places and too harsh in others.</a:t>
            </a:r>
          </a:p>
          <a:p>
            <a:pPr rtl="0"/>
            <a:r>
              <a:rPr lang="en-US" dirty="0"/>
              <a:t>In short: tweaking settings isn't enough. You have to redesign the 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takeaway and the reason the paper is relevant. For ultra-low-latency applications, getting dropped at the could potentially be more beneficial than getting blocked. A late frame is useless, but a lost packet can be recovered. So instead of queueing and retrying a packet for a long time, drop it early and let the upper layers recover.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So that loss tolerance comes from Three different places.</a:t>
            </a:r>
          </a:p>
          <a:p>
            <a:pPr rtl="0"/>
            <a:r>
              <a:rPr lang="en-US" dirty="0"/>
              <a:t>First, forward error correction. The authors tested it with WebRTC, the technology behind most browser video calls. They added 1% extra packet loss, and the slowest frames got slower by at most one round trip. Barely noticeable.</a:t>
            </a:r>
          </a:p>
          <a:p>
            <a:pPr rtl="0"/>
            <a:r>
              <a:rPr lang="en-US" dirty="0"/>
              <a:t>Second, error concealment. Video formats like H.264 can patch over missing data so the picture still looks right. And even newer formats can push that even further.</a:t>
            </a:r>
          </a:p>
          <a:p>
            <a:pPr rtl="0"/>
            <a:r>
              <a:rPr lang="en-US" dirty="0"/>
              <a:t>Third is, congestion control that watches delay instead of loss. GCC, which WebRTC uses, doesn't slow down for up to 2% loss, and BBR handles at least 5%.</a:t>
            </a:r>
          </a:p>
          <a:p>
            <a:pPr rtl="0"/>
            <a:r>
              <a:rPr lang="en-US" dirty="0"/>
              <a:t>But here's the catch, and it shapes Law's whole design. FEC can only fix a few losses at a time. Lose too many packets in a row, and it can't rebuild them. So the link layer has to control not just </a:t>
            </a:r>
            <a:r>
              <a:rPr lang="en-US" i="1" dirty="0"/>
              <a:t>how many</a:t>
            </a:r>
            <a:r>
              <a:rPr lang="en-US" dirty="0"/>
              <a:t> packets it drops, but </a:t>
            </a:r>
            <a:r>
              <a:rPr lang="en-US" i="1" dirty="0"/>
              <a:t>how bunched together</a:t>
            </a:r>
            <a:r>
              <a:rPr lang="en-US" dirty="0"/>
              <a:t> those drops are. Spread out is fine; bursts are not.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the design. </a:t>
            </a:r>
          </a:p>
          <a:p>
            <a:pPr rtl="0"/>
            <a:r>
              <a:rPr lang="en-US" dirty="0"/>
              <a:t>the design itself. Part one reshapes the queues.</a:t>
            </a:r>
          </a:p>
          <a:p>
            <a:pPr rtl="0"/>
            <a:r>
              <a:rPr lang="en-US" dirty="0"/>
              <a:t>Law merges the waiting lines into one. It moves the first queue down into the driver and removes the driver's retry queue. The chip keeps at most two frames: one being sent, and one ready to go.</a:t>
            </a:r>
          </a:p>
          <a:p>
            <a:pPr rtl="0"/>
            <a:r>
              <a:rPr lang="en-US" dirty="0"/>
              <a:t>They keep 2 frames because if a frame finishes and nothing is ready, you miss your chance to send. That's exactly what went wrong in the second fix we just saw. And if a frame fails, it gets one retry, sent straight back to the chip at a newly chosen speed.</a:t>
            </a:r>
          </a:p>
          <a:p>
            <a:pPr rtl="0"/>
            <a:r>
              <a:rPr lang="en-US" dirty="0"/>
              <a:t>With one queue, delay is managed in one place. Any packet that waits in the driver longer than 40 milliseconds gets dropped. And each frame gets at most 3 milliseconds on the chip before it's pulled back.</a:t>
            </a:r>
          </a:p>
          <a:p>
            <a:pPr rtl="0"/>
            <a:r>
              <a:rPr lang="en-US" dirty="0"/>
              <a:t>So every packet's delay is capped at 40, plus 3 for the frame being sent and 3 for the one waiting. That's 46 milliseconds with the settings they tested.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So why merge the queues? Why not just put a time limit on each one?</a:t>
            </a:r>
          </a:p>
          <a:p>
            <a:pPr rtl="0"/>
            <a:r>
              <a:rPr lang="en-US" dirty="0"/>
              <a:t>If  we were to need, say want 30 milliseconds total, and we split it evenly: 10 per layer. Now picture a packet that waits 12 milliseconds in the first queue, then 4 in each of the others. Its total is 20, well under 30. But it blew past the first layer's 10-millisecond limit, so it gets dropped. The same thing can happen at the driver or the chip.</a:t>
            </a:r>
          </a:p>
          <a:p>
            <a:pPr rtl="0"/>
            <a:r>
              <a:rPr lang="en-US" dirty="0"/>
              <a:t>Those are pointless losses. With one queue and one 30-millisecond limit, that packet makes it through.</a:t>
            </a:r>
          </a:p>
          <a:p>
            <a:pPr rtl="0"/>
            <a:r>
              <a:rPr lang="en-US" dirty="0"/>
              <a:t>There's also a statistical reason. The layers rarely all get slow at the same moment. So when you add their delays together, the total tends to stay close to average, and fewer packets cross one big limit than cross three small ones.</a:t>
            </a:r>
          </a:p>
          <a:p>
            <a:pPr rtl="0"/>
            <a:r>
              <a:rPr lang="en-US" dirty="0"/>
              <a:t>One queue, one limit, fewer unnecessary drops.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Part two decides the sending speed and the number of retries together. There are two big changes.</a:t>
            </a:r>
          </a:p>
          <a:p>
            <a:pPr rtl="0"/>
            <a:r>
              <a:rPr lang="en-US" dirty="0"/>
              <a:t>First is timing. Normal rate adaptation picks a speed once in a while. Law re-decides every single time it gets a chance to send, even for a packet that's already on the chip.</a:t>
            </a:r>
          </a:p>
          <a:p>
            <a:pPr rtl="0"/>
            <a:r>
              <a:rPr lang="en-US" dirty="0"/>
              <a:t>Second is a Cleanup mode. Look at the three states. Stable is normal operation. After a long enough streak of successful sends, Law moves to Probing: it tries the next faster speed on two packets and keeps it only if nothing was lost and it really was faster. Otherwise it goes back.</a:t>
            </a:r>
          </a:p>
          <a:p>
            <a:pPr rtl="0"/>
            <a:endParaRPr lang="en-US" dirty="0"/>
          </a:p>
          <a:p>
            <a:pPr rtl="0"/>
            <a:r>
              <a:rPr lang="en-US" dirty="0"/>
              <a:t>Law can switch to Cleanup in two cases: if a packet has waited more than 40 milliseconds, and gets dropped; or the line is longer than the link can clear in time. In Cleanup, Law sends fast and retries less, no retries from the driver, at most two tries on the chip.</a:t>
            </a:r>
          </a:p>
          <a:p>
            <a:pPr rtl="0"/>
            <a:r>
              <a:rPr lang="en-US" dirty="0"/>
              <a:t>if two packets drop in a row, it steps the speed down one notch.</a:t>
            </a:r>
          </a:p>
          <a:p>
            <a:pPr rtl="0"/>
            <a:endParaRPr lang="en-US" dirty="0"/>
          </a:p>
          <a:p>
            <a:pPr rtl="0"/>
            <a:r>
              <a:rPr lang="en-US" dirty="0"/>
              <a:t>That clears the line quickly, but it could cause losses in a row, which can’t be fixed. So there's a safety guardrail: after three losses in a row, the next packet gets one extra retry.</a:t>
            </a:r>
          </a:p>
          <a:p>
            <a:pPr rtl="0"/>
            <a:r>
              <a:rPr lang="en-US" dirty="0"/>
              <a:t>The goal is simply get as much useful data through as possible, with a delay capped and losses kept to what the app can recover from.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Does it actually work? They built Law on something called </a:t>
            </a:r>
            <a:r>
              <a:rPr lang="en-US" dirty="0" err="1"/>
              <a:t>OpenWiFi</a:t>
            </a:r>
            <a:r>
              <a:rPr lang="en-US" dirty="0"/>
              <a:t>, an open-source Wi-Fi system on a programmable radio board. They needed it because Law has to control the chip's retries directly, which normal Wi-Fi chips don't allow.</a:t>
            </a:r>
          </a:p>
          <a:p>
            <a:pPr rtl="0"/>
            <a:r>
              <a:rPr lang="en-US" dirty="0"/>
              <a:t>For the first test, they used a tool called </a:t>
            </a:r>
            <a:r>
              <a:rPr lang="en-US" dirty="0" err="1"/>
              <a:t>iPerf</a:t>
            </a:r>
            <a:r>
              <a:rPr lang="en-US" dirty="0"/>
              <a:t> to send a steady 10 megabits per second of UDP traffic through the Wi-Fi, for at least 10 minutes per run. They compared Law against three existing rate-adaptation methods: Minstrel, which is Linux's default; LLRA, which is latency-aware; and one based on Thompson sampling, a machine-learning technique.</a:t>
            </a:r>
          </a:p>
          <a:p>
            <a:pPr rtl="0"/>
            <a:r>
              <a:rPr lang="en-US" dirty="0"/>
              <a:t>Results: for the slowest 1 in 1,000 packets, Law cuts delay by 75 to 83 percent. And the delay stops sharply around 60 milliseconds: that's the 46-millisecond cap plus the wired part of the path. The other methods have a long tail.</a:t>
            </a:r>
          </a:p>
          <a:p>
            <a:pPr rtl="0"/>
            <a:r>
              <a:rPr lang="en-US" dirty="0"/>
              <a:t>Average loss stays under 1%. And even though Law drops more packets on purpose, it has 16 to 56 percent </a:t>
            </a:r>
            <a:r>
              <a:rPr lang="en-US" i="1" dirty="0"/>
              <a:t>fewer</a:t>
            </a:r>
            <a:r>
              <a:rPr lang="en-US" dirty="0"/>
              <a:t> bursts of five losses in a row. So the safety guard is working.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Now the real test was actual video. They streamed WebRTC video from a nearby edge server, at 10 megabits per second and 30 frames per second.</a:t>
            </a:r>
          </a:p>
          <a:p>
            <a:pPr rtl="0"/>
            <a:r>
              <a:rPr lang="en-US" dirty="0"/>
              <a:t>For the slowest 1 in 100 frames, Law cuts delay by 50 to 70 percent. For the slowest 1 in 1,000, by at least 58 percent. And frames that miss the 100-millisecond deadline drop by 70 to 78 percent.</a:t>
            </a:r>
          </a:p>
          <a:p>
            <a:pPr rtl="0"/>
            <a:r>
              <a:rPr lang="en-US" dirty="0"/>
              <a:t>The video quality even went up slightly compared to all three baselines. So the video app isn't slowing itself down because of Law's drops.</a:t>
            </a:r>
          </a:p>
          <a:p>
            <a:pPr rtl="0"/>
            <a:r>
              <a:rPr lang="en-US" dirty="0"/>
              <a:t>They also tested against real commercial routers with better hardware: more antennas and newer Wi-Fi. They matched them on signal strength or speed to keep it fair. Typical delay was about the same, but for the slowest 1 in 1,000 frames, Law was still 19 to 46 percent faster.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This slide sums up the idea in two numbers, which I think is really cool. Compared with the Thompson-sampling method, Law nearly doubles the number of frames that lose at least one packet. </a:t>
            </a:r>
            <a:r>
              <a:rPr lang="en-US" i="1" dirty="0"/>
              <a:t>But</a:t>
            </a:r>
            <a:r>
              <a:rPr lang="en-US" dirty="0"/>
              <a:t> it cuts the frames that lose more than 20% of their packets by 65%.</a:t>
            </a:r>
          </a:p>
          <a:p>
            <a:pPr rtl="0"/>
            <a:r>
              <a:rPr lang="en-US" dirty="0"/>
              <a:t>That's exactly the trade-off we want, lots and lots of small losses that FEC can fix, instead of a few big ones it can't.</a:t>
            </a:r>
          </a:p>
          <a:p>
            <a:pPr rtl="0"/>
            <a:r>
              <a:rPr lang="en-US" dirty="0"/>
              <a:t>One example from the paper makes it concrete. Across three frames, Law dropped six packets, nearly 10%. Five of those drops happened in Cleanup. FEC recovered every one. And because Law kept the speed high, all three frames arrived within 100 milliseconds.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A few caveats, so</a:t>
            </a:r>
          </a:p>
          <a:p>
            <a:pPr rtl="0"/>
            <a:r>
              <a:rPr lang="en-US" dirty="0"/>
              <a:t>First, the whole design depends on loss tolerance, right? But some traffic doesn't tolerate loss. Regular TCP, like Reno or Cubic, which a lot of downloads use, treats every lost packet as a sign to slow way down. So Law's drops would hurt it. A real router would need to tell the two kinds of traffic apart and only use Law for things like video. One idea: latency-sensitive traffic keeps the line short, while regular TCP tends to fill it up. So you could spot them by how they behave. The authors leave that as future work.</a:t>
            </a:r>
          </a:p>
          <a:p>
            <a:pPr rtl="0"/>
            <a:r>
              <a:rPr lang="en-US" dirty="0"/>
              <a:t>Second, it's a prototype. It runs on a research radio with literally one antenna and older Wi-Fi. And it needs direct control over the chip's retries, which commercial Wi-Fi chips would have to open up.</a:t>
            </a:r>
          </a:p>
          <a:p>
            <a:pPr rtl="0"/>
            <a:r>
              <a:rPr lang="en-US" dirty="0"/>
              <a:t>On the bright side, regular downloads using BBR, Google's congestion control, run just as fast through Law as through the other methods. Law still shares the link fairly between users. And it works alongside existing queue-management tools rather than replacing them.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So, wrapping </a:t>
            </a:r>
            <a:r>
              <a:rPr lang="en-US" dirty="0" err="1"/>
              <a:t>uphere</a:t>
            </a:r>
            <a:r>
              <a:rPr lang="en-US" dirty="0"/>
              <a:t> there are four takeaways which actually match thee authors' own.</a:t>
            </a:r>
          </a:p>
          <a:p>
            <a:pPr rtl="0"/>
            <a:r>
              <a:rPr lang="en-US" dirty="0"/>
              <a:t>One: the Wi-Fi last hop is now the main cause of the worst delays for real-time apps. A chain is only as strong as its weakest link, and right now that link is Wi-Fi.</a:t>
            </a:r>
          </a:p>
          <a:p>
            <a:pPr rtl="0"/>
            <a:r>
              <a:rPr lang="en-US" dirty="0"/>
              <a:t>Two: Wi-Fi's queues, retries and rate adaptation were designed for speed, fairness and reliability, not for consistently low delay.</a:t>
            </a:r>
          </a:p>
          <a:p>
            <a:pPr rtl="0"/>
            <a:r>
              <a:rPr lang="en-US" dirty="0"/>
              <a:t>Three: because video apps can handle a little loss, there's a new design option: drop packets early instead of letting them wait too long.</a:t>
            </a:r>
          </a:p>
          <a:p>
            <a:pPr rtl="0"/>
            <a:r>
              <a:rPr lang="en-US" dirty="0"/>
              <a:t>Four: Law does exactly that. It caps delay, keeps losses small and spread out, and still keeps data flowing fast. In other words, it gives up a little reliability to meet deadlines.</a:t>
            </a:r>
          </a:p>
          <a:p>
            <a:pPr rtl="0"/>
            <a:r>
              <a:rPr lang="en-US" dirty="0"/>
              <a:t>system give up a bit of reliability to hit a deadline?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0276-C599-A0B2-7376-8488E2FD4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F2643-2DB2-7346-182B-180CEA34C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CF36A-A341-BDD7-48DD-4B548ADAD1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F71DA1-3EA7-E4C7-5B1A-B5F78B8042B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47143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youtube.com/watch?v=BAT-DEx037c"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2A"/>
        </a:solidFill>
        <a:effectLst/>
      </p:bgPr>
    </p:bg>
    <p:spTree>
      <p:nvGrpSpPr>
        <p:cNvPr id="1" name=""/>
        <p:cNvGrpSpPr/>
        <p:nvPr/>
      </p:nvGrpSpPr>
      <p:grpSpPr>
        <a:xfrm>
          <a:off x="0" y="0"/>
          <a:ext cx="0" cy="0"/>
          <a:chOff x="0" y="0"/>
          <a:chExt cx="0" cy="0"/>
        </a:xfrm>
      </p:grpSpPr>
      <p:pic>
        <p:nvPicPr>
          <p:cNvPr id="2" name="Image 0" descr="Illustration: a spiky latency trace, with a flat dashed line capping it"/>
          <p:cNvPicPr>
            <a:picLocks noChangeAspect="1"/>
          </p:cNvPicPr>
          <p:nvPr/>
        </p:nvPicPr>
        <p:blipFill>
          <a:blip r:embed="rId3"/>
          <a:srcRect/>
          <a:stretch/>
        </p:blipFill>
        <p:spPr>
          <a:xfrm>
            <a:off x="6807200" y="609600"/>
            <a:ext cx="4572000" cy="2032000"/>
          </a:xfrm>
          <a:prstGeom prst="rect">
            <a:avLst/>
          </a:prstGeom>
        </p:spPr>
      </p:pic>
      <p:sp>
        <p:nvSpPr>
          <p:cNvPr id="3" name="Text 0"/>
          <p:cNvSpPr/>
          <p:nvPr/>
        </p:nvSpPr>
        <p:spPr>
          <a:xfrm>
            <a:off x="812800" y="326644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FD6AE"/>
                </a:solidFill>
                <a:latin typeface="IBM Plex Mono" pitchFamily="34" charset="0"/>
                <a:ea typeface="IBM Plex Mono" pitchFamily="34" charset="-122"/>
                <a:cs typeface="IBM Plex Mono" pitchFamily="34" charset="-120"/>
              </a:rPr>
              <a:t>NSDI '26 · Yibin Shen &amp; Zili Meng, HKUST</a:t>
            </a:r>
            <a:endParaRPr lang="en-US" sz="1400" dirty="0"/>
          </a:p>
        </p:txBody>
      </p:sp>
      <p:sp>
        <p:nvSpPr>
          <p:cNvPr id="4" name="Text 1"/>
          <p:cNvSpPr/>
          <p:nvPr/>
        </p:nvSpPr>
        <p:spPr>
          <a:xfrm>
            <a:off x="812800" y="3718560"/>
            <a:ext cx="10184548" cy="130556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FFFFFF"/>
                </a:solidFill>
                <a:latin typeface="IBM Plex Sans" pitchFamily="34" charset="0"/>
                <a:ea typeface="IBM Plex Sans" pitchFamily="34" charset="-122"/>
                <a:cs typeface="IBM Plex Sans" pitchFamily="34" charset="-120"/>
              </a:rPr>
              <a:t>Law: bounding latency on the Wi-Fi last hop</a:t>
            </a:r>
            <a:endParaRPr lang="en-US" sz="4800" dirty="0"/>
          </a:p>
        </p:txBody>
      </p:sp>
      <p:sp>
        <p:nvSpPr>
          <p:cNvPr id="5" name="Text 2"/>
          <p:cNvSpPr/>
          <p:nvPr/>
        </p:nvSpPr>
        <p:spPr>
          <a:xfrm>
            <a:off x="812800" y="5201920"/>
            <a:ext cx="91567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D8E8DF"/>
                </a:solidFill>
                <a:latin typeface="IBM Plex Sans" pitchFamily="34" charset="0"/>
                <a:ea typeface="IBM Plex Sans" pitchFamily="34" charset="-122"/>
                <a:cs typeface="IBM Plex Sans" pitchFamily="34" charset="-120"/>
              </a:rPr>
              <a:t>Why this paper: the queues, retries and rate adaptation are exactly what cause latency spikes, and Law redesigns the link layer to bound them.</a:t>
            </a:r>
            <a:endParaRPr lang="en-US" sz="1800" dirty="0"/>
          </a:p>
        </p:txBody>
      </p:sp>
      <p:sp>
        <p:nvSpPr>
          <p:cNvPr id="6" name="Text 3"/>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C4B6"/>
                </a:solidFill>
                <a:latin typeface="IBM Plex Sans" pitchFamily="34" charset="0"/>
                <a:ea typeface="IBM Plex Sans" pitchFamily="34" charset="-122"/>
                <a:cs typeface="IBM Plex Sans" pitchFamily="34" charset="-120"/>
              </a:rPr>
              <a:t>Paper: “Law: Towards Consistent Low Latency in 802.11 Home Networks” · Talk: </a:t>
            </a:r>
            <a:r>
              <a:rPr lang="en-US" sz="1200" u="sng" dirty="0">
                <a:solidFill>
                  <a:srgbClr val="C3EAD3"/>
                </a:solidFill>
                <a:latin typeface="IBM Plex Sans" pitchFamily="34" charset="0"/>
                <a:ea typeface="IBM Plex Sans" pitchFamily="34" charset="-122"/>
                <a:cs typeface="IBM Plex Sans" pitchFamily="34" charset="-120"/>
                <a:hlinkClick r:id="rId4">
                  <a:extLst>
                    <a:ext uri="{A12FA001-AC4F-418D-AE19-62706E023703}">
                      <ahyp:hlinkClr xmlns:ahyp="http://schemas.microsoft.com/office/drawing/2018/hyperlinkcolor" val="tx"/>
                    </a:ext>
                  </a:extLst>
                </a:hlinkClick>
              </a:rPr>
              <a:t>youtube.com/watch?v=BAT-DEx037c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WHY THIS PAPER</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Two reasons it belongs in this course</a:t>
            </a:r>
            <a:endParaRPr lang="en-US" sz="3200" dirty="0"/>
          </a:p>
        </p:txBody>
      </p:sp>
      <p:sp>
        <p:nvSpPr>
          <p:cNvPr id="4" name="Shape 2"/>
          <p:cNvSpPr/>
          <p:nvPr/>
        </p:nvSpPr>
        <p:spPr>
          <a:xfrm>
            <a:off x="815975" y="1933575"/>
            <a:ext cx="5124450" cy="3905250"/>
          </a:xfrm>
          <a:prstGeom prst="roundRect">
            <a:avLst>
              <a:gd name="adj" fmla="val 2520"/>
            </a:avLst>
          </a:prstGeom>
          <a:solidFill>
            <a:srgbClr val="FFFFFF"/>
          </a:solidFill>
          <a:ln w="6350">
            <a:solidFill>
              <a:srgbClr val="E3EBE6"/>
            </a:solidFill>
            <a:prstDash val="solid"/>
          </a:ln>
        </p:spPr>
        <p:txBody>
          <a:bodyPr/>
          <a:lstStyle/>
          <a:p>
            <a:endParaRPr lang="en-US"/>
          </a:p>
        </p:txBody>
      </p:sp>
      <p:sp>
        <p:nvSpPr>
          <p:cNvPr id="5" name="Text 3"/>
          <p:cNvSpPr/>
          <p:nvPr/>
        </p:nvSpPr>
        <p:spPr>
          <a:xfrm>
            <a:off x="1173480" y="2291080"/>
            <a:ext cx="4541723"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F7A4D"/>
                </a:solidFill>
                <a:latin typeface="IBM Plex Mono" pitchFamily="34" charset="0"/>
                <a:ea typeface="IBM Plex Mono" pitchFamily="34" charset="-122"/>
                <a:cs typeface="IBM Plex Mono" pitchFamily="34" charset="-120"/>
              </a:rPr>
              <a:t>01</a:t>
            </a:r>
            <a:endParaRPr lang="en-US" sz="2000" dirty="0"/>
          </a:p>
        </p:txBody>
      </p:sp>
      <p:sp>
        <p:nvSpPr>
          <p:cNvPr id="6" name="Text 4"/>
          <p:cNvSpPr/>
          <p:nvPr/>
        </p:nvSpPr>
        <p:spPr>
          <a:xfrm>
            <a:off x="1173480" y="2799080"/>
            <a:ext cx="4541723"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211C"/>
                </a:solidFill>
                <a:latin typeface="IBM Plex Sans" pitchFamily="34" charset="0"/>
                <a:ea typeface="IBM Plex Sans" pitchFamily="34" charset="-122"/>
                <a:cs typeface="IBM Plex Sans" pitchFamily="34" charset="-120"/>
              </a:rPr>
              <a:t>It closes the loop on the history of Wi-Fi</a:t>
            </a:r>
            <a:endParaRPr lang="en-US" sz="2000" dirty="0"/>
          </a:p>
        </p:txBody>
      </p:sp>
      <p:sp>
        <p:nvSpPr>
          <p:cNvPr id="7" name="Text 5"/>
          <p:cNvSpPr/>
          <p:nvPr/>
        </p:nvSpPr>
        <p:spPr>
          <a:xfrm>
            <a:off x="1173480" y="3561080"/>
            <a:ext cx="4541723" cy="113030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843"/>
                </a:solidFill>
                <a:latin typeface="IBM Plex Sans" pitchFamily="34" charset="0"/>
                <a:ea typeface="IBM Plex Sans" pitchFamily="34" charset="-122"/>
                <a:cs typeface="IBM Plex Sans" pitchFamily="34" charset="-120"/>
              </a:rPr>
              <a:t>Queues, retries and rate adaptation were each added to Wi-Fi for throughput, reliability or fairness. Together, they are exactly what makes latency spike.</a:t>
            </a:r>
            <a:endParaRPr lang="en-US" sz="1500" dirty="0"/>
          </a:p>
        </p:txBody>
      </p:sp>
      <p:sp>
        <p:nvSpPr>
          <p:cNvPr id="8" name="Shape 6"/>
          <p:cNvSpPr/>
          <p:nvPr/>
        </p:nvSpPr>
        <p:spPr>
          <a:xfrm>
            <a:off x="6251575" y="1933575"/>
            <a:ext cx="5124450" cy="3905250"/>
          </a:xfrm>
          <a:prstGeom prst="roundRect">
            <a:avLst>
              <a:gd name="adj" fmla="val 2520"/>
            </a:avLst>
          </a:prstGeom>
          <a:solidFill>
            <a:srgbClr val="FFFFFF"/>
          </a:solidFill>
          <a:ln w="6350">
            <a:solidFill>
              <a:srgbClr val="E3EBE6"/>
            </a:solidFill>
            <a:prstDash val="solid"/>
          </a:ln>
        </p:spPr>
        <p:txBody>
          <a:bodyPr/>
          <a:lstStyle/>
          <a:p>
            <a:endParaRPr lang="en-US"/>
          </a:p>
        </p:txBody>
      </p:sp>
      <p:sp>
        <p:nvSpPr>
          <p:cNvPr id="9" name="Text 7"/>
          <p:cNvSpPr/>
          <p:nvPr/>
        </p:nvSpPr>
        <p:spPr>
          <a:xfrm>
            <a:off x="6609080" y="2291080"/>
            <a:ext cx="4541723"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F7A4D"/>
                </a:solidFill>
                <a:latin typeface="IBM Plex Mono" pitchFamily="34" charset="0"/>
                <a:ea typeface="IBM Plex Mono" pitchFamily="34" charset="-122"/>
                <a:cs typeface="IBM Plex Mono" pitchFamily="34" charset="-120"/>
              </a:rPr>
              <a:t>02</a:t>
            </a:r>
            <a:endParaRPr lang="en-US" sz="2000" dirty="0"/>
          </a:p>
        </p:txBody>
      </p:sp>
      <p:sp>
        <p:nvSpPr>
          <p:cNvPr id="10" name="Text 8"/>
          <p:cNvSpPr/>
          <p:nvPr/>
        </p:nvSpPr>
        <p:spPr>
          <a:xfrm>
            <a:off x="6609080" y="2799080"/>
            <a:ext cx="4541723"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211C"/>
                </a:solidFill>
                <a:latin typeface="IBM Plex Sans" pitchFamily="34" charset="0"/>
                <a:ea typeface="IBM Plex Sans" pitchFamily="34" charset="-122"/>
                <a:cs typeface="IBM Plex Sans" pitchFamily="34" charset="-120"/>
              </a:rPr>
              <a:t>It uses something only video can offer</a:t>
            </a:r>
            <a:endParaRPr lang="en-US" sz="2000" dirty="0"/>
          </a:p>
        </p:txBody>
      </p:sp>
      <p:sp>
        <p:nvSpPr>
          <p:cNvPr id="11" name="Text 9"/>
          <p:cNvSpPr/>
          <p:nvPr/>
        </p:nvSpPr>
        <p:spPr>
          <a:xfrm>
            <a:off x="6609080" y="3561080"/>
            <a:ext cx="4541723" cy="85407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843"/>
                </a:solidFill>
                <a:latin typeface="IBM Plex Sans" pitchFamily="34" charset="0"/>
                <a:ea typeface="IBM Plex Sans" pitchFamily="34" charset="-122"/>
                <a:cs typeface="IBM Plex Sans" pitchFamily="34" charset="-120"/>
              </a:rPr>
              <a:t>Real-time video already survives a little loss. Law lets the link layer spend that tolerance to put a hard cap on delay.</a:t>
            </a:r>
            <a:endParaRPr lang="en-US" sz="1500" dirty="0"/>
          </a:p>
        </p:txBody>
      </p:sp>
      <p:sp>
        <p:nvSpPr>
          <p:cNvPr id="12" name="Text 10"/>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THE PROBLEM</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The average is fine, but the tail is not</a:t>
            </a:r>
            <a:endParaRPr lang="en-US" sz="3200" dirty="0"/>
          </a:p>
        </p:txBody>
      </p:sp>
      <p:sp>
        <p:nvSpPr>
          <p:cNvPr id="4" name="Shape 2"/>
          <p:cNvSpPr/>
          <p:nvPr/>
        </p:nvSpPr>
        <p:spPr>
          <a:xfrm>
            <a:off x="812800" y="1943100"/>
            <a:ext cx="3386614" cy="0"/>
          </a:xfrm>
          <a:prstGeom prst="line">
            <a:avLst/>
          </a:prstGeom>
          <a:noFill/>
          <a:ln w="25400">
            <a:solidFill>
              <a:srgbClr val="1F7A4D"/>
            </a:solidFill>
            <a:prstDash val="solid"/>
          </a:ln>
        </p:spPr>
        <p:txBody>
          <a:bodyPr/>
          <a:lstStyle/>
          <a:p>
            <a:endParaRPr lang="en-US"/>
          </a:p>
        </p:txBody>
      </p:sp>
      <p:sp>
        <p:nvSpPr>
          <p:cNvPr id="5" name="Text 3"/>
          <p:cNvSpPr/>
          <p:nvPr/>
        </p:nvSpPr>
        <p:spPr>
          <a:xfrm>
            <a:off x="812800" y="2209800"/>
            <a:ext cx="3488212" cy="736600"/>
          </a:xfrm>
          <a:prstGeom prst="rect">
            <a:avLst/>
          </a:prstGeom>
          <a:noFill/>
          <a:ln/>
        </p:spPr>
        <p:txBody>
          <a:bodyPr wrap="square" lIns="0" tIns="0" rIns="0" bIns="0" rtlCol="0" anchor="t">
            <a:normAutofit/>
          </a:bodyPr>
          <a:lstStyle/>
          <a:p>
            <a:pPr marL="0" indent="0" algn="l">
              <a:lnSpc>
                <a:spcPts val="5600"/>
              </a:lnSpc>
              <a:buNone/>
            </a:pPr>
            <a:r>
              <a:rPr lang="en-US" sz="5600" dirty="0">
                <a:solidFill>
                  <a:srgbClr val="1F7A4D"/>
                </a:solidFill>
                <a:latin typeface="IBM Plex Mono" pitchFamily="34" charset="0"/>
                <a:ea typeface="IBM Plex Mono" pitchFamily="34" charset="-122"/>
                <a:cs typeface="IBM Plex Mono" pitchFamily="34" charset="-120"/>
              </a:rPr>
              <a:t>100 ms</a:t>
            </a:r>
            <a:endParaRPr lang="en-US" sz="5600" dirty="0"/>
          </a:p>
        </p:txBody>
      </p:sp>
      <p:sp>
        <p:nvSpPr>
          <p:cNvPr id="6" name="Text 4"/>
          <p:cNvSpPr/>
          <p:nvPr/>
        </p:nvSpPr>
        <p:spPr>
          <a:xfrm>
            <a:off x="812800" y="3048000"/>
            <a:ext cx="34882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843"/>
                </a:solidFill>
                <a:latin typeface="IBM Plex Sans" pitchFamily="34" charset="0"/>
                <a:ea typeface="IBM Plex Sans" pitchFamily="34" charset="-122"/>
                <a:cs typeface="IBM Plex Sans" pitchFamily="34" charset="-120"/>
              </a:rPr>
              <a:t>End-to-end deadline for cloud gaming, met 99.9% of the time or better</a:t>
            </a:r>
            <a:endParaRPr lang="en-US" sz="1500" dirty="0"/>
          </a:p>
        </p:txBody>
      </p:sp>
      <p:sp>
        <p:nvSpPr>
          <p:cNvPr id="7" name="Shape 5"/>
          <p:cNvSpPr/>
          <p:nvPr/>
        </p:nvSpPr>
        <p:spPr>
          <a:xfrm>
            <a:off x="4402614" y="1943100"/>
            <a:ext cx="3386693" cy="0"/>
          </a:xfrm>
          <a:prstGeom prst="line">
            <a:avLst/>
          </a:prstGeom>
          <a:noFill/>
          <a:ln w="25400">
            <a:solidFill>
              <a:srgbClr val="5F6B65"/>
            </a:solidFill>
            <a:prstDash val="solid"/>
          </a:ln>
        </p:spPr>
        <p:txBody>
          <a:bodyPr/>
          <a:lstStyle/>
          <a:p>
            <a:endParaRPr lang="en-US"/>
          </a:p>
        </p:txBody>
      </p:sp>
      <p:sp>
        <p:nvSpPr>
          <p:cNvPr id="8" name="Text 6"/>
          <p:cNvSpPr/>
          <p:nvPr/>
        </p:nvSpPr>
        <p:spPr>
          <a:xfrm>
            <a:off x="4402614" y="2209800"/>
            <a:ext cx="3488294" cy="736600"/>
          </a:xfrm>
          <a:prstGeom prst="rect">
            <a:avLst/>
          </a:prstGeom>
          <a:noFill/>
          <a:ln/>
        </p:spPr>
        <p:txBody>
          <a:bodyPr wrap="square" lIns="0" tIns="0" rIns="0" bIns="0" rtlCol="0" anchor="t">
            <a:normAutofit/>
          </a:bodyPr>
          <a:lstStyle/>
          <a:p>
            <a:pPr marL="0" indent="0" algn="l">
              <a:lnSpc>
                <a:spcPts val="5600"/>
              </a:lnSpc>
              <a:buNone/>
            </a:pPr>
            <a:r>
              <a:rPr lang="en-US" sz="5600" dirty="0">
                <a:solidFill>
                  <a:srgbClr val="17211C"/>
                </a:solidFill>
                <a:latin typeface="IBM Plex Mono" pitchFamily="34" charset="0"/>
                <a:ea typeface="IBM Plex Mono" pitchFamily="34" charset="-122"/>
                <a:cs typeface="IBM Plex Mono" pitchFamily="34" charset="-120"/>
              </a:rPr>
              <a:t>25 ms</a:t>
            </a:r>
            <a:endParaRPr lang="en-US" sz="5600" dirty="0"/>
          </a:p>
        </p:txBody>
      </p:sp>
      <p:sp>
        <p:nvSpPr>
          <p:cNvPr id="9" name="Text 7"/>
          <p:cNvSpPr/>
          <p:nvPr/>
        </p:nvSpPr>
        <p:spPr>
          <a:xfrm>
            <a:off x="4402614" y="3048000"/>
            <a:ext cx="34882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843"/>
                </a:solidFill>
                <a:latin typeface="IBM Plex Sans" pitchFamily="34" charset="0"/>
                <a:ea typeface="IBM Plex Sans" pitchFamily="34" charset="-122"/>
                <a:cs typeface="IBM Plex Sans" pitchFamily="34" charset="-120"/>
              </a:rPr>
              <a:t>Median latency for mobile devices today, thanks to CDNs and edge servers</a:t>
            </a:r>
            <a:endParaRPr lang="en-US" sz="1500" dirty="0"/>
          </a:p>
        </p:txBody>
      </p:sp>
      <p:sp>
        <p:nvSpPr>
          <p:cNvPr id="10" name="Shape 8"/>
          <p:cNvSpPr/>
          <p:nvPr/>
        </p:nvSpPr>
        <p:spPr>
          <a:xfrm>
            <a:off x="7992507" y="1943100"/>
            <a:ext cx="3386693" cy="0"/>
          </a:xfrm>
          <a:prstGeom prst="line">
            <a:avLst/>
          </a:prstGeom>
          <a:noFill/>
          <a:ln w="25400">
            <a:solidFill>
              <a:srgbClr val="17211C"/>
            </a:solidFill>
            <a:prstDash val="solid"/>
          </a:ln>
        </p:spPr>
        <p:txBody>
          <a:bodyPr/>
          <a:lstStyle/>
          <a:p>
            <a:endParaRPr lang="en-US"/>
          </a:p>
        </p:txBody>
      </p:sp>
      <p:sp>
        <p:nvSpPr>
          <p:cNvPr id="11" name="Text 9"/>
          <p:cNvSpPr/>
          <p:nvPr/>
        </p:nvSpPr>
        <p:spPr>
          <a:xfrm>
            <a:off x="7992507" y="2209800"/>
            <a:ext cx="3488294"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17211C"/>
                </a:solidFill>
                <a:latin typeface="IBM Plex Mono" pitchFamily="34" charset="0"/>
                <a:ea typeface="IBM Plex Mono" pitchFamily="34" charset="-122"/>
                <a:cs typeface="IBM Plex Mono" pitchFamily="34" charset="-120"/>
              </a:rPr>
              <a:t>&gt;200 ms</a:t>
            </a:r>
            <a:endParaRPr lang="en-US" sz="5600" dirty="0"/>
          </a:p>
        </p:txBody>
      </p:sp>
      <p:sp>
        <p:nvSpPr>
          <p:cNvPr id="12" name="Text 10"/>
          <p:cNvSpPr/>
          <p:nvPr/>
        </p:nvSpPr>
        <p:spPr>
          <a:xfrm>
            <a:off x="7992507" y="3048000"/>
            <a:ext cx="34882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843"/>
                </a:solidFill>
                <a:latin typeface="IBM Plex Sans" pitchFamily="34" charset="0"/>
                <a:ea typeface="IBM Plex Sans" pitchFamily="34" charset="-122"/>
                <a:cs typeface="IBM Plex Sans" pitchFamily="34" charset="-120"/>
              </a:rPr>
              <a:t>99.9th-percentile frame delivery latency measured over Wi-Fi (Augur)</a:t>
            </a:r>
            <a:endParaRPr lang="en-US" sz="1500" dirty="0"/>
          </a:p>
        </p:txBody>
      </p:sp>
      <p:sp>
        <p:nvSpPr>
          <p:cNvPr id="13" name="Text 11"/>
          <p:cNvSpPr/>
          <p:nvPr/>
        </p:nvSpPr>
        <p:spPr>
          <a:xfrm>
            <a:off x="812800" y="5201920"/>
            <a:ext cx="10883392"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7211C"/>
                </a:solidFill>
                <a:latin typeface="IBM Plex Sans" pitchFamily="34" charset="0"/>
                <a:ea typeface="IBM Plex Sans" pitchFamily="34" charset="-122"/>
                <a:cs typeface="IBM Plex Sans" pitchFamily="34" charset="-120"/>
              </a:rPr>
              <a:t>Ultra-low-latency apps (cloud gaming, video calls, mixed reality) are judged by their worst frames, not their typical one.</a:t>
            </a:r>
            <a:endParaRPr lang="en-US" sz="18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03 · Sources: paper 1–2.1, Table 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WHERE THE TAIL COMES FROM</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The Wi-Fi last hop now dominates the tail</a:t>
            </a:r>
            <a:endParaRPr lang="en-US" sz="3200" dirty="0"/>
          </a:p>
        </p:txBody>
      </p:sp>
      <p:sp>
        <p:nvSpPr>
          <p:cNvPr id="4" name="Text 2"/>
          <p:cNvSpPr/>
          <p:nvPr/>
        </p:nvSpPr>
        <p:spPr>
          <a:xfrm>
            <a:off x="812800" y="1879600"/>
            <a:ext cx="98107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843"/>
                </a:solidFill>
                <a:latin typeface="IBM Plex Sans" pitchFamily="34" charset="0"/>
                <a:ea typeface="IBM Plex Sans" pitchFamily="34" charset="-122"/>
                <a:cs typeface="IBM Plex Sans" pitchFamily="34" charset="-120"/>
              </a:rPr>
              <a:t>The backbone has been optimized. Edge servers sit within about 10 ms one way, and base RTT is under 20 ms in 90% of cloud-gaming sessions. What's left is the last hop.</a:t>
            </a:r>
            <a:endParaRPr lang="en-US" sz="1500" dirty="0"/>
          </a:p>
        </p:txBody>
      </p:sp>
      <p:sp>
        <p:nvSpPr>
          <p:cNvPr id="5" name="Text 3"/>
          <p:cNvSpPr/>
          <p:nvPr/>
        </p:nvSpPr>
        <p:spPr>
          <a:xfrm>
            <a:off x="812800" y="27368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7211C"/>
                </a:solidFill>
                <a:latin typeface="IBM Plex Sans" pitchFamily="34" charset="0"/>
                <a:ea typeface="IBM Plex Sans" pitchFamily="34" charset="-122"/>
                <a:cs typeface="IBM Plex Sans" pitchFamily="34" charset="-120"/>
              </a:rPr>
              <a:t>Wi-Fi's share of end-to-end latency, when end-to-end latency exceeds 70 ms</a:t>
            </a:r>
            <a:endParaRPr lang="en-US" sz="1500" dirty="0"/>
          </a:p>
        </p:txBody>
      </p:sp>
      <p:sp>
        <p:nvSpPr>
          <p:cNvPr id="6" name="Shape 4"/>
          <p:cNvSpPr/>
          <p:nvPr/>
        </p:nvSpPr>
        <p:spPr>
          <a:xfrm>
            <a:off x="812800" y="3130550"/>
            <a:ext cx="10566400" cy="406400"/>
          </a:xfrm>
          <a:prstGeom prst="roundRect">
            <a:avLst>
              <a:gd name="adj" fmla="val 12500"/>
            </a:avLst>
          </a:prstGeom>
          <a:solidFill>
            <a:srgbClr val="EDF3EF"/>
          </a:solidFill>
          <a:ln/>
        </p:spPr>
        <p:txBody>
          <a:bodyPr/>
          <a:lstStyle/>
          <a:p>
            <a:endParaRPr lang="en-US"/>
          </a:p>
        </p:txBody>
      </p:sp>
      <p:sp>
        <p:nvSpPr>
          <p:cNvPr id="7" name="Shape 5"/>
          <p:cNvSpPr/>
          <p:nvPr/>
        </p:nvSpPr>
        <p:spPr>
          <a:xfrm>
            <a:off x="812800" y="3130550"/>
            <a:ext cx="10039350" cy="406400"/>
          </a:xfrm>
          <a:prstGeom prst="roundRect">
            <a:avLst>
              <a:gd name="adj" fmla="val 12500"/>
            </a:avLst>
          </a:prstGeom>
          <a:solidFill>
            <a:srgbClr val="1F7A4D"/>
          </a:solidFill>
          <a:ln/>
        </p:spPr>
        <p:txBody>
          <a:bodyPr/>
          <a:lstStyle/>
          <a:p>
            <a:endParaRPr lang="en-US"/>
          </a:p>
        </p:txBody>
      </p:sp>
      <p:sp>
        <p:nvSpPr>
          <p:cNvPr id="8" name="Text 6"/>
          <p:cNvSpPr/>
          <p:nvPr/>
        </p:nvSpPr>
        <p:spPr>
          <a:xfrm>
            <a:off x="965200" y="3191511"/>
            <a:ext cx="538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FFF"/>
                </a:solidFill>
                <a:latin typeface="IBM Plex Mono" pitchFamily="34" charset="0"/>
                <a:ea typeface="IBM Plex Mono" pitchFamily="34" charset="-122"/>
                <a:cs typeface="IBM Plex Mono" pitchFamily="34" charset="-120"/>
              </a:rPr>
              <a:t>&gt;95%</a:t>
            </a:r>
            <a:endParaRPr lang="en-US" sz="1600" dirty="0"/>
          </a:p>
        </p:txBody>
      </p:sp>
      <p:sp>
        <p:nvSpPr>
          <p:cNvPr id="9" name="Text 7"/>
          <p:cNvSpPr/>
          <p:nvPr/>
        </p:nvSpPr>
        <p:spPr>
          <a:xfrm>
            <a:off x="812800" y="384175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7211C"/>
                </a:solidFill>
                <a:latin typeface="IBM Plex Sans" pitchFamily="34" charset="0"/>
                <a:ea typeface="IBM Plex Sans" pitchFamily="34" charset="-122"/>
                <a:cs typeface="IBM Plex Sans" pitchFamily="34" charset="-120"/>
              </a:rPr>
              <a:t>Queueing delay's share of last-hop latency, when the last hop exceeds 70 ms</a:t>
            </a:r>
            <a:endParaRPr lang="en-US" sz="1500" dirty="0"/>
          </a:p>
        </p:txBody>
      </p:sp>
      <p:sp>
        <p:nvSpPr>
          <p:cNvPr id="10" name="Shape 8"/>
          <p:cNvSpPr/>
          <p:nvPr/>
        </p:nvSpPr>
        <p:spPr>
          <a:xfrm>
            <a:off x="812800" y="4235450"/>
            <a:ext cx="10566400" cy="406400"/>
          </a:xfrm>
          <a:prstGeom prst="roundRect">
            <a:avLst>
              <a:gd name="adj" fmla="val 12500"/>
            </a:avLst>
          </a:prstGeom>
          <a:solidFill>
            <a:srgbClr val="EDF3EF"/>
          </a:solidFill>
          <a:ln/>
        </p:spPr>
        <p:txBody>
          <a:bodyPr/>
          <a:lstStyle/>
          <a:p>
            <a:endParaRPr lang="en-US"/>
          </a:p>
        </p:txBody>
      </p:sp>
      <p:sp>
        <p:nvSpPr>
          <p:cNvPr id="11" name="Shape 9"/>
          <p:cNvSpPr/>
          <p:nvPr/>
        </p:nvSpPr>
        <p:spPr>
          <a:xfrm>
            <a:off x="812800" y="4235450"/>
            <a:ext cx="8451850" cy="406400"/>
          </a:xfrm>
          <a:prstGeom prst="roundRect">
            <a:avLst>
              <a:gd name="adj" fmla="val 12500"/>
            </a:avLst>
          </a:prstGeom>
          <a:solidFill>
            <a:srgbClr val="1F7A4D"/>
          </a:solidFill>
          <a:ln/>
        </p:spPr>
        <p:txBody>
          <a:bodyPr/>
          <a:lstStyle/>
          <a:p>
            <a:endParaRPr lang="en-US"/>
          </a:p>
        </p:txBody>
      </p:sp>
      <p:sp>
        <p:nvSpPr>
          <p:cNvPr id="12" name="Text 10"/>
          <p:cNvSpPr/>
          <p:nvPr/>
        </p:nvSpPr>
        <p:spPr>
          <a:xfrm>
            <a:off x="965200" y="4296411"/>
            <a:ext cx="188366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FFF"/>
                </a:solidFill>
                <a:latin typeface="IBM Plex Mono" pitchFamily="34" charset="0"/>
                <a:ea typeface="IBM Plex Mono" pitchFamily="34" charset="-122"/>
                <a:cs typeface="IBM Plex Mono" pitchFamily="34" charset="-120"/>
              </a:rPr>
              <a:t>&gt;80% on average</a:t>
            </a:r>
            <a:endParaRPr lang="en-US" sz="1600" dirty="0"/>
          </a:p>
        </p:txBody>
      </p:sp>
      <p:sp>
        <p:nvSpPr>
          <p:cNvPr id="13" name="Text 11"/>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04 · Two-week campus measurement, paper Fig. 3–4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BACK TO THE HISTORY</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Three familiar mechanisms, built for other goals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1" cy="3446908"/>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554990">
                <a:tc>
                  <a:txBody>
                    <a:bodyPr/>
                    <a:lstStyle/>
                    <a:p>
                      <a:pPr marL="0" indent="0">
                        <a:lnSpc>
                          <a:spcPts val="1960"/>
                        </a:lnSpc>
                        <a:buNone/>
                      </a:pPr>
                      <a:r>
                        <a:rPr lang="en-US" sz="1400" b="1" dirty="0">
                          <a:solidFill>
                            <a:srgbClr val="17211C"/>
                          </a:solidFill>
                          <a:latin typeface="IBM Plex Sans" pitchFamily="34" charset="0"/>
                          <a:ea typeface="IBM Plex Sans" pitchFamily="34" charset="-122"/>
                          <a:cs typeface="IBM Plex Sans" pitchFamily="34" charset="-120"/>
                        </a:rPr>
                        <a:t>Mechanism</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B5B8B5"/>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B5B8B5"/>
                      </a:solidFill>
                      <a:prstDash val="solid"/>
                      <a:round/>
                      <a:headEnd type="none" w="med" len="med"/>
                      <a:tailEnd type="none" w="med" len="med"/>
                    </a:lnB>
                    <a:solidFill>
                      <a:srgbClr val="E2E6E3"/>
                    </a:solidFill>
                  </a:tcPr>
                </a:tc>
                <a:tc>
                  <a:txBody>
                    <a:bodyPr/>
                    <a:lstStyle/>
                    <a:p>
                      <a:pPr marL="0" indent="0">
                        <a:lnSpc>
                          <a:spcPts val="1960"/>
                        </a:lnSpc>
                        <a:buNone/>
                      </a:pPr>
                      <a:r>
                        <a:rPr lang="en-US" sz="1400" b="1" dirty="0">
                          <a:solidFill>
                            <a:srgbClr val="17211C"/>
                          </a:solidFill>
                          <a:latin typeface="IBM Plex Sans" pitchFamily="34" charset="0"/>
                          <a:ea typeface="IBM Plex Sans" pitchFamily="34" charset="-122"/>
                          <a:cs typeface="IBM Plex Sans" pitchFamily="34" charset="-120"/>
                        </a:rPr>
                        <a:t>What it was built for</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B5B8B5"/>
                      </a:solidFill>
                      <a:prstDash val="solid"/>
                      <a:round/>
                      <a:headEnd type="none" w="med" len="med"/>
                      <a:tailEnd type="none" w="med" len="med"/>
                    </a:lnL>
                    <a:lnR w="12700" cap="flat" cmpd="sng" algn="ctr">
                      <a:solidFill>
                        <a:srgbClr val="B5B8B5"/>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B5B8B5"/>
                      </a:solidFill>
                      <a:prstDash val="solid"/>
                      <a:round/>
                      <a:headEnd type="none" w="med" len="med"/>
                      <a:tailEnd type="none" w="med" len="med"/>
                    </a:lnB>
                    <a:solidFill>
                      <a:srgbClr val="E2E6E3"/>
                    </a:solidFill>
                  </a:tcPr>
                </a:tc>
                <a:tc>
                  <a:txBody>
                    <a:bodyPr/>
                    <a:lstStyle/>
                    <a:p>
                      <a:pPr marL="0" indent="0">
                        <a:lnSpc>
                          <a:spcPts val="1960"/>
                        </a:lnSpc>
                        <a:buNone/>
                      </a:pPr>
                      <a:r>
                        <a:rPr lang="en-US" sz="1400" b="1" dirty="0">
                          <a:solidFill>
                            <a:srgbClr val="1F7A4D"/>
                          </a:solidFill>
                          <a:latin typeface="IBM Plex Sans" pitchFamily="34" charset="0"/>
                          <a:ea typeface="IBM Plex Sans" pitchFamily="34" charset="-122"/>
                          <a:cs typeface="IBM Plex Sans" pitchFamily="34" charset="-120"/>
                        </a:rPr>
                        <a:t>What it does when the channel dips</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B5B8B5"/>
                      </a:solidFill>
                      <a:prstDash val="solid"/>
                      <a:round/>
                      <a:headEnd type="none" w="med" len="med"/>
                      <a:tailEnd type="none" w="med" len="med"/>
                    </a:lnL>
                    <a:lnR w="12700" cap="flat" cmpd="sng" algn="ctr">
                      <a:solidFill>
                        <a:srgbClr val="B5B8B5"/>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B5B8B5"/>
                      </a:solidFill>
                      <a:prstDash val="solid"/>
                      <a:round/>
                      <a:headEnd type="none" w="med" len="med"/>
                      <a:tailEnd type="none" w="med" len="med"/>
                    </a:lnB>
                    <a:solidFill>
                      <a:srgbClr val="E2E6E3"/>
                    </a:solidFill>
                  </a:tcPr>
                </a:tc>
                <a:extLst>
                  <a:ext uri="{0D108BD9-81ED-4DB2-BD59-A6C34878D82A}">
                    <a16:rowId xmlns:a16="http://schemas.microsoft.com/office/drawing/2014/main" val="10000"/>
                  </a:ext>
                </a:extLst>
              </a:tr>
              <a:tr h="1035050">
                <a:tc>
                  <a:txBody>
                    <a:bodyPr/>
                    <a:lstStyle/>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Layered queues</a:t>
                      </a:r>
                      <a:endParaRPr lang="en-US" sz="1400" dirty="0">
                        <a:latin typeface="IBM Plex Sans" charset="0"/>
                        <a:ea typeface="IBM Plex Sans" charset="0"/>
                        <a:cs typeface="IBM Plex Sans" charset="0"/>
                      </a:endParaRPr>
                    </a:p>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MAC flow queues → driver retry queues → hardware FIFO (up to 8)</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B5B8B5"/>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tc>
                  <a:txBody>
                    <a:bodyPr/>
                    <a:lstStyle/>
                    <a:p>
                      <a:pPr marL="0" indent="0">
                        <a:lnSpc>
                          <a:spcPts val="1960"/>
                        </a:lnSpc>
                        <a:buNone/>
                      </a:pPr>
                      <a:r>
                        <a:rPr lang="en-US" sz="1400" dirty="0">
                          <a:solidFill>
                            <a:srgbClr val="3D4843"/>
                          </a:solidFill>
                          <a:latin typeface="IBM Plex Sans" pitchFamily="34" charset="0"/>
                          <a:ea typeface="IBM Plex Sans" pitchFamily="34" charset="-122"/>
                          <a:cs typeface="IBM Plex Sans" pitchFamily="34" charset="-120"/>
                        </a:rPr>
                        <a:t>Throughput and fairness, like multi-level caching</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B5B8B5"/>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tc>
                  <a:txBody>
                    <a:bodyPr/>
                    <a:lstStyle/>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Each layer has its own scheduler and adds its own delay; no layer sees the total</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B5B8B5"/>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extLst>
                  <a:ext uri="{0D108BD9-81ED-4DB2-BD59-A6C34878D82A}">
                    <a16:rowId xmlns:a16="http://schemas.microsoft.com/office/drawing/2014/main" val="10001"/>
                  </a:ext>
                </a:extLst>
              </a:tr>
              <a:tr h="1035050">
                <a:tc>
                  <a:txBody>
                    <a:bodyPr/>
                    <a:lstStyle/>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Retries</a:t>
                      </a:r>
                      <a:endParaRPr lang="en-US" sz="1400" dirty="0">
                        <a:latin typeface="IBM Plex Sans" charset="0"/>
                        <a:ea typeface="IBM Plex Sans" charset="0"/>
                        <a:cs typeface="IBM Plex Sans" charset="0"/>
                      </a:endParaRPr>
                    </a:p>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Hardware retries, then software retries; ath9k gives up after 31</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tc>
                  <a:txBody>
                    <a:bodyPr/>
                    <a:lstStyle/>
                    <a:p>
                      <a:pPr marL="0" indent="0">
                        <a:lnSpc>
                          <a:spcPts val="1960"/>
                        </a:lnSpc>
                        <a:buNone/>
                      </a:pPr>
                      <a:r>
                        <a:rPr lang="en-US" sz="1400" dirty="0">
                          <a:solidFill>
                            <a:srgbClr val="3D4843"/>
                          </a:solidFill>
                          <a:latin typeface="IBM Plex Sans" pitchFamily="34" charset="0"/>
                          <a:ea typeface="IBM Plex Sans" pitchFamily="34" charset="-122"/>
                          <a:cs typeface="IBM Plex Sans" pitchFamily="34" charset="-120"/>
                        </a:rPr>
                        <a:t>Reliability: keep loss near zero</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tc>
                  <a:txBody>
                    <a:bodyPr/>
                    <a:lstStyle/>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One stubborn packet can cost up to hundreds of ms and blocks every packet behind it</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extLst>
                  <a:ext uri="{0D108BD9-81ED-4DB2-BD59-A6C34878D82A}">
                    <a16:rowId xmlns:a16="http://schemas.microsoft.com/office/drawing/2014/main" val="10002"/>
                  </a:ext>
                </a:extLst>
              </a:tr>
              <a:tr h="795020">
                <a:tc>
                  <a:txBody>
                    <a:bodyPr/>
                    <a:lstStyle/>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Rate adaptation</a:t>
                      </a:r>
                      <a:endParaRPr lang="en-US" sz="1400" dirty="0">
                        <a:latin typeface="IBM Plex Sans" charset="0"/>
                        <a:ea typeface="IBM Plex Sans" charset="0"/>
                        <a:cs typeface="IBM Plex Sans" charset="0"/>
                      </a:endParaRPr>
                    </a:p>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Minstrel and similar, picking the MCS</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tc>
                  <a:txBody>
                    <a:bodyPr/>
                    <a:lstStyle/>
                    <a:p>
                      <a:pPr marL="0" indent="0">
                        <a:lnSpc>
                          <a:spcPts val="1960"/>
                        </a:lnSpc>
                        <a:buNone/>
                      </a:pPr>
                      <a:r>
                        <a:rPr lang="en-US" sz="1400" dirty="0">
                          <a:solidFill>
                            <a:srgbClr val="3D4843"/>
                          </a:solidFill>
                          <a:latin typeface="IBM Plex Sans" pitchFamily="34" charset="0"/>
                          <a:ea typeface="IBM Plex Sans" pitchFamily="34" charset="-122"/>
                          <a:cs typeface="IBM Plex Sans" pitchFamily="34" charset="-120"/>
                        </a:rPr>
                        <a:t>Goodput, judged from channel quality alone</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tc>
                  <a:txBody>
                    <a:bodyPr/>
                    <a:lstStyle/>
                    <a:p>
                      <a:pPr marL="0" indent="0">
                        <a:lnSpc>
                          <a:spcPts val="1960"/>
                        </a:lnSpc>
                        <a:buNone/>
                      </a:pPr>
                      <a:r>
                        <a:rPr lang="en-US" sz="1400" dirty="0">
                          <a:solidFill>
                            <a:srgbClr val="17211C"/>
                          </a:solidFill>
                          <a:latin typeface="IBM Plex Sans" pitchFamily="34" charset="0"/>
                          <a:ea typeface="IBM Plex Sans" pitchFamily="34" charset="-122"/>
                          <a:cs typeface="IBM Plex Sans" pitchFamily="34" charset="-120"/>
                        </a:rPr>
                        <a:t>Slows the sender when the channel fades, so the queue grows even faster</a:t>
                      </a:r>
                      <a:endParaRPr lang="en-US" sz="1400" dirty="0">
                        <a:latin typeface="IBM Plex Sans" charset="0"/>
                        <a:ea typeface="IBM Plex Sans" charset="0"/>
                        <a:cs typeface="IBM Plex Sans" charset="0"/>
                      </a:endParaRPr>
                    </a:p>
                  </a:txBody>
                  <a:tcPr marL="152400" marR="152400" marT="152400" marB="152400">
                    <a:lnL w="12700" cap="flat" cmpd="sng" algn="ctr">
                      <a:solidFill>
                        <a:srgbClr val="C3C6C3"/>
                      </a:solidFill>
                      <a:prstDash val="solid"/>
                      <a:round/>
                      <a:headEnd type="none" w="med" len="med"/>
                      <a:tailEnd type="none" w="med" len="med"/>
                    </a:lnL>
                    <a:lnR w="12700" cap="flat" cmpd="sng" algn="ctr">
                      <a:solidFill>
                        <a:srgbClr val="C3C6C3"/>
                      </a:solidFill>
                      <a:prstDash val="solid"/>
                      <a:round/>
                      <a:headEnd type="none" w="med" len="med"/>
                      <a:tailEnd type="none" w="med" len="med"/>
                    </a:lnR>
                    <a:lnT w="12700" cap="flat" cmpd="sng" algn="ctr">
                      <a:solidFill>
                        <a:srgbClr val="C3C6C3"/>
                      </a:solidFill>
                      <a:prstDash val="solid"/>
                      <a:round/>
                      <a:headEnd type="none" w="med" len="med"/>
                      <a:tailEnd type="none" w="med" len="med"/>
                    </a:lnT>
                    <a:lnB w="12700" cap="flat" cmpd="sng" algn="ctr">
                      <a:solidFill>
                        <a:srgbClr val="C3C6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05 · Paper 2.2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ANATOMY OF A SPIKE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fontScale="92500"/>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How the three mechanisms compound ( in one real trace )</a:t>
            </a:r>
            <a:endParaRPr lang="en-US" sz="3200" dirty="0"/>
          </a:p>
        </p:txBody>
      </p:sp>
      <p:sp>
        <p:nvSpPr>
          <p:cNvPr id="4" name="Shape 2"/>
          <p:cNvSpPr/>
          <p:nvPr/>
        </p:nvSpPr>
        <p:spPr>
          <a:xfrm>
            <a:off x="815975" y="1933575"/>
            <a:ext cx="2520950" cy="3265170"/>
          </a:xfrm>
          <a:prstGeom prst="roundRect">
            <a:avLst>
              <a:gd name="adj" fmla="val 3904"/>
            </a:avLst>
          </a:prstGeom>
          <a:solidFill>
            <a:srgbClr val="FFFFFF"/>
          </a:solidFill>
          <a:ln w="6350">
            <a:solidFill>
              <a:srgbClr val="E3EBE6"/>
            </a:solidFill>
            <a:prstDash val="solid"/>
          </a:ln>
        </p:spPr>
        <p:txBody>
          <a:bodyPr/>
          <a:lstStyle/>
          <a:p>
            <a:endParaRPr lang="en-US"/>
          </a:p>
        </p:txBody>
      </p:sp>
      <p:sp>
        <p:nvSpPr>
          <p:cNvPr id="5" name="Text 3"/>
          <p:cNvSpPr/>
          <p:nvPr/>
        </p:nvSpPr>
        <p:spPr>
          <a:xfrm>
            <a:off x="1071880" y="2189482"/>
            <a:ext cx="206941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F6B65"/>
                </a:solidFill>
                <a:latin typeface="IBM Plex Mono" pitchFamily="34" charset="0"/>
                <a:ea typeface="IBM Plex Mono" pitchFamily="34" charset="-122"/>
                <a:cs typeface="IBM Plex Mono" pitchFamily="34" charset="-120"/>
              </a:rPr>
              <a:t>1</a:t>
            </a:r>
            <a:endParaRPr lang="en-US" sz="1400" dirty="0"/>
          </a:p>
        </p:txBody>
      </p:sp>
      <p:sp>
        <p:nvSpPr>
          <p:cNvPr id="6" name="Text 4"/>
          <p:cNvSpPr/>
          <p:nvPr/>
        </p:nvSpPr>
        <p:spPr>
          <a:xfrm>
            <a:off x="1071880" y="2565400"/>
            <a:ext cx="206941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Channel dips</a:t>
            </a:r>
            <a:endParaRPr lang="en-US" sz="1800" dirty="0"/>
          </a:p>
        </p:txBody>
      </p:sp>
      <p:sp>
        <p:nvSpPr>
          <p:cNvPr id="7" name="Text 5"/>
          <p:cNvSpPr/>
          <p:nvPr/>
        </p:nvSpPr>
        <p:spPr>
          <a:xfrm>
            <a:off x="1071880" y="2966721"/>
            <a:ext cx="206941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Packet 11 is lost: the channel has started to fluctuate.</a:t>
            </a:r>
            <a:endParaRPr lang="en-US" sz="1400" dirty="0"/>
          </a:p>
        </p:txBody>
      </p:sp>
      <p:sp>
        <p:nvSpPr>
          <p:cNvPr id="8" name="Shape 6"/>
          <p:cNvSpPr/>
          <p:nvPr/>
        </p:nvSpPr>
        <p:spPr>
          <a:xfrm>
            <a:off x="3495675" y="1933575"/>
            <a:ext cx="2520950" cy="3265170"/>
          </a:xfrm>
          <a:prstGeom prst="roundRect">
            <a:avLst>
              <a:gd name="adj" fmla="val 3904"/>
            </a:avLst>
          </a:prstGeom>
          <a:solidFill>
            <a:srgbClr val="FFFFFF"/>
          </a:solidFill>
          <a:ln w="6350">
            <a:solidFill>
              <a:srgbClr val="E3EBE6"/>
            </a:solidFill>
            <a:prstDash val="solid"/>
          </a:ln>
        </p:spPr>
        <p:txBody>
          <a:bodyPr/>
          <a:lstStyle/>
          <a:p>
            <a:endParaRPr lang="en-US"/>
          </a:p>
        </p:txBody>
      </p:sp>
      <p:sp>
        <p:nvSpPr>
          <p:cNvPr id="9" name="Text 7"/>
          <p:cNvSpPr/>
          <p:nvPr/>
        </p:nvSpPr>
        <p:spPr>
          <a:xfrm>
            <a:off x="3751580" y="2189482"/>
            <a:ext cx="206941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F6B65"/>
                </a:solidFill>
                <a:latin typeface="IBM Plex Mono" pitchFamily="34" charset="0"/>
                <a:ea typeface="IBM Plex Mono" pitchFamily="34" charset="-122"/>
                <a:cs typeface="IBM Plex Mono" pitchFamily="34" charset="-120"/>
              </a:rPr>
              <a:t>2</a:t>
            </a:r>
            <a:endParaRPr lang="en-US" sz="1400" dirty="0"/>
          </a:p>
        </p:txBody>
      </p:sp>
      <p:sp>
        <p:nvSpPr>
          <p:cNvPr id="10" name="Text 8"/>
          <p:cNvSpPr/>
          <p:nvPr/>
        </p:nvSpPr>
        <p:spPr>
          <a:xfrm>
            <a:off x="3751580" y="2565400"/>
            <a:ext cx="206941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Retries pile up</a:t>
            </a:r>
            <a:endParaRPr lang="en-US" sz="1800" dirty="0"/>
          </a:p>
        </p:txBody>
      </p:sp>
      <p:sp>
        <p:nvSpPr>
          <p:cNvPr id="11" name="Text 9"/>
          <p:cNvSpPr/>
          <p:nvPr/>
        </p:nvSpPr>
        <p:spPr>
          <a:xfrm>
            <a:off x="3751580" y="2966721"/>
            <a:ext cx="2069414"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~15 ms to send one frame, ~25 ms for one aggregate. Everything behind waits.</a:t>
            </a:r>
            <a:endParaRPr lang="en-US" sz="1400" dirty="0"/>
          </a:p>
        </p:txBody>
      </p:sp>
      <p:sp>
        <p:nvSpPr>
          <p:cNvPr id="12" name="Shape 10"/>
          <p:cNvSpPr/>
          <p:nvPr/>
        </p:nvSpPr>
        <p:spPr>
          <a:xfrm>
            <a:off x="6175375" y="1933575"/>
            <a:ext cx="2520950" cy="3265170"/>
          </a:xfrm>
          <a:prstGeom prst="roundRect">
            <a:avLst>
              <a:gd name="adj" fmla="val 3904"/>
            </a:avLst>
          </a:prstGeom>
          <a:solidFill>
            <a:srgbClr val="FFFFFF"/>
          </a:solidFill>
          <a:ln w="6350">
            <a:solidFill>
              <a:srgbClr val="E3EBE6"/>
            </a:solidFill>
            <a:prstDash val="solid"/>
          </a:ln>
        </p:spPr>
        <p:txBody>
          <a:bodyPr/>
          <a:lstStyle/>
          <a:p>
            <a:endParaRPr lang="en-US"/>
          </a:p>
        </p:txBody>
      </p:sp>
      <p:sp>
        <p:nvSpPr>
          <p:cNvPr id="13" name="Text 11"/>
          <p:cNvSpPr/>
          <p:nvPr/>
        </p:nvSpPr>
        <p:spPr>
          <a:xfrm>
            <a:off x="6431280" y="2189482"/>
            <a:ext cx="206941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F6B65"/>
                </a:solidFill>
                <a:latin typeface="IBM Plex Mono" pitchFamily="34" charset="0"/>
                <a:ea typeface="IBM Plex Mono" pitchFamily="34" charset="-122"/>
                <a:cs typeface="IBM Plex Mono" pitchFamily="34" charset="-120"/>
              </a:rPr>
              <a:t>3</a:t>
            </a:r>
            <a:endParaRPr lang="en-US" sz="1400" dirty="0"/>
          </a:p>
        </p:txBody>
      </p:sp>
      <p:sp>
        <p:nvSpPr>
          <p:cNvPr id="14" name="Text 12"/>
          <p:cNvSpPr/>
          <p:nvPr/>
        </p:nvSpPr>
        <p:spPr>
          <a:xfrm>
            <a:off x="6431280" y="2565400"/>
            <a:ext cx="206941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Rate drops</a:t>
            </a:r>
            <a:endParaRPr lang="en-US" sz="1800" dirty="0"/>
          </a:p>
        </p:txBody>
      </p:sp>
      <p:sp>
        <p:nvSpPr>
          <p:cNvPr id="15" name="Text 13"/>
          <p:cNvSpPr/>
          <p:nvPr/>
        </p:nvSpPr>
        <p:spPr>
          <a:xfrm>
            <a:off x="6431280" y="2966721"/>
            <a:ext cx="2069414"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Around packet 21, rate adaptation lowers the MCS: sending slower while the queue still fills.</a:t>
            </a:r>
            <a:endParaRPr lang="en-US" sz="1400" dirty="0"/>
          </a:p>
        </p:txBody>
      </p:sp>
      <p:sp>
        <p:nvSpPr>
          <p:cNvPr id="16" name="Shape 14"/>
          <p:cNvSpPr/>
          <p:nvPr/>
        </p:nvSpPr>
        <p:spPr>
          <a:xfrm>
            <a:off x="8855075" y="1933575"/>
            <a:ext cx="2520950" cy="3265170"/>
          </a:xfrm>
          <a:prstGeom prst="roundRect">
            <a:avLst>
              <a:gd name="adj" fmla="val 3904"/>
            </a:avLst>
          </a:prstGeom>
          <a:solidFill>
            <a:srgbClr val="FFFFFF"/>
          </a:solidFill>
          <a:ln w="6350">
            <a:solidFill>
              <a:srgbClr val="E3EBE6"/>
            </a:solidFill>
            <a:prstDash val="solid"/>
          </a:ln>
        </p:spPr>
        <p:txBody>
          <a:bodyPr/>
          <a:lstStyle/>
          <a:p>
            <a:endParaRPr lang="en-US"/>
          </a:p>
        </p:txBody>
      </p:sp>
      <p:sp>
        <p:nvSpPr>
          <p:cNvPr id="17" name="Text 15"/>
          <p:cNvSpPr/>
          <p:nvPr/>
        </p:nvSpPr>
        <p:spPr>
          <a:xfrm>
            <a:off x="9110980" y="2189482"/>
            <a:ext cx="206941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F6B65"/>
                </a:solidFill>
                <a:latin typeface="IBM Plex Mono" pitchFamily="34" charset="0"/>
                <a:ea typeface="IBM Plex Mono" pitchFamily="34" charset="-122"/>
                <a:cs typeface="IBM Plex Mono" pitchFamily="34" charset="-120"/>
              </a:rPr>
              <a:t>4</a:t>
            </a:r>
            <a:endParaRPr lang="en-US" sz="1400" dirty="0"/>
          </a:p>
        </p:txBody>
      </p:sp>
      <p:sp>
        <p:nvSpPr>
          <p:cNvPr id="18" name="Text 16"/>
          <p:cNvSpPr/>
          <p:nvPr/>
        </p:nvSpPr>
        <p:spPr>
          <a:xfrm>
            <a:off x="9110980" y="2565400"/>
            <a:ext cx="2069414"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Queue drains slowly</a:t>
            </a:r>
            <a:endParaRPr lang="en-US" sz="1800" dirty="0"/>
          </a:p>
        </p:txBody>
      </p:sp>
      <p:sp>
        <p:nvSpPr>
          <p:cNvPr id="19" name="Text 17"/>
          <p:cNvSpPr/>
          <p:nvPr/>
        </p:nvSpPr>
        <p:spPr>
          <a:xfrm>
            <a:off x="9110980" y="3241039"/>
            <a:ext cx="206941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Queueing delay climbs to ~80 ms and falls back only gradually.</a:t>
            </a:r>
            <a:endParaRPr lang="en-US" sz="1400" dirty="0"/>
          </a:p>
        </p:txBody>
      </p:sp>
      <p:sp>
        <p:nvSpPr>
          <p:cNvPr id="20" name="Text 18"/>
          <p:cNvSpPr/>
          <p:nvPr/>
        </p:nvSpPr>
        <p:spPr>
          <a:xfrm>
            <a:off x="812800" y="55575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11C"/>
                </a:solidFill>
                <a:latin typeface="IBM Plex Sans" pitchFamily="34" charset="0"/>
                <a:ea typeface="IBM Plex Sans" pitchFamily="34" charset="-122"/>
                <a:cs typeface="IBM Plex Sans" pitchFamily="34" charset="-120"/>
              </a:rPr>
              <a:t>Delay rises fast and falls slowly, because no single layer can shed what the others have queued.</a:t>
            </a:r>
            <a:endParaRPr lang="en-US" sz="1600" dirty="0"/>
          </a:p>
        </p:txBody>
      </p:sp>
      <p:sp>
        <p:nvSpPr>
          <p:cNvPr id="21" name="Text 19"/>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06 · 60-packet real-world trace, paper Fig.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WHY NOT JUST TUNE IT?</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The obvious fixes make things worse</a:t>
            </a:r>
            <a:endParaRPr lang="en-US" sz="3200" dirty="0"/>
          </a:p>
        </p:txBody>
      </p:sp>
      <p:sp>
        <p:nvSpPr>
          <p:cNvPr id="4" name="Shape 2"/>
          <p:cNvSpPr/>
          <p:nvPr/>
        </p:nvSpPr>
        <p:spPr>
          <a:xfrm>
            <a:off x="815975" y="1933575"/>
            <a:ext cx="3380264" cy="3265170"/>
          </a:xfrm>
          <a:prstGeom prst="roundRect">
            <a:avLst>
              <a:gd name="adj" fmla="val 3014"/>
            </a:avLst>
          </a:prstGeom>
          <a:solidFill>
            <a:srgbClr val="FFFFFF"/>
          </a:solidFill>
          <a:ln w="6350">
            <a:solidFill>
              <a:srgbClr val="E3EBE6"/>
            </a:solidFill>
            <a:prstDash val="solid"/>
          </a:ln>
        </p:spPr>
        <p:txBody>
          <a:bodyPr/>
          <a:lstStyle/>
          <a:p>
            <a:endParaRPr lang="en-US"/>
          </a:p>
        </p:txBody>
      </p:sp>
      <p:sp>
        <p:nvSpPr>
          <p:cNvPr id="5" name="Text 3"/>
          <p:cNvSpPr/>
          <p:nvPr/>
        </p:nvSpPr>
        <p:spPr>
          <a:xfrm>
            <a:off x="1122680" y="2240282"/>
            <a:ext cx="284985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Cap each layer</a:t>
            </a:r>
            <a:endParaRPr lang="en-US" sz="1800" dirty="0"/>
          </a:p>
        </p:txBody>
      </p:sp>
      <p:sp>
        <p:nvSpPr>
          <p:cNvPr id="6" name="Text 4"/>
          <p:cNvSpPr/>
          <p:nvPr/>
        </p:nvSpPr>
        <p:spPr>
          <a:xfrm>
            <a:off x="1122680" y="2641600"/>
            <a:ext cx="284985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25 ms limit on MAC flow queues; hardware queues capped at 8 frames.</a:t>
            </a:r>
            <a:endParaRPr lang="en-US" sz="1400" dirty="0"/>
          </a:p>
        </p:txBody>
      </p:sp>
      <p:sp>
        <p:nvSpPr>
          <p:cNvPr id="7" name="Text 5"/>
          <p:cNvSpPr/>
          <p:nvPr/>
        </p:nvSpPr>
        <p:spPr>
          <a:xfrm>
            <a:off x="1122680" y="3515361"/>
            <a:ext cx="2849859"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7A4D"/>
                </a:solidFill>
                <a:latin typeface="IBM Plex Mono" pitchFamily="34" charset="0"/>
                <a:ea typeface="IBM Plex Mono" pitchFamily="34" charset="-122"/>
                <a:cs typeface="IBM Plex Mono" pitchFamily="34" charset="-120"/>
              </a:rPr>
              <a:t>8.0× the loss, and 99.99th-pct latency still ~200 ms</a:t>
            </a:r>
            <a:endParaRPr lang="en-US" sz="1400" dirty="0"/>
          </a:p>
        </p:txBody>
      </p:sp>
      <p:sp>
        <p:nvSpPr>
          <p:cNvPr id="8" name="Shape 6"/>
          <p:cNvSpPr/>
          <p:nvPr/>
        </p:nvSpPr>
        <p:spPr>
          <a:xfrm>
            <a:off x="4405789" y="1933575"/>
            <a:ext cx="3380343" cy="3265170"/>
          </a:xfrm>
          <a:prstGeom prst="roundRect">
            <a:avLst>
              <a:gd name="adj" fmla="val 3014"/>
            </a:avLst>
          </a:prstGeom>
          <a:solidFill>
            <a:srgbClr val="FFFFFF"/>
          </a:solidFill>
          <a:ln w="6350">
            <a:solidFill>
              <a:srgbClr val="E3EBE6"/>
            </a:solidFill>
            <a:prstDash val="solid"/>
          </a:ln>
        </p:spPr>
        <p:txBody>
          <a:bodyPr/>
          <a:lstStyle/>
          <a:p>
            <a:endParaRPr lang="en-US"/>
          </a:p>
        </p:txBody>
      </p:sp>
      <p:sp>
        <p:nvSpPr>
          <p:cNvPr id="9" name="Text 7"/>
          <p:cNvSpPr/>
          <p:nvPr/>
        </p:nvSpPr>
        <p:spPr>
          <a:xfrm>
            <a:off x="4712494" y="2240282"/>
            <a:ext cx="2849941"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Remove the hardware queue</a:t>
            </a:r>
            <a:endParaRPr lang="en-US" sz="1800" dirty="0"/>
          </a:p>
        </p:txBody>
      </p:sp>
      <p:sp>
        <p:nvSpPr>
          <p:cNvPr id="10" name="Text 8"/>
          <p:cNvSpPr/>
          <p:nvPr/>
        </p:nvSpPr>
        <p:spPr>
          <a:xfrm>
            <a:off x="4712494" y="2915921"/>
            <a:ext cx="284994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Each send now waits on an interrupt to fetch the next frame, and the idle channel is lost to other devices.</a:t>
            </a:r>
            <a:endParaRPr lang="en-US" sz="1400" dirty="0"/>
          </a:p>
        </p:txBody>
      </p:sp>
      <p:sp>
        <p:nvSpPr>
          <p:cNvPr id="11" name="Text 9"/>
          <p:cNvSpPr/>
          <p:nvPr/>
        </p:nvSpPr>
        <p:spPr>
          <a:xfrm>
            <a:off x="4712494" y="4038600"/>
            <a:ext cx="284994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7A4D"/>
                </a:solidFill>
                <a:latin typeface="IBM Plex Mono" pitchFamily="34" charset="0"/>
                <a:ea typeface="IBM Plex Mono" pitchFamily="34" charset="-122"/>
                <a:cs typeface="IBM Plex Mono" pitchFamily="34" charset="-120"/>
              </a:rPr>
              <a:t>2.5× the loss, and 99.99th-pct latency over 400 ms</a:t>
            </a:r>
            <a:endParaRPr lang="en-US" sz="1400" dirty="0"/>
          </a:p>
        </p:txBody>
      </p:sp>
      <p:sp>
        <p:nvSpPr>
          <p:cNvPr id="12" name="Shape 10"/>
          <p:cNvSpPr/>
          <p:nvPr/>
        </p:nvSpPr>
        <p:spPr>
          <a:xfrm>
            <a:off x="7995682" y="1933575"/>
            <a:ext cx="3380343" cy="3265170"/>
          </a:xfrm>
          <a:prstGeom prst="roundRect">
            <a:avLst>
              <a:gd name="adj" fmla="val 3014"/>
            </a:avLst>
          </a:prstGeom>
          <a:solidFill>
            <a:srgbClr val="FFFFFF"/>
          </a:solidFill>
          <a:ln w="6350">
            <a:solidFill>
              <a:srgbClr val="E3EBE6"/>
            </a:solidFill>
            <a:prstDash val="solid"/>
          </a:ln>
        </p:spPr>
        <p:txBody>
          <a:bodyPr/>
          <a:lstStyle/>
          <a:p>
            <a:endParaRPr lang="en-US"/>
          </a:p>
        </p:txBody>
      </p:sp>
      <p:sp>
        <p:nvSpPr>
          <p:cNvPr id="13" name="Text 11"/>
          <p:cNvSpPr/>
          <p:nvPr/>
        </p:nvSpPr>
        <p:spPr>
          <a:xfrm>
            <a:off x="8302387" y="2240282"/>
            <a:ext cx="284994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Retry less</a:t>
            </a:r>
            <a:endParaRPr lang="en-US" sz="1800" dirty="0"/>
          </a:p>
        </p:txBody>
      </p:sp>
      <p:sp>
        <p:nvSpPr>
          <p:cNvPr id="14" name="Text 12"/>
          <p:cNvSpPr/>
          <p:nvPr/>
        </p:nvSpPr>
        <p:spPr>
          <a:xfrm>
            <a:off x="8302387" y="2641600"/>
            <a:ext cx="284994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The share of packets needing retries varies up to 15× across common signal strengths.</a:t>
            </a:r>
            <a:endParaRPr lang="en-US" sz="1400" dirty="0"/>
          </a:p>
        </p:txBody>
      </p:sp>
      <p:sp>
        <p:nvSpPr>
          <p:cNvPr id="15" name="Text 13"/>
          <p:cNvSpPr/>
          <p:nvPr/>
        </p:nvSpPr>
        <p:spPr>
          <a:xfrm>
            <a:off x="8302387" y="3515361"/>
            <a:ext cx="284994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7A4D"/>
                </a:solidFill>
                <a:latin typeface="IBM Plex Mono" pitchFamily="34" charset="0"/>
                <a:ea typeface="IBM Plex Mono" pitchFamily="34" charset="-122"/>
                <a:cs typeface="IBM Plex Mono" pitchFamily="34" charset="-120"/>
              </a:rPr>
              <a:t>A fixed retry cap is too loose at one RSSI and too harsh at another</a:t>
            </a:r>
            <a:endParaRPr lang="en-US" sz="1400" dirty="0"/>
          </a:p>
        </p:txBody>
      </p:sp>
      <p:sp>
        <p:nvSpPr>
          <p:cNvPr id="16" name="Text 14"/>
          <p:cNvSpPr/>
          <p:nvPr/>
        </p:nvSpPr>
        <p:spPr>
          <a:xfrm>
            <a:off x="812800" y="55575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11C"/>
                </a:solidFill>
                <a:latin typeface="IBM Plex Sans" pitchFamily="34" charset="0"/>
                <a:ea typeface="IBM Plex Sans" pitchFamily="34" charset="-122"/>
                <a:cs typeface="IBM Plex Sans" pitchFamily="34" charset="-120"/>
              </a:rPr>
              <a:t>The structure is the problem, not any one parameter.</a:t>
            </a:r>
            <a:endParaRPr lang="en-US" sz="16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07 · Paper 2.2, 3.1, Fig. 8 and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B2A"/>
        </a:solidFill>
        <a:effectLst/>
      </p:bgPr>
    </p:bg>
    <p:spTree>
      <p:nvGrpSpPr>
        <p:cNvPr id="1" name=""/>
        <p:cNvGrpSpPr/>
        <p:nvPr/>
      </p:nvGrpSpPr>
      <p:grpSpPr>
        <a:xfrm>
          <a:off x="0" y="0"/>
          <a:ext cx="0" cy="0"/>
          <a:chOff x="0" y="0"/>
          <a:chExt cx="0" cy="0"/>
        </a:xfrm>
      </p:grpSpPr>
      <p:sp>
        <p:nvSpPr>
          <p:cNvPr id="2" name="Text 0"/>
          <p:cNvSpPr/>
          <p:nvPr/>
        </p:nvSpPr>
        <p:spPr>
          <a:xfrm>
            <a:off x="812800" y="216408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3EAD3"/>
                </a:solidFill>
                <a:latin typeface="IBM Plex Mono" pitchFamily="34" charset="0"/>
                <a:ea typeface="IBM Plex Mono" pitchFamily="34" charset="-122"/>
                <a:cs typeface="IBM Plex Mono" pitchFamily="34" charset="-120"/>
              </a:rPr>
              <a:t>THE KEY INSIGHT</a:t>
            </a:r>
            <a:endParaRPr lang="en-US" sz="1400" dirty="0"/>
          </a:p>
        </p:txBody>
      </p:sp>
      <p:sp>
        <p:nvSpPr>
          <p:cNvPr id="3" name="Text 1"/>
          <p:cNvSpPr/>
          <p:nvPr/>
        </p:nvSpPr>
        <p:spPr>
          <a:xfrm>
            <a:off x="812800" y="2717800"/>
            <a:ext cx="10883392" cy="985520"/>
          </a:xfrm>
          <a:prstGeom prst="rect">
            <a:avLst/>
          </a:prstGeom>
          <a:noFill/>
          <a:ln/>
        </p:spPr>
        <p:txBody>
          <a:bodyPr wrap="square" lIns="0" tIns="0" rIns="0" bIns="0" rtlCol="0" anchor="t">
            <a:normAutofit/>
          </a:bodyPr>
          <a:lstStyle/>
          <a:p>
            <a:pPr marL="0" indent="0" algn="l">
              <a:lnSpc>
                <a:spcPts val="7560"/>
              </a:lnSpc>
              <a:buNone/>
            </a:pPr>
            <a:r>
              <a:rPr lang="en-US" sz="7200" b="1" dirty="0">
                <a:solidFill>
                  <a:srgbClr val="8FD6AE"/>
                </a:solidFill>
                <a:latin typeface="IBM Plex Sans" pitchFamily="34" charset="0"/>
                <a:ea typeface="IBM Plex Sans" pitchFamily="34" charset="-122"/>
                <a:cs typeface="IBM Plex Sans" pitchFamily="34" charset="-120"/>
              </a:rPr>
              <a:t>Dropped </a:t>
            </a:r>
            <a:r>
              <a:rPr lang="en-US" sz="7200" b="1">
                <a:solidFill>
                  <a:srgbClr val="8FD6AE"/>
                </a:solidFill>
                <a:latin typeface="IBM Plex Sans" pitchFamily="34" charset="0"/>
                <a:ea typeface="IBM Plex Sans" pitchFamily="34" charset="-122"/>
                <a:cs typeface="IBM Plex Sans" pitchFamily="34" charset="-120"/>
              </a:rPr>
              <a:t>beats blocked</a:t>
            </a:r>
            <a:endParaRPr lang="en-US" sz="7200" dirty="0"/>
          </a:p>
        </p:txBody>
      </p:sp>
      <p:sp>
        <p:nvSpPr>
          <p:cNvPr id="4" name="Text 2"/>
          <p:cNvSpPr/>
          <p:nvPr/>
        </p:nvSpPr>
        <p:spPr>
          <a:xfrm>
            <a:off x="812800" y="3982721"/>
            <a:ext cx="941832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D8E8DF"/>
                </a:solidFill>
                <a:latin typeface="IBM Plex Sans" pitchFamily="34" charset="0"/>
                <a:ea typeface="IBM Plex Sans" pitchFamily="34" charset="-122"/>
                <a:cs typeface="IBM Plex Sans" pitchFamily="34" charset="-120"/>
              </a:rPr>
              <a:t>For real-time video, a packet that arrives too late is as useless as one that never arrives, and the app already knows how to cover for a lost one.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WHAT VIDEO OFFERS THE LINK LAYER</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Three layers above already absorb small losses</a:t>
            </a:r>
            <a:endParaRPr lang="en-US" sz="3200" dirty="0"/>
          </a:p>
        </p:txBody>
      </p:sp>
      <p:sp>
        <p:nvSpPr>
          <p:cNvPr id="4" name="Shape 2"/>
          <p:cNvSpPr/>
          <p:nvPr/>
        </p:nvSpPr>
        <p:spPr>
          <a:xfrm>
            <a:off x="815975" y="1933575"/>
            <a:ext cx="3380264" cy="2927350"/>
          </a:xfrm>
          <a:prstGeom prst="roundRect">
            <a:avLst>
              <a:gd name="adj" fmla="val 3362"/>
            </a:avLst>
          </a:prstGeom>
          <a:solidFill>
            <a:srgbClr val="FFFFFF"/>
          </a:solidFill>
          <a:ln w="6350">
            <a:solidFill>
              <a:srgbClr val="E3EBE6"/>
            </a:solidFill>
            <a:prstDash val="solid"/>
          </a:ln>
        </p:spPr>
        <p:txBody>
          <a:bodyPr/>
          <a:lstStyle/>
          <a:p>
            <a:endParaRPr lang="en-US"/>
          </a:p>
        </p:txBody>
      </p:sp>
      <p:sp>
        <p:nvSpPr>
          <p:cNvPr id="5" name="Text 3"/>
          <p:cNvSpPr/>
          <p:nvPr/>
        </p:nvSpPr>
        <p:spPr>
          <a:xfrm>
            <a:off x="1122680" y="2240279"/>
            <a:ext cx="284985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Forward error correction</a:t>
            </a:r>
            <a:endParaRPr lang="en-US" sz="1800" dirty="0"/>
          </a:p>
        </p:txBody>
      </p:sp>
      <p:sp>
        <p:nvSpPr>
          <p:cNvPr id="6" name="Text 4"/>
          <p:cNvSpPr/>
          <p:nvPr/>
        </p:nvSpPr>
        <p:spPr>
          <a:xfrm>
            <a:off x="1122680" y="2641600"/>
            <a:ext cx="284985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WebRTC FEC at 1/8 redundancy absorbs 1% extra loss, adding at most one RTT to 99.9th-pct frame latency.</a:t>
            </a:r>
            <a:endParaRPr lang="en-US" sz="1400" dirty="0"/>
          </a:p>
        </p:txBody>
      </p:sp>
      <p:sp>
        <p:nvSpPr>
          <p:cNvPr id="7" name="Shape 5"/>
          <p:cNvSpPr/>
          <p:nvPr/>
        </p:nvSpPr>
        <p:spPr>
          <a:xfrm>
            <a:off x="4405789" y="1933575"/>
            <a:ext cx="3380343" cy="2927350"/>
          </a:xfrm>
          <a:prstGeom prst="roundRect">
            <a:avLst>
              <a:gd name="adj" fmla="val 3362"/>
            </a:avLst>
          </a:prstGeom>
          <a:solidFill>
            <a:srgbClr val="FFFFFF"/>
          </a:solidFill>
          <a:ln w="6350">
            <a:solidFill>
              <a:srgbClr val="E3EBE6"/>
            </a:solidFill>
            <a:prstDash val="solid"/>
          </a:ln>
        </p:spPr>
        <p:txBody>
          <a:bodyPr/>
          <a:lstStyle/>
          <a:p>
            <a:endParaRPr lang="en-US"/>
          </a:p>
        </p:txBody>
      </p:sp>
      <p:sp>
        <p:nvSpPr>
          <p:cNvPr id="8" name="Text 6"/>
          <p:cNvSpPr/>
          <p:nvPr/>
        </p:nvSpPr>
        <p:spPr>
          <a:xfrm>
            <a:off x="4712494" y="2240279"/>
            <a:ext cx="284994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Error concealment</a:t>
            </a:r>
            <a:endParaRPr lang="en-US" sz="1800" dirty="0"/>
          </a:p>
        </p:txBody>
      </p:sp>
      <p:sp>
        <p:nvSpPr>
          <p:cNvPr id="9" name="Text 7"/>
          <p:cNvSpPr/>
          <p:nvPr/>
        </p:nvSpPr>
        <p:spPr>
          <a:xfrm>
            <a:off x="4712494" y="2641600"/>
            <a:ext cx="284994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Codecs such as H.264 reconstruct lost data and frame skipping and neural codecs push loss resilience further.</a:t>
            </a:r>
            <a:endParaRPr lang="en-US" sz="1400" dirty="0"/>
          </a:p>
        </p:txBody>
      </p:sp>
      <p:sp>
        <p:nvSpPr>
          <p:cNvPr id="10" name="Shape 8"/>
          <p:cNvSpPr/>
          <p:nvPr/>
        </p:nvSpPr>
        <p:spPr>
          <a:xfrm>
            <a:off x="7995682" y="1933575"/>
            <a:ext cx="3380343" cy="2927350"/>
          </a:xfrm>
          <a:prstGeom prst="roundRect">
            <a:avLst>
              <a:gd name="adj" fmla="val 3362"/>
            </a:avLst>
          </a:prstGeom>
          <a:solidFill>
            <a:srgbClr val="FFFFFF"/>
          </a:solidFill>
          <a:ln w="6350">
            <a:solidFill>
              <a:srgbClr val="E3EBE6"/>
            </a:solidFill>
            <a:prstDash val="solid"/>
          </a:ln>
        </p:spPr>
        <p:txBody>
          <a:bodyPr/>
          <a:lstStyle/>
          <a:p>
            <a:endParaRPr lang="en-US"/>
          </a:p>
        </p:txBody>
      </p:sp>
      <p:sp>
        <p:nvSpPr>
          <p:cNvPr id="11" name="Text 9"/>
          <p:cNvSpPr/>
          <p:nvPr/>
        </p:nvSpPr>
        <p:spPr>
          <a:xfrm>
            <a:off x="8302387" y="2240279"/>
            <a:ext cx="2849941"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Delay-based congestion control</a:t>
            </a:r>
            <a:endParaRPr lang="en-US" sz="1800" dirty="0"/>
          </a:p>
        </p:txBody>
      </p:sp>
      <p:sp>
        <p:nvSpPr>
          <p:cNvPr id="12" name="Text 10"/>
          <p:cNvSpPr/>
          <p:nvPr/>
        </p:nvSpPr>
        <p:spPr>
          <a:xfrm>
            <a:off x="8302387" y="2915921"/>
            <a:ext cx="2849941"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GCC tolerates 2% loss without cutting its rate and BBR tolerates at least 5% random loss.</a:t>
            </a:r>
            <a:endParaRPr lang="en-US" sz="1400" dirty="0"/>
          </a:p>
        </p:txBody>
      </p:sp>
      <p:sp>
        <p:nvSpPr>
          <p:cNvPr id="13" name="Shape 11"/>
          <p:cNvSpPr/>
          <p:nvPr/>
        </p:nvSpPr>
        <p:spPr>
          <a:xfrm>
            <a:off x="812800" y="5219700"/>
            <a:ext cx="10566400" cy="622300"/>
          </a:xfrm>
          <a:prstGeom prst="roundRect">
            <a:avLst>
              <a:gd name="adj" fmla="val 12245"/>
            </a:avLst>
          </a:prstGeom>
          <a:solidFill>
            <a:srgbClr val="EDF3EF"/>
          </a:solidFill>
          <a:ln/>
        </p:spPr>
        <p:txBody>
          <a:bodyPr/>
          <a:lstStyle/>
          <a:p>
            <a:endParaRPr lang="en-US"/>
          </a:p>
        </p:txBody>
      </p:sp>
      <p:sp>
        <p:nvSpPr>
          <p:cNvPr id="14" name="Text 12"/>
          <p:cNvSpPr/>
          <p:nvPr/>
        </p:nvSpPr>
        <p:spPr>
          <a:xfrm>
            <a:off x="1041400" y="5397500"/>
            <a:ext cx="1041247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7211C"/>
                </a:solidFill>
                <a:latin typeface="IBM Plex Sans" pitchFamily="34" charset="0"/>
                <a:ea typeface="IBM Plex Sans" pitchFamily="34" charset="-122"/>
                <a:cs typeface="IBM Plex Sans" pitchFamily="34" charset="-120"/>
              </a:rPr>
              <a:t>The catch:</a:t>
            </a:r>
            <a:r>
              <a:rPr lang="en-US" sz="1500" dirty="0">
                <a:solidFill>
                  <a:srgbClr val="17211C"/>
                </a:solidFill>
                <a:latin typeface="IBM Plex Sans" pitchFamily="34" charset="0"/>
                <a:ea typeface="IBM Plex Sans" pitchFamily="34" charset="-122"/>
                <a:cs typeface="IBM Plex Sans" pitchFamily="34" charset="-120"/>
              </a:rPr>
              <a:t> FEC repairs only so many losses per frame or group, so the </a:t>
            </a:r>
            <a:r>
              <a:rPr lang="en-US" sz="1500" b="1" u="sng" dirty="0">
                <a:solidFill>
                  <a:srgbClr val="17211C"/>
                </a:solidFill>
                <a:latin typeface="IBM Plex Sans" pitchFamily="34" charset="0"/>
                <a:ea typeface="IBM Plex Sans" pitchFamily="34" charset="-122"/>
                <a:cs typeface="IBM Plex Sans" pitchFamily="34" charset="-120"/>
              </a:rPr>
              <a:t>pattern</a:t>
            </a:r>
            <a:r>
              <a:rPr lang="en-US" sz="1500" dirty="0">
                <a:solidFill>
                  <a:srgbClr val="17211C"/>
                </a:solidFill>
                <a:latin typeface="IBM Plex Sans" pitchFamily="34" charset="0"/>
                <a:ea typeface="IBM Plex Sans" pitchFamily="34" charset="-122"/>
                <a:cs typeface="IBM Plex Sans" pitchFamily="34" charset="-120"/>
              </a:rPr>
              <a:t> of loss matters as much as the rate.</a:t>
            </a:r>
            <a:endParaRPr lang="en-US" sz="15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09 · Paper 2.3, Fig.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LAW, PART 1 · QUEUE RESHAPING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One queue, one latency bound</a:t>
            </a:r>
            <a:endParaRPr lang="en-US" sz="3200" dirty="0"/>
          </a:p>
        </p:txBody>
      </p:sp>
      <p:sp>
        <p:nvSpPr>
          <p:cNvPr id="4" name="Text 2"/>
          <p:cNvSpPr/>
          <p:nvPr/>
        </p:nvSpPr>
        <p:spPr>
          <a:xfrm>
            <a:off x="812800" y="182880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TODAY (ath9k / OpenWiFi)</a:t>
            </a:r>
            <a:endParaRPr lang="en-US" sz="1200" dirty="0"/>
          </a:p>
        </p:txBody>
      </p:sp>
      <p:sp>
        <p:nvSpPr>
          <p:cNvPr id="5" name="Shape 3"/>
          <p:cNvSpPr/>
          <p:nvPr/>
        </p:nvSpPr>
        <p:spPr>
          <a:xfrm>
            <a:off x="819150" y="2150114"/>
            <a:ext cx="5067300" cy="501650"/>
          </a:xfrm>
          <a:prstGeom prst="roundRect">
            <a:avLst>
              <a:gd name="adj" fmla="val 13924"/>
            </a:avLst>
          </a:prstGeom>
          <a:solidFill>
            <a:srgbClr val="FFFFFF"/>
          </a:solidFill>
          <a:ln w="12700">
            <a:solidFill>
              <a:srgbClr val="D6E2DA"/>
            </a:solidFill>
            <a:prstDash val="solid"/>
          </a:ln>
        </p:spPr>
        <p:txBody>
          <a:bodyPr/>
          <a:lstStyle/>
          <a:p>
            <a:endParaRPr lang="en-US"/>
          </a:p>
        </p:txBody>
      </p:sp>
      <p:sp>
        <p:nvSpPr>
          <p:cNvPr id="6" name="Text 4"/>
          <p:cNvSpPr/>
          <p:nvPr/>
        </p:nvSpPr>
        <p:spPr>
          <a:xfrm>
            <a:off x="1000760" y="2280921"/>
            <a:ext cx="4845202"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211C"/>
                </a:solidFill>
                <a:latin typeface="IBM Plex Sans" pitchFamily="34" charset="0"/>
                <a:ea typeface="IBM Plex Sans" pitchFamily="34" charset="-122"/>
                <a:cs typeface="IBM Plex Sans" pitchFamily="34" charset="-120"/>
              </a:rPr>
              <a:t>MAC</a:t>
            </a:r>
            <a:r>
              <a:rPr lang="en-US" sz="1400" dirty="0">
                <a:solidFill>
                  <a:srgbClr val="17211C"/>
                </a:solidFill>
                <a:latin typeface="IBM Plex Sans" pitchFamily="34" charset="0"/>
                <a:ea typeface="IBM Plex Sans" pitchFamily="34" charset="-122"/>
                <a:cs typeface="IBM Plex Sans" pitchFamily="34" charset="-120"/>
              </a:rPr>
              <a:t> · flow queues per traffic class</a:t>
            </a:r>
            <a:endParaRPr lang="en-US" sz="1400" dirty="0"/>
          </a:p>
        </p:txBody>
      </p:sp>
      <p:sp>
        <p:nvSpPr>
          <p:cNvPr id="7" name="Shape 5"/>
          <p:cNvSpPr/>
          <p:nvPr/>
        </p:nvSpPr>
        <p:spPr>
          <a:xfrm>
            <a:off x="819150" y="2766064"/>
            <a:ext cx="5067300" cy="501650"/>
          </a:xfrm>
          <a:prstGeom prst="roundRect">
            <a:avLst>
              <a:gd name="adj" fmla="val 13924"/>
            </a:avLst>
          </a:prstGeom>
          <a:solidFill>
            <a:srgbClr val="FFFFFF"/>
          </a:solidFill>
          <a:ln w="12700">
            <a:solidFill>
              <a:srgbClr val="D6E2DA"/>
            </a:solidFill>
            <a:prstDash val="solid"/>
          </a:ln>
        </p:spPr>
        <p:txBody>
          <a:bodyPr/>
          <a:lstStyle/>
          <a:p>
            <a:endParaRPr lang="en-US"/>
          </a:p>
        </p:txBody>
      </p:sp>
      <p:sp>
        <p:nvSpPr>
          <p:cNvPr id="8" name="Text 6"/>
          <p:cNvSpPr/>
          <p:nvPr/>
        </p:nvSpPr>
        <p:spPr>
          <a:xfrm>
            <a:off x="1000760" y="2896871"/>
            <a:ext cx="4845202"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211C"/>
                </a:solidFill>
                <a:latin typeface="IBM Plex Sans" pitchFamily="34" charset="0"/>
                <a:ea typeface="IBM Plex Sans" pitchFamily="34" charset="-122"/>
                <a:cs typeface="IBM Plex Sans" pitchFamily="34" charset="-120"/>
              </a:rPr>
              <a:t>Driver</a:t>
            </a:r>
            <a:r>
              <a:rPr lang="en-US" sz="1400" dirty="0">
                <a:solidFill>
                  <a:srgbClr val="17211C"/>
                </a:solidFill>
                <a:latin typeface="IBM Plex Sans" pitchFamily="34" charset="0"/>
                <a:ea typeface="IBM Plex Sans" pitchFamily="34" charset="-122"/>
                <a:cs typeface="IBM Plex Sans" pitchFamily="34" charset="-120"/>
              </a:rPr>
              <a:t> · retry queues for software retries</a:t>
            </a:r>
            <a:endParaRPr lang="en-US" sz="1400" dirty="0"/>
          </a:p>
        </p:txBody>
      </p:sp>
      <p:sp>
        <p:nvSpPr>
          <p:cNvPr id="9" name="Shape 7"/>
          <p:cNvSpPr/>
          <p:nvPr/>
        </p:nvSpPr>
        <p:spPr>
          <a:xfrm>
            <a:off x="819150" y="3382014"/>
            <a:ext cx="5067300" cy="501650"/>
          </a:xfrm>
          <a:prstGeom prst="roundRect">
            <a:avLst>
              <a:gd name="adj" fmla="val 13924"/>
            </a:avLst>
          </a:prstGeom>
          <a:solidFill>
            <a:srgbClr val="FFFFFF"/>
          </a:solidFill>
          <a:ln w="12700">
            <a:solidFill>
              <a:srgbClr val="D6E2DA"/>
            </a:solidFill>
            <a:prstDash val="solid"/>
          </a:ln>
        </p:spPr>
        <p:txBody>
          <a:bodyPr/>
          <a:lstStyle/>
          <a:p>
            <a:endParaRPr lang="en-US"/>
          </a:p>
        </p:txBody>
      </p:sp>
      <p:sp>
        <p:nvSpPr>
          <p:cNvPr id="10" name="Text 8"/>
          <p:cNvSpPr/>
          <p:nvPr/>
        </p:nvSpPr>
        <p:spPr>
          <a:xfrm>
            <a:off x="1000760" y="3512821"/>
            <a:ext cx="4845202"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211C"/>
                </a:solidFill>
                <a:latin typeface="IBM Plex Sans" pitchFamily="34" charset="0"/>
                <a:ea typeface="IBM Plex Sans" pitchFamily="34" charset="-122"/>
                <a:cs typeface="IBM Plex Sans" pitchFamily="34" charset="-120"/>
              </a:rPr>
              <a:t>Hardware</a:t>
            </a:r>
            <a:r>
              <a:rPr lang="en-US" sz="1400" dirty="0">
                <a:solidFill>
                  <a:srgbClr val="17211C"/>
                </a:solidFill>
                <a:latin typeface="IBM Plex Sans" pitchFamily="34" charset="0"/>
                <a:ea typeface="IBM Plex Sans" pitchFamily="34" charset="-122"/>
                <a:cs typeface="IBM Plex Sans" pitchFamily="34" charset="-120"/>
              </a:rPr>
              <a:t> · TX FIFO, up to 8 frames</a:t>
            </a:r>
            <a:endParaRPr lang="en-US" sz="1400" dirty="0"/>
          </a:p>
        </p:txBody>
      </p:sp>
      <p:sp>
        <p:nvSpPr>
          <p:cNvPr id="11" name="Text 9"/>
          <p:cNvSpPr/>
          <p:nvPr/>
        </p:nvSpPr>
        <p:spPr>
          <a:xfrm>
            <a:off x="812800" y="3991614"/>
            <a:ext cx="52324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7A4D"/>
                </a:solidFill>
                <a:latin typeface="IBM Plex Sans" pitchFamily="34" charset="0"/>
                <a:ea typeface="IBM Plex Sans" pitchFamily="34" charset="-122"/>
                <a:cs typeface="IBM Plex Sans" pitchFamily="34" charset="-120"/>
              </a:rPr>
              <a:t>Three schedulers, three separate delays</a:t>
            </a:r>
            <a:endParaRPr lang="en-US" sz="1300" dirty="0"/>
          </a:p>
        </p:txBody>
      </p:sp>
      <p:sp>
        <p:nvSpPr>
          <p:cNvPr id="12" name="Text 10"/>
          <p:cNvSpPr/>
          <p:nvPr/>
        </p:nvSpPr>
        <p:spPr>
          <a:xfrm>
            <a:off x="6299200" y="182880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LAW</a:t>
            </a:r>
            <a:endParaRPr lang="en-US" sz="1200" dirty="0"/>
          </a:p>
        </p:txBody>
      </p:sp>
      <p:sp>
        <p:nvSpPr>
          <p:cNvPr id="13" name="Shape 11"/>
          <p:cNvSpPr/>
          <p:nvPr/>
        </p:nvSpPr>
        <p:spPr>
          <a:xfrm>
            <a:off x="6305550" y="2150114"/>
            <a:ext cx="5067300" cy="501650"/>
          </a:xfrm>
          <a:prstGeom prst="roundRect">
            <a:avLst>
              <a:gd name="adj" fmla="val 13924"/>
            </a:avLst>
          </a:prstGeom>
          <a:solidFill>
            <a:srgbClr val="FFFFFF"/>
          </a:solidFill>
          <a:ln w="12700">
            <a:solidFill>
              <a:srgbClr val="D6E2DA"/>
            </a:solidFill>
            <a:prstDash val="dash"/>
          </a:ln>
        </p:spPr>
        <p:txBody>
          <a:bodyPr/>
          <a:lstStyle/>
          <a:p>
            <a:endParaRPr lang="en-US"/>
          </a:p>
        </p:txBody>
      </p:sp>
      <p:sp>
        <p:nvSpPr>
          <p:cNvPr id="14" name="Text 12"/>
          <p:cNvSpPr/>
          <p:nvPr/>
        </p:nvSpPr>
        <p:spPr>
          <a:xfrm>
            <a:off x="6487160" y="2280921"/>
            <a:ext cx="4845202"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5F6B65"/>
                </a:solidFill>
                <a:latin typeface="IBM Plex Sans" pitchFamily="34" charset="0"/>
                <a:ea typeface="IBM Plex Sans" pitchFamily="34" charset="-122"/>
                <a:cs typeface="IBM Plex Sans" pitchFamily="34" charset="-120"/>
              </a:rPr>
              <a:t>MAC</a:t>
            </a:r>
            <a:r>
              <a:rPr lang="en-US" sz="1400" dirty="0">
                <a:solidFill>
                  <a:srgbClr val="5F6B65"/>
                </a:solidFill>
                <a:latin typeface="IBM Plex Sans" pitchFamily="34" charset="0"/>
                <a:ea typeface="IBM Plex Sans" pitchFamily="34" charset="-122"/>
                <a:cs typeface="IBM Plex Sans" pitchFamily="34" charset="-120"/>
              </a:rPr>
              <a:t> · bypassed</a:t>
            </a:r>
            <a:endParaRPr lang="en-US" sz="1400" dirty="0"/>
          </a:p>
        </p:txBody>
      </p:sp>
      <p:sp>
        <p:nvSpPr>
          <p:cNvPr id="15" name="Shape 13"/>
          <p:cNvSpPr/>
          <p:nvPr/>
        </p:nvSpPr>
        <p:spPr>
          <a:xfrm>
            <a:off x="6305550" y="2766064"/>
            <a:ext cx="5067300" cy="741680"/>
          </a:xfrm>
          <a:prstGeom prst="roundRect">
            <a:avLst>
              <a:gd name="adj" fmla="val 9418"/>
            </a:avLst>
          </a:prstGeom>
          <a:solidFill>
            <a:srgbClr val="EAF5EE"/>
          </a:solidFill>
          <a:ln w="12700">
            <a:solidFill>
              <a:srgbClr val="1F7A4D"/>
            </a:solidFill>
            <a:prstDash val="solid"/>
          </a:ln>
        </p:spPr>
        <p:txBody>
          <a:bodyPr/>
          <a:lstStyle/>
          <a:p>
            <a:endParaRPr lang="en-US"/>
          </a:p>
        </p:txBody>
      </p:sp>
      <p:sp>
        <p:nvSpPr>
          <p:cNvPr id="16" name="Text 14"/>
          <p:cNvSpPr/>
          <p:nvPr/>
        </p:nvSpPr>
        <p:spPr>
          <a:xfrm>
            <a:off x="6487160" y="2896871"/>
            <a:ext cx="4845202"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211C"/>
                </a:solidFill>
                <a:latin typeface="IBM Plex Sans" pitchFamily="34" charset="0"/>
                <a:ea typeface="IBM Plex Sans" pitchFamily="34" charset="-122"/>
                <a:cs typeface="IBM Plex Sans" pitchFamily="34" charset="-120"/>
              </a:rPr>
              <a:t>Driver</a:t>
            </a:r>
            <a:r>
              <a:rPr lang="en-US" sz="1400" dirty="0">
                <a:solidFill>
                  <a:srgbClr val="17211C"/>
                </a:solidFill>
                <a:latin typeface="IBM Plex Sans" pitchFamily="34" charset="0"/>
                <a:ea typeface="IBM Plex Sans" pitchFamily="34" charset="-122"/>
                <a:cs typeface="IBM Plex Sans" pitchFamily="34" charset="-120"/>
              </a:rPr>
              <a:t> · the one queue; drop any packet waiting over </a:t>
            </a:r>
            <a:r>
              <a:rPr lang="en-US" sz="1400" b="1" dirty="0">
                <a:solidFill>
                  <a:srgbClr val="17211C"/>
                </a:solidFill>
                <a:latin typeface="IBM Plex Sans" pitchFamily="34" charset="0"/>
                <a:ea typeface="IBM Plex Sans" pitchFamily="34" charset="-122"/>
                <a:cs typeface="IBM Plex Sans" pitchFamily="34" charset="-120"/>
              </a:rPr>
              <a:t>Limit_q</a:t>
            </a:r>
            <a:endParaRPr lang="en-US" sz="1400" dirty="0"/>
          </a:p>
        </p:txBody>
      </p:sp>
      <p:sp>
        <p:nvSpPr>
          <p:cNvPr id="17" name="Shape 15"/>
          <p:cNvSpPr/>
          <p:nvPr/>
        </p:nvSpPr>
        <p:spPr>
          <a:xfrm>
            <a:off x="6305550" y="3622042"/>
            <a:ext cx="5067300" cy="741680"/>
          </a:xfrm>
          <a:prstGeom prst="roundRect">
            <a:avLst>
              <a:gd name="adj" fmla="val 9418"/>
            </a:avLst>
          </a:prstGeom>
          <a:solidFill>
            <a:srgbClr val="EAF5EE"/>
          </a:solidFill>
          <a:ln w="12700">
            <a:solidFill>
              <a:srgbClr val="1F7A4D"/>
            </a:solidFill>
            <a:prstDash val="solid"/>
          </a:ln>
        </p:spPr>
        <p:txBody>
          <a:bodyPr/>
          <a:lstStyle/>
          <a:p>
            <a:endParaRPr lang="en-US"/>
          </a:p>
        </p:txBody>
      </p:sp>
      <p:sp>
        <p:nvSpPr>
          <p:cNvPr id="18" name="Text 16"/>
          <p:cNvSpPr/>
          <p:nvPr/>
        </p:nvSpPr>
        <p:spPr>
          <a:xfrm>
            <a:off x="6487160" y="3752850"/>
            <a:ext cx="4845202"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7211C"/>
                </a:solidFill>
                <a:latin typeface="IBM Plex Sans" pitchFamily="34" charset="0"/>
                <a:ea typeface="IBM Plex Sans" pitchFamily="34" charset="-122"/>
                <a:cs typeface="IBM Plex Sans" pitchFamily="34" charset="-120"/>
              </a:rPr>
              <a:t>Hardware</a:t>
            </a:r>
            <a:r>
              <a:rPr lang="en-US" sz="1400" dirty="0">
                <a:solidFill>
                  <a:srgbClr val="17211C"/>
                </a:solidFill>
                <a:latin typeface="IBM Plex Sans" pitchFamily="34" charset="0"/>
                <a:ea typeface="IBM Plex Sans" pitchFamily="34" charset="-122"/>
                <a:cs typeface="IBM Plex Sans" pitchFamily="34" charset="-120"/>
              </a:rPr>
              <a:t> · at most 2 frames, one sending and one ready; each stops after </a:t>
            </a:r>
            <a:r>
              <a:rPr lang="en-US" sz="1400" b="1" dirty="0">
                <a:solidFill>
                  <a:srgbClr val="17211C"/>
                </a:solidFill>
                <a:latin typeface="IBM Plex Sans" pitchFamily="34" charset="0"/>
                <a:ea typeface="IBM Plex Sans" pitchFamily="34" charset="-122"/>
                <a:cs typeface="IBM Plex Sans" pitchFamily="34" charset="-120"/>
              </a:rPr>
              <a:t>Limit_h</a:t>
            </a:r>
            <a:endParaRPr lang="en-US" sz="1400" dirty="0"/>
          </a:p>
        </p:txBody>
      </p:sp>
      <p:sp>
        <p:nvSpPr>
          <p:cNvPr id="19" name="Text 17"/>
          <p:cNvSpPr/>
          <p:nvPr/>
        </p:nvSpPr>
        <p:spPr>
          <a:xfrm>
            <a:off x="6299200" y="4471671"/>
            <a:ext cx="52324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7A4D"/>
                </a:solidFill>
                <a:latin typeface="IBM Plex Sans" pitchFamily="34" charset="0"/>
                <a:ea typeface="IBM Plex Sans" pitchFamily="34" charset="-122"/>
                <a:cs typeface="IBM Plex Sans" pitchFamily="34" charset="-120"/>
              </a:rPr>
              <a:t>A failed frame gets one software retry, straight back to hardware</a:t>
            </a:r>
            <a:endParaRPr lang="en-US" sz="1300" dirty="0"/>
          </a:p>
        </p:txBody>
      </p:sp>
      <p:sp>
        <p:nvSpPr>
          <p:cNvPr id="20" name="Shape 18"/>
          <p:cNvSpPr/>
          <p:nvPr/>
        </p:nvSpPr>
        <p:spPr>
          <a:xfrm>
            <a:off x="812800" y="4956814"/>
            <a:ext cx="10566400" cy="762000"/>
          </a:xfrm>
          <a:prstGeom prst="roundRect">
            <a:avLst>
              <a:gd name="adj" fmla="val 13333"/>
            </a:avLst>
          </a:prstGeom>
          <a:solidFill>
            <a:srgbClr val="0F3B2A"/>
          </a:solidFill>
          <a:ln/>
        </p:spPr>
        <p:txBody>
          <a:bodyPr/>
          <a:lstStyle/>
          <a:p>
            <a:endParaRPr lang="en-US"/>
          </a:p>
        </p:txBody>
      </p:sp>
      <p:sp>
        <p:nvSpPr>
          <p:cNvPr id="21" name="Text 19"/>
          <p:cNvSpPr/>
          <p:nvPr/>
        </p:nvSpPr>
        <p:spPr>
          <a:xfrm>
            <a:off x="1117600" y="5204464"/>
            <a:ext cx="2662065"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8E8DF"/>
                </a:solidFill>
                <a:latin typeface="IBM Plex Sans" pitchFamily="34" charset="0"/>
                <a:ea typeface="IBM Plex Sans" pitchFamily="34" charset="-122"/>
                <a:cs typeface="IBM Plex Sans" pitchFamily="34" charset="-120"/>
              </a:rPr>
              <a:t>Every packet's link-layer delay</a:t>
            </a:r>
            <a:endParaRPr lang="en-US" sz="1500" dirty="0"/>
          </a:p>
        </p:txBody>
      </p:sp>
      <p:sp>
        <p:nvSpPr>
          <p:cNvPr id="22" name="Text 20"/>
          <p:cNvSpPr/>
          <p:nvPr/>
        </p:nvSpPr>
        <p:spPr>
          <a:xfrm>
            <a:off x="4686300" y="5160014"/>
            <a:ext cx="6579743"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FFFFFF"/>
                </a:solidFill>
                <a:latin typeface="IBM Plex Mono" pitchFamily="34" charset="0"/>
                <a:ea typeface="IBM Plex Mono" pitchFamily="34" charset="-122"/>
                <a:cs typeface="IBM Plex Mono" pitchFamily="34" charset="-120"/>
              </a:rPr>
              <a:t>≤ Limit_q + 2 × Limit_h = 40 + 2×3 = </a:t>
            </a:r>
            <a:r>
              <a:rPr lang="en-US" sz="2000" dirty="0">
                <a:solidFill>
                  <a:srgbClr val="C3EAD3"/>
                </a:solidFill>
                <a:latin typeface="IBM Plex Mono" pitchFamily="34" charset="0"/>
                <a:ea typeface="IBM Plex Mono" pitchFamily="34" charset="-122"/>
                <a:cs typeface="IBM Plex Mono" pitchFamily="34" charset="-120"/>
              </a:rPr>
              <a:t>46 ms</a:t>
            </a:r>
            <a:endParaRPr lang="en-US" sz="20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10 · Paper 3.3, Fig. 12 · 40 ms / 3 ms are the evaluation defaults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WHY ONE BOUND BEATS THREE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Per-layer budgets drop packets that would have made it</a:t>
            </a:r>
            <a:endParaRPr lang="en-US" sz="3200" dirty="0"/>
          </a:p>
        </p:txBody>
      </p:sp>
      <p:sp>
        <p:nvSpPr>
          <p:cNvPr id="4" name="Shape 2"/>
          <p:cNvSpPr/>
          <p:nvPr/>
        </p:nvSpPr>
        <p:spPr>
          <a:xfrm>
            <a:off x="812800" y="1879600"/>
            <a:ext cx="5130800" cy="2979420"/>
          </a:xfrm>
          <a:prstGeom prst="roundRect">
            <a:avLst>
              <a:gd name="adj" fmla="val 3410"/>
            </a:avLst>
          </a:prstGeom>
          <a:solidFill>
            <a:srgbClr val="FFFFFF"/>
          </a:solidFill>
          <a:ln/>
        </p:spPr>
        <p:txBody>
          <a:bodyPr/>
          <a:lstStyle/>
          <a:p>
            <a:endParaRPr lang="en-US"/>
          </a:p>
        </p:txBody>
      </p:sp>
      <p:sp>
        <p:nvSpPr>
          <p:cNvPr id="5" name="Text 3"/>
          <p:cNvSpPr/>
          <p:nvPr/>
        </p:nvSpPr>
        <p:spPr>
          <a:xfrm>
            <a:off x="1117600" y="2184400"/>
            <a:ext cx="46568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1C"/>
                </a:solidFill>
                <a:latin typeface="IBM Plex Sans" pitchFamily="34" charset="0"/>
                <a:ea typeface="IBM Plex Sans" pitchFamily="34" charset="-122"/>
                <a:cs typeface="IBM Plex Sans" pitchFamily="34" charset="-120"/>
              </a:rPr>
              <a:t>Three budgets of 10 ms each</a:t>
            </a:r>
            <a:endParaRPr lang="en-US" sz="1600" dirty="0"/>
          </a:p>
        </p:txBody>
      </p:sp>
      <p:sp>
        <p:nvSpPr>
          <p:cNvPr id="6" name="Text 4"/>
          <p:cNvSpPr/>
          <p:nvPr/>
        </p:nvSpPr>
        <p:spPr>
          <a:xfrm>
            <a:off x="1117600" y="2592071"/>
            <a:ext cx="1193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11C"/>
                </a:solidFill>
                <a:latin typeface="IBM Plex Sans" pitchFamily="34" charset="0"/>
                <a:ea typeface="IBM Plex Sans" pitchFamily="34" charset="-122"/>
                <a:cs typeface="IBM Plex Sans" pitchFamily="34" charset="-120"/>
              </a:rPr>
              <a:t>Flow queue</a:t>
            </a:r>
            <a:endParaRPr lang="en-US" sz="1300" dirty="0"/>
          </a:p>
        </p:txBody>
      </p:sp>
      <p:sp>
        <p:nvSpPr>
          <p:cNvPr id="7" name="Shape 5"/>
          <p:cNvSpPr/>
          <p:nvPr/>
        </p:nvSpPr>
        <p:spPr>
          <a:xfrm>
            <a:off x="2387600" y="2580642"/>
            <a:ext cx="1524000" cy="254000"/>
          </a:xfrm>
          <a:prstGeom prst="roundRect">
            <a:avLst>
              <a:gd name="adj" fmla="val 15000"/>
            </a:avLst>
          </a:prstGeom>
          <a:solidFill>
            <a:srgbClr val="17211C"/>
          </a:solidFill>
          <a:ln/>
        </p:spPr>
        <p:txBody>
          <a:bodyPr/>
          <a:lstStyle/>
          <a:p>
            <a:endParaRPr lang="en-US"/>
          </a:p>
        </p:txBody>
      </p:sp>
      <p:sp>
        <p:nvSpPr>
          <p:cNvPr id="8" name="Text 6"/>
          <p:cNvSpPr/>
          <p:nvPr/>
        </p:nvSpPr>
        <p:spPr>
          <a:xfrm>
            <a:off x="4038600" y="2592071"/>
            <a:ext cx="10414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11C"/>
                </a:solidFill>
                <a:latin typeface="IBM Plex Mono" pitchFamily="34" charset="0"/>
                <a:ea typeface="IBM Plex Mono" pitchFamily="34" charset="-122"/>
                <a:cs typeface="IBM Plex Mono" pitchFamily="34" charset="-120"/>
              </a:rPr>
              <a:t>12 ms &gt; 10</a:t>
            </a:r>
            <a:endParaRPr lang="en-US" sz="1300" dirty="0"/>
          </a:p>
        </p:txBody>
      </p:sp>
      <p:sp>
        <p:nvSpPr>
          <p:cNvPr id="9" name="Text 7"/>
          <p:cNvSpPr/>
          <p:nvPr/>
        </p:nvSpPr>
        <p:spPr>
          <a:xfrm>
            <a:off x="1117600" y="2998471"/>
            <a:ext cx="1193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11C"/>
                </a:solidFill>
                <a:latin typeface="IBM Plex Sans" pitchFamily="34" charset="0"/>
                <a:ea typeface="IBM Plex Sans" pitchFamily="34" charset="-122"/>
                <a:cs typeface="IBM Plex Sans" pitchFamily="34" charset="-120"/>
              </a:rPr>
              <a:t>Driver</a:t>
            </a:r>
            <a:endParaRPr lang="en-US" sz="1300" dirty="0"/>
          </a:p>
        </p:txBody>
      </p:sp>
      <p:sp>
        <p:nvSpPr>
          <p:cNvPr id="10" name="Shape 8"/>
          <p:cNvSpPr/>
          <p:nvPr/>
        </p:nvSpPr>
        <p:spPr>
          <a:xfrm>
            <a:off x="2387600" y="2987042"/>
            <a:ext cx="508000" cy="254000"/>
          </a:xfrm>
          <a:prstGeom prst="roundRect">
            <a:avLst>
              <a:gd name="adj" fmla="val 15000"/>
            </a:avLst>
          </a:prstGeom>
          <a:solidFill>
            <a:srgbClr val="B5BFBA"/>
          </a:solidFill>
          <a:ln/>
        </p:spPr>
        <p:txBody>
          <a:bodyPr/>
          <a:lstStyle/>
          <a:p>
            <a:endParaRPr lang="en-US"/>
          </a:p>
        </p:txBody>
      </p:sp>
      <p:sp>
        <p:nvSpPr>
          <p:cNvPr id="11" name="Text 9"/>
          <p:cNvSpPr/>
          <p:nvPr/>
        </p:nvSpPr>
        <p:spPr>
          <a:xfrm>
            <a:off x="3022600" y="2998471"/>
            <a:ext cx="4470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F6B65"/>
                </a:solidFill>
                <a:latin typeface="IBM Plex Mono" pitchFamily="34" charset="0"/>
                <a:ea typeface="IBM Plex Mono" pitchFamily="34" charset="-122"/>
                <a:cs typeface="IBM Plex Mono" pitchFamily="34" charset="-120"/>
              </a:rPr>
              <a:t>4 ms</a:t>
            </a:r>
            <a:endParaRPr lang="en-US" sz="1300" dirty="0"/>
          </a:p>
        </p:txBody>
      </p:sp>
      <p:sp>
        <p:nvSpPr>
          <p:cNvPr id="12" name="Text 10"/>
          <p:cNvSpPr/>
          <p:nvPr/>
        </p:nvSpPr>
        <p:spPr>
          <a:xfrm>
            <a:off x="1117600" y="3404871"/>
            <a:ext cx="11938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11C"/>
                </a:solidFill>
                <a:latin typeface="IBM Plex Sans" pitchFamily="34" charset="0"/>
                <a:ea typeface="IBM Plex Sans" pitchFamily="34" charset="-122"/>
                <a:cs typeface="IBM Plex Sans" pitchFamily="34" charset="-120"/>
              </a:rPr>
              <a:t>Hardware</a:t>
            </a:r>
            <a:endParaRPr lang="en-US" sz="1300" dirty="0"/>
          </a:p>
        </p:txBody>
      </p:sp>
      <p:sp>
        <p:nvSpPr>
          <p:cNvPr id="13" name="Shape 11"/>
          <p:cNvSpPr/>
          <p:nvPr/>
        </p:nvSpPr>
        <p:spPr>
          <a:xfrm>
            <a:off x="2387600" y="3393442"/>
            <a:ext cx="508000" cy="254000"/>
          </a:xfrm>
          <a:prstGeom prst="roundRect">
            <a:avLst>
              <a:gd name="adj" fmla="val 15000"/>
            </a:avLst>
          </a:prstGeom>
          <a:solidFill>
            <a:srgbClr val="B5BFBA"/>
          </a:solidFill>
          <a:ln/>
        </p:spPr>
        <p:txBody>
          <a:bodyPr/>
          <a:lstStyle/>
          <a:p>
            <a:endParaRPr lang="en-US"/>
          </a:p>
        </p:txBody>
      </p:sp>
      <p:sp>
        <p:nvSpPr>
          <p:cNvPr id="14" name="Text 12"/>
          <p:cNvSpPr/>
          <p:nvPr/>
        </p:nvSpPr>
        <p:spPr>
          <a:xfrm>
            <a:off x="3022600" y="3404871"/>
            <a:ext cx="4470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F6B65"/>
                </a:solidFill>
                <a:latin typeface="IBM Plex Mono" pitchFamily="34" charset="0"/>
                <a:ea typeface="IBM Plex Mono" pitchFamily="34" charset="-122"/>
                <a:cs typeface="IBM Plex Mono" pitchFamily="34" charset="-120"/>
              </a:rPr>
              <a:t>4 ms</a:t>
            </a:r>
            <a:endParaRPr lang="en-US" sz="1300" dirty="0"/>
          </a:p>
        </p:txBody>
      </p:sp>
      <p:sp>
        <p:nvSpPr>
          <p:cNvPr id="15" name="Text 13"/>
          <p:cNvSpPr/>
          <p:nvPr/>
        </p:nvSpPr>
        <p:spPr>
          <a:xfrm>
            <a:off x="1117600" y="3799842"/>
            <a:ext cx="465683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211C"/>
                </a:solidFill>
                <a:latin typeface="IBM Plex Sans" pitchFamily="34" charset="0"/>
                <a:ea typeface="IBM Plex Sans" pitchFamily="34" charset="-122"/>
                <a:cs typeface="IBM Plex Sans" pitchFamily="34" charset="-120"/>
              </a:rPr>
              <a:t>Dropped, at 20 ms total</a:t>
            </a:r>
            <a:endParaRPr lang="en-US" sz="1600" dirty="0"/>
          </a:p>
        </p:txBody>
      </p:sp>
      <p:sp>
        <p:nvSpPr>
          <p:cNvPr id="16" name="Shape 14"/>
          <p:cNvSpPr/>
          <p:nvPr/>
        </p:nvSpPr>
        <p:spPr>
          <a:xfrm>
            <a:off x="6248400" y="1879600"/>
            <a:ext cx="5130800" cy="2979420"/>
          </a:xfrm>
          <a:prstGeom prst="roundRect">
            <a:avLst>
              <a:gd name="adj" fmla="val 3410"/>
            </a:avLst>
          </a:prstGeom>
          <a:solidFill>
            <a:srgbClr val="FFFFFF"/>
          </a:solidFill>
          <a:ln/>
        </p:spPr>
        <p:txBody>
          <a:bodyPr/>
          <a:lstStyle/>
          <a:p>
            <a:endParaRPr lang="en-US"/>
          </a:p>
        </p:txBody>
      </p:sp>
      <p:sp>
        <p:nvSpPr>
          <p:cNvPr id="17" name="Text 15"/>
          <p:cNvSpPr/>
          <p:nvPr/>
        </p:nvSpPr>
        <p:spPr>
          <a:xfrm>
            <a:off x="6553200" y="2184400"/>
            <a:ext cx="46568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1C"/>
                </a:solidFill>
                <a:latin typeface="IBM Plex Sans" pitchFamily="34" charset="0"/>
                <a:ea typeface="IBM Plex Sans" pitchFamily="34" charset="-122"/>
                <a:cs typeface="IBM Plex Sans" pitchFamily="34" charset="-120"/>
              </a:rPr>
              <a:t>One budget of 30 ms</a:t>
            </a:r>
            <a:endParaRPr lang="en-US" sz="1600" dirty="0"/>
          </a:p>
        </p:txBody>
      </p:sp>
      <p:sp>
        <p:nvSpPr>
          <p:cNvPr id="18" name="Shape 16"/>
          <p:cNvSpPr/>
          <p:nvPr/>
        </p:nvSpPr>
        <p:spPr>
          <a:xfrm>
            <a:off x="6553200" y="2580642"/>
            <a:ext cx="3810000" cy="254000"/>
          </a:xfrm>
          <a:prstGeom prst="roundRect">
            <a:avLst>
              <a:gd name="adj" fmla="val 15000"/>
            </a:avLst>
          </a:prstGeom>
          <a:solidFill>
            <a:srgbClr val="EDF3EF"/>
          </a:solidFill>
          <a:ln/>
        </p:spPr>
        <p:txBody>
          <a:bodyPr/>
          <a:lstStyle/>
          <a:p>
            <a:endParaRPr lang="en-US"/>
          </a:p>
        </p:txBody>
      </p:sp>
      <p:sp>
        <p:nvSpPr>
          <p:cNvPr id="19" name="Shape 17"/>
          <p:cNvSpPr/>
          <p:nvPr/>
        </p:nvSpPr>
        <p:spPr>
          <a:xfrm>
            <a:off x="6553200" y="2580642"/>
            <a:ext cx="1524000" cy="254000"/>
          </a:xfrm>
          <a:custGeom>
            <a:avLst/>
            <a:gdLst/>
            <a:ahLst/>
            <a:cxnLst/>
            <a:rect l="l" t="t" r="r" b="b"/>
            <a:pathLst>
              <a:path w="1524000" h="254000">
                <a:moveTo>
                  <a:pt x="38100" y="0"/>
                </a:moveTo>
                <a:lnTo>
                  <a:pt x="1524000" y="0"/>
                </a:lnTo>
                <a:lnTo>
                  <a:pt x="1524000" y="254000"/>
                </a:lnTo>
                <a:lnTo>
                  <a:pt x="38100" y="254000"/>
                </a:lnTo>
                <a:arcTo wR="38100" hR="38100" stAng="5400000" swAng="5400000"/>
                <a:lnTo>
                  <a:pt x="0" y="38100"/>
                </a:lnTo>
                <a:arcTo wR="38100" hR="38100" stAng="10800000" swAng="5400000"/>
                <a:close/>
              </a:path>
            </a:pathLst>
          </a:custGeom>
          <a:solidFill>
            <a:srgbClr val="1F7A4D"/>
          </a:solidFill>
          <a:ln/>
        </p:spPr>
        <p:txBody>
          <a:bodyPr/>
          <a:lstStyle/>
          <a:p>
            <a:endParaRPr lang="en-US"/>
          </a:p>
        </p:txBody>
      </p:sp>
      <p:sp>
        <p:nvSpPr>
          <p:cNvPr id="20" name="Shape 18"/>
          <p:cNvSpPr/>
          <p:nvPr/>
        </p:nvSpPr>
        <p:spPr>
          <a:xfrm>
            <a:off x="8077200" y="2580642"/>
            <a:ext cx="508000" cy="254000"/>
          </a:xfrm>
          <a:prstGeom prst="rect">
            <a:avLst/>
          </a:prstGeom>
          <a:solidFill>
            <a:srgbClr val="4F9A73"/>
          </a:solidFill>
          <a:ln/>
        </p:spPr>
        <p:txBody>
          <a:bodyPr/>
          <a:lstStyle/>
          <a:p>
            <a:endParaRPr lang="en-US"/>
          </a:p>
        </p:txBody>
      </p:sp>
      <p:sp>
        <p:nvSpPr>
          <p:cNvPr id="21" name="Shape 19"/>
          <p:cNvSpPr/>
          <p:nvPr/>
        </p:nvSpPr>
        <p:spPr>
          <a:xfrm>
            <a:off x="8585200" y="2580642"/>
            <a:ext cx="508000" cy="254000"/>
          </a:xfrm>
          <a:prstGeom prst="rect">
            <a:avLst/>
          </a:prstGeom>
          <a:solidFill>
            <a:srgbClr val="8CC5A5"/>
          </a:solidFill>
          <a:ln/>
        </p:spPr>
        <p:txBody>
          <a:bodyPr/>
          <a:lstStyle/>
          <a:p>
            <a:endParaRPr lang="en-US"/>
          </a:p>
        </p:txBody>
      </p:sp>
      <p:sp>
        <p:nvSpPr>
          <p:cNvPr id="22" name="Text 20"/>
          <p:cNvSpPr/>
          <p:nvPr/>
        </p:nvSpPr>
        <p:spPr>
          <a:xfrm>
            <a:off x="6553200" y="2987042"/>
            <a:ext cx="465683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F6B65"/>
                </a:solidFill>
                <a:latin typeface="IBM Plex Mono" pitchFamily="34" charset="0"/>
                <a:ea typeface="IBM Plex Mono" pitchFamily="34" charset="-122"/>
                <a:cs typeface="IBM Plex Mono" pitchFamily="34" charset="-120"/>
              </a:rPr>
              <a:t>12 + 4 + 4 = 20 ms of 30</a:t>
            </a:r>
            <a:endParaRPr lang="en-US" sz="1300" dirty="0"/>
          </a:p>
        </p:txBody>
      </p:sp>
      <p:sp>
        <p:nvSpPr>
          <p:cNvPr id="23" name="Text 21"/>
          <p:cNvSpPr/>
          <p:nvPr/>
        </p:nvSpPr>
        <p:spPr>
          <a:xfrm>
            <a:off x="6553200" y="3370579"/>
            <a:ext cx="465683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Delays in separate layers rarely peak together, so their sum bunches near the median and fewer packets cross a single bound.</a:t>
            </a:r>
            <a:endParaRPr lang="en-US" sz="1400" dirty="0"/>
          </a:p>
        </p:txBody>
      </p:sp>
      <p:sp>
        <p:nvSpPr>
          <p:cNvPr id="24" name="Text 22"/>
          <p:cNvSpPr/>
          <p:nvPr/>
        </p:nvSpPr>
        <p:spPr>
          <a:xfrm>
            <a:off x="6553200" y="4269742"/>
            <a:ext cx="465683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7A4D"/>
                </a:solidFill>
                <a:latin typeface="IBM Plex Sans" pitchFamily="34" charset="0"/>
                <a:ea typeface="IBM Plex Sans" pitchFamily="34" charset="-122"/>
                <a:cs typeface="IBM Plex Sans" pitchFamily="34" charset="-120"/>
              </a:rPr>
              <a:t>Delivered</a:t>
            </a:r>
            <a:endParaRPr lang="en-US" sz="16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11 · Paper Fig. 13–14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LAW, PART 2 · RATE AND RETRY CONTROL</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Rate and retries, decided for every transmission</a:t>
            </a:r>
            <a:endParaRPr lang="en-US" sz="3200" dirty="0"/>
          </a:p>
        </p:txBody>
      </p:sp>
      <p:pic>
        <p:nvPicPr>
          <p:cNvPr id="4" name="Image 0" descr="State machine with three states. Stable moves to Probing after a streak of successes and tries a higher rate; Probing returns to Stable, keeping the rate if faster or reverting. Stable moves to Cleanup when a packet exceeds Limit_q or the queue exceeds Len_max; Cleanup returns to Stable when the queue is back under Len_max, restoring the previous rate."/>
          <p:cNvPicPr>
            <a:picLocks noChangeAspect="1"/>
          </p:cNvPicPr>
          <p:nvPr/>
        </p:nvPicPr>
        <p:blipFill>
          <a:blip r:embed="rId3"/>
          <a:srcRect t="-55" b="-55"/>
          <a:stretch/>
        </p:blipFill>
        <p:spPr>
          <a:xfrm>
            <a:off x="812800" y="1778000"/>
            <a:ext cx="10566400" cy="2159000"/>
          </a:xfrm>
          <a:prstGeom prst="rect">
            <a:avLst/>
          </a:prstGeom>
        </p:spPr>
      </p:pic>
      <p:sp>
        <p:nvSpPr>
          <p:cNvPr id="5" name="Shape 2"/>
          <p:cNvSpPr/>
          <p:nvPr/>
        </p:nvSpPr>
        <p:spPr>
          <a:xfrm>
            <a:off x="815975" y="4143375"/>
            <a:ext cx="3414157" cy="1339850"/>
          </a:xfrm>
          <a:prstGeom prst="roundRect">
            <a:avLst>
              <a:gd name="adj" fmla="val 7346"/>
            </a:avLst>
          </a:prstGeom>
          <a:solidFill>
            <a:srgbClr val="FFFFFF"/>
          </a:solidFill>
          <a:ln w="6350">
            <a:solidFill>
              <a:srgbClr val="E3EBE6"/>
            </a:solidFill>
            <a:prstDash val="solid"/>
          </a:ln>
        </p:spPr>
        <p:txBody>
          <a:bodyPr/>
          <a:lstStyle/>
          <a:p>
            <a:endParaRPr lang="en-US"/>
          </a:p>
        </p:txBody>
      </p:sp>
      <p:sp>
        <p:nvSpPr>
          <p:cNvPr id="6" name="Text 3"/>
          <p:cNvSpPr/>
          <p:nvPr/>
        </p:nvSpPr>
        <p:spPr>
          <a:xfrm>
            <a:off x="1021080" y="4348479"/>
            <a:ext cx="3094065"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7A4D"/>
                </a:solidFill>
                <a:latin typeface="IBM Plex Sans" pitchFamily="34" charset="0"/>
                <a:ea typeface="IBM Plex Sans" pitchFamily="34" charset="-122"/>
                <a:cs typeface="IBM Plex Sans" pitchFamily="34" charset="-120"/>
              </a:rPr>
              <a:t>Inside Cleanup</a:t>
            </a:r>
            <a:endParaRPr lang="en-US" sz="1400" dirty="0"/>
          </a:p>
        </p:txBody>
      </p:sp>
      <p:sp>
        <p:nvSpPr>
          <p:cNvPr id="7" name="Text 4"/>
          <p:cNvSpPr/>
          <p:nvPr/>
        </p:nvSpPr>
        <p:spPr>
          <a:xfrm>
            <a:off x="1021080" y="4638042"/>
            <a:ext cx="309406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843"/>
                </a:solidFill>
                <a:latin typeface="IBM Plex Sans" pitchFamily="34" charset="0"/>
                <a:ea typeface="IBM Plex Sans" pitchFamily="34" charset="-122"/>
                <a:cs typeface="IBM Plex Sans" pitchFamily="34" charset="-120"/>
              </a:rPr>
              <a:t>No software retries, at most 2 hardware tries, and two drops in a row lower the rate one step.</a:t>
            </a:r>
            <a:endParaRPr lang="en-US" sz="1200" dirty="0"/>
          </a:p>
        </p:txBody>
      </p:sp>
      <p:sp>
        <p:nvSpPr>
          <p:cNvPr id="8" name="Shape 5"/>
          <p:cNvSpPr/>
          <p:nvPr/>
        </p:nvSpPr>
        <p:spPr>
          <a:xfrm>
            <a:off x="4388882" y="4143375"/>
            <a:ext cx="3414236" cy="1339850"/>
          </a:xfrm>
          <a:prstGeom prst="roundRect">
            <a:avLst>
              <a:gd name="adj" fmla="val 7346"/>
            </a:avLst>
          </a:prstGeom>
          <a:solidFill>
            <a:srgbClr val="FFFFFF"/>
          </a:solidFill>
          <a:ln w="6350">
            <a:solidFill>
              <a:srgbClr val="E3EBE6"/>
            </a:solidFill>
            <a:prstDash val="solid"/>
          </a:ln>
        </p:spPr>
        <p:txBody>
          <a:bodyPr/>
          <a:lstStyle/>
          <a:p>
            <a:endParaRPr lang="en-US"/>
          </a:p>
        </p:txBody>
      </p:sp>
      <p:sp>
        <p:nvSpPr>
          <p:cNvPr id="9" name="Text 6"/>
          <p:cNvSpPr/>
          <p:nvPr/>
        </p:nvSpPr>
        <p:spPr>
          <a:xfrm>
            <a:off x="4593987" y="4348479"/>
            <a:ext cx="3094147"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7A4D"/>
                </a:solidFill>
                <a:latin typeface="IBM Plex Sans" pitchFamily="34" charset="0"/>
                <a:ea typeface="IBM Plex Sans" pitchFamily="34" charset="-122"/>
                <a:cs typeface="IBM Plex Sans" pitchFamily="34" charset="-120"/>
              </a:rPr>
              <a:t>Loss-pattern guard</a:t>
            </a:r>
            <a:endParaRPr lang="en-US" sz="1400" dirty="0"/>
          </a:p>
        </p:txBody>
      </p:sp>
      <p:sp>
        <p:nvSpPr>
          <p:cNvPr id="10" name="Text 7"/>
          <p:cNvSpPr/>
          <p:nvPr/>
        </p:nvSpPr>
        <p:spPr>
          <a:xfrm>
            <a:off x="4593987" y="4638042"/>
            <a:ext cx="3094147"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843"/>
                </a:solidFill>
                <a:latin typeface="IBM Plex Sans" pitchFamily="34" charset="0"/>
                <a:ea typeface="IBM Plex Sans" pitchFamily="34" charset="-122"/>
                <a:cs typeface="IBM Plex Sans" pitchFamily="34" charset="-120"/>
              </a:rPr>
              <a:t>After three losses in a row, the next packet gets one extra retry, keeping losses spread out for FEC.</a:t>
            </a:r>
            <a:endParaRPr lang="en-US" sz="1200" dirty="0"/>
          </a:p>
        </p:txBody>
      </p:sp>
      <p:sp>
        <p:nvSpPr>
          <p:cNvPr id="11" name="Shape 8"/>
          <p:cNvSpPr/>
          <p:nvPr/>
        </p:nvSpPr>
        <p:spPr>
          <a:xfrm>
            <a:off x="7961868" y="4143375"/>
            <a:ext cx="3414157" cy="1339850"/>
          </a:xfrm>
          <a:prstGeom prst="roundRect">
            <a:avLst>
              <a:gd name="adj" fmla="val 7346"/>
            </a:avLst>
          </a:prstGeom>
          <a:solidFill>
            <a:srgbClr val="FFFFFF"/>
          </a:solidFill>
          <a:ln w="6350">
            <a:solidFill>
              <a:srgbClr val="E3EBE6"/>
            </a:solidFill>
            <a:prstDash val="solid"/>
          </a:ln>
        </p:spPr>
        <p:txBody>
          <a:bodyPr/>
          <a:lstStyle/>
          <a:p>
            <a:endParaRPr lang="en-US"/>
          </a:p>
        </p:txBody>
      </p:sp>
      <p:sp>
        <p:nvSpPr>
          <p:cNvPr id="12" name="Text 9"/>
          <p:cNvSpPr/>
          <p:nvPr/>
        </p:nvSpPr>
        <p:spPr>
          <a:xfrm>
            <a:off x="8166974" y="4348479"/>
            <a:ext cx="3094065" cy="23876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17211C"/>
                </a:solidFill>
                <a:latin typeface="IBM Plex Mono" pitchFamily="34" charset="0"/>
                <a:ea typeface="IBM Plex Mono" pitchFamily="34" charset="-122"/>
                <a:cs typeface="IBM Plex Mono" pitchFamily="34" charset="-120"/>
              </a:rPr>
              <a:t>Len_max = Limit_q·S_n / T_n</a:t>
            </a:r>
            <a:endParaRPr lang="en-US" sz="1400" dirty="0"/>
          </a:p>
        </p:txBody>
      </p:sp>
      <p:sp>
        <p:nvSpPr>
          <p:cNvPr id="13" name="Text 10"/>
          <p:cNvSpPr/>
          <p:nvPr/>
        </p:nvSpPr>
        <p:spPr>
          <a:xfrm>
            <a:off x="8166974" y="4638042"/>
            <a:ext cx="309406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843"/>
                </a:solidFill>
                <a:latin typeface="IBM Plex Sans" pitchFamily="34" charset="0"/>
                <a:ea typeface="IBM Plex Sans" pitchFamily="34" charset="-122"/>
                <a:cs typeface="IBM Plex Sans" pitchFamily="34" charset="-120"/>
              </a:rPr>
              <a:t>Packets the link can clear within the bound, from running averages of success rate and airtime.</a:t>
            </a:r>
            <a:endParaRPr lang="en-US" sz="12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12 · Paper 3.4, Fig. 15, Algorithm 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RESULTS · PACKET LEVEL</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The tail gets cut off, (@&lt;1% loss)</a:t>
            </a:r>
            <a:endParaRPr lang="en-US" sz="3200" dirty="0"/>
          </a:p>
        </p:txBody>
      </p:sp>
      <p:sp>
        <p:nvSpPr>
          <p:cNvPr id="4" name="Text 2"/>
          <p:cNvSpPr/>
          <p:nvPr/>
        </p:nvSpPr>
        <p:spPr>
          <a:xfrm>
            <a:off x="812800" y="1879600"/>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OpenWiFi on a software-defined radio (802.11n, 20 MHz, one antenna) · 10 Mbps UDP · runs of 10+ minutes · vs Minstrel, LLRA and Thompson sampling</a:t>
            </a:r>
            <a:endParaRPr lang="en-US" sz="1400" dirty="0"/>
          </a:p>
        </p:txBody>
      </p:sp>
      <p:sp>
        <p:nvSpPr>
          <p:cNvPr id="5" name="Shape 3"/>
          <p:cNvSpPr/>
          <p:nvPr/>
        </p:nvSpPr>
        <p:spPr>
          <a:xfrm>
            <a:off x="812800" y="2694942"/>
            <a:ext cx="3386614" cy="0"/>
          </a:xfrm>
          <a:prstGeom prst="line">
            <a:avLst/>
          </a:prstGeom>
          <a:noFill/>
          <a:ln w="25400">
            <a:solidFill>
              <a:srgbClr val="1F7A4D"/>
            </a:solidFill>
            <a:prstDash val="solid"/>
          </a:ln>
        </p:spPr>
        <p:txBody>
          <a:bodyPr/>
          <a:lstStyle/>
          <a:p>
            <a:endParaRPr lang="en-US"/>
          </a:p>
        </p:txBody>
      </p:sp>
      <p:sp>
        <p:nvSpPr>
          <p:cNvPr id="6" name="Text 4"/>
          <p:cNvSpPr/>
          <p:nvPr/>
        </p:nvSpPr>
        <p:spPr>
          <a:xfrm>
            <a:off x="812800" y="2961642"/>
            <a:ext cx="3488212" cy="685800"/>
          </a:xfrm>
          <a:prstGeom prst="rect">
            <a:avLst/>
          </a:prstGeom>
          <a:noFill/>
          <a:ln/>
        </p:spPr>
        <p:txBody>
          <a:bodyPr wrap="square" lIns="0" tIns="0" rIns="0" bIns="0" rtlCol="0" anchor="t">
            <a:normAutofit/>
          </a:bodyPr>
          <a:lstStyle/>
          <a:p>
            <a:pPr marL="0" indent="0" algn="l">
              <a:lnSpc>
                <a:spcPts val="5200"/>
              </a:lnSpc>
              <a:buNone/>
            </a:pPr>
            <a:r>
              <a:rPr lang="en-US" sz="5200" dirty="0">
                <a:solidFill>
                  <a:srgbClr val="1F7A4D"/>
                </a:solidFill>
                <a:latin typeface="IBM Plex Mono" pitchFamily="34" charset="0"/>
                <a:ea typeface="IBM Plex Mono" pitchFamily="34" charset="-122"/>
                <a:cs typeface="IBM Plex Mono" pitchFamily="34" charset="-120"/>
              </a:rPr>
              <a:t>75–83%</a:t>
            </a:r>
            <a:endParaRPr lang="en-US" sz="5200" dirty="0"/>
          </a:p>
        </p:txBody>
      </p:sp>
      <p:sp>
        <p:nvSpPr>
          <p:cNvPr id="7" name="Text 5"/>
          <p:cNvSpPr/>
          <p:nvPr/>
        </p:nvSpPr>
        <p:spPr>
          <a:xfrm>
            <a:off x="812800" y="3749042"/>
            <a:ext cx="348821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843"/>
                </a:solidFill>
                <a:latin typeface="IBM Plex Sans" pitchFamily="34" charset="0"/>
                <a:ea typeface="IBM Plex Sans" pitchFamily="34" charset="-122"/>
                <a:cs typeface="IBM Plex Sans" pitchFamily="34" charset="-120"/>
              </a:rPr>
              <a:t>lower 99.9th-percentile per-packet latency</a:t>
            </a:r>
            <a:endParaRPr lang="en-US" sz="1500" dirty="0"/>
          </a:p>
        </p:txBody>
      </p:sp>
      <p:sp>
        <p:nvSpPr>
          <p:cNvPr id="8" name="Shape 6"/>
          <p:cNvSpPr/>
          <p:nvPr/>
        </p:nvSpPr>
        <p:spPr>
          <a:xfrm>
            <a:off x="4402614" y="2694942"/>
            <a:ext cx="3386693" cy="0"/>
          </a:xfrm>
          <a:prstGeom prst="line">
            <a:avLst/>
          </a:prstGeom>
          <a:noFill/>
          <a:ln w="25400">
            <a:solidFill>
              <a:srgbClr val="1F7A4D"/>
            </a:solidFill>
            <a:prstDash val="solid"/>
          </a:ln>
        </p:spPr>
        <p:txBody>
          <a:bodyPr/>
          <a:lstStyle/>
          <a:p>
            <a:endParaRPr lang="en-US"/>
          </a:p>
        </p:txBody>
      </p:sp>
      <p:sp>
        <p:nvSpPr>
          <p:cNvPr id="9" name="Text 7"/>
          <p:cNvSpPr/>
          <p:nvPr/>
        </p:nvSpPr>
        <p:spPr>
          <a:xfrm>
            <a:off x="4402614" y="2961642"/>
            <a:ext cx="3488294" cy="685800"/>
          </a:xfrm>
          <a:prstGeom prst="rect">
            <a:avLst/>
          </a:prstGeom>
          <a:noFill/>
          <a:ln/>
        </p:spPr>
        <p:txBody>
          <a:bodyPr wrap="square" lIns="0" tIns="0" rIns="0" bIns="0" rtlCol="0" anchor="t">
            <a:normAutofit/>
          </a:bodyPr>
          <a:lstStyle/>
          <a:p>
            <a:pPr marL="0" indent="0" algn="l">
              <a:lnSpc>
                <a:spcPts val="5200"/>
              </a:lnSpc>
              <a:buNone/>
            </a:pPr>
            <a:r>
              <a:rPr lang="en-US" sz="5200" dirty="0">
                <a:solidFill>
                  <a:srgbClr val="1F7A4D"/>
                </a:solidFill>
                <a:latin typeface="IBM Plex Mono" pitchFamily="34" charset="0"/>
                <a:ea typeface="IBM Plex Mono" pitchFamily="34" charset="-122"/>
                <a:cs typeface="IBM Plex Mono" pitchFamily="34" charset="-120"/>
              </a:rPr>
              <a:t>&lt;1%</a:t>
            </a:r>
            <a:endParaRPr lang="en-US" sz="5200" dirty="0"/>
          </a:p>
        </p:txBody>
      </p:sp>
      <p:sp>
        <p:nvSpPr>
          <p:cNvPr id="10" name="Text 8"/>
          <p:cNvSpPr/>
          <p:nvPr/>
        </p:nvSpPr>
        <p:spPr>
          <a:xfrm>
            <a:off x="4402614" y="3749042"/>
            <a:ext cx="34882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843"/>
                </a:solidFill>
                <a:latin typeface="IBM Plex Sans" pitchFamily="34" charset="0"/>
                <a:ea typeface="IBM Plex Sans" pitchFamily="34" charset="-122"/>
                <a:cs typeface="IBM Plex Sans" pitchFamily="34" charset="-120"/>
              </a:rPr>
              <a:t>average loss, with the lowest loss-plus-deadline-miss total</a:t>
            </a:r>
            <a:endParaRPr lang="en-US" sz="1500" dirty="0"/>
          </a:p>
        </p:txBody>
      </p:sp>
      <p:sp>
        <p:nvSpPr>
          <p:cNvPr id="11" name="Shape 9"/>
          <p:cNvSpPr/>
          <p:nvPr/>
        </p:nvSpPr>
        <p:spPr>
          <a:xfrm>
            <a:off x="7992507" y="2694942"/>
            <a:ext cx="3386693" cy="0"/>
          </a:xfrm>
          <a:prstGeom prst="line">
            <a:avLst/>
          </a:prstGeom>
          <a:noFill/>
          <a:ln w="25400">
            <a:solidFill>
              <a:srgbClr val="1F7A4D"/>
            </a:solidFill>
            <a:prstDash val="solid"/>
          </a:ln>
        </p:spPr>
        <p:txBody>
          <a:bodyPr/>
          <a:lstStyle/>
          <a:p>
            <a:endParaRPr lang="en-US"/>
          </a:p>
        </p:txBody>
      </p:sp>
      <p:sp>
        <p:nvSpPr>
          <p:cNvPr id="12" name="Text 10"/>
          <p:cNvSpPr/>
          <p:nvPr/>
        </p:nvSpPr>
        <p:spPr>
          <a:xfrm>
            <a:off x="7992507" y="2961642"/>
            <a:ext cx="3488294" cy="685800"/>
          </a:xfrm>
          <a:prstGeom prst="rect">
            <a:avLst/>
          </a:prstGeom>
          <a:noFill/>
          <a:ln/>
        </p:spPr>
        <p:txBody>
          <a:bodyPr wrap="square" lIns="0" tIns="0" rIns="0" bIns="0" rtlCol="0" anchor="t">
            <a:normAutofit/>
          </a:bodyPr>
          <a:lstStyle/>
          <a:p>
            <a:pPr marL="0" indent="0" algn="l">
              <a:lnSpc>
                <a:spcPts val="5200"/>
              </a:lnSpc>
              <a:buNone/>
            </a:pPr>
            <a:r>
              <a:rPr lang="en-US" sz="5200" dirty="0">
                <a:solidFill>
                  <a:srgbClr val="1F7A4D"/>
                </a:solidFill>
                <a:latin typeface="IBM Plex Mono" pitchFamily="34" charset="0"/>
                <a:ea typeface="IBM Plex Mono" pitchFamily="34" charset="-122"/>
                <a:cs typeface="IBM Plex Mono" pitchFamily="34" charset="-120"/>
              </a:rPr>
              <a:t>16–56%</a:t>
            </a:r>
            <a:endParaRPr lang="en-US" sz="5200" dirty="0"/>
          </a:p>
        </p:txBody>
      </p:sp>
      <p:sp>
        <p:nvSpPr>
          <p:cNvPr id="13" name="Text 11"/>
          <p:cNvSpPr/>
          <p:nvPr/>
        </p:nvSpPr>
        <p:spPr>
          <a:xfrm>
            <a:off x="7992507" y="3749042"/>
            <a:ext cx="348829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843"/>
                </a:solidFill>
                <a:latin typeface="IBM Plex Sans" pitchFamily="34" charset="0"/>
                <a:ea typeface="IBM Plex Sans" pitchFamily="34" charset="-122"/>
                <a:cs typeface="IBM Plex Sans" pitchFamily="34" charset="-120"/>
              </a:rPr>
              <a:t>fewer bursts of five consecutive losses</a:t>
            </a:r>
            <a:endParaRPr lang="en-US" sz="1500" dirty="0"/>
          </a:p>
        </p:txBody>
      </p:sp>
      <p:sp>
        <p:nvSpPr>
          <p:cNvPr id="14" name="Text 12"/>
          <p:cNvSpPr/>
          <p:nvPr/>
        </p:nvSpPr>
        <p:spPr>
          <a:xfrm>
            <a:off x="812800" y="530860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7211C"/>
                </a:solidFill>
                <a:latin typeface="IBM Plex Sans" pitchFamily="34" charset="0"/>
                <a:ea typeface="IBM Plex Sans" pitchFamily="34" charset="-122"/>
                <a:cs typeface="IBM Plex Sans" pitchFamily="34" charset="-120"/>
              </a:rPr>
              <a:t>Law's latency distribution graph stops sharply near 60 ms (the link bound plus the wired hop and kernel); every baseline keeps a long tail.</a:t>
            </a:r>
            <a:endParaRPr lang="en-US" sz="15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13 · Paper 4.2, Fig.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RESULTS · WEBRTC VIDEO</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Real video: fewer late frames, no bitrate penalty</a:t>
            </a:r>
            <a:endParaRPr lang="en-US" sz="3200" dirty="0"/>
          </a:p>
        </p:txBody>
      </p:sp>
      <p:sp>
        <p:nvSpPr>
          <p:cNvPr id="4" name="Text 2"/>
          <p:cNvSpPr/>
          <p:nvPr/>
        </p:nvSpPr>
        <p:spPr>
          <a:xfrm>
            <a:off x="812800" y="18796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WebRTC sender on an edge server · 10 Mbps target · 30 fps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443481"/>
          <a:ext cx="10556240" cy="312801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521335">
                <a:tc>
                  <a:txBody>
                    <a:bodyPr/>
                    <a:lstStyle/>
                    <a:p>
                      <a:pPr marL="0" indent="0">
                        <a:lnSpc>
                          <a:spcPts val="2100"/>
                        </a:lnSpc>
                        <a:buNone/>
                      </a:pPr>
                      <a:r>
                        <a:rPr lang="en-US" sz="1500" b="1" dirty="0">
                          <a:solidFill>
                            <a:srgbClr val="17211C"/>
                          </a:solidFill>
                          <a:latin typeface="IBM Plex Sans" pitchFamily="34" charset="0"/>
                          <a:ea typeface="IBM Plex Sans" pitchFamily="34" charset="-122"/>
                          <a:cs typeface="IBM Plex Sans" pitchFamily="34" charset="-120"/>
                        </a:rPr>
                        <a:t>Metric</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F7A4D"/>
                          </a:solidFill>
                          <a:latin typeface="IBM Plex Sans" pitchFamily="34" charset="0"/>
                          <a:ea typeface="IBM Plex Sans" pitchFamily="34" charset="-122"/>
                          <a:cs typeface="IBM Plex Sans" pitchFamily="34" charset="-120"/>
                        </a:rPr>
                        <a:t>Law vs. baselines</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21335">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99th-percentile frame delivery latency</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50.6–70.3% lower</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21335">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99.9th-percentile frame delivery latency</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at least 58.4% lower</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21335">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Frames missing the 100 ms deadline</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69.8–78.5% fewer</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21335">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Average video bitrate</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slightly higher</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521335">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99.9th pct vs. commercial routers (MIMO or 802.11ac)</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7211C"/>
                          </a:solidFill>
                          <a:latin typeface="IBM Plex Sans" pitchFamily="34" charset="0"/>
                          <a:ea typeface="IBM Plex Sans" pitchFamily="34" charset="-122"/>
                          <a:cs typeface="IBM Plex Sans" pitchFamily="34" charset="-120"/>
                        </a:rPr>
                        <a:t>18.6–46.0% lower</a:t>
                      </a:r>
                      <a:endParaRPr lang="en-US" sz="1500" dirty="0">
                        <a:latin typeface="IBM Plex Sans" charset="0"/>
                        <a:ea typeface="IBM Plex Sans" charset="0"/>
                        <a:cs typeface="IBM Plex Sans" charset="0"/>
                      </a:endParaRPr>
                    </a:p>
                  </a:txBody>
                  <a:tcPr marL="152400" marR="1524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14 · Paper 4.3, Fig. 17 and 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THE TRADE, MADE VISIBLE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Law loses more often, but more lightly</a:t>
            </a:r>
            <a:endParaRPr lang="en-US" sz="3200" dirty="0"/>
          </a:p>
        </p:txBody>
      </p:sp>
      <p:sp>
        <p:nvSpPr>
          <p:cNvPr id="4" name="Shape 2"/>
          <p:cNvSpPr/>
          <p:nvPr/>
        </p:nvSpPr>
        <p:spPr>
          <a:xfrm>
            <a:off x="812800" y="1930400"/>
            <a:ext cx="5130800" cy="3003550"/>
          </a:xfrm>
          <a:prstGeom prst="roundRect">
            <a:avLst>
              <a:gd name="adj" fmla="val 3383"/>
            </a:avLst>
          </a:prstGeom>
          <a:solidFill>
            <a:srgbClr val="FFFFFF"/>
          </a:solidFill>
          <a:ln/>
        </p:spPr>
        <p:txBody>
          <a:bodyPr/>
          <a:lstStyle/>
          <a:p>
            <a:endParaRPr lang="en-US"/>
          </a:p>
        </p:txBody>
      </p:sp>
      <p:sp>
        <p:nvSpPr>
          <p:cNvPr id="5" name="Text 3"/>
          <p:cNvSpPr/>
          <p:nvPr/>
        </p:nvSpPr>
        <p:spPr>
          <a:xfrm>
            <a:off x="1168400" y="2756539"/>
            <a:ext cx="4552188" cy="939800"/>
          </a:xfrm>
          <a:prstGeom prst="rect">
            <a:avLst/>
          </a:prstGeom>
          <a:noFill/>
          <a:ln/>
        </p:spPr>
        <p:txBody>
          <a:bodyPr wrap="square" lIns="0" tIns="0" rIns="0" bIns="0" rtlCol="0" anchor="t">
            <a:normAutofit/>
          </a:bodyPr>
          <a:lstStyle/>
          <a:p>
            <a:pPr marL="0" indent="0" algn="l">
              <a:lnSpc>
                <a:spcPts val="7200"/>
              </a:lnSpc>
              <a:buNone/>
            </a:pPr>
            <a:r>
              <a:rPr lang="en-US" sz="7200" dirty="0">
                <a:solidFill>
                  <a:srgbClr val="1F7A4D"/>
                </a:solidFill>
                <a:latin typeface="IBM Plex Mono" pitchFamily="34" charset="0"/>
                <a:ea typeface="IBM Plex Mono" pitchFamily="34" charset="-122"/>
                <a:cs typeface="IBM Plex Mono" pitchFamily="34" charset="-120"/>
              </a:rPr>
              <a:t>≈2×</a:t>
            </a:r>
            <a:endParaRPr lang="en-US" sz="7200" dirty="0"/>
          </a:p>
        </p:txBody>
      </p:sp>
      <p:sp>
        <p:nvSpPr>
          <p:cNvPr id="6" name="Text 4"/>
          <p:cNvSpPr/>
          <p:nvPr/>
        </p:nvSpPr>
        <p:spPr>
          <a:xfrm>
            <a:off x="1168400" y="3823339"/>
            <a:ext cx="4552188"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11C"/>
                </a:solidFill>
                <a:latin typeface="IBM Plex Sans" pitchFamily="34" charset="0"/>
                <a:ea typeface="IBM Plex Sans" pitchFamily="34" charset="-122"/>
                <a:cs typeface="IBM Plex Sans" pitchFamily="34" charset="-120"/>
              </a:rPr>
              <a:t>as many frames lose </a:t>
            </a:r>
            <a:r>
              <a:rPr lang="en-US" sz="1600" b="1" dirty="0">
                <a:solidFill>
                  <a:srgbClr val="17211C"/>
                </a:solidFill>
                <a:latin typeface="IBM Plex Sans" pitchFamily="34" charset="0"/>
                <a:ea typeface="IBM Plex Sans" pitchFamily="34" charset="-122"/>
                <a:cs typeface="IBM Plex Sans" pitchFamily="34" charset="-120"/>
              </a:rPr>
              <a:t>at least one</a:t>
            </a:r>
            <a:r>
              <a:rPr lang="en-US" sz="1600" dirty="0">
                <a:solidFill>
                  <a:srgbClr val="17211C"/>
                </a:solidFill>
                <a:latin typeface="IBM Plex Sans" pitchFamily="34" charset="0"/>
                <a:ea typeface="IBM Plex Sans" pitchFamily="34" charset="-122"/>
                <a:cs typeface="IBM Plex Sans" pitchFamily="34" charset="-120"/>
              </a:rPr>
              <a:t> packet</a:t>
            </a:r>
            <a:endParaRPr lang="en-US" sz="1600" dirty="0"/>
          </a:p>
        </p:txBody>
      </p:sp>
      <p:sp>
        <p:nvSpPr>
          <p:cNvPr id="7" name="Shape 5"/>
          <p:cNvSpPr/>
          <p:nvPr/>
        </p:nvSpPr>
        <p:spPr>
          <a:xfrm>
            <a:off x="6248400" y="1930400"/>
            <a:ext cx="5130800" cy="3003550"/>
          </a:xfrm>
          <a:prstGeom prst="roundRect">
            <a:avLst>
              <a:gd name="adj" fmla="val 3383"/>
            </a:avLst>
          </a:prstGeom>
          <a:solidFill>
            <a:srgbClr val="FFFFFF"/>
          </a:solidFill>
          <a:ln/>
        </p:spPr>
        <p:txBody>
          <a:bodyPr/>
          <a:lstStyle/>
          <a:p>
            <a:endParaRPr lang="en-US"/>
          </a:p>
        </p:txBody>
      </p:sp>
      <p:sp>
        <p:nvSpPr>
          <p:cNvPr id="8" name="Text 6"/>
          <p:cNvSpPr/>
          <p:nvPr/>
        </p:nvSpPr>
        <p:spPr>
          <a:xfrm>
            <a:off x="6604000" y="2614296"/>
            <a:ext cx="4552188" cy="939800"/>
          </a:xfrm>
          <a:prstGeom prst="rect">
            <a:avLst/>
          </a:prstGeom>
          <a:noFill/>
          <a:ln/>
        </p:spPr>
        <p:txBody>
          <a:bodyPr wrap="square" lIns="0" tIns="0" rIns="0" bIns="0" rtlCol="0" anchor="t">
            <a:normAutofit/>
          </a:bodyPr>
          <a:lstStyle/>
          <a:p>
            <a:pPr marL="0" indent="0" algn="l">
              <a:lnSpc>
                <a:spcPts val="7200"/>
              </a:lnSpc>
              <a:buNone/>
            </a:pPr>
            <a:r>
              <a:rPr lang="en-US" sz="7200" dirty="0">
                <a:solidFill>
                  <a:srgbClr val="1F7A4D"/>
                </a:solidFill>
                <a:latin typeface="IBM Plex Mono" pitchFamily="34" charset="0"/>
                <a:ea typeface="IBM Plex Mono" pitchFamily="34" charset="-122"/>
                <a:cs typeface="IBM Plex Mono" pitchFamily="34" charset="-120"/>
              </a:rPr>
              <a:t>−65%</a:t>
            </a:r>
            <a:endParaRPr lang="en-US" sz="7200" dirty="0"/>
          </a:p>
        </p:txBody>
      </p:sp>
      <p:sp>
        <p:nvSpPr>
          <p:cNvPr id="9" name="Text 7"/>
          <p:cNvSpPr/>
          <p:nvPr/>
        </p:nvSpPr>
        <p:spPr>
          <a:xfrm>
            <a:off x="6604000" y="3681096"/>
            <a:ext cx="4552188"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7211C"/>
                </a:solidFill>
                <a:latin typeface="IBM Plex Sans" pitchFamily="34" charset="0"/>
                <a:ea typeface="IBM Plex Sans" pitchFamily="34" charset="-122"/>
                <a:cs typeface="IBM Plex Sans" pitchFamily="34" charset="-120"/>
              </a:rPr>
              <a:t>frames that lose </a:t>
            </a:r>
            <a:r>
              <a:rPr lang="en-US" sz="1600" b="1" dirty="0">
                <a:solidFill>
                  <a:srgbClr val="17211C"/>
                </a:solidFill>
                <a:latin typeface="IBM Plex Sans" pitchFamily="34" charset="0"/>
                <a:ea typeface="IBM Plex Sans" pitchFamily="34" charset="-122"/>
                <a:cs typeface="IBM Plex Sans" pitchFamily="34" charset="-120"/>
              </a:rPr>
              <a:t>more than 20%</a:t>
            </a:r>
            <a:r>
              <a:rPr lang="en-US" sz="1600" dirty="0">
                <a:solidFill>
                  <a:srgbClr val="17211C"/>
                </a:solidFill>
                <a:latin typeface="IBM Plex Sans" pitchFamily="34" charset="0"/>
                <a:ea typeface="IBM Plex Sans" pitchFamily="34" charset="-122"/>
                <a:cs typeface="IBM Plex Sans" pitchFamily="34" charset="-120"/>
              </a:rPr>
              <a:t> of their packets</a:t>
            </a:r>
            <a:endParaRPr lang="en-US" sz="1600" dirty="0"/>
          </a:p>
        </p:txBody>
      </p:sp>
      <p:sp>
        <p:nvSpPr>
          <p:cNvPr id="10" name="Text 8"/>
          <p:cNvSpPr/>
          <p:nvPr/>
        </p:nvSpPr>
        <p:spPr>
          <a:xfrm>
            <a:off x="812800" y="5289550"/>
            <a:ext cx="10883392"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843"/>
                </a:solidFill>
                <a:latin typeface="IBM Plex Sans" pitchFamily="34" charset="0"/>
                <a:ea typeface="IBM Plex Sans" pitchFamily="34" charset="-122"/>
                <a:cs typeface="IBM Plex Sans" pitchFamily="34" charset="-120"/>
              </a:rPr>
              <a:t>In one three-frame trace, Law dropped 6 packets (≈10%), five of them in Cleanup. FEC recovered them and every frame met the 100 ms deadline.</a:t>
            </a:r>
            <a:endParaRPr lang="en-US" sz="1500" dirty="0"/>
          </a:p>
        </p:txBody>
      </p:sp>
      <p:sp>
        <p:nvSpPr>
          <p:cNvPr id="11" name="Text 9"/>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15 · Compared with Thompson sampling, paper Fig. 18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7A4D"/>
                </a:solidFill>
                <a:latin typeface="IBM Plex Mono" pitchFamily="34" charset="0"/>
                <a:ea typeface="IBM Plex Mono" pitchFamily="34" charset="-122"/>
                <a:cs typeface="IBM Plex Mono" pitchFamily="34" charset="-120"/>
              </a:rPr>
              <a:t>LIMITS AND OPEN QUESTIONS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7211C"/>
                </a:solidFill>
                <a:latin typeface="IBM Plex Sans" pitchFamily="34" charset="0"/>
                <a:ea typeface="IBM Plex Sans" pitchFamily="34" charset="-122"/>
                <a:cs typeface="IBM Plex Sans" pitchFamily="34" charset="-120"/>
              </a:rPr>
              <a:t>What Law assumes, and what it leaves open</a:t>
            </a:r>
            <a:endParaRPr lang="en-US" sz="3200" dirty="0"/>
          </a:p>
        </p:txBody>
      </p:sp>
      <p:sp>
        <p:nvSpPr>
          <p:cNvPr id="4" name="Shape 2"/>
          <p:cNvSpPr/>
          <p:nvPr/>
        </p:nvSpPr>
        <p:spPr>
          <a:xfrm>
            <a:off x="815975" y="1933575"/>
            <a:ext cx="3380264" cy="3905250"/>
          </a:xfrm>
          <a:prstGeom prst="roundRect">
            <a:avLst>
              <a:gd name="adj" fmla="val 2912"/>
            </a:avLst>
          </a:prstGeom>
          <a:solidFill>
            <a:srgbClr val="FFFFFF"/>
          </a:solidFill>
          <a:ln w="6350">
            <a:solidFill>
              <a:srgbClr val="E3EBE6"/>
            </a:solidFill>
            <a:prstDash val="solid"/>
          </a:ln>
        </p:spPr>
        <p:txBody>
          <a:bodyPr/>
          <a:lstStyle/>
          <a:p>
            <a:endParaRPr lang="en-US"/>
          </a:p>
        </p:txBody>
      </p:sp>
      <p:sp>
        <p:nvSpPr>
          <p:cNvPr id="5" name="Text 3"/>
          <p:cNvSpPr/>
          <p:nvPr/>
        </p:nvSpPr>
        <p:spPr>
          <a:xfrm>
            <a:off x="1122680" y="2240285"/>
            <a:ext cx="2849859" cy="57404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Not every flow tolerates loss</a:t>
            </a:r>
            <a:endParaRPr lang="en-US" sz="1800" dirty="0"/>
          </a:p>
        </p:txBody>
      </p:sp>
      <p:sp>
        <p:nvSpPr>
          <p:cNvPr id="6" name="Text 4"/>
          <p:cNvSpPr/>
          <p:nvPr/>
        </p:nvSpPr>
        <p:spPr>
          <a:xfrm>
            <a:off x="1122680" y="2915927"/>
            <a:ext cx="2849859"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Loss-based TCP (Reno, Cubic) would suffer. Law needs to tell flows apart via DSCP, whitelists or traffic patterns left as future work.</a:t>
            </a:r>
            <a:endParaRPr lang="en-US" sz="1400" dirty="0"/>
          </a:p>
        </p:txBody>
      </p:sp>
      <p:sp>
        <p:nvSpPr>
          <p:cNvPr id="7" name="Shape 5"/>
          <p:cNvSpPr/>
          <p:nvPr/>
        </p:nvSpPr>
        <p:spPr>
          <a:xfrm>
            <a:off x="4405789" y="1933575"/>
            <a:ext cx="3380343" cy="3905250"/>
          </a:xfrm>
          <a:prstGeom prst="roundRect">
            <a:avLst>
              <a:gd name="adj" fmla="val 2912"/>
            </a:avLst>
          </a:prstGeom>
          <a:solidFill>
            <a:srgbClr val="FFFFFF"/>
          </a:solidFill>
          <a:ln w="6350">
            <a:solidFill>
              <a:srgbClr val="E3EBE6"/>
            </a:solidFill>
            <a:prstDash val="solid"/>
          </a:ln>
        </p:spPr>
        <p:txBody>
          <a:bodyPr/>
          <a:lstStyle/>
          <a:p>
            <a:endParaRPr lang="en-US"/>
          </a:p>
        </p:txBody>
      </p:sp>
      <p:sp>
        <p:nvSpPr>
          <p:cNvPr id="8" name="Text 6"/>
          <p:cNvSpPr/>
          <p:nvPr/>
        </p:nvSpPr>
        <p:spPr>
          <a:xfrm>
            <a:off x="4712494" y="2240285"/>
            <a:ext cx="284994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A research prototype</a:t>
            </a:r>
            <a:endParaRPr lang="en-US" sz="1800" dirty="0"/>
          </a:p>
        </p:txBody>
      </p:sp>
      <p:sp>
        <p:nvSpPr>
          <p:cNvPr id="9" name="Text 7"/>
          <p:cNvSpPr/>
          <p:nvPr/>
        </p:nvSpPr>
        <p:spPr>
          <a:xfrm>
            <a:off x="4712494" y="2641600"/>
            <a:ext cx="2849941"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Built on OpenWiFi (802.11n, 20 MHz, one antenna). Shipping it needs vendors to expose per-frame hardware retry control.</a:t>
            </a:r>
            <a:endParaRPr lang="en-US" sz="1400" dirty="0"/>
          </a:p>
        </p:txBody>
      </p:sp>
      <p:sp>
        <p:nvSpPr>
          <p:cNvPr id="10" name="Shape 8"/>
          <p:cNvSpPr/>
          <p:nvPr/>
        </p:nvSpPr>
        <p:spPr>
          <a:xfrm>
            <a:off x="7995682" y="1933575"/>
            <a:ext cx="3380343" cy="3905250"/>
          </a:xfrm>
          <a:prstGeom prst="roundRect">
            <a:avLst>
              <a:gd name="adj" fmla="val 2912"/>
            </a:avLst>
          </a:prstGeom>
          <a:solidFill>
            <a:srgbClr val="FFFFFF"/>
          </a:solidFill>
          <a:ln w="6350">
            <a:solidFill>
              <a:srgbClr val="E3EBE6"/>
            </a:solidFill>
            <a:prstDash val="solid"/>
          </a:ln>
        </p:spPr>
        <p:txBody>
          <a:bodyPr/>
          <a:lstStyle/>
          <a:p>
            <a:endParaRPr lang="en-US"/>
          </a:p>
        </p:txBody>
      </p:sp>
      <p:sp>
        <p:nvSpPr>
          <p:cNvPr id="11" name="Text 9"/>
          <p:cNvSpPr/>
          <p:nvPr/>
        </p:nvSpPr>
        <p:spPr>
          <a:xfrm>
            <a:off x="8302387" y="2240285"/>
            <a:ext cx="284994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1C"/>
                </a:solidFill>
                <a:latin typeface="IBM Plex Sans" pitchFamily="34" charset="0"/>
                <a:ea typeface="IBM Plex Sans" pitchFamily="34" charset="-122"/>
                <a:cs typeface="IBM Plex Sans" pitchFamily="34" charset="-120"/>
              </a:rPr>
              <a:t>Plays well with others</a:t>
            </a:r>
            <a:endParaRPr lang="en-US" sz="1800" dirty="0"/>
          </a:p>
        </p:txBody>
      </p:sp>
      <p:sp>
        <p:nvSpPr>
          <p:cNvPr id="12" name="Text 10"/>
          <p:cNvSpPr/>
          <p:nvPr/>
        </p:nvSpPr>
        <p:spPr>
          <a:xfrm>
            <a:off x="8302387" y="2641600"/>
            <a:ext cx="2849941"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843"/>
                </a:solidFill>
                <a:latin typeface="IBM Plex Sans" pitchFamily="34" charset="0"/>
                <a:ea typeface="IBM Plex Sans" pitchFamily="34" charset="-122"/>
                <a:cs typeface="IBM Plex Sans" pitchFamily="34" charset="-120"/>
              </a:rPr>
              <a:t>BBR throughput stays comparable, fairness holds for BBR and GCC, and AQM such as CoDel could still run on the driver queue.</a:t>
            </a:r>
            <a:endParaRPr lang="en-US" sz="14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65"/>
                </a:solidFill>
                <a:latin typeface="IBM Plex Mono" pitchFamily="34" charset="0"/>
                <a:ea typeface="IBM Plex Mono" pitchFamily="34" charset="-122"/>
                <a:cs typeface="IBM Plex Mono" pitchFamily="34" charset="-120"/>
              </a:rPr>
              <a:t>Law · NSDI '26 — 16 · Paper 4.4, 5, Appendix 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3B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D6AE"/>
                </a:solidFill>
                <a:latin typeface="IBM Plex Mono" pitchFamily="34" charset="0"/>
                <a:ea typeface="IBM Plex Mono" pitchFamily="34" charset="-122"/>
                <a:cs typeface="IBM Plex Mono" pitchFamily="34" charset="-120"/>
              </a:rPr>
              <a:t>TAKEAWAYS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IBM Plex Sans" pitchFamily="34" charset="0"/>
                <a:ea typeface="IBM Plex Sans" pitchFamily="34" charset="-122"/>
                <a:cs typeface="IBM Plex Sans" pitchFamily="34" charset="-120"/>
              </a:rPr>
              <a:t>Key Takeaways</a:t>
            </a:r>
            <a:endParaRPr lang="en-US" sz="3200" dirty="0"/>
          </a:p>
        </p:txBody>
      </p:sp>
      <p:sp>
        <p:nvSpPr>
          <p:cNvPr id="4" name="Text 2"/>
          <p:cNvSpPr/>
          <p:nvPr/>
        </p:nvSpPr>
        <p:spPr>
          <a:xfrm>
            <a:off x="812800" y="1889758"/>
            <a:ext cx="4572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FD6AE"/>
                </a:solidFill>
                <a:latin typeface="IBM Plex Mono" pitchFamily="34" charset="0"/>
                <a:ea typeface="IBM Plex Mono" pitchFamily="34" charset="-122"/>
                <a:cs typeface="IBM Plex Mono" pitchFamily="34" charset="-120"/>
              </a:rPr>
              <a:t>01</a:t>
            </a:r>
            <a:endParaRPr lang="en-US" sz="1600" dirty="0"/>
          </a:p>
        </p:txBody>
      </p:sp>
      <p:sp>
        <p:nvSpPr>
          <p:cNvPr id="5" name="Text 3"/>
          <p:cNvSpPr/>
          <p:nvPr/>
        </p:nvSpPr>
        <p:spPr>
          <a:xfrm>
            <a:off x="1422400" y="1879600"/>
            <a:ext cx="6423425"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FFFFF"/>
                </a:solidFill>
                <a:latin typeface="IBM Plex Sans" pitchFamily="34" charset="0"/>
                <a:ea typeface="IBM Plex Sans" pitchFamily="34" charset="-122"/>
                <a:cs typeface="IBM Plex Sans" pitchFamily="34" charset="-120"/>
              </a:rPr>
              <a:t>The Wi-Fi last hop now dominates tail latency for real-time apps.</a:t>
            </a:r>
            <a:endParaRPr lang="en-US" sz="1700" dirty="0"/>
          </a:p>
        </p:txBody>
      </p:sp>
      <p:sp>
        <p:nvSpPr>
          <p:cNvPr id="6" name="Text 4"/>
          <p:cNvSpPr/>
          <p:nvPr/>
        </p:nvSpPr>
        <p:spPr>
          <a:xfrm>
            <a:off x="812800" y="2369827"/>
            <a:ext cx="4572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FD6AE"/>
                </a:solidFill>
                <a:latin typeface="IBM Plex Mono" pitchFamily="34" charset="0"/>
                <a:ea typeface="IBM Plex Mono" pitchFamily="34" charset="-122"/>
                <a:cs typeface="IBM Plex Mono" pitchFamily="34" charset="-120"/>
              </a:rPr>
              <a:t>02</a:t>
            </a:r>
            <a:endParaRPr lang="en-US" sz="1600" dirty="0"/>
          </a:p>
        </p:txBody>
      </p:sp>
      <p:sp>
        <p:nvSpPr>
          <p:cNvPr id="7" name="Text 5"/>
          <p:cNvSpPr/>
          <p:nvPr/>
        </p:nvSpPr>
        <p:spPr>
          <a:xfrm>
            <a:off x="1422400" y="2359658"/>
            <a:ext cx="9289390"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FFFFF"/>
                </a:solidFill>
                <a:latin typeface="IBM Plex Sans" pitchFamily="34" charset="0"/>
                <a:ea typeface="IBM Plex Sans" pitchFamily="34" charset="-122"/>
                <a:cs typeface="IBM Plex Sans" pitchFamily="34" charset="-120"/>
              </a:rPr>
              <a:t>Its queues, retries and rate adaptation were built for throughput and reliability, not deadlines.</a:t>
            </a:r>
            <a:endParaRPr lang="en-US" sz="1700" dirty="0"/>
          </a:p>
        </p:txBody>
      </p:sp>
      <p:sp>
        <p:nvSpPr>
          <p:cNvPr id="8" name="Text 6"/>
          <p:cNvSpPr/>
          <p:nvPr/>
        </p:nvSpPr>
        <p:spPr>
          <a:xfrm>
            <a:off x="812800" y="2849885"/>
            <a:ext cx="4572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3EAD3"/>
                </a:solidFill>
                <a:latin typeface="IBM Plex Mono" pitchFamily="34" charset="0"/>
                <a:ea typeface="IBM Plex Mono" pitchFamily="34" charset="-122"/>
                <a:cs typeface="IBM Plex Mono" pitchFamily="34" charset="-120"/>
              </a:rPr>
              <a:t>03</a:t>
            </a:r>
            <a:endParaRPr lang="en-US" sz="1600" dirty="0"/>
          </a:p>
        </p:txBody>
      </p:sp>
      <p:sp>
        <p:nvSpPr>
          <p:cNvPr id="9" name="Text 7"/>
          <p:cNvSpPr/>
          <p:nvPr/>
        </p:nvSpPr>
        <p:spPr>
          <a:xfrm>
            <a:off x="1422400" y="2839727"/>
            <a:ext cx="83464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FFFFF"/>
                </a:solidFill>
                <a:latin typeface="IBM Plex Sans" pitchFamily="34" charset="0"/>
                <a:ea typeface="IBM Plex Sans" pitchFamily="34" charset="-122"/>
                <a:cs typeface="IBM Plex Sans" pitchFamily="34" charset="-120"/>
              </a:rPr>
              <a:t>Video tolerates a little loss, so the link layer can drop early instead of queueing long.</a:t>
            </a:r>
            <a:endParaRPr lang="en-US" sz="1700" dirty="0"/>
          </a:p>
        </p:txBody>
      </p:sp>
      <p:sp>
        <p:nvSpPr>
          <p:cNvPr id="10" name="Text 8"/>
          <p:cNvSpPr/>
          <p:nvPr/>
        </p:nvSpPr>
        <p:spPr>
          <a:xfrm>
            <a:off x="812800" y="3329942"/>
            <a:ext cx="4572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3EAD3"/>
                </a:solidFill>
                <a:latin typeface="IBM Plex Mono" pitchFamily="34" charset="0"/>
                <a:ea typeface="IBM Plex Mono" pitchFamily="34" charset="-122"/>
                <a:cs typeface="IBM Plex Mono" pitchFamily="34" charset="-120"/>
              </a:rPr>
              <a:t>04</a:t>
            </a:r>
            <a:endParaRPr lang="en-US" sz="1600" dirty="0"/>
          </a:p>
        </p:txBody>
      </p:sp>
      <p:sp>
        <p:nvSpPr>
          <p:cNvPr id="11" name="Text 9"/>
          <p:cNvSpPr/>
          <p:nvPr/>
        </p:nvSpPr>
        <p:spPr>
          <a:xfrm>
            <a:off x="1422400" y="3319785"/>
            <a:ext cx="10255504"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FFFFF"/>
                </a:solidFill>
                <a:latin typeface="IBM Plex Sans" pitchFamily="34" charset="0"/>
                <a:ea typeface="IBM Plex Sans" pitchFamily="34" charset="-122"/>
                <a:cs typeface="IBM Plex Sans" pitchFamily="34" charset="-120"/>
              </a:rPr>
              <a:t>Law bounds link-layer delay with one queue and per-transmission control, at under 1% well-spread loss.</a:t>
            </a:r>
            <a:endParaRPr lang="en-US" sz="1700" dirty="0"/>
          </a:p>
        </p:txBody>
      </p:sp>
      <p:sp>
        <p:nvSpPr>
          <p:cNvPr id="12" name="Shape 10"/>
          <p:cNvSpPr/>
          <p:nvPr/>
        </p:nvSpPr>
        <p:spPr>
          <a:xfrm>
            <a:off x="812800" y="4232275"/>
            <a:ext cx="10566400" cy="0"/>
          </a:xfrm>
          <a:prstGeom prst="line">
            <a:avLst/>
          </a:prstGeom>
          <a:noFill/>
          <a:ln w="6350">
            <a:solidFill>
              <a:srgbClr val="3D4843"/>
            </a:solidFill>
            <a:prstDash val="solid"/>
          </a:ln>
        </p:spPr>
        <p:txBody>
          <a:bodyPr/>
          <a:lstStyle/>
          <a:p>
            <a:endParaRPr lang="en-US"/>
          </a:p>
        </p:txBody>
      </p:sp>
      <p:sp>
        <p:nvSpPr>
          <p:cNvPr id="13" name="Text 11"/>
          <p:cNvSpPr/>
          <p:nvPr/>
        </p:nvSpPr>
        <p:spPr>
          <a:xfrm>
            <a:off x="812800" y="443738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8E8DF"/>
                </a:solidFill>
                <a:latin typeface="IBM Plex Sans" pitchFamily="34" charset="0"/>
                <a:ea typeface="IBM Plex Sans" pitchFamily="34" charset="-122"/>
                <a:cs typeface="IBM Plex Sans" pitchFamily="34" charset="-120"/>
              </a:rPr>
              <a:t>For discussion -&gt; should we trade the reliability it was built for, in exchange for a deadline?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3B2A"/>
        </a:solidFill>
        <a:effectLst/>
      </p:bgPr>
    </p:bg>
    <p:spTree>
      <p:nvGrpSpPr>
        <p:cNvPr id="1" name="">
          <a:extLst>
            <a:ext uri="{FF2B5EF4-FFF2-40B4-BE49-F238E27FC236}">
              <a16:creationId xmlns:a16="http://schemas.microsoft.com/office/drawing/2014/main" id="{CB341288-A17E-84B7-EBED-0F26C599BB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A3C99E-94FD-9537-687F-F89E2B8533F5}"/>
              </a:ext>
            </a:extLst>
          </p:cNvPr>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D6AE"/>
                </a:solidFill>
                <a:latin typeface="IBM Plex Mono" pitchFamily="34" charset="0"/>
              </a:rPr>
              <a:t>RICARDO FURST – CIS5930</a:t>
            </a:r>
            <a:endParaRPr lang="en-US" sz="1200" dirty="0"/>
          </a:p>
        </p:txBody>
      </p:sp>
      <p:sp>
        <p:nvSpPr>
          <p:cNvPr id="3" name="Text 1">
            <a:extLst>
              <a:ext uri="{FF2B5EF4-FFF2-40B4-BE49-F238E27FC236}">
                <a16:creationId xmlns:a16="http://schemas.microsoft.com/office/drawing/2014/main" id="{3AE26574-A3AE-56F5-E012-BEA6B6A67CCF}"/>
              </a:ext>
            </a:extLst>
          </p:cNvPr>
          <p:cNvSpPr/>
          <p:nvPr/>
        </p:nvSpPr>
        <p:spPr>
          <a:xfrm>
            <a:off x="812800" y="11277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IBM Plex Sans" pitchFamily="34" charset="0"/>
                <a:ea typeface="IBM Plex Sans" pitchFamily="34" charset="-122"/>
                <a:cs typeface="IBM Plex Sans" pitchFamily="34" charset="-120"/>
              </a:rPr>
              <a:t>Thank you!</a:t>
            </a:r>
            <a:endParaRPr lang="en-US" sz="3200" dirty="0"/>
          </a:p>
        </p:txBody>
      </p:sp>
    </p:spTree>
    <p:extLst>
      <p:ext uri="{BB962C8B-B14F-4D97-AF65-F5344CB8AC3E}">
        <p14:creationId xmlns:p14="http://schemas.microsoft.com/office/powerpoint/2010/main" val="4041093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TotalTime>
  <Words>4600</Words>
  <Application>Microsoft Office PowerPoint</Application>
  <PresentationFormat>Widescreen</PresentationFormat>
  <Paragraphs>289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 Bounding Wi-Fi Latency</dc:title>
  <dc:subject>PptxGenJS Presentation</dc:subject>
  <dc:creator>PptxGenJS</dc:creator>
  <cp:lastModifiedBy>Ricardo Furst</cp:lastModifiedBy>
  <cp:revision>26</cp:revision>
  <dcterms:created xsi:type="dcterms:W3CDTF">2026-09-29T19:33:56Z</dcterms:created>
  <dcterms:modified xsi:type="dcterms:W3CDTF">2026-09-30T16:21:19Z</dcterms:modified>
</cp:coreProperties>
</file>