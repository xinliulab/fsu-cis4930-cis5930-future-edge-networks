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447" r:id="rId5"/>
    <p:sldId id="448" r:id="rId6"/>
    <p:sldId id="425" r:id="rId7"/>
    <p:sldId id="450" r:id="rId8"/>
    <p:sldId id="451" r:id="rId9"/>
    <p:sldId id="452" r:id="rId10"/>
    <p:sldId id="441" r:id="rId11"/>
    <p:sldId id="442" r:id="rId12"/>
    <p:sldId id="418" r:id="rId13"/>
    <p:sldId id="454" r:id="rId14"/>
    <p:sldId id="420" r:id="rId15"/>
    <p:sldId id="453" r:id="rId16"/>
    <p:sldId id="444" r:id="rId17"/>
    <p:sldId id="421" r:id="rId18"/>
    <p:sldId id="42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80AB"/>
    <a:srgbClr val="CEB888"/>
    <a:srgbClr val="6C2334"/>
    <a:srgbClr val="C82C31"/>
    <a:srgbClr val="984062"/>
    <a:srgbClr val="FD8238"/>
    <a:srgbClr val="FFD9FE"/>
    <a:srgbClr val="4CA052"/>
    <a:srgbClr val="EE5917"/>
    <a:srgbClr val="F55A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1C7838-2484-D446-912E-35AA6F042C83}" v="1606" dt="2026-05-19T17:27:16.6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63668"/>
  </p:normalViewPr>
  <p:slideViewPr>
    <p:cSldViewPr snapToGrid="0">
      <p:cViewPr varScale="1">
        <p:scale>
          <a:sx n="77" d="100"/>
          <a:sy n="77" d="100"/>
        </p:scale>
        <p:origin x="9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ie Ye" userId="S::zy22b@fsu.edu::bc739816-9e5d-4dd4-8ca9-fbe139ab2ce7" providerId="AD" clId="Web-{69C86466-069D-40B5-4DD1-50AB8D5AF688}"/>
    <pc:docChg chg="modSld">
      <pc:chgData name="Jackie Ye" userId="S::zy22b@fsu.edu::bc739816-9e5d-4dd4-8ca9-fbe139ab2ce7" providerId="AD" clId="Web-{69C86466-069D-40B5-4DD1-50AB8D5AF688}" dt="2026-05-15T20:24:13.206" v="771"/>
      <pc:docMkLst>
        <pc:docMk/>
      </pc:docMkLst>
      <pc:sldChg chg="modNotes">
        <pc:chgData name="Jackie Ye" userId="S::zy22b@fsu.edu::bc739816-9e5d-4dd4-8ca9-fbe139ab2ce7" providerId="AD" clId="Web-{69C86466-069D-40B5-4DD1-50AB8D5AF688}" dt="2026-05-15T20:24:13.206" v="771"/>
        <pc:sldMkLst>
          <pc:docMk/>
          <pc:sldMk cId="631374267" sldId="418"/>
        </pc:sldMkLst>
      </pc:sldChg>
      <pc:sldChg chg="modNotes">
        <pc:chgData name="Jackie Ye" userId="S::zy22b@fsu.edu::bc739816-9e5d-4dd4-8ca9-fbe139ab2ce7" providerId="AD" clId="Web-{69C86466-069D-40B5-4DD1-50AB8D5AF688}" dt="2026-05-15T19:36:53.777" v="446"/>
        <pc:sldMkLst>
          <pc:docMk/>
          <pc:sldMk cId="3397378629" sldId="420"/>
        </pc:sldMkLst>
      </pc:sldChg>
      <pc:sldChg chg="modNotes">
        <pc:chgData name="Jackie Ye" userId="S::zy22b@fsu.edu::bc739816-9e5d-4dd4-8ca9-fbe139ab2ce7" providerId="AD" clId="Web-{69C86466-069D-40B5-4DD1-50AB8D5AF688}" dt="2026-05-15T19:41:46.989" v="448"/>
        <pc:sldMkLst>
          <pc:docMk/>
          <pc:sldMk cId="3505130633" sldId="421"/>
        </pc:sldMkLst>
      </pc:sldChg>
      <pc:sldChg chg="modNotes">
        <pc:chgData name="Jackie Ye" userId="S::zy22b@fsu.edu::bc739816-9e5d-4dd4-8ca9-fbe139ab2ce7" providerId="AD" clId="Web-{69C86466-069D-40B5-4DD1-50AB8D5AF688}" dt="2026-05-15T20:02:26.099" v="649"/>
        <pc:sldMkLst>
          <pc:docMk/>
          <pc:sldMk cId="3974136305" sldId="425"/>
        </pc:sldMkLst>
      </pc:sldChg>
      <pc:sldChg chg="modNotes">
        <pc:chgData name="Jackie Ye" userId="S::zy22b@fsu.edu::bc739816-9e5d-4dd4-8ca9-fbe139ab2ce7" providerId="AD" clId="Web-{69C86466-069D-40B5-4DD1-50AB8D5AF688}" dt="2026-05-15T20:20:18.980" v="738"/>
        <pc:sldMkLst>
          <pc:docMk/>
          <pc:sldMk cId="2368508770" sldId="441"/>
        </pc:sldMkLst>
      </pc:sldChg>
      <pc:sldChg chg="modNotes">
        <pc:chgData name="Jackie Ye" userId="S::zy22b@fsu.edu::bc739816-9e5d-4dd4-8ca9-fbe139ab2ce7" providerId="AD" clId="Web-{69C86466-069D-40B5-4DD1-50AB8D5AF688}" dt="2026-05-15T20:21:18.514" v="751"/>
        <pc:sldMkLst>
          <pc:docMk/>
          <pc:sldMk cId="4194064311" sldId="442"/>
        </pc:sldMkLst>
      </pc:sldChg>
      <pc:sldChg chg="modNotes">
        <pc:chgData name="Jackie Ye" userId="S::zy22b@fsu.edu::bc739816-9e5d-4dd4-8ca9-fbe139ab2ce7" providerId="AD" clId="Web-{69C86466-069D-40B5-4DD1-50AB8D5AF688}" dt="2026-05-15T19:44:39.500" v="484"/>
        <pc:sldMkLst>
          <pc:docMk/>
          <pc:sldMk cId="1738299802" sldId="444"/>
        </pc:sldMkLst>
      </pc:sldChg>
      <pc:sldChg chg="modNotes">
        <pc:chgData name="Jackie Ye" userId="S::zy22b@fsu.edu::bc739816-9e5d-4dd4-8ca9-fbe139ab2ce7" providerId="AD" clId="Web-{69C86466-069D-40B5-4DD1-50AB8D5AF688}" dt="2026-05-15T19:54:54.423" v="498"/>
        <pc:sldMkLst>
          <pc:docMk/>
          <pc:sldMk cId="199405411" sldId="448"/>
        </pc:sldMkLst>
      </pc:sldChg>
      <pc:sldChg chg="modNotes">
        <pc:chgData name="Jackie Ye" userId="S::zy22b@fsu.edu::bc739816-9e5d-4dd4-8ca9-fbe139ab2ce7" providerId="AD" clId="Web-{69C86466-069D-40B5-4DD1-50AB8D5AF688}" dt="2026-05-15T20:13:00.021" v="719"/>
        <pc:sldMkLst>
          <pc:docMk/>
          <pc:sldMk cId="1009066897" sldId="450"/>
        </pc:sldMkLst>
      </pc:sldChg>
      <pc:sldChg chg="modNotes">
        <pc:chgData name="Jackie Ye" userId="S::zy22b@fsu.edu::bc739816-9e5d-4dd4-8ca9-fbe139ab2ce7" providerId="AD" clId="Web-{69C86466-069D-40B5-4DD1-50AB8D5AF688}" dt="2026-05-15T19:44:06.732" v="476"/>
        <pc:sldMkLst>
          <pc:docMk/>
          <pc:sldMk cId="1383339844" sldId="453"/>
        </pc:sldMkLst>
      </pc:sldChg>
    </pc:docChg>
  </pc:docChgLst>
  <pc:docChgLst>
    <pc:chgData name="Jackie Ye" userId="bc739816-9e5d-4dd4-8ca9-fbe139ab2ce7" providerId="ADAL" clId="{D75413AA-BDE9-404E-91FF-9A070E36E98C}"/>
    <pc:docChg chg="undo custSel modSld">
      <pc:chgData name="Jackie Ye" userId="bc739816-9e5d-4dd4-8ca9-fbe139ab2ce7" providerId="ADAL" clId="{D75413AA-BDE9-404E-91FF-9A070E36E98C}" dt="2026-05-16T02:35:18.251" v="126" actId="20577"/>
      <pc:docMkLst>
        <pc:docMk/>
      </pc:docMkLst>
      <pc:sldChg chg="modNotesTx">
        <pc:chgData name="Jackie Ye" userId="bc739816-9e5d-4dd4-8ca9-fbe139ab2ce7" providerId="ADAL" clId="{D75413AA-BDE9-404E-91FF-9A070E36E98C}" dt="2026-05-16T02:35:18.251" v="126" actId="20577"/>
        <pc:sldMkLst>
          <pc:docMk/>
          <pc:sldMk cId="3505130633" sldId="421"/>
        </pc:sldMkLst>
      </pc:sldChg>
      <pc:sldChg chg="modNotesTx">
        <pc:chgData name="Jackie Ye" userId="bc739816-9e5d-4dd4-8ca9-fbe139ab2ce7" providerId="ADAL" clId="{D75413AA-BDE9-404E-91FF-9A070E36E98C}" dt="2026-05-16T02:33:19.031" v="101" actId="6549"/>
        <pc:sldMkLst>
          <pc:docMk/>
          <pc:sldMk cId="1738299802" sldId="444"/>
        </pc:sldMkLst>
      </pc:sldChg>
    </pc:docChg>
  </pc:docChgLst>
  <pc:docChgLst>
    <pc:chgData name="Jackie Ye" userId="bc739816-9e5d-4dd4-8ca9-fbe139ab2ce7" providerId="ADAL" clId="{009FB956-D851-5818-9D04-4AD883D3F431}"/>
    <pc:docChg chg="modSld">
      <pc:chgData name="Jackie Ye" userId="bc739816-9e5d-4dd4-8ca9-fbe139ab2ce7" providerId="ADAL" clId="{009FB956-D851-5818-9D04-4AD883D3F431}" dt="2026-05-18T03:19:50.686" v="29" actId="20577"/>
      <pc:docMkLst>
        <pc:docMk/>
      </pc:docMkLst>
      <pc:sldChg chg="modNotesTx">
        <pc:chgData name="Jackie Ye" userId="bc739816-9e5d-4dd4-8ca9-fbe139ab2ce7" providerId="ADAL" clId="{009FB956-D851-5818-9D04-4AD883D3F431}" dt="2026-05-18T03:18:27.969" v="17" actId="20577"/>
        <pc:sldMkLst>
          <pc:docMk/>
          <pc:sldMk cId="3397378629" sldId="420"/>
        </pc:sldMkLst>
      </pc:sldChg>
      <pc:sldChg chg="modNotesTx">
        <pc:chgData name="Jackie Ye" userId="bc739816-9e5d-4dd4-8ca9-fbe139ab2ce7" providerId="ADAL" clId="{009FB956-D851-5818-9D04-4AD883D3F431}" dt="2026-05-18T03:19:50.686" v="29" actId="20577"/>
        <pc:sldMkLst>
          <pc:docMk/>
          <pc:sldMk cId="3505130633" sldId="421"/>
        </pc:sldMkLst>
      </pc:sldChg>
      <pc:sldChg chg="modNotesTx">
        <pc:chgData name="Jackie Ye" userId="bc739816-9e5d-4dd4-8ca9-fbe139ab2ce7" providerId="ADAL" clId="{009FB956-D851-5818-9D04-4AD883D3F431}" dt="2026-05-18T03:19:19.317" v="25" actId="20577"/>
        <pc:sldMkLst>
          <pc:docMk/>
          <pc:sldMk cId="1738299802" sldId="444"/>
        </pc:sldMkLst>
      </pc:sldChg>
      <pc:sldChg chg="modNotesTx">
        <pc:chgData name="Jackie Ye" userId="bc739816-9e5d-4dd4-8ca9-fbe139ab2ce7" providerId="ADAL" clId="{009FB956-D851-5818-9D04-4AD883D3F431}" dt="2026-05-18T03:18:52.809" v="19" actId="20577"/>
        <pc:sldMkLst>
          <pc:docMk/>
          <pc:sldMk cId="1383339844" sldId="453"/>
        </pc:sldMkLst>
      </pc:sldChg>
    </pc:docChg>
  </pc:docChgLst>
  <pc:docChgLst>
    <pc:chgData name="Bofan Li" userId="923b47f7-9050-4aab-ae35-dccd3b035aa3" providerId="ADAL" clId="{851C7838-2484-D446-912E-35AA6F042C83}"/>
    <pc:docChg chg="undo custSel modSld">
      <pc:chgData name="Bofan Li" userId="923b47f7-9050-4aab-ae35-dccd3b035aa3" providerId="ADAL" clId="{851C7838-2484-D446-912E-35AA6F042C83}" dt="2026-05-19T17:28:14.192" v="2235" actId="20577"/>
      <pc:docMkLst>
        <pc:docMk/>
      </pc:docMkLst>
      <pc:sldChg chg="modNotesTx">
        <pc:chgData name="Bofan Li" userId="923b47f7-9050-4aab-ae35-dccd3b035aa3" providerId="ADAL" clId="{851C7838-2484-D446-912E-35AA6F042C83}" dt="2026-05-18T03:22:40.110" v="2057" actId="20577"/>
        <pc:sldMkLst>
          <pc:docMk/>
          <pc:sldMk cId="631374267" sldId="418"/>
        </pc:sldMkLst>
      </pc:sldChg>
      <pc:sldChg chg="addSp delSp modSp modAnim modNotesTx">
        <pc:chgData name="Bofan Li" userId="923b47f7-9050-4aab-ae35-dccd3b035aa3" providerId="ADAL" clId="{851C7838-2484-D446-912E-35AA6F042C83}" dt="2026-05-19T16:32:56.518" v="2206" actId="767"/>
        <pc:sldMkLst>
          <pc:docMk/>
          <pc:sldMk cId="3974136305" sldId="425"/>
        </pc:sldMkLst>
        <pc:spChg chg="add del mod">
          <ac:chgData name="Bofan Li" userId="923b47f7-9050-4aab-ae35-dccd3b035aa3" providerId="ADAL" clId="{851C7838-2484-D446-912E-35AA6F042C83}" dt="2026-05-19T16:32:56.518" v="2206" actId="767"/>
          <ac:spMkLst>
            <pc:docMk/>
            <pc:sldMk cId="3974136305" sldId="425"/>
            <ac:spMk id="2" creationId="{E5D83A64-C315-A4E6-98BC-BD931E711C57}"/>
          </ac:spMkLst>
        </pc:spChg>
      </pc:sldChg>
      <pc:sldChg chg="modNotesTx">
        <pc:chgData name="Bofan Li" userId="923b47f7-9050-4aab-ae35-dccd3b035aa3" providerId="ADAL" clId="{851C7838-2484-D446-912E-35AA6F042C83}" dt="2026-05-18T03:19:52.740" v="2038" actId="20577"/>
        <pc:sldMkLst>
          <pc:docMk/>
          <pc:sldMk cId="2368508770" sldId="441"/>
        </pc:sldMkLst>
      </pc:sldChg>
      <pc:sldChg chg="modNotesTx">
        <pc:chgData name="Bofan Li" userId="923b47f7-9050-4aab-ae35-dccd3b035aa3" providerId="ADAL" clId="{851C7838-2484-D446-912E-35AA6F042C83}" dt="2026-05-19T17:28:14.192" v="2235" actId="20577"/>
        <pc:sldMkLst>
          <pc:docMk/>
          <pc:sldMk cId="4194064311" sldId="442"/>
        </pc:sldMkLst>
      </pc:sldChg>
      <pc:sldChg chg="modNotesTx">
        <pc:chgData name="Bofan Li" userId="923b47f7-9050-4aab-ae35-dccd3b035aa3" providerId="ADAL" clId="{851C7838-2484-D446-912E-35AA6F042C83}" dt="2026-05-15T19:27:02.930" v="425" actId="20577"/>
        <pc:sldMkLst>
          <pc:docMk/>
          <pc:sldMk cId="1738299802" sldId="444"/>
        </pc:sldMkLst>
      </pc:sldChg>
      <pc:sldChg chg="modTransition modNotesTx">
        <pc:chgData name="Bofan Li" userId="923b47f7-9050-4aab-ae35-dccd3b035aa3" providerId="ADAL" clId="{851C7838-2484-D446-912E-35AA6F042C83}" dt="2026-05-19T16:32:56.752" v="2207"/>
        <pc:sldMkLst>
          <pc:docMk/>
          <pc:sldMk cId="213770500" sldId="447"/>
        </pc:sldMkLst>
      </pc:sldChg>
      <pc:sldChg chg="modTransition modNotesTx">
        <pc:chgData name="Bofan Li" userId="923b47f7-9050-4aab-ae35-dccd3b035aa3" providerId="ADAL" clId="{851C7838-2484-D446-912E-35AA6F042C83}" dt="2026-05-19T16:32:56.752" v="2207"/>
        <pc:sldMkLst>
          <pc:docMk/>
          <pc:sldMk cId="199405411" sldId="448"/>
        </pc:sldMkLst>
      </pc:sldChg>
      <pc:sldChg chg="modNotesTx">
        <pc:chgData name="Bofan Li" userId="923b47f7-9050-4aab-ae35-dccd3b035aa3" providerId="ADAL" clId="{851C7838-2484-D446-912E-35AA6F042C83}" dt="2026-05-19T04:59:20.187" v="2202" actId="20577"/>
        <pc:sldMkLst>
          <pc:docMk/>
          <pc:sldMk cId="1009066897" sldId="450"/>
        </pc:sldMkLst>
      </pc:sldChg>
      <pc:sldChg chg="modNotesTx">
        <pc:chgData name="Bofan Li" userId="923b47f7-9050-4aab-ae35-dccd3b035aa3" providerId="ADAL" clId="{851C7838-2484-D446-912E-35AA6F042C83}" dt="2026-05-15T20:06:52.790" v="1396" actId="20577"/>
        <pc:sldMkLst>
          <pc:docMk/>
          <pc:sldMk cId="4083406717" sldId="451"/>
        </pc:sldMkLst>
      </pc:sldChg>
      <pc:sldChg chg="modNotesTx">
        <pc:chgData name="Bofan Li" userId="923b47f7-9050-4aab-ae35-dccd3b035aa3" providerId="ADAL" clId="{851C7838-2484-D446-912E-35AA6F042C83}" dt="2026-05-19T17:27:20.199" v="2233" actId="20577"/>
        <pc:sldMkLst>
          <pc:docMk/>
          <pc:sldMk cId="1616777777" sldId="452"/>
        </pc:sldMkLst>
      </pc:sldChg>
      <pc:sldChg chg="modNotesTx">
        <pc:chgData name="Bofan Li" userId="923b47f7-9050-4aab-ae35-dccd3b035aa3" providerId="ADAL" clId="{851C7838-2484-D446-912E-35AA6F042C83}" dt="2026-05-19T05:02:40.305" v="2203" actId="20577"/>
        <pc:sldMkLst>
          <pc:docMk/>
          <pc:sldMk cId="1050683295" sldId="454"/>
        </pc:sldMkLst>
      </pc:sldChg>
    </pc:docChg>
  </pc:docChgLst>
  <pc:docChgLst>
    <pc:chgData name="Bofan Li" userId="923b47f7-9050-4aab-ae35-dccd3b035aa3" providerId="ADAL" clId="{6A6E2A14-6D10-4E41-86C2-9A14D4D07AAC}"/>
    <pc:docChg chg="undo custSel modSld">
      <pc:chgData name="Bofan Li" userId="923b47f7-9050-4aab-ae35-dccd3b035aa3" providerId="ADAL" clId="{6A6E2A14-6D10-4E41-86C2-9A14D4D07AAC}" dt="2026-05-16T20:31:04.545" v="1203" actId="20577"/>
      <pc:docMkLst>
        <pc:docMk/>
      </pc:docMkLst>
      <pc:sldChg chg="modNotesTx">
        <pc:chgData name="Bofan Li" userId="923b47f7-9050-4aab-ae35-dccd3b035aa3" providerId="ADAL" clId="{6A6E2A14-6D10-4E41-86C2-9A14D4D07AAC}" dt="2026-05-16T01:50:24.140" v="933" actId="20577"/>
        <pc:sldMkLst>
          <pc:docMk/>
          <pc:sldMk cId="631374267" sldId="418"/>
        </pc:sldMkLst>
      </pc:sldChg>
      <pc:sldChg chg="modSp mod modNotesTx">
        <pc:chgData name="Bofan Li" userId="923b47f7-9050-4aab-ae35-dccd3b035aa3" providerId="ADAL" clId="{6A6E2A14-6D10-4E41-86C2-9A14D4D07AAC}" dt="2026-05-16T02:37:00.670" v="1153" actId="20577"/>
        <pc:sldMkLst>
          <pc:docMk/>
          <pc:sldMk cId="1243512314" sldId="422"/>
        </pc:sldMkLst>
        <pc:spChg chg="mod">
          <ac:chgData name="Bofan Li" userId="923b47f7-9050-4aab-ae35-dccd3b035aa3" providerId="ADAL" clId="{6A6E2A14-6D10-4E41-86C2-9A14D4D07AAC}" dt="2026-05-16T02:37:00.670" v="1153" actId="20577"/>
          <ac:spMkLst>
            <pc:docMk/>
            <pc:sldMk cId="1243512314" sldId="422"/>
            <ac:spMk id="3" creationId="{F52DF51C-396F-505F-BB15-5EB9B98B8F14}"/>
          </ac:spMkLst>
        </pc:spChg>
      </pc:sldChg>
      <pc:sldChg chg="modSp mod modAnim modNotesTx">
        <pc:chgData name="Bofan Li" userId="923b47f7-9050-4aab-ae35-dccd3b035aa3" providerId="ADAL" clId="{6A6E2A14-6D10-4E41-86C2-9A14D4D07AAC}" dt="2026-05-16T20:23:30.044" v="1180" actId="20577"/>
        <pc:sldMkLst>
          <pc:docMk/>
          <pc:sldMk cId="3974136305" sldId="425"/>
        </pc:sldMkLst>
        <pc:spChg chg="mod">
          <ac:chgData name="Bofan Li" userId="923b47f7-9050-4aab-ae35-dccd3b035aa3" providerId="ADAL" clId="{6A6E2A14-6D10-4E41-86C2-9A14D4D07AAC}" dt="2026-05-16T02:42:34.944" v="1159" actId="20577"/>
          <ac:spMkLst>
            <pc:docMk/>
            <pc:sldMk cId="3974136305" sldId="425"/>
            <ac:spMk id="16" creationId="{674A68F4-AFB4-EE36-A205-5DD2AE69EFF5}"/>
          </ac:spMkLst>
        </pc:spChg>
      </pc:sldChg>
      <pc:sldChg chg="modNotesTx">
        <pc:chgData name="Bofan Li" userId="923b47f7-9050-4aab-ae35-dccd3b035aa3" providerId="ADAL" clId="{6A6E2A14-6D10-4E41-86C2-9A14D4D07AAC}" dt="2026-05-16T20:29:22.694" v="1196" actId="20577"/>
        <pc:sldMkLst>
          <pc:docMk/>
          <pc:sldMk cId="2368508770" sldId="441"/>
        </pc:sldMkLst>
      </pc:sldChg>
      <pc:sldChg chg="modNotesTx">
        <pc:chgData name="Bofan Li" userId="923b47f7-9050-4aab-ae35-dccd3b035aa3" providerId="ADAL" clId="{6A6E2A14-6D10-4E41-86C2-9A14D4D07AAC}" dt="2026-05-16T20:31:04.545" v="1203" actId="20577"/>
        <pc:sldMkLst>
          <pc:docMk/>
          <pc:sldMk cId="4194064311" sldId="442"/>
        </pc:sldMkLst>
      </pc:sldChg>
      <pc:sldChg chg="modNotesTx">
        <pc:chgData name="Bofan Li" userId="923b47f7-9050-4aab-ae35-dccd3b035aa3" providerId="ADAL" clId="{6A6E2A14-6D10-4E41-86C2-9A14D4D07AAC}" dt="2026-05-16T02:34:57.378" v="1148" actId="20577"/>
        <pc:sldMkLst>
          <pc:docMk/>
          <pc:sldMk cId="1738299802" sldId="444"/>
        </pc:sldMkLst>
      </pc:sldChg>
      <pc:sldChg chg="modNotesTx">
        <pc:chgData name="Bofan Li" userId="923b47f7-9050-4aab-ae35-dccd3b035aa3" providerId="ADAL" clId="{6A6E2A14-6D10-4E41-86C2-9A14D4D07AAC}" dt="2026-05-15T15:50:12.325" v="618" actId="20577"/>
        <pc:sldMkLst>
          <pc:docMk/>
          <pc:sldMk cId="213770500" sldId="447"/>
        </pc:sldMkLst>
      </pc:sldChg>
      <pc:sldChg chg="modNotesTx">
        <pc:chgData name="Bofan Li" userId="923b47f7-9050-4aab-ae35-dccd3b035aa3" providerId="ADAL" clId="{6A6E2A14-6D10-4E41-86C2-9A14D4D07AAC}" dt="2026-05-16T20:18:04.678" v="1178" actId="20577"/>
        <pc:sldMkLst>
          <pc:docMk/>
          <pc:sldMk cId="199405411" sldId="448"/>
        </pc:sldMkLst>
      </pc:sldChg>
      <pc:sldChg chg="addAnim delAnim modAnim modNotesTx">
        <pc:chgData name="Bofan Li" userId="923b47f7-9050-4aab-ae35-dccd3b035aa3" providerId="ADAL" clId="{6A6E2A14-6D10-4E41-86C2-9A14D4D07AAC}" dt="2026-05-16T20:25:57.744" v="1184" actId="20577"/>
        <pc:sldMkLst>
          <pc:docMk/>
          <pc:sldMk cId="1009066897" sldId="450"/>
        </pc:sldMkLst>
      </pc:sldChg>
      <pc:sldChg chg="modNotesTx">
        <pc:chgData name="Bofan Li" userId="923b47f7-9050-4aab-ae35-dccd3b035aa3" providerId="ADAL" clId="{6A6E2A14-6D10-4E41-86C2-9A14D4D07AAC}" dt="2026-05-15T23:34:31.082" v="709" actId="20577"/>
        <pc:sldMkLst>
          <pc:docMk/>
          <pc:sldMk cId="4083406717" sldId="451"/>
        </pc:sldMkLst>
      </pc:sldChg>
      <pc:sldChg chg="modNotesTx">
        <pc:chgData name="Bofan Li" userId="923b47f7-9050-4aab-ae35-dccd3b035aa3" providerId="ADAL" clId="{6A6E2A14-6D10-4E41-86C2-9A14D4D07AAC}" dt="2026-05-16T00:23:26.592" v="828" actId="20577"/>
        <pc:sldMkLst>
          <pc:docMk/>
          <pc:sldMk cId="1616777777" sldId="452"/>
        </pc:sldMkLst>
      </pc:sldChg>
      <pc:sldChg chg="modNotesTx">
        <pc:chgData name="Bofan Li" userId="923b47f7-9050-4aab-ae35-dccd3b035aa3" providerId="ADAL" clId="{6A6E2A14-6D10-4E41-86C2-9A14D4D07AAC}" dt="2026-05-15T15:18:30.144" v="594" actId="20577"/>
        <pc:sldMkLst>
          <pc:docMk/>
          <pc:sldMk cId="1383339844" sldId="453"/>
        </pc:sldMkLst>
      </pc:sldChg>
      <pc:sldChg chg="modSp mod modNotesTx">
        <pc:chgData name="Bofan Li" userId="923b47f7-9050-4aab-ae35-dccd3b035aa3" providerId="ADAL" clId="{6A6E2A14-6D10-4E41-86C2-9A14D4D07AAC}" dt="2026-05-16T00:41:44.033" v="917" actId="20577"/>
        <pc:sldMkLst>
          <pc:docMk/>
          <pc:sldMk cId="1050683295" sldId="454"/>
        </pc:sldMkLst>
        <pc:spChg chg="mod">
          <ac:chgData name="Bofan Li" userId="923b47f7-9050-4aab-ae35-dccd3b035aa3" providerId="ADAL" clId="{6A6E2A14-6D10-4E41-86C2-9A14D4D07AAC}" dt="2026-05-15T15:09:38.596" v="518" actId="20577"/>
          <ac:spMkLst>
            <pc:docMk/>
            <pc:sldMk cId="1050683295" sldId="454"/>
            <ac:spMk id="57" creationId="{A0E3FA55-AF95-7E8A-ED1E-DDBD5F196B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636C4-2566-4A50-821D-06D4658AD6C7}" type="datetimeFigureOut">
              <a:rPr lang="en-US" smtClean="0"/>
              <a:t>5/18/26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139316-EC68-4FD1-8D30-36B66FF67872}" type="slidenum">
              <a:rPr lang="en-US" smtClean="0"/>
              <a:t>‹#›</a:t>
            </a:fld>
            <a:endParaRPr lang="en-US"/>
          </a:p>
        </p:txBody>
      </p:sp>
    </p:spTree>
    <p:extLst>
      <p:ext uri="{BB962C8B-B14F-4D97-AF65-F5344CB8AC3E}">
        <p14:creationId xmlns:p14="http://schemas.microsoft.com/office/powerpoint/2010/main" val="1382722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016D0-CFC8-02CC-BA7A-02D6CF75A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0A41E-CF45-FC33-07CF-CCF8BA8F9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90E95-952E-8A74-97E7-642D3DC7BCAF}"/>
              </a:ext>
            </a:extLst>
          </p:cNvPr>
          <p:cNvSpPr>
            <a:spLocks noGrp="1"/>
          </p:cNvSpPr>
          <p:nvPr>
            <p:ph type="body" idx="1"/>
          </p:nvPr>
        </p:nvSpPr>
        <p:spPr/>
        <p:txBody>
          <a:bodyPr/>
          <a:lstStyle/>
          <a:p>
            <a:r>
              <a:rPr lang="en-US"/>
              <a:t>Good afternoon, everyone. My name is Bofan Li, “He’s </a:t>
            </a:r>
            <a:r>
              <a:rPr lang="en-US" err="1"/>
              <a:t>Zhankai</a:t>
            </a:r>
            <a:r>
              <a:rPr lang="en-US"/>
              <a:t> Ye” and today we will </a:t>
            </a:r>
            <a:r>
              <a:rPr lang="en-US" sz="1200" kern="1200">
                <a:solidFill>
                  <a:schemeClr val="tx1"/>
                </a:solidFill>
                <a:latin typeface="+mn-lt"/>
                <a:ea typeface="+mn-ea"/>
                <a:cs typeface="+mn-cs"/>
              </a:rPr>
              <a:t>present our work, 2FiA: Towards </a:t>
            </a:r>
            <a:r>
              <a:rPr lang="en-US" sz="1200" kern="1200" err="1">
                <a:solidFill>
                  <a:schemeClr val="tx1"/>
                </a:solidFill>
                <a:latin typeface="+mn-lt"/>
                <a:ea typeface="+mn-ea"/>
                <a:cs typeface="+mn-cs"/>
              </a:rPr>
              <a:t>WiFi</a:t>
            </a:r>
            <a:r>
              <a:rPr lang="en-US" sz="1200" kern="1200">
                <a:solidFill>
                  <a:schemeClr val="tx1"/>
                </a:solidFill>
                <a:latin typeface="+mn-lt"/>
                <a:ea typeface="+mn-ea"/>
                <a:cs typeface="+mn-cs"/>
              </a:rPr>
              <a:t> Sensing-Based Authentication with Unique Biometrics.</a:t>
            </a:r>
          </a:p>
          <a:p>
            <a:r>
              <a:rPr lang="en-US" sz="1200" kern="1200">
                <a:solidFill>
                  <a:schemeClr val="tx1"/>
                </a:solidFill>
                <a:latin typeface="+mn-lt"/>
                <a:ea typeface="+mn-ea"/>
                <a:cs typeface="+mn-cs"/>
              </a:rPr>
              <a:t>This is a joint work with Professor </a:t>
            </a:r>
            <a:r>
              <a:rPr lang="en-US" sz="1200" kern="1200" err="1">
                <a:solidFill>
                  <a:schemeClr val="tx1"/>
                </a:solidFill>
                <a:latin typeface="+mn-lt"/>
                <a:ea typeface="+mn-ea"/>
                <a:cs typeface="+mn-cs"/>
              </a:rPr>
              <a:t>Weikuan</a:t>
            </a:r>
            <a:r>
              <a:rPr lang="en-US" sz="1200" kern="1200">
                <a:solidFill>
                  <a:schemeClr val="tx1"/>
                </a:solidFill>
                <a:latin typeface="+mn-lt"/>
                <a:ea typeface="+mn-ea"/>
                <a:cs typeface="+mn-cs"/>
              </a:rPr>
              <a:t> Yu, Professor </a:t>
            </a:r>
            <a:r>
              <a:rPr lang="en-US" sz="1200" kern="1200" err="1">
                <a:solidFill>
                  <a:schemeClr val="tx1"/>
                </a:solidFill>
                <a:latin typeface="+mn-lt"/>
                <a:ea typeface="+mn-ea"/>
                <a:cs typeface="+mn-cs"/>
              </a:rPr>
              <a:t>Yongning</a:t>
            </a:r>
            <a:r>
              <a:rPr lang="en-US" sz="1200" kern="1200">
                <a:solidFill>
                  <a:schemeClr val="tx1"/>
                </a:solidFill>
                <a:latin typeface="+mn-lt"/>
                <a:ea typeface="+mn-ea"/>
                <a:cs typeface="+mn-cs"/>
              </a:rPr>
              <a:t> Tang, and Professor Xin Liu, from Florida State University and Illinois State University.</a:t>
            </a:r>
          </a:p>
        </p:txBody>
      </p:sp>
      <p:sp>
        <p:nvSpPr>
          <p:cNvPr id="4" name="Slide Number Placeholder 3">
            <a:extLst>
              <a:ext uri="{FF2B5EF4-FFF2-40B4-BE49-F238E27FC236}">
                <a16:creationId xmlns:a16="http://schemas.microsoft.com/office/drawing/2014/main" id="{DD195992-5CB2-99D5-9851-C62E4FCDB5C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70303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7A84F-16C3-5363-E27E-1C186C41D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A5940-59C6-FF9F-3AA7-8B5649C6B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B4510-E1D6-EDDE-6D9E-EB6B63923295}"/>
              </a:ext>
            </a:extLst>
          </p:cNvPr>
          <p:cNvSpPr>
            <a:spLocks noGrp="1"/>
          </p:cNvSpPr>
          <p:nvPr>
            <p:ph type="body" idx="1"/>
          </p:nvPr>
        </p:nvSpPr>
        <p:spPr/>
        <p:txBody>
          <a:bodyPr/>
          <a:lstStyle/>
          <a:p>
            <a:pPr algn="l"/>
            <a:r>
              <a:rPr lang="en-US" dirty="0"/>
              <a:t>We choose Wi-Fi because </a:t>
            </a:r>
            <a:r>
              <a:rPr lang="en-US" dirty="0" err="1"/>
              <a:t>wifi</a:t>
            </a:r>
            <a:r>
              <a:rPr lang="en-US" dirty="0"/>
              <a:t> is a ubiquitous wireless technology. Many current devices already support Wi-Fi. such as computers and smart devices.</a:t>
            </a:r>
          </a:p>
          <a:p>
            <a:r>
              <a:rPr lang="en-US" dirty="0"/>
              <a:t>Additionally, the Wi-Fi signal is already everywhere. in our room, buildings, and the public city.</a:t>
            </a:r>
          </a:p>
          <a:p>
            <a:pPr algn="l"/>
            <a:r>
              <a:rPr lang="en-US" dirty="0"/>
              <a:t>//</a:t>
            </a:r>
          </a:p>
          <a:p>
            <a:pPr algn="l"/>
            <a:r>
              <a:rPr lang="en-US" dirty="0"/>
              <a:t>Recently, Wi-Fi sensing has also been added to the IEEE 802.11bf standard. This shows that Wi-Fi is no longer only used for communication, but is also becoming a powerful sensing technology.</a:t>
            </a:r>
          </a:p>
          <a:p>
            <a:pPr algn="l"/>
            <a:r>
              <a:rPr lang="en-US" dirty="0"/>
              <a:t>//</a:t>
            </a:r>
          </a:p>
          <a:p>
            <a:pPr algn="l"/>
            <a:r>
              <a:rPr lang="en-US" dirty="0"/>
              <a:t>With Wi-Fi sensing, it can support many applications, such as tracking, gesture recognition, vital sign monitoring, and today’s topic authentication. </a:t>
            </a:r>
          </a:p>
        </p:txBody>
      </p:sp>
      <p:sp>
        <p:nvSpPr>
          <p:cNvPr id="4" name="Slide Number Placeholder 3">
            <a:extLst>
              <a:ext uri="{FF2B5EF4-FFF2-40B4-BE49-F238E27FC236}">
                <a16:creationId xmlns:a16="http://schemas.microsoft.com/office/drawing/2014/main" id="{7E5E6CDB-8F23-30C7-B76E-1C7FF4B28F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247751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7C789-69FA-C5F6-FC5C-D8C860A3E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B3FA7-2BD7-5BA7-B097-DFA88C555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F59C4-B996-BFC6-CE88-79F42F3E6024}"/>
              </a:ext>
            </a:extLst>
          </p:cNvPr>
          <p:cNvSpPr>
            <a:spLocks noGrp="1"/>
          </p:cNvSpPr>
          <p:nvPr>
            <p:ph type="body" idx="1"/>
          </p:nvPr>
        </p:nvSpPr>
        <p:spPr/>
        <p:txBody>
          <a:bodyPr/>
          <a:lstStyle/>
          <a:p>
            <a:r>
              <a:rPr lang="en-US" dirty="0"/>
              <a:t>Existing Wi-Fi authentication systems mainly use behavioral biometrics, such as gait gestures, finger gestures, or respiration. These signals are voluntary motions.</a:t>
            </a:r>
          </a:p>
          <a:p>
            <a:r>
              <a:rPr lang="en-US" dirty="0"/>
              <a:t> //</a:t>
            </a:r>
          </a:p>
          <a:p>
            <a:r>
              <a:rPr lang="en-US" dirty="0"/>
              <a:t>which means people can intentionally change their biometric patterns. </a:t>
            </a:r>
          </a:p>
          <a:p>
            <a:r>
              <a:rPr lang="en-US" dirty="0"/>
              <a:t>\\</a:t>
            </a:r>
          </a:p>
          <a:p>
            <a:r>
              <a:rPr lang="en-US" dirty="0"/>
              <a:t>Because of this, these biometrics may be observed and potentially mimicked by an attacker. </a:t>
            </a:r>
          </a:p>
          <a:p>
            <a:r>
              <a:rPr lang="en-US" dirty="0"/>
              <a:t>\\</a:t>
            </a:r>
          </a:p>
          <a:p>
            <a:r>
              <a:rPr lang="en-US" dirty="0"/>
              <a:t>In contrast, heartbeat is much harder to fake because it is involuntary.</a:t>
            </a:r>
          </a:p>
          <a:p>
            <a:r>
              <a:rPr lang="en-US" dirty="0"/>
              <a:t>\\</a:t>
            </a:r>
          </a:p>
          <a:p>
            <a:r>
              <a:rPr lang="en-US" dirty="0">
                <a:latin typeface="Aptos"/>
              </a:rPr>
              <a:t>Therefore, we choose to combine respiration and heartbeat together to create a continuous and hard-to-mimic authentication system.</a:t>
            </a:r>
          </a:p>
        </p:txBody>
      </p:sp>
      <p:sp>
        <p:nvSpPr>
          <p:cNvPr id="4" name="Slide Number Placeholder 3">
            <a:extLst>
              <a:ext uri="{FF2B5EF4-FFF2-40B4-BE49-F238E27FC236}">
                <a16:creationId xmlns:a16="http://schemas.microsoft.com/office/drawing/2014/main" id="{83FF4859-C8BA-7AED-9D9F-063A1B2B65E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026345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AFB5-B12B-804D-C852-68E190CC9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D7028-44F3-B063-111F-F8A62F650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22D86-89B6-9818-74CD-2F3041CE46DA}"/>
              </a:ext>
            </a:extLst>
          </p:cNvPr>
          <p:cNvSpPr>
            <a:spLocks noGrp="1"/>
          </p:cNvSpPr>
          <p:nvPr>
            <p:ph type="body" idx="1"/>
          </p:nvPr>
        </p:nvSpPr>
        <p:spPr/>
        <p:txBody>
          <a:bodyPr/>
          <a:lstStyle/>
          <a:p>
            <a:r>
              <a:rPr lang="en-US" dirty="0"/>
              <a:t>However, extracting heartbeat from Wi-Fi is very challenging.  Heartbeat is a subtle motion</a:t>
            </a:r>
            <a:r>
              <a:rPr lang="zh-CN" altLang="en-US" dirty="0">
                <a:ea typeface="等线"/>
              </a:rPr>
              <a:t> </a:t>
            </a:r>
            <a:r>
              <a:rPr lang="en-US" altLang="zh-CN" dirty="0">
                <a:ea typeface="等线"/>
              </a:rPr>
              <a:t>a</a:t>
            </a:r>
            <a:r>
              <a:rPr lang="en-US" dirty="0"/>
              <a:t>nd weak in Wi-Fi signal. It can be buried under other environmental interference.</a:t>
            </a:r>
          </a:p>
          <a:p>
            <a:r>
              <a:rPr lang="en-US" dirty="0"/>
              <a:t>//</a:t>
            </a:r>
          </a:p>
          <a:p>
            <a:r>
              <a:rPr lang="en-US" dirty="0"/>
              <a:t>Our key insight is that instead of detecting a heartbeat in the raw Wi-Fi CSI</a:t>
            </a:r>
            <a:r>
              <a:rPr lang="zh-CN" altLang="en-US" dirty="0"/>
              <a:t> </a:t>
            </a:r>
            <a:r>
              <a:rPr lang="en-US" sz="1200" kern="1200" dirty="0">
                <a:solidFill>
                  <a:schemeClr val="tx1"/>
                </a:solidFill>
                <a:latin typeface="+mn-lt"/>
                <a:ea typeface="+mn-ea"/>
                <a:cs typeface="+mn-cs"/>
              </a:rPr>
              <a:t>signal. We first use 3D spatial modeling to locate the thoracic region, because both respiration and heartbeat are from the </a:t>
            </a:r>
            <a:r>
              <a:rPr lang="en-US" dirty="0"/>
              <a:t>thoracic</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thr</a:t>
            </a:r>
            <a:r>
              <a:rPr lang="en-US" sz="1200" kern="1200" dirty="0">
                <a:solidFill>
                  <a:schemeClr val="tx1"/>
                </a:solidFill>
                <a:latin typeface="+mn-lt"/>
                <a:ea typeface="+mn-ea"/>
                <a:cs typeface="+mn-cs"/>
              </a:rPr>
              <a:t> a </a:t>
            </a:r>
            <a:r>
              <a:rPr lang="en-US" sz="1200" kern="1200" dirty="0" err="1">
                <a:solidFill>
                  <a:schemeClr val="tx1"/>
                </a:solidFill>
                <a:latin typeface="+mn-lt"/>
                <a:ea typeface="+mn-ea"/>
                <a:cs typeface="+mn-cs"/>
              </a:rPr>
              <a:t>suhk</a:t>
            </a:r>
            <a:r>
              <a:rPr lang="en-US" sz="1200" kern="1200" dirty="0">
                <a:solidFill>
                  <a:schemeClr val="tx1"/>
                </a:solidFill>
                <a:latin typeface="+mn-lt"/>
                <a:ea typeface="+mn-ea"/>
                <a:cs typeface="+mn-cs"/>
              </a:rPr>
              <a:t>”. In the figure, we show the Wi-Fi signal path reflecting from the </a:t>
            </a:r>
            <a:r>
              <a:rPr lang="en-US" dirty="0"/>
              <a:t>thoracic</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By estimating angle of </a:t>
            </a:r>
            <a:r>
              <a:rPr lang="en-US" dirty="0"/>
              <a:t>arrival</a:t>
            </a:r>
            <a:r>
              <a:rPr lang="en-US" sz="1200" kern="1200" dirty="0">
                <a:solidFill>
                  <a:schemeClr val="tx1"/>
                </a:solidFill>
                <a:latin typeface="+mn-lt"/>
                <a:ea typeface="+mn-ea"/>
                <a:cs typeface="+mn-cs"/>
              </a:rPr>
              <a:t> azimuth, angle of </a:t>
            </a:r>
            <a:r>
              <a:rPr lang="en-US" dirty="0"/>
              <a:t>arrival</a:t>
            </a:r>
            <a:r>
              <a:rPr lang="en-US" sz="1200" kern="1200" dirty="0">
                <a:solidFill>
                  <a:schemeClr val="tx1"/>
                </a:solidFill>
                <a:latin typeface="+mn-lt"/>
                <a:ea typeface="+mn-ea"/>
                <a:cs typeface="+mn-cs"/>
              </a:rPr>
              <a:t> elevation, and time-of-flight, we can build a 3D spatial spectrum and focus on the region that contains the vital signs signal.</a:t>
            </a:r>
          </a:p>
          <a:p>
            <a:pPr algn="just"/>
            <a:r>
              <a:rPr lang="en-US" sz="1200" dirty="0">
                <a:latin typeface="Times New Roman" panose="02020603050405020304" pitchFamily="18" charset="0"/>
                <a:cs typeface="Times New Roman" panose="02020603050405020304" pitchFamily="18" charset="0"/>
              </a:rPr>
              <a:t>2:50s</a:t>
            </a:r>
          </a:p>
        </p:txBody>
      </p:sp>
      <p:sp>
        <p:nvSpPr>
          <p:cNvPr id="4" name="Slide Number Placeholder 3">
            <a:extLst>
              <a:ext uri="{FF2B5EF4-FFF2-40B4-BE49-F238E27FC236}">
                <a16:creationId xmlns:a16="http://schemas.microsoft.com/office/drawing/2014/main" id="{2B4CAD05-A394-0CF6-2234-DA138D50940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809729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2ECA-9C59-8B66-BE29-222FB3949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D3ECD-D618-3EF3-4B95-FD229E828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DEEFF-D2D7-F3A3-4151-69DA535EEFAE}"/>
              </a:ext>
            </a:extLst>
          </p:cNvPr>
          <p:cNvSpPr>
            <a:spLocks noGrp="1"/>
          </p:cNvSpPr>
          <p:nvPr>
            <p:ph type="body" idx="1"/>
          </p:nvPr>
        </p:nvSpPr>
        <p:spPr/>
        <p:txBody>
          <a:bodyPr/>
          <a:lstStyle/>
          <a:p>
            <a:r>
              <a:rPr lang="en-US"/>
              <a:t>Here, we show an example of our 3D spectrum. The yellow regions indicate higher signal energy, which means the signal is more likely to come from those regions.</a:t>
            </a:r>
            <a:endParaRPr lang="en-US" sz="12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790D9A-C40C-0CF8-C40D-DCC5A894F20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502192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7ABF3-41B6-6999-E2CC-BA42F4578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1F18-0173-466E-F976-4D30AE117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F68BE-A74B-89CC-277C-7713549026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Instead of looking at a solo spatial spectrum, we analyze multiple continuous spectra over time. because respiration and heartbeat are “pe </a:t>
            </a:r>
            <a:r>
              <a:rPr lang="en-US" b="1" dirty="0" err="1"/>
              <a:t>ri</a:t>
            </a:r>
            <a:r>
              <a:rPr lang="en-US" b="1" dirty="0"/>
              <a:t> o </a:t>
            </a:r>
            <a:r>
              <a:rPr lang="en-US" b="1" dirty="0" err="1"/>
              <a:t>dic</a:t>
            </a:r>
            <a:r>
              <a:rPr lang="en-US" b="1" dirty="0"/>
              <a:t>”.this temporal clues allow us to identify the thoracic region and distinguish it from other reflections, such as static objects in the environment.</a:t>
            </a:r>
            <a:r>
              <a:rPr lang="en-US" b="0" dirty="0"/>
              <a:t> </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6104134-B3B9-C836-C02E-12528DD60EF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6376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7D6EE-816E-8489-8A50-1F7C782DC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A4AEA-8316-4013-48A9-5ECB9FCA5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DBEDF-C8E4-55F1-DA1A-011A4D7947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building the </a:t>
            </a:r>
            <a:r>
              <a:rPr lang="en-US" sz="1200" kern="1200" dirty="0">
                <a:solidFill>
                  <a:schemeClr val="tx1"/>
                </a:solidFill>
                <a:latin typeface="+mn-lt"/>
                <a:ea typeface="+mn-ea"/>
                <a:cs typeface="+mn-cs"/>
              </a:rPr>
              <a:t>spatial-temporal view, we introduce the Spatial Physiological Signal-to-Noise Ratio.</a:t>
            </a:r>
            <a:r>
              <a:rPr lang="zh-CN" altLang="en-US" sz="1200" kern="1200" dirty="0">
                <a:solidFill>
                  <a:schemeClr val="tx1"/>
                </a:solidFill>
                <a:latin typeface="+mn-lt"/>
                <a:ea typeface="+mn-ea"/>
                <a:cs typeface="+mn-cs"/>
              </a:rPr>
              <a:t> </a:t>
            </a:r>
            <a:r>
              <a:rPr lang="en-US" sz="1200" kern="1200" dirty="0">
                <a:solidFill>
                  <a:schemeClr val="tx1"/>
                </a:solidFill>
                <a:latin typeface="+mn-lt"/>
                <a:ea typeface="+mn-ea"/>
                <a:cs typeface="+mn-cs"/>
              </a:rPr>
              <a:t>The metric measures how much the </a:t>
            </a:r>
            <a:r>
              <a:rPr lang="en-US" dirty="0"/>
              <a:t>vital</a:t>
            </a:r>
            <a:r>
              <a:rPr lang="en-US" sz="1200" kern="1200" dirty="0">
                <a:solidFill>
                  <a:schemeClr val="tx1"/>
                </a:solidFill>
                <a:latin typeface="+mn-lt"/>
                <a:ea typeface="+mn-ea"/>
                <a:cs typeface="+mn-cs"/>
              </a:rPr>
              <a:t> signs</a:t>
            </a:r>
            <a:r>
              <a:rPr lang="en-US" dirty="0"/>
              <a:t> </a:t>
            </a:r>
            <a:r>
              <a:rPr lang="en-US" sz="1200" kern="1200" dirty="0">
                <a:solidFill>
                  <a:schemeClr val="tx1"/>
                </a:solidFill>
                <a:latin typeface="+mn-lt"/>
                <a:ea typeface="+mn-ea"/>
                <a:cs typeface="+mn-cs"/>
              </a:rPr>
              <a:t>appear at each spatial region. A region with high value is more likely to contain respiration and heartbeat- motion. The right figure shows an initial estimate of the thoracic region.</a:t>
            </a:r>
          </a:p>
          <a:p>
            <a:endParaRPr lang="en-US" sz="1200" kern="1200" dirty="0">
              <a:solidFill>
                <a:schemeClr val="tx1"/>
              </a:solidFill>
              <a:latin typeface="+mn-lt"/>
              <a:ea typeface="+mn-ea"/>
              <a:cs typeface="+mn-cs"/>
            </a:endParaRPr>
          </a:p>
          <a:p>
            <a:pPr algn="l"/>
            <a:endParaRPr lang="en-US" altLang="zh-CN" sz="1200" b="0" i="0" u="none" strike="noStrike" baseline="0" dirty="0">
              <a:latin typeface="LinLibertineO-Identity-H"/>
            </a:endParaRPr>
          </a:p>
        </p:txBody>
      </p:sp>
      <p:sp>
        <p:nvSpPr>
          <p:cNvPr id="4" name="Slide Number Placeholder 3">
            <a:extLst>
              <a:ext uri="{FF2B5EF4-FFF2-40B4-BE49-F238E27FC236}">
                <a16:creationId xmlns:a16="http://schemas.microsoft.com/office/drawing/2014/main" id="{DC4A457F-6EAC-4A84-98F7-B3944C9A78A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619786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47D2E-F865-FE32-9C2C-EDEE957E7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40E63-33F0-63E3-92F1-670B1B7B6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39640-AB51-7F10-A1F5-F1F65DF4FD8C}"/>
              </a:ext>
            </a:extLst>
          </p:cNvPr>
          <p:cNvSpPr>
            <a:spLocks noGrp="1"/>
          </p:cNvSpPr>
          <p:nvPr>
            <p:ph type="body" idx="1"/>
          </p:nvPr>
        </p:nvSpPr>
        <p:spPr/>
        <p:txBody>
          <a:bodyPr/>
          <a:lstStyle/>
          <a:p>
            <a:r>
              <a:rPr lang="en-US" dirty="0"/>
              <a:t>However, the initial thoracic region may still contain noise from nearby body parts.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comparing the initial thoracic region with nearby reference regions, we can remove the shared noise and keep the thoracic region signal.</a:t>
            </a:r>
          </a:p>
          <a:p>
            <a:r>
              <a:rPr lang="en-US" dirty="0"/>
              <a:t>The figure shows a smaller and cleaner thoracic region and gives us a better signal source for extracting the vital signs.</a:t>
            </a:r>
          </a:p>
          <a:p>
            <a:pPr algn="l"/>
            <a:r>
              <a:rPr lang="en-US" altLang="zh-CN" sz="1200" b="0" i="0" u="none" strike="noStrike" baseline="0" dirty="0">
                <a:latin typeface="LinLibertineO-Identity-H"/>
              </a:rPr>
              <a:t>5min</a:t>
            </a:r>
          </a:p>
          <a:p>
            <a:pPr algn="l"/>
            <a:endParaRPr lang="en-US" altLang="zh-CN" sz="1200" b="0" i="0" u="none" strike="noStrike" baseline="0" dirty="0">
              <a:latin typeface="LinLibertineO-Identity-H"/>
            </a:endParaRPr>
          </a:p>
          <a:p>
            <a:pPr algn="l"/>
            <a:endParaRPr lang="en-US" altLang="zh-CN" sz="1200" b="1" i="0" u="none" strike="noStrike" baseline="0" dirty="0">
              <a:latin typeface="LinLibertineO-Identity-H"/>
            </a:endParaRPr>
          </a:p>
        </p:txBody>
      </p:sp>
      <p:sp>
        <p:nvSpPr>
          <p:cNvPr id="4" name="Slide Number Placeholder 3">
            <a:extLst>
              <a:ext uri="{FF2B5EF4-FFF2-40B4-BE49-F238E27FC236}">
                <a16:creationId xmlns:a16="http://schemas.microsoft.com/office/drawing/2014/main" id="{BC226A5B-E2DE-3A0B-EE67-DBD61CDBA8D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715031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FBC9-FF1C-D15A-0E1C-24BE38CC3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70AAD-64B1-FA2D-643E-18140C9F6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2D01C-C289-81AA-3F29-021B55F378F0}"/>
              </a:ext>
            </a:extLst>
          </p:cNvPr>
          <p:cNvSpPr>
            <a:spLocks noGrp="1"/>
          </p:cNvSpPr>
          <p:nvPr>
            <p:ph type="body" idx="1"/>
          </p:nvPr>
        </p:nvSpPr>
        <p:spPr/>
        <p:txBody>
          <a:bodyPr/>
          <a:lstStyle/>
          <a:p>
            <a:r>
              <a:rPr lang="en-US" dirty="0"/>
              <a:t>After localization, the signal from the thoracic region still contains both respiration and heartbeat.</a:t>
            </a:r>
          </a:p>
          <a:p>
            <a:r>
              <a:rPr lang="en-US" dirty="0"/>
              <a:t>The top signal is the variation form 3d continuous spectra of the refined thoracic region. As we can see, respiration is much stronger than heartbeat, so it dominates the signal. </a:t>
            </a:r>
          </a:p>
          <a:p>
            <a:r>
              <a:rPr lang="en-US" dirty="0"/>
              <a:t>// //</a:t>
            </a:r>
          </a:p>
          <a:p>
            <a:r>
              <a:rPr lang="en-US" dirty="0"/>
              <a:t>So 2FiA extracts the dominant respiration pattern using an EMD-based decomposition method.</a:t>
            </a:r>
          </a:p>
          <a:p>
            <a:r>
              <a:rPr lang="en-US" dirty="0"/>
              <a:t>//</a:t>
            </a:r>
          </a:p>
          <a:p>
            <a:r>
              <a:rPr lang="en-US" dirty="0"/>
              <a:t> Then it removes the respiration component from the thoracic signal. </a:t>
            </a:r>
          </a:p>
          <a:p>
            <a:r>
              <a:rPr lang="en-US" dirty="0"/>
              <a:t>//</a:t>
            </a:r>
          </a:p>
          <a:p>
            <a:r>
              <a:rPr lang="en-US" dirty="0"/>
              <a:t>After this removal, the remaining signal contains heartbeat cycles candidate.</a:t>
            </a:r>
          </a:p>
          <a:p>
            <a:pPr algn="l"/>
            <a:endParaRPr lang="en-US" altLang="zh-CN" sz="1200" b="0" i="0" u="none" strike="noStrike" baseline="0" dirty="0">
              <a:latin typeface="LinLibertineO-Identity-H"/>
            </a:endParaRPr>
          </a:p>
        </p:txBody>
      </p:sp>
      <p:sp>
        <p:nvSpPr>
          <p:cNvPr id="4" name="Slide Number Placeholder 3">
            <a:extLst>
              <a:ext uri="{FF2B5EF4-FFF2-40B4-BE49-F238E27FC236}">
                <a16:creationId xmlns:a16="http://schemas.microsoft.com/office/drawing/2014/main" id="{898DC10A-9CFC-93AA-FFBA-A5FD5A910AB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259780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87C7-E3FC-1428-3E2B-B6F3E395D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07900-B382-32E7-13FF-989F629B2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F86D1-049B-3F52-FA0D-63B8A4F9FC82}"/>
              </a:ext>
            </a:extLst>
          </p:cNvPr>
          <p:cNvSpPr>
            <a:spLocks noGrp="1"/>
          </p:cNvSpPr>
          <p:nvPr>
            <p:ph type="body" idx="1"/>
          </p:nvPr>
        </p:nvSpPr>
        <p:spPr/>
        <p:txBody>
          <a:bodyPr/>
          <a:lstStyle/>
          <a:p>
            <a:r>
              <a:rPr lang="en-US" sz="1200" kern="1200" dirty="0">
                <a:solidFill>
                  <a:schemeClr val="tx1"/>
                </a:solidFill>
                <a:latin typeface="+mn-lt"/>
                <a:ea typeface="+mn-ea"/>
                <a:cs typeface="+mn-cs"/>
              </a:rPr>
              <a:t>the heartbeat candidate may still contain residual noise. So we need a way to validate whether the extracted signal is true heartbeats.</a:t>
            </a:r>
          </a:p>
          <a:p>
            <a:r>
              <a:rPr lang="en-US" sz="1200" kern="1200" dirty="0">
                <a:solidFill>
                  <a:schemeClr val="tx1"/>
                </a:solidFill>
                <a:latin typeface="+mn-lt"/>
                <a:ea typeface="+mn-ea"/>
                <a:cs typeface="+mn-cs"/>
              </a:rPr>
              <a:t>2FiA uses a physiological phenomenon called RSA.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RSA describes the natural coupling between respiration and heartbeat. During inhalation, the heart rate increases. During exhalation, the heart rate decreases. 2FiA checks whether the extracted heartbeat candidate follows the expected RSA pattern. If it matches the RSA patterns, we treat it as a valid heartbeat signal.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 / The right figure shows us a validated heartbeat cycle extracted by our system.</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4DAA132-3A4B-A1AD-23EE-6D3041143E5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45164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6401-3E47-76A4-4021-F35734099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12B45-273A-0E55-C3DA-88EA3614B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AE44A-E057-2775-D502-17183D815B6D}"/>
              </a:ext>
            </a:extLst>
          </p:cNvPr>
          <p:cNvSpPr>
            <a:spLocks noGrp="1"/>
          </p:cNvSpPr>
          <p:nvPr>
            <p:ph type="body" idx="1"/>
          </p:nvPr>
        </p:nvSpPr>
        <p:spPr/>
        <p:txBody>
          <a:bodyPr/>
          <a:lstStyle/>
          <a:p>
            <a:r>
              <a:rPr lang="en-US"/>
              <a:t>After extracting respiration and validating heartbeat, we use both signals for authentication.</a:t>
            </a:r>
          </a:p>
          <a:p>
            <a:r>
              <a:rPr lang="en-US"/>
              <a:t>2FiA builds a dual-factor authentication model based on a Siamese neural network. The input includes features from both respiration and heartbeat. $ The network maps these features into a shared embedding space.</a:t>
            </a:r>
          </a:p>
          <a:p>
            <a:r>
              <a:rPr lang="en-US"/>
              <a:t>$ During training, we have selected triplet loss as our loss function. The anchor and positive samples are drawn from the same user, and the negative sample is drawn from a different user. The triplet loss encourages the model to minimize the distance between the anchor-positive pair and maximize the distance between the anchor-negative pair.</a:t>
            </a:r>
          </a:p>
          <a:p>
            <a:r>
              <a:rPr lang="en-US"/>
              <a:t>This design allows 2FiA to compare a new authentication sample with enrolled user profiles. If the distance is smaller than a threshold, the system accepts the user. Otherwise, it rejects the user.</a:t>
            </a:r>
          </a:p>
          <a:p>
            <a:r>
              <a:rPr lang="en-US"/>
              <a:t>So the model learns not only individual respiration or heartbeat patterns, but a unified representation of both factors.</a:t>
            </a:r>
          </a:p>
          <a:p>
            <a:pPr algn="l"/>
            <a:endParaRPr lang="en-US" altLang="zh-CN" sz="1200" b="0" i="0" u="none" strike="noStrike" baseline="0">
              <a:latin typeface="LinLibertineO-Identity-H"/>
            </a:endParaRPr>
          </a:p>
        </p:txBody>
      </p:sp>
      <p:sp>
        <p:nvSpPr>
          <p:cNvPr id="4" name="Slide Number Placeholder 3">
            <a:extLst>
              <a:ext uri="{FF2B5EF4-FFF2-40B4-BE49-F238E27FC236}">
                <a16:creationId xmlns:a16="http://schemas.microsoft.com/office/drawing/2014/main" id="{A7643F04-BE0E-D534-FFAE-2609E318E03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950043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A26AB-A410-F02D-C906-FE1AE8140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9AAB3-A6A1-403B-27A8-8FDC4B4FD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14AAB-D67F-39D0-F78E-3593522CDB63}"/>
              </a:ext>
            </a:extLst>
          </p:cNvPr>
          <p:cNvSpPr>
            <a:spLocks noGrp="1"/>
          </p:cNvSpPr>
          <p:nvPr>
            <p:ph type="body" idx="1"/>
          </p:nvPr>
        </p:nvSpPr>
        <p:spPr/>
        <p:txBody>
          <a:bodyPr/>
          <a:lstStyle/>
          <a:p>
            <a:r>
              <a:rPr lang="en-US"/>
              <a:t>We implement 2FiA using commodity NIC card Wi-Fi devices.</a:t>
            </a:r>
          </a:p>
          <a:p>
            <a:r>
              <a:rPr lang="en-US"/>
              <a:t>The system includes a transmitter and a receiver with an L-shaped antenna array. $ We evaluate the system in multiple indoor environments, including a meeting room, a laboratory, and a lecture room. These environments have different layouts, furniture, and multipath conditions. Our </a:t>
            </a:r>
            <a:r>
              <a:rPr lang="en-US" err="1"/>
              <a:t>biotmetrc</a:t>
            </a:r>
            <a:r>
              <a:rPr lang="en-US"/>
              <a:t> is environment independent so which help us test whether 2FiA works in realistic settings.</a:t>
            </a:r>
          </a:p>
          <a:p>
            <a:r>
              <a:rPr lang="en-US"/>
              <a:t>The figure on the bottom right corner also shows a two-user example. This is important because real environments often contain multiple persons. </a:t>
            </a:r>
          </a:p>
          <a:p>
            <a:pPr>
              <a:defRPr/>
            </a:pPr>
            <a:r>
              <a:rPr lang="en-US"/>
              <a:t>Therefore, other than multi-user support, 2FiA also needs to recognize which physical user the signal belongs to.</a:t>
            </a:r>
          </a:p>
          <a:p>
            <a:pPr>
              <a:defRPr/>
            </a:pPr>
            <a:endParaRPr lang="en-US" altLang="zh-CN">
              <a:latin typeface="LinLibertineO-Identity-H"/>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B98EA687-000D-6BF9-F91F-79BFDF07AF1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531365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75AC-6DC0-876B-C32B-C3BEDF501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78381-65E6-1112-997A-6F24995AE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3AB77-E271-21CF-4DE3-05F232AB185E}"/>
              </a:ext>
            </a:extLst>
          </p:cNvPr>
          <p:cNvSpPr>
            <a:spLocks noGrp="1"/>
          </p:cNvSpPr>
          <p:nvPr>
            <p:ph type="body" idx="1"/>
          </p:nvPr>
        </p:nvSpPr>
        <p:spPr/>
        <p:txBody>
          <a:bodyPr/>
          <a:lstStyle/>
          <a:p>
            <a:r>
              <a:rPr lang="en-US"/>
              <a:t>Now </a:t>
            </a:r>
            <a:r>
              <a:rPr lang="en-US" sz="1200" kern="1200">
                <a:solidFill>
                  <a:schemeClr val="tx1"/>
                </a:solidFill>
                <a:latin typeface="+mn-lt"/>
                <a:ea typeface="+mn-ea"/>
                <a:cs typeface="+mn-cs"/>
              </a:rPr>
              <a:t>let’s look at the evaluation results. We conduct multi-user experiment. We select two baselines. </a:t>
            </a:r>
            <a:r>
              <a:rPr lang="en-US"/>
              <a:t>CUVRB does not utilize spatial information and uses </a:t>
            </a:r>
            <a:r>
              <a:rPr lang="en-US" sz="1200" kern="1200">
                <a:solidFill>
                  <a:schemeClr val="tx1"/>
                </a:solidFill>
                <a:latin typeface="+mn-lt"/>
                <a:ea typeface="+mn-ea"/>
                <a:cs typeface="+mn-cs"/>
              </a:rPr>
              <a:t>raw CSI amplitude, so it is vulnerable </a:t>
            </a:r>
            <a:r>
              <a:rPr lang="en-US"/>
              <a:t>under multi-person scenarios</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MultiSense</a:t>
            </a:r>
            <a:r>
              <a:rPr lang="en-US" sz="1200" kern="1200">
                <a:solidFill>
                  <a:schemeClr val="tx1"/>
                </a:solidFill>
                <a:latin typeface="+mn-lt"/>
                <a:ea typeface="+mn-ea"/>
                <a:cs typeface="+mn-cs"/>
              </a:rPr>
              <a:t> can separate multi-user respiration waveforms </a:t>
            </a:r>
            <a:r>
              <a:rPr lang="en-US"/>
              <a:t>by ICA, but </a:t>
            </a:r>
            <a:r>
              <a:rPr lang="en-US" sz="1200" kern="1200">
                <a:solidFill>
                  <a:schemeClr val="tx1"/>
                </a:solidFill>
                <a:latin typeface="+mn-lt"/>
                <a:ea typeface="+mn-ea"/>
                <a:cs typeface="+mn-cs"/>
              </a:rPr>
              <a:t>it also doesn’t contain spatial information and cannot tell whose signal belongs to. </a:t>
            </a:r>
            <a:endParaRPr lang="en-US"/>
          </a:p>
          <a:p>
            <a:r>
              <a:rPr lang="en-US"/>
              <a:t>$ The result shows that 2FiA achieves over 89% authentication F1 score in multi-user settings.</a:t>
            </a:r>
          </a:p>
          <a:p>
            <a:r>
              <a:rPr lang="en-US"/>
              <a:t>$ This is because 2FiA uses 3D spatial modeling to physically associate each physiological signal with its corresponding user. In other words, it does not only extract biometric signals; it also understands where those signals come from.</a:t>
            </a:r>
          </a:p>
        </p:txBody>
      </p:sp>
      <p:sp>
        <p:nvSpPr>
          <p:cNvPr id="4" name="Slide Number Placeholder 3">
            <a:extLst>
              <a:ext uri="{FF2B5EF4-FFF2-40B4-BE49-F238E27FC236}">
                <a16:creationId xmlns:a16="http://schemas.microsoft.com/office/drawing/2014/main" id="{859B5E1E-3CA3-4D1D-E1BE-463DD76199D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379747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AE3C-8289-93A8-923C-35A712A1A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7A18F-2327-77A8-3DFE-17E3CD35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E876-575A-C482-E3D2-B3A72C986D67}"/>
              </a:ext>
            </a:extLst>
          </p:cNvPr>
          <p:cNvSpPr>
            <a:spLocks noGrp="1"/>
          </p:cNvSpPr>
          <p:nvPr>
            <p:ph type="body" idx="1"/>
          </p:nvPr>
        </p:nvSpPr>
        <p:spPr/>
        <p:txBody>
          <a:bodyPr/>
          <a:lstStyle/>
          <a:p>
            <a:r>
              <a:rPr lang="en-US"/>
              <a:t>We also evaluate 2FiA under attack scenarios, including random attacks and impersonation attacks.</a:t>
            </a:r>
          </a:p>
          <a:p>
            <a:r>
              <a:rPr lang="en-US"/>
              <a:t>In a random attack, an attacker does not know the victim’s physiological pattern and simply tries to bypass the authentication system. In an impersonation attack, the attacker tries to mimic the victim’s breathing pattern.</a:t>
            </a:r>
          </a:p>
          <a:p>
            <a:r>
              <a:rPr lang="en-US"/>
              <a:t>$ Respiration-only systems are vulnerable here, because breathing is semi-voluntary and can be partially imitated. $ But 2FiA combines respiration with heartbeat. Even if an attacker tries to mimic breathing, it is much harder to mimic the victim’s heartbeat pattern.</a:t>
            </a:r>
          </a:p>
        </p:txBody>
      </p:sp>
      <p:sp>
        <p:nvSpPr>
          <p:cNvPr id="4" name="Slide Number Placeholder 3">
            <a:extLst>
              <a:ext uri="{FF2B5EF4-FFF2-40B4-BE49-F238E27FC236}">
                <a16:creationId xmlns:a16="http://schemas.microsoft.com/office/drawing/2014/main" id="{64C136CA-22C8-9ED6-383F-614AE95940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38674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BCCDD-91D3-1370-6FB1-E20B475DB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AC47D-8EFC-D7EA-D854-322EA9E72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957A1-190B-FE3B-5F43-4643E8C6FC05}"/>
              </a:ext>
            </a:extLst>
          </p:cNvPr>
          <p:cNvSpPr>
            <a:spLocks noGrp="1"/>
          </p:cNvSpPr>
          <p:nvPr>
            <p:ph type="body" idx="1"/>
          </p:nvPr>
        </p:nvSpPr>
        <p:spPr/>
        <p:txBody>
          <a:bodyPr/>
          <a:lstStyle/>
          <a:p>
            <a:r>
              <a:rPr lang="en-US"/>
              <a:t>To conclude</a:t>
            </a:r>
            <a:r>
              <a:rPr lang="en-US" sz="1200" kern="1200">
                <a:solidFill>
                  <a:schemeClr val="tx1"/>
                </a:solidFill>
                <a:latin typeface="+mn-lt"/>
                <a:ea typeface="+mn-ea"/>
                <a:cs typeface="+mn-cs"/>
              </a:rPr>
              <a:t>, we present 2FiA, a Wi-Fi sensing-based authentication system that integrates semi-voluntary respiration and involuntary heartbeat for contact-free human authentication.</a:t>
            </a:r>
          </a:p>
          <a:p>
            <a:r>
              <a:rPr lang="en-US" sz="1200" kern="1200">
                <a:solidFill>
                  <a:schemeClr val="tx1"/>
                </a:solidFill>
                <a:latin typeface="+mn-lt"/>
                <a:ea typeface="+mn-ea"/>
                <a:cs typeface="+mn-cs"/>
              </a:rPr>
              <a:t>The main technical contribution is an explainable </a:t>
            </a:r>
            <a:r>
              <a:rPr lang="en-US" sz="1200" kern="1200" err="1">
                <a:solidFill>
                  <a:schemeClr val="tx1"/>
                </a:solidFill>
                <a:latin typeface="+mn-lt"/>
                <a:ea typeface="+mn-ea"/>
                <a:cs typeface="+mn-cs"/>
              </a:rPr>
              <a:t>spatio</a:t>
            </a:r>
            <a:r>
              <a:rPr lang="en-US" sz="1200" kern="1200">
                <a:solidFill>
                  <a:schemeClr val="tx1"/>
                </a:solidFill>
                <a:latin typeface="+mn-lt"/>
                <a:ea typeface="+mn-ea"/>
                <a:cs typeface="+mn-cs"/>
              </a:rPr>
              <a:t>-temporal signal processing pipeline. It uses 3D spatial modeling to localize the thoracic region, adaptive decomposition to separate respiration and heartbeat, and RSA-based validation to ensure the heartbeat signal is physiologically meaningful.</a:t>
            </a:r>
          </a:p>
          <a:p>
            <a:r>
              <a:rPr lang="en-US" sz="1200" kern="1200">
                <a:solidFill>
                  <a:schemeClr val="tx1"/>
                </a:solidFill>
                <a:latin typeface="+mn-lt"/>
                <a:ea typeface="+mn-ea"/>
                <a:cs typeface="+mn-cs"/>
              </a:rPr>
              <a:t>Our evaluation shows that 2FiA remains robust in multi-user environments and under impersonation attacks.</a:t>
            </a:r>
          </a:p>
          <a:p>
            <a:r>
              <a:rPr lang="en-US" sz="1200" kern="1200">
                <a:solidFill>
                  <a:schemeClr val="tx1"/>
                </a:solidFill>
                <a:latin typeface="+mn-lt"/>
                <a:ea typeface="+mn-ea"/>
                <a:cs typeface="+mn-cs"/>
              </a:rPr>
              <a:t>More broadly, we believe this </a:t>
            </a:r>
            <a:r>
              <a:rPr lang="en-US" sz="1200" kern="1200" err="1">
                <a:solidFill>
                  <a:schemeClr val="tx1"/>
                </a:solidFill>
                <a:latin typeface="+mn-lt"/>
                <a:ea typeface="+mn-ea"/>
                <a:cs typeface="+mn-cs"/>
              </a:rPr>
              <a:t>spatio</a:t>
            </a:r>
            <a:r>
              <a:rPr lang="en-US" sz="1200" kern="1200">
                <a:solidFill>
                  <a:schemeClr val="tx1"/>
                </a:solidFill>
                <a:latin typeface="+mn-lt"/>
                <a:ea typeface="+mn-ea"/>
                <a:cs typeface="+mn-cs"/>
              </a:rPr>
              <a:t>-temporal Wi-Fi sensing pipeline can benefit applications beyond authentication, such as health monitoring and future smart environments.</a:t>
            </a:r>
          </a:p>
          <a:p>
            <a:r>
              <a:rPr lang="en-US" sz="1200" kern="1200">
                <a:solidFill>
                  <a:schemeClr val="tx1"/>
                </a:solidFill>
                <a:latin typeface="+mn-lt"/>
                <a:ea typeface="+mn-ea"/>
                <a:cs typeface="+mn-cs"/>
              </a:rPr>
              <a:t>10s two sentences</a:t>
            </a:r>
          </a:p>
          <a:p>
            <a:r>
              <a:rPr lang="en-US" sz="1200" kern="1200">
                <a:solidFill>
                  <a:schemeClr val="tx1"/>
                </a:solidFill>
                <a:latin typeface="+mn-lt"/>
                <a:ea typeface="+mn-ea"/>
                <a:cs typeface="+mn-cs"/>
              </a:rPr>
              <a:t>Thank you for your attention. </a:t>
            </a:r>
            <a:endParaRPr lang="en-US" altLang="zh-CN" sz="1200" kern="120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888A62F0-4184-97AE-7782-F6DD136CE31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C41D8-9C15-4E4B-9820-A7D6BF374E8B}"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69487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105901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45520"/>
            <a:ext cx="12192000" cy="613832"/>
          </a:xfrm>
        </p:spPr>
        <p:txBody>
          <a:bodyPr/>
          <a:lstStyle>
            <a:lvl1pPr algn="ctr">
              <a:defRPr/>
            </a:lvl1pPr>
          </a:lstStyle>
          <a:p>
            <a:r>
              <a:rPr lang="en-US"/>
              <a:t>Click to edit Master title style</a:t>
            </a:r>
          </a:p>
        </p:txBody>
      </p:sp>
      <p:sp>
        <p:nvSpPr>
          <p:cNvPr id="3" name="Content Placeholder 2"/>
          <p:cNvSpPr>
            <a:spLocks noGrp="1"/>
          </p:cNvSpPr>
          <p:nvPr>
            <p:ph idx="1"/>
          </p:nvPr>
        </p:nvSpPr>
        <p:spPr>
          <a:xfrm>
            <a:off x="397933" y="1109133"/>
            <a:ext cx="11345334" cy="5306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4724399" y="6493933"/>
            <a:ext cx="2743200" cy="304800"/>
          </a:xfrm>
        </p:spPr>
        <p:txBody>
          <a:bodyPr/>
          <a:lstStyle/>
          <a:p>
            <a:pPr algn="ctr"/>
            <a:fld id="{83E3C2C6-1E5C-47F7-8FF0-9BF3B7BB7661}" type="slidenum">
              <a:rPr lang="en-US" smtClean="0"/>
              <a:pPr algn="ctr"/>
              <a:t>‹#›</a:t>
            </a:fld>
            <a:endParaRPr lang="en-US"/>
          </a:p>
        </p:txBody>
      </p:sp>
    </p:spTree>
    <p:extLst>
      <p:ext uri="{BB962C8B-B14F-4D97-AF65-F5344CB8AC3E}">
        <p14:creationId xmlns:p14="http://schemas.microsoft.com/office/powerpoint/2010/main" val="196086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222346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2157321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1427926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146342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124994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2215970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4292403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1726794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E3C2C6-1E5C-47F7-8FF0-9BF3B7BB7661}" type="slidenum">
              <a:rPr lang="en-US" smtClean="0"/>
              <a:pPr/>
              <a:t>‹#›</a:t>
            </a:fld>
            <a:endParaRPr lang="en-US"/>
          </a:p>
        </p:txBody>
      </p:sp>
    </p:spTree>
    <p:extLst>
      <p:ext uri="{BB962C8B-B14F-4D97-AF65-F5344CB8AC3E}">
        <p14:creationId xmlns:p14="http://schemas.microsoft.com/office/powerpoint/2010/main" val="1892958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E3C2C6-1E5C-47F7-8FF0-9BF3B7BB7661}" type="slidenum">
              <a:rPr lang="en-US" smtClean="0"/>
              <a:pPr/>
              <a:t>‹#›</a:t>
            </a:fld>
            <a:endParaRPr lang="en-US"/>
          </a:p>
        </p:txBody>
      </p:sp>
    </p:spTree>
    <p:extLst>
      <p:ext uri="{BB962C8B-B14F-4D97-AF65-F5344CB8AC3E}">
        <p14:creationId xmlns:p14="http://schemas.microsoft.com/office/powerpoint/2010/main" val="37264569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3.jpeg"/><Relationship Id="rId7" Type="http://schemas.openxmlformats.org/officeDocument/2006/relationships/image" Target="../media/image7.emf"/><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5" Type="http://schemas.openxmlformats.org/officeDocument/2006/relationships/image" Target="../media/image15.pn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2.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2.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17.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3.sv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9276F-ECEA-D333-C9FE-392B2E5D9FD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B815999-5B9E-26A7-C15D-77237D252619}"/>
              </a:ext>
            </a:extLst>
          </p:cNvPr>
          <p:cNvSpPr txBox="1"/>
          <p:nvPr/>
        </p:nvSpPr>
        <p:spPr>
          <a:xfrm>
            <a:off x="0" y="0"/>
            <a:ext cx="12192000" cy="7017306"/>
          </a:xfrm>
          <a:prstGeom prst="rect">
            <a:avLst/>
          </a:prstGeom>
          <a:solidFill>
            <a:srgbClr val="6C2334"/>
          </a:solidFill>
        </p:spPr>
        <p:txBody>
          <a:bodyPr wrap="square" rtlCol="0">
            <a:spAutoFit/>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12" name="Title 1">
            <a:extLst>
              <a:ext uri="{FF2B5EF4-FFF2-40B4-BE49-F238E27FC236}">
                <a16:creationId xmlns:a16="http://schemas.microsoft.com/office/drawing/2014/main" id="{74C12C5D-9C58-1E36-7847-93CC86C61EAB}"/>
              </a:ext>
            </a:extLst>
          </p:cNvPr>
          <p:cNvSpPr txBox="1">
            <a:spLocks/>
          </p:cNvSpPr>
          <p:nvPr/>
        </p:nvSpPr>
        <p:spPr>
          <a:xfrm>
            <a:off x="-101172" y="951541"/>
            <a:ext cx="12394343" cy="160676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a:solidFill>
                  <a:srgbClr val="CEB888"/>
                </a:solidFill>
                <a:latin typeface="Arial" panose="020B0604020202020204" pitchFamily="34" charset="0"/>
                <a:cs typeface="Arial" panose="020B0604020202020204" pitchFamily="34" charset="0"/>
              </a:rPr>
              <a:t>2FiA: Towards </a:t>
            </a:r>
            <a:r>
              <a:rPr lang="en-US" sz="4800" b="1" err="1">
                <a:solidFill>
                  <a:srgbClr val="CEB888"/>
                </a:solidFill>
                <a:latin typeface="Arial" panose="020B0604020202020204" pitchFamily="34" charset="0"/>
                <a:cs typeface="Arial" panose="020B0604020202020204" pitchFamily="34" charset="0"/>
              </a:rPr>
              <a:t>WiFi</a:t>
            </a:r>
            <a:r>
              <a:rPr lang="en-US" sz="4800" b="1">
                <a:solidFill>
                  <a:srgbClr val="CEB888"/>
                </a:solidFill>
                <a:latin typeface="Arial" panose="020B0604020202020204" pitchFamily="34" charset="0"/>
                <a:cs typeface="Arial" panose="020B0604020202020204" pitchFamily="34" charset="0"/>
              </a:rPr>
              <a:t> Sensing-Based Authentication with Unique Biometrics</a:t>
            </a:r>
          </a:p>
        </p:txBody>
      </p:sp>
      <p:sp>
        <p:nvSpPr>
          <p:cNvPr id="13" name="Subtitle 2">
            <a:extLst>
              <a:ext uri="{FF2B5EF4-FFF2-40B4-BE49-F238E27FC236}">
                <a16:creationId xmlns:a16="http://schemas.microsoft.com/office/drawing/2014/main" id="{47D1C8D8-1ADA-B783-A6C3-5CEC37856529}"/>
              </a:ext>
            </a:extLst>
          </p:cNvPr>
          <p:cNvSpPr txBox="1">
            <a:spLocks/>
          </p:cNvSpPr>
          <p:nvPr/>
        </p:nvSpPr>
        <p:spPr>
          <a:xfrm>
            <a:off x="164387" y="3076999"/>
            <a:ext cx="11819066" cy="555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sz="3000" b="1" dirty="0">
                <a:solidFill>
                  <a:srgbClr val="CEB888"/>
                </a:solidFill>
                <a:latin typeface="Arial" panose="020B0604020202020204" pitchFamily="34" charset="0"/>
                <a:cs typeface="Arial" panose="020B0604020202020204" pitchFamily="34" charset="0"/>
              </a:rPr>
              <a:t>Bofan Li</a:t>
            </a:r>
            <a:r>
              <a:rPr lang="en-US" sz="3000" b="1" baseline="30000" dirty="0">
                <a:solidFill>
                  <a:srgbClr val="CEB888"/>
                </a:solidFill>
                <a:latin typeface="Arial" panose="020B0604020202020204" pitchFamily="34" charset="0"/>
                <a:cs typeface="Arial" panose="020B0604020202020204" pitchFamily="34" charset="0"/>
              </a:rPr>
              <a:t>1</a:t>
            </a:r>
            <a:r>
              <a:rPr lang="en-US" sz="3000" baseline="30000" dirty="0">
                <a:solidFill>
                  <a:srgbClr val="CEB888"/>
                </a:solidFill>
                <a:latin typeface="Arial" panose="020B0604020202020204" pitchFamily="34" charset="0"/>
                <a:cs typeface="Arial" panose="020B0604020202020204" pitchFamily="34" charset="0"/>
              </a:rPr>
              <a:t>†</a:t>
            </a:r>
            <a:r>
              <a:rPr lang="en-US" sz="3000" dirty="0">
                <a:solidFill>
                  <a:srgbClr val="CEB888"/>
                </a:solidFill>
                <a:latin typeface="Arial" panose="020B0604020202020204" pitchFamily="34" charset="0"/>
                <a:cs typeface="Arial" panose="020B0604020202020204" pitchFamily="34" charset="0"/>
              </a:rPr>
              <a:t>,</a:t>
            </a:r>
            <a:r>
              <a:rPr lang="en-US" sz="3000" b="1" dirty="0">
                <a:solidFill>
                  <a:srgbClr val="CEB888"/>
                </a:solidFill>
                <a:latin typeface="Arial" panose="020B0604020202020204" pitchFamily="34" charset="0"/>
                <a:cs typeface="Arial" panose="020B0604020202020204" pitchFamily="34" charset="0"/>
              </a:rPr>
              <a:t> </a:t>
            </a:r>
            <a:r>
              <a:rPr lang="en-US" sz="3000" b="1" dirty="0" err="1">
                <a:solidFill>
                  <a:srgbClr val="CEB888"/>
                </a:solidFill>
                <a:latin typeface="Arial" panose="020B0604020202020204" pitchFamily="34" charset="0"/>
                <a:cs typeface="Arial" panose="020B0604020202020204" pitchFamily="34" charset="0"/>
              </a:rPr>
              <a:t>Zhankai</a:t>
            </a:r>
            <a:r>
              <a:rPr lang="en-US" sz="3000" b="1" dirty="0">
                <a:solidFill>
                  <a:srgbClr val="CEB888"/>
                </a:solidFill>
                <a:latin typeface="Arial" panose="020B0604020202020204" pitchFamily="34" charset="0"/>
                <a:cs typeface="Arial" panose="020B0604020202020204" pitchFamily="34" charset="0"/>
              </a:rPr>
              <a:t> Ye</a:t>
            </a:r>
            <a:r>
              <a:rPr lang="en-US" sz="3000" b="1" baseline="30000" dirty="0">
                <a:solidFill>
                  <a:srgbClr val="CEB888"/>
                </a:solidFill>
                <a:latin typeface="Arial" panose="020B0604020202020204" pitchFamily="34" charset="0"/>
                <a:cs typeface="Arial" panose="020B0604020202020204" pitchFamily="34" charset="0"/>
              </a:rPr>
              <a:t>1</a:t>
            </a:r>
            <a:r>
              <a:rPr lang="en-US" sz="3000" baseline="30000" dirty="0">
                <a:solidFill>
                  <a:srgbClr val="CEB888"/>
                </a:solidFill>
                <a:latin typeface="Arial" panose="020B0604020202020204" pitchFamily="34" charset="0"/>
                <a:cs typeface="Arial" panose="020B0604020202020204" pitchFamily="34" charset="0"/>
              </a:rPr>
              <a:t>†</a:t>
            </a:r>
            <a:r>
              <a:rPr lang="en-US" sz="3000" dirty="0">
                <a:solidFill>
                  <a:srgbClr val="CEB888"/>
                </a:solidFill>
                <a:latin typeface="Arial" panose="020B0604020202020204" pitchFamily="34" charset="0"/>
                <a:cs typeface="Arial" panose="020B0604020202020204" pitchFamily="34" charset="0"/>
              </a:rPr>
              <a:t>, </a:t>
            </a:r>
            <a:r>
              <a:rPr lang="en-US" sz="3000" dirty="0" err="1">
                <a:solidFill>
                  <a:srgbClr val="CEB888"/>
                </a:solidFill>
                <a:latin typeface="Arial" panose="020B0604020202020204" pitchFamily="34" charset="0"/>
                <a:cs typeface="Arial" panose="020B0604020202020204" pitchFamily="34" charset="0"/>
              </a:rPr>
              <a:t>Weikuan</a:t>
            </a:r>
            <a:r>
              <a:rPr lang="en-US" sz="3000" dirty="0">
                <a:solidFill>
                  <a:srgbClr val="CEB888"/>
                </a:solidFill>
                <a:latin typeface="Arial" panose="020B0604020202020204" pitchFamily="34" charset="0"/>
                <a:cs typeface="Arial" panose="020B0604020202020204" pitchFamily="34" charset="0"/>
              </a:rPr>
              <a:t> Yu</a:t>
            </a:r>
            <a:r>
              <a:rPr lang="en-US" sz="3000" baseline="30000" dirty="0">
                <a:solidFill>
                  <a:srgbClr val="CEB888"/>
                </a:solidFill>
                <a:latin typeface="Arial" panose="020B0604020202020204" pitchFamily="34" charset="0"/>
                <a:cs typeface="Arial" panose="020B0604020202020204" pitchFamily="34" charset="0"/>
              </a:rPr>
              <a:t>1</a:t>
            </a:r>
            <a:r>
              <a:rPr lang="en-US" sz="3000" dirty="0">
                <a:solidFill>
                  <a:srgbClr val="CEB888"/>
                </a:solidFill>
                <a:latin typeface="Arial" panose="020B0604020202020204" pitchFamily="34" charset="0"/>
                <a:cs typeface="Arial" panose="020B0604020202020204" pitchFamily="34" charset="0"/>
              </a:rPr>
              <a:t>, </a:t>
            </a:r>
            <a:r>
              <a:rPr lang="en-US" sz="3000" dirty="0" err="1">
                <a:solidFill>
                  <a:srgbClr val="CEB888"/>
                </a:solidFill>
                <a:latin typeface="Arial" panose="020B0604020202020204" pitchFamily="34" charset="0"/>
                <a:cs typeface="Arial" panose="020B0604020202020204" pitchFamily="34" charset="0"/>
              </a:rPr>
              <a:t>Yongning</a:t>
            </a:r>
            <a:r>
              <a:rPr lang="en-US" sz="3000" dirty="0">
                <a:solidFill>
                  <a:srgbClr val="CEB888"/>
                </a:solidFill>
                <a:latin typeface="Arial" panose="020B0604020202020204" pitchFamily="34" charset="0"/>
                <a:cs typeface="Arial" panose="020B0604020202020204" pitchFamily="34" charset="0"/>
              </a:rPr>
              <a:t> Tang</a:t>
            </a:r>
            <a:r>
              <a:rPr lang="en-US" sz="3000" baseline="30000" dirty="0">
                <a:solidFill>
                  <a:srgbClr val="CEB888"/>
                </a:solidFill>
                <a:latin typeface="Arial" panose="020B0604020202020204" pitchFamily="34" charset="0"/>
                <a:cs typeface="Arial" panose="020B0604020202020204" pitchFamily="34" charset="0"/>
              </a:rPr>
              <a:t>2</a:t>
            </a:r>
            <a:r>
              <a:rPr lang="en-US" sz="3000" dirty="0">
                <a:solidFill>
                  <a:srgbClr val="CEB888"/>
                </a:solidFill>
                <a:latin typeface="Arial" panose="020B0604020202020204" pitchFamily="34" charset="0"/>
                <a:cs typeface="Arial" panose="020B0604020202020204" pitchFamily="34" charset="0"/>
              </a:rPr>
              <a:t>, Xin Liu</a:t>
            </a:r>
            <a:r>
              <a:rPr lang="en-US" sz="3000" baseline="30000" dirty="0">
                <a:solidFill>
                  <a:srgbClr val="CEB888"/>
                </a:solidFill>
                <a:latin typeface="Arial" panose="020B0604020202020204" pitchFamily="34" charset="0"/>
                <a:cs typeface="Arial" panose="020B0604020202020204" pitchFamily="34" charset="0"/>
              </a:rPr>
              <a:t>1</a:t>
            </a:r>
            <a:r>
              <a:rPr lang="en-US" sz="3000" dirty="0">
                <a:solidFill>
                  <a:srgbClr val="CEB888"/>
                </a:solidFill>
                <a:latin typeface="Arial" panose="020B0604020202020204" pitchFamily="34" charset="0"/>
                <a:cs typeface="Arial" panose="020B0604020202020204" pitchFamily="34" charset="0"/>
              </a:rPr>
              <a:t>*</a:t>
            </a:r>
          </a:p>
          <a:p>
            <a:pPr marL="0" indent="0" algn="ctr">
              <a:buNone/>
              <a:defRPr/>
            </a:pPr>
            <a:endParaRPr lang="en-US" sz="4500" baseline="30000" dirty="0">
              <a:solidFill>
                <a:schemeClr val="bg1"/>
              </a:solidFill>
              <a:latin typeface="Arial" panose="020B0604020202020204" pitchFamily="34" charset="0"/>
              <a:cs typeface="Arial" panose="020B0604020202020204" pitchFamily="34" charset="0"/>
            </a:endParaRPr>
          </a:p>
          <a:p>
            <a:pPr marL="0" indent="0" algn="ctr">
              <a:buNone/>
              <a:defRPr/>
            </a:pPr>
            <a:endParaRPr lang="en-US" sz="4500" baseline="30000" dirty="0">
              <a:solidFill>
                <a:schemeClr val="bg1"/>
              </a:solidFill>
              <a:latin typeface="Arial" panose="020B0604020202020204" pitchFamily="34" charset="0"/>
              <a:cs typeface="Arial" panose="020B0604020202020204" pitchFamily="34" charset="0"/>
            </a:endParaRPr>
          </a:p>
          <a:p>
            <a:pPr marL="0" indent="0" algn="ctr">
              <a:buNone/>
              <a:defRPr/>
            </a:pPr>
            <a:endParaRPr lang="en-US" sz="2000" dirty="0">
              <a:solidFill>
                <a:srgbClr val="CEB888"/>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9B1A9CCA-54AB-FB20-E6AE-F8B45976AFD9}"/>
              </a:ext>
            </a:extLst>
          </p:cNvPr>
          <p:cNvPicPr>
            <a:picLocks noChangeAspect="1"/>
          </p:cNvPicPr>
          <p:nvPr/>
        </p:nvPicPr>
        <p:blipFill>
          <a:blip r:embed="rId3"/>
          <a:stretch>
            <a:fillRect/>
          </a:stretch>
        </p:blipFill>
        <p:spPr>
          <a:xfrm>
            <a:off x="164387" y="4409339"/>
            <a:ext cx="1828800" cy="1828800"/>
          </a:xfrm>
          <a:prstGeom prst="rect">
            <a:avLst/>
          </a:prstGeom>
        </p:spPr>
      </p:pic>
      <p:pic>
        <p:nvPicPr>
          <p:cNvPr id="15" name="Picture 14">
            <a:extLst>
              <a:ext uri="{FF2B5EF4-FFF2-40B4-BE49-F238E27FC236}">
                <a16:creationId xmlns:a16="http://schemas.microsoft.com/office/drawing/2014/main" id="{68E7C63B-F2DB-8AB4-8E78-B69854DFB20B}"/>
              </a:ext>
            </a:extLst>
          </p:cNvPr>
          <p:cNvPicPr>
            <a:picLocks noChangeAspect="1"/>
          </p:cNvPicPr>
          <p:nvPr/>
        </p:nvPicPr>
        <p:blipFill>
          <a:blip r:embed="rId4">
            <a:extLst>
              <a:ext uri="{28A0092B-C50C-407E-A947-70E740481C1C}">
                <a14:useLocalDpi xmlns:a14="http://schemas.microsoft.com/office/drawing/2010/main" val="0"/>
              </a:ext>
            </a:extLst>
          </a:blip>
          <a:srcRect l="6860" t="4449" r="6355" b="10580"/>
          <a:stretch>
            <a:fillRect/>
          </a:stretch>
        </p:blipFill>
        <p:spPr>
          <a:xfrm>
            <a:off x="10244176" y="4411366"/>
            <a:ext cx="1867920" cy="1828800"/>
          </a:xfrm>
          <a:prstGeom prst="rect">
            <a:avLst/>
          </a:prstGeom>
        </p:spPr>
      </p:pic>
      <p:sp>
        <p:nvSpPr>
          <p:cNvPr id="2" name="TextBox 1">
            <a:extLst>
              <a:ext uri="{FF2B5EF4-FFF2-40B4-BE49-F238E27FC236}">
                <a16:creationId xmlns:a16="http://schemas.microsoft.com/office/drawing/2014/main" id="{D4A43495-24D5-1A33-8BF7-CC19B3D1605C}"/>
              </a:ext>
            </a:extLst>
          </p:cNvPr>
          <p:cNvSpPr txBox="1"/>
          <p:nvPr/>
        </p:nvSpPr>
        <p:spPr>
          <a:xfrm>
            <a:off x="2214600" y="4409339"/>
            <a:ext cx="7928404" cy="1692771"/>
          </a:xfrm>
          <a:prstGeom prst="rect">
            <a:avLst/>
          </a:prstGeom>
          <a:noFill/>
        </p:spPr>
        <p:txBody>
          <a:bodyPr wrap="square" rtlCol="0">
            <a:spAutoFit/>
          </a:bodyPr>
          <a:lstStyle/>
          <a:p>
            <a:pPr algn="ctr">
              <a:defRPr/>
            </a:pPr>
            <a:r>
              <a:rPr lang="en-US" sz="2800">
                <a:solidFill>
                  <a:srgbClr val="CEB888"/>
                </a:solidFill>
                <a:latin typeface="Arial" panose="020B0604020202020204" pitchFamily="34" charset="0"/>
                <a:cs typeface="Arial" panose="020B0604020202020204" pitchFamily="34" charset="0"/>
              </a:rPr>
              <a:t>Florida State University</a:t>
            </a:r>
            <a:r>
              <a:rPr lang="en-US" sz="2800" baseline="30000">
                <a:solidFill>
                  <a:srgbClr val="CEB888"/>
                </a:solidFill>
                <a:latin typeface="Arial" panose="020B0604020202020204" pitchFamily="34" charset="0"/>
                <a:cs typeface="Arial" panose="020B0604020202020204" pitchFamily="34" charset="0"/>
              </a:rPr>
              <a:t>1</a:t>
            </a:r>
            <a:r>
              <a:rPr lang="en-US" sz="2800">
                <a:solidFill>
                  <a:srgbClr val="CEB888"/>
                </a:solidFill>
                <a:latin typeface="Arial" panose="020B0604020202020204" pitchFamily="34" charset="0"/>
                <a:cs typeface="Arial" panose="020B0604020202020204" pitchFamily="34" charset="0"/>
              </a:rPr>
              <a:t> </a:t>
            </a:r>
          </a:p>
          <a:p>
            <a:pPr algn="ctr">
              <a:defRPr/>
            </a:pPr>
            <a:r>
              <a:rPr lang="en-US" sz="2800">
                <a:solidFill>
                  <a:srgbClr val="CEB888"/>
                </a:solidFill>
                <a:latin typeface="Arial" panose="020B0604020202020204" pitchFamily="34" charset="0"/>
                <a:cs typeface="Arial" panose="020B0604020202020204" pitchFamily="34" charset="0"/>
              </a:rPr>
              <a:t>Illinois State University</a:t>
            </a:r>
            <a:r>
              <a:rPr lang="en-US" sz="2800" baseline="30000">
                <a:solidFill>
                  <a:srgbClr val="CEB888"/>
                </a:solidFill>
                <a:latin typeface="Arial" panose="020B0604020202020204" pitchFamily="34" charset="0"/>
                <a:cs typeface="Arial" panose="020B0604020202020204" pitchFamily="34" charset="0"/>
              </a:rPr>
              <a:t>2</a:t>
            </a:r>
            <a:endParaRPr lang="en-US" sz="2800">
              <a:solidFill>
                <a:srgbClr val="CEB888"/>
              </a:solidFill>
              <a:latin typeface="Arial" panose="020B0604020202020204" pitchFamily="34" charset="0"/>
              <a:cs typeface="Arial" panose="020B0604020202020204" pitchFamily="34" charset="0"/>
            </a:endParaRPr>
          </a:p>
          <a:p>
            <a:pPr algn="ctr">
              <a:defRPr/>
            </a:pPr>
            <a:r>
              <a:rPr lang="en-US" sz="2400">
                <a:solidFill>
                  <a:srgbClr val="CEB888"/>
                </a:solidFill>
                <a:latin typeface="Arial" panose="020B0604020202020204" pitchFamily="34" charset="0"/>
                <a:cs typeface="Arial" panose="020B0604020202020204" pitchFamily="34" charset="0"/>
              </a:rPr>
              <a:t>Co-</a:t>
            </a:r>
            <a:r>
              <a:rPr lang="en-US" altLang="zh-CN" sz="2400">
                <a:solidFill>
                  <a:srgbClr val="CEB888"/>
                </a:solidFill>
                <a:latin typeface="Arial" panose="020B0604020202020204" pitchFamily="34" charset="0"/>
                <a:cs typeface="Arial" panose="020B0604020202020204" pitchFamily="34" charset="0"/>
              </a:rPr>
              <a:t>P</a:t>
            </a:r>
            <a:r>
              <a:rPr lang="en-US" sz="2400">
                <a:solidFill>
                  <a:srgbClr val="CEB888"/>
                </a:solidFill>
                <a:latin typeface="Arial" panose="020B0604020202020204" pitchFamily="34" charset="0"/>
                <a:cs typeface="Arial" panose="020B0604020202020204" pitchFamily="34" charset="0"/>
              </a:rPr>
              <a:t>rimary Student  Authors</a:t>
            </a:r>
            <a:r>
              <a:rPr lang="en-US" sz="2400" baseline="30000">
                <a:solidFill>
                  <a:srgbClr val="CEB888"/>
                </a:solidFill>
                <a:latin typeface="Arial" panose="020B0604020202020204" pitchFamily="34" charset="0"/>
                <a:cs typeface="Arial" panose="020B0604020202020204" pitchFamily="34" charset="0"/>
              </a:rPr>
              <a:t> †</a:t>
            </a:r>
            <a:r>
              <a:rPr lang="en-US" sz="2400">
                <a:solidFill>
                  <a:srgbClr val="CEB888"/>
                </a:solidFill>
                <a:latin typeface="Arial" panose="020B0604020202020204" pitchFamily="34" charset="0"/>
                <a:cs typeface="Arial" panose="020B0604020202020204" pitchFamily="34" charset="0"/>
              </a:rPr>
              <a:t> </a:t>
            </a:r>
          </a:p>
          <a:p>
            <a:pPr algn="ctr">
              <a:defRPr/>
            </a:pPr>
            <a:r>
              <a:rPr lang="en-US" sz="2400">
                <a:solidFill>
                  <a:srgbClr val="CEB888"/>
                </a:solidFill>
                <a:latin typeface="Arial" panose="020B0604020202020204" pitchFamily="34" charset="0"/>
                <a:cs typeface="Arial" panose="020B0604020202020204" pitchFamily="34" charset="0"/>
              </a:rPr>
              <a:t>Corresponding Author * | Email : xliu15@fsu.edu</a:t>
            </a:r>
            <a:endParaRPr lang="en-US" sz="2400"/>
          </a:p>
        </p:txBody>
      </p:sp>
    </p:spTree>
    <p:extLst>
      <p:ext uri="{BB962C8B-B14F-4D97-AF65-F5344CB8AC3E}">
        <p14:creationId xmlns:p14="http://schemas.microsoft.com/office/powerpoint/2010/main" val="21377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D6224-121D-7148-4F2C-3703DA73FF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FE99F52-F19D-9E34-8012-928F7D0B0734}"/>
              </a:ext>
            </a:extLst>
          </p:cNvPr>
          <p:cNvSpPr/>
          <p:nvPr/>
        </p:nvSpPr>
        <p:spPr>
          <a:xfrm>
            <a:off x="-13298" y="3859126"/>
            <a:ext cx="12192000" cy="596348"/>
          </a:xfrm>
          <a:prstGeom prst="rect">
            <a:avLst/>
          </a:prstGeom>
          <a:solidFill>
            <a:srgbClr val="6C233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Wireless (Wi-Fi), Wired Networking, and Bluetooth | Dell US">
            <a:extLst>
              <a:ext uri="{FF2B5EF4-FFF2-40B4-BE49-F238E27FC236}">
                <a16:creationId xmlns:a16="http://schemas.microsoft.com/office/drawing/2014/main" id="{14EC3A7C-76B6-42E7-ECE6-DB4CC496A4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175027">
            <a:off x="51240" y="1181415"/>
            <a:ext cx="1051740" cy="82012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B38CC9A6-30F1-2C71-1B24-8EF6AE8546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915604">
            <a:off x="5625060" y="1276999"/>
            <a:ext cx="970510" cy="6289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366BD5C-B7ED-29A4-EA20-2D654FEB93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96944" y="1260130"/>
            <a:ext cx="1064297" cy="66269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 descr="Apple Vision Pro">
            <a:extLst>
              <a:ext uri="{FF2B5EF4-FFF2-40B4-BE49-F238E27FC236}">
                <a16:creationId xmlns:a16="http://schemas.microsoft.com/office/drawing/2014/main" id="{85670244-D2AA-B6D4-BC0E-6FE614518EC9}"/>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2501" b="36459"/>
          <a:stretch/>
        </p:blipFill>
        <p:spPr bwMode="auto">
          <a:xfrm>
            <a:off x="7728254" y="1193339"/>
            <a:ext cx="1136005" cy="796275"/>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2" descr="A person using wearable health technology such as a smartwatch, measuring their heart rate and steps. They are in a modern home environment with natural light coming through the windows. In the background, there are indicators of a healthy lifestyle, such as a water bottle, yoga mat, and fresh fruits on the table.">
            <a:extLst>
              <a:ext uri="{FF2B5EF4-FFF2-40B4-BE49-F238E27FC236}">
                <a16:creationId xmlns:a16="http://schemas.microsoft.com/office/drawing/2014/main" id="{8F87BA81-95AD-4AF8-3AB8-7CB936F6E86F}"/>
              </a:ext>
            </a:extLst>
          </p:cNvPr>
          <p:cNvSpPr>
            <a:spLocks noChangeAspect="1" noChangeArrowheads="1"/>
          </p:cNvSpPr>
          <p:nvPr/>
        </p:nvSpPr>
        <p:spPr bwMode="auto">
          <a:xfrm>
            <a:off x="5885671" y="2288618"/>
            <a:ext cx="249784" cy="25350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AutoShape 4" descr="A person using wearable health technology such as a smartwatch, measuring their heart rate and steps. They are in a modern home environment with natural light coming through the windows. In the background, there are indicators of a healthy lifestyle, such as a water bottle, yoga mat, and fresh fruits on the table.">
            <a:extLst>
              <a:ext uri="{FF2B5EF4-FFF2-40B4-BE49-F238E27FC236}">
                <a16:creationId xmlns:a16="http://schemas.microsoft.com/office/drawing/2014/main" id="{B2E09B93-C724-896D-01E6-42759C2F5F5E}"/>
              </a:ext>
            </a:extLst>
          </p:cNvPr>
          <p:cNvSpPr>
            <a:spLocks noChangeAspect="1" noChangeArrowheads="1"/>
          </p:cNvSpPr>
          <p:nvPr/>
        </p:nvSpPr>
        <p:spPr bwMode="auto">
          <a:xfrm>
            <a:off x="6010563" y="2415370"/>
            <a:ext cx="249784" cy="25350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Picture 41">
            <a:extLst>
              <a:ext uri="{FF2B5EF4-FFF2-40B4-BE49-F238E27FC236}">
                <a16:creationId xmlns:a16="http://schemas.microsoft.com/office/drawing/2014/main" id="{D1C66A54-B0F3-15E6-7226-A23A49FAE04F}"/>
              </a:ext>
            </a:extLst>
          </p:cNvPr>
          <p:cNvPicPr>
            <a:picLocks noChangeAspect="1"/>
          </p:cNvPicPr>
          <p:nvPr/>
        </p:nvPicPr>
        <p:blipFill>
          <a:blip r:embed="rId7"/>
          <a:stretch>
            <a:fillRect/>
          </a:stretch>
        </p:blipFill>
        <p:spPr>
          <a:xfrm>
            <a:off x="118403" y="1992255"/>
            <a:ext cx="3164432" cy="1463040"/>
          </a:xfrm>
          <a:prstGeom prst="ellipse">
            <a:avLst/>
          </a:prstGeom>
          <a:ln>
            <a:noFill/>
          </a:ln>
          <a:effectLst>
            <a:softEdge rad="112500"/>
          </a:effectLst>
        </p:spPr>
      </p:pic>
      <p:pic>
        <p:nvPicPr>
          <p:cNvPr id="1046" name="Picture 22" descr="How to Optimize Your Event's WiFi ...">
            <a:extLst>
              <a:ext uri="{FF2B5EF4-FFF2-40B4-BE49-F238E27FC236}">
                <a16:creationId xmlns:a16="http://schemas.microsoft.com/office/drawing/2014/main" id="{71EF96D8-90D0-4FE3-42AC-ECC14C6360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38292" y="1992255"/>
            <a:ext cx="2871216" cy="14630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48" name="Picture 24" descr="Temporary WiFi Solutions for Events and ...">
            <a:extLst>
              <a:ext uri="{FF2B5EF4-FFF2-40B4-BE49-F238E27FC236}">
                <a16:creationId xmlns:a16="http://schemas.microsoft.com/office/drawing/2014/main" id="{A03117FB-4939-AC44-4069-414FCBA609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70915" y="1992255"/>
            <a:ext cx="2679296" cy="14630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F297018-9393-CBFF-F6C6-BE70A10527B2}"/>
              </a:ext>
            </a:extLst>
          </p:cNvPr>
          <p:cNvSpPr txBox="1"/>
          <p:nvPr/>
        </p:nvSpPr>
        <p:spPr>
          <a:xfrm>
            <a:off x="-174184" y="3370355"/>
            <a:ext cx="3785290" cy="523220"/>
          </a:xfrm>
          <a:prstGeom prst="rect">
            <a:avLst/>
          </a:prstGeom>
          <a:noFill/>
        </p:spPr>
        <p:txBody>
          <a:bodyPr wrap="square">
            <a:spAutoFit/>
          </a:bodyPr>
          <a:lstStyle/>
          <a:p>
            <a:pPr lvl="0" algn="ctr">
              <a:defRPr/>
            </a:pPr>
            <a:r>
              <a:rPr lang="en-US" sz="2800">
                <a:latin typeface="Arial" panose="020B0604020202020204" pitchFamily="34" charset="0"/>
                <a:cs typeface="Arial" panose="020B0604020202020204" pitchFamily="34" charset="0"/>
              </a:rPr>
              <a:t>Room-Scale</a:t>
            </a:r>
          </a:p>
        </p:txBody>
      </p:sp>
      <p:sp>
        <p:nvSpPr>
          <p:cNvPr id="4" name="TextBox 3">
            <a:extLst>
              <a:ext uri="{FF2B5EF4-FFF2-40B4-BE49-F238E27FC236}">
                <a16:creationId xmlns:a16="http://schemas.microsoft.com/office/drawing/2014/main" id="{5EDDF96F-8658-0633-40BF-65C4BD3A0116}"/>
              </a:ext>
            </a:extLst>
          </p:cNvPr>
          <p:cNvSpPr txBox="1"/>
          <p:nvPr/>
        </p:nvSpPr>
        <p:spPr>
          <a:xfrm>
            <a:off x="4507090" y="583869"/>
            <a:ext cx="2970564" cy="646331"/>
          </a:xfrm>
          <a:prstGeom prst="rect">
            <a:avLst/>
          </a:prstGeom>
          <a:noFill/>
        </p:spPr>
        <p:txBody>
          <a:bodyPr wrap="square">
            <a:spAutoFit/>
          </a:bodyPr>
          <a:lstStyle/>
          <a:p>
            <a:pPr lvl="0" algn="ctr">
              <a:defRPr/>
            </a:pPr>
            <a:r>
              <a:rPr lang="en-US" sz="3600" b="1">
                <a:solidFill>
                  <a:srgbClr val="6C2334"/>
                </a:solidFill>
                <a:latin typeface="Arial" panose="020B0604020202020204" pitchFamily="34" charset="0"/>
                <a:cs typeface="Arial" panose="020B0604020202020204" pitchFamily="34" charset="0"/>
              </a:rPr>
              <a:t>Ubiquitous</a:t>
            </a:r>
            <a:r>
              <a:rPr lang="en-US" sz="360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704B710B-33A8-D939-BAE6-028A0F35809C}"/>
              </a:ext>
            </a:extLst>
          </p:cNvPr>
          <p:cNvSpPr txBox="1"/>
          <p:nvPr/>
        </p:nvSpPr>
        <p:spPr>
          <a:xfrm>
            <a:off x="8851296" y="3370355"/>
            <a:ext cx="3123285" cy="523220"/>
          </a:xfrm>
          <a:prstGeom prst="rect">
            <a:avLst/>
          </a:prstGeom>
          <a:noFill/>
        </p:spPr>
        <p:txBody>
          <a:bodyPr wrap="square">
            <a:spAutoFit/>
          </a:bodyPr>
          <a:lstStyle/>
          <a:p>
            <a:pPr algn="ctr">
              <a:defRPr/>
            </a:pPr>
            <a:r>
              <a:rPr lang="en-US" sz="2800">
                <a:latin typeface="Arial" panose="020B0604020202020204" pitchFamily="34" charset="0"/>
                <a:cs typeface="Arial" panose="020B0604020202020204" pitchFamily="34" charset="0"/>
              </a:rPr>
              <a:t>City-Scale</a:t>
            </a:r>
          </a:p>
        </p:txBody>
      </p:sp>
      <p:pic>
        <p:nvPicPr>
          <p:cNvPr id="26" name="Picture 4" descr="Smart Watch Compatible for iPhones, Samsung Galaxy, Motorola, Google,  OnePlus | eBay">
            <a:extLst>
              <a:ext uri="{FF2B5EF4-FFF2-40B4-BE49-F238E27FC236}">
                <a16:creationId xmlns:a16="http://schemas.microsoft.com/office/drawing/2014/main" id="{3C72CCD3-9DDE-D6C7-FD8D-5089E3AF42F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rot="408626">
            <a:off x="3970528" y="1237246"/>
            <a:ext cx="521848" cy="7084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46D289C-F6D9-1FDD-B466-5BF9DC2F4962}"/>
              </a:ext>
            </a:extLst>
          </p:cNvPr>
          <p:cNvSpPr txBox="1"/>
          <p:nvPr/>
        </p:nvSpPr>
        <p:spPr>
          <a:xfrm>
            <a:off x="0" y="-4370"/>
            <a:ext cx="12192000" cy="674370"/>
          </a:xfrm>
          <a:prstGeom prst="rect">
            <a:avLst/>
          </a:prstGeom>
          <a:solidFill>
            <a:srgbClr val="6C2334"/>
          </a:solidFill>
        </p:spPr>
        <p:txBody>
          <a:bodyPr wrap="square" rtlCol="0">
            <a:spAutoFit/>
          </a:bodyPr>
          <a:lstStyle/>
          <a:p>
            <a:endParaRPr lang="en-US"/>
          </a:p>
        </p:txBody>
      </p:sp>
      <p:sp>
        <p:nvSpPr>
          <p:cNvPr id="20" name="TextBox 19">
            <a:extLst>
              <a:ext uri="{FF2B5EF4-FFF2-40B4-BE49-F238E27FC236}">
                <a16:creationId xmlns:a16="http://schemas.microsoft.com/office/drawing/2014/main" id="{E8B11F67-1368-997D-E328-4335B483C9A0}"/>
              </a:ext>
            </a:extLst>
          </p:cNvPr>
          <p:cNvSpPr txBox="1"/>
          <p:nvPr/>
        </p:nvSpPr>
        <p:spPr>
          <a:xfrm>
            <a:off x="118403" y="1032"/>
            <a:ext cx="5892160" cy="646331"/>
          </a:xfrm>
          <a:prstGeom prst="rect">
            <a:avLst/>
          </a:prstGeom>
          <a:noFill/>
        </p:spPr>
        <p:txBody>
          <a:bodyPr wrap="square">
            <a:spAutoFit/>
          </a:bodyPr>
          <a:lstStyle/>
          <a:p>
            <a:pPr algn="ctr">
              <a:defRPr/>
            </a:pPr>
            <a:r>
              <a:rPr lang="en-US" sz="3600" b="1">
                <a:solidFill>
                  <a:srgbClr val="CEB888"/>
                </a:solidFill>
                <a:highlight>
                  <a:srgbClr val="6C2334"/>
                </a:highlight>
                <a:latin typeface="Arial" panose="020B0604020202020204" pitchFamily="34" charset="0"/>
                <a:cs typeface="Arial" panose="020B0604020202020204" pitchFamily="34" charset="0"/>
              </a:rPr>
              <a:t>Ubiquitous Wi-Fi Sensing                                                      </a:t>
            </a:r>
          </a:p>
        </p:txBody>
      </p:sp>
      <p:pic>
        <p:nvPicPr>
          <p:cNvPr id="9" name="Picture 6" descr="iPhone 16 Pro Max 512gb – Phonelectrics">
            <a:extLst>
              <a:ext uri="{FF2B5EF4-FFF2-40B4-BE49-F238E27FC236}">
                <a16:creationId xmlns:a16="http://schemas.microsoft.com/office/drawing/2014/main" id="{9C82317C-0A88-29A9-7345-460B1B0F7638}"/>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9861" t="3333" r="10139" b="2709"/>
          <a:stretch/>
        </p:blipFill>
        <p:spPr bwMode="auto">
          <a:xfrm>
            <a:off x="2235664" y="1180934"/>
            <a:ext cx="602180" cy="821085"/>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5">
            <a:extLst>
              <a:ext uri="{FF2B5EF4-FFF2-40B4-BE49-F238E27FC236}">
                <a16:creationId xmlns:a16="http://schemas.microsoft.com/office/drawing/2014/main" id="{2C7E63A1-9FAD-3B65-1094-5A1BD79F4798}"/>
              </a:ext>
            </a:extLst>
          </p:cNvPr>
          <p:cNvSpPr txBox="1">
            <a:spLocks/>
          </p:cNvSpPr>
          <p:nvPr/>
        </p:nvSpPr>
        <p:spPr>
          <a:xfrm>
            <a:off x="13298" y="3944066"/>
            <a:ext cx="12125693" cy="446109"/>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solidFill>
                  <a:srgbClr val="CEB888"/>
                </a:solidFill>
                <a:latin typeface="Arial" panose="020B0604020202020204" pitchFamily="34" charset="0"/>
                <a:cs typeface="Arial" panose="020B0604020202020204" pitchFamily="34" charset="0"/>
              </a:rPr>
              <a:t> Wi-Fi Sensing has been incorporated into the IEEE 802.11bf standard! </a:t>
            </a:r>
          </a:p>
        </p:txBody>
      </p:sp>
      <p:sp>
        <p:nvSpPr>
          <p:cNvPr id="13" name="TextBox 12">
            <a:extLst>
              <a:ext uri="{FF2B5EF4-FFF2-40B4-BE49-F238E27FC236}">
                <a16:creationId xmlns:a16="http://schemas.microsoft.com/office/drawing/2014/main" id="{A10E1D7E-A78E-BB79-28F1-D120EC01A8F9}"/>
              </a:ext>
            </a:extLst>
          </p:cNvPr>
          <p:cNvSpPr txBox="1"/>
          <p:nvPr/>
        </p:nvSpPr>
        <p:spPr>
          <a:xfrm>
            <a:off x="4308475" y="3370355"/>
            <a:ext cx="3845453" cy="523220"/>
          </a:xfrm>
          <a:prstGeom prst="rect">
            <a:avLst/>
          </a:prstGeom>
          <a:noFill/>
        </p:spPr>
        <p:txBody>
          <a:bodyPr wrap="square">
            <a:spAutoFit/>
          </a:bodyPr>
          <a:lstStyle/>
          <a:p>
            <a:pPr lvl="0" algn="ctr">
              <a:defRPr/>
            </a:pPr>
            <a:r>
              <a:rPr lang="en-US" sz="2800">
                <a:latin typeface="Arial" panose="020B0604020202020204" pitchFamily="34" charset="0"/>
                <a:cs typeface="Arial" panose="020B0604020202020204" pitchFamily="34" charset="0"/>
              </a:rPr>
              <a:t>Building-Scale</a:t>
            </a:r>
          </a:p>
        </p:txBody>
      </p:sp>
      <p:sp>
        <p:nvSpPr>
          <p:cNvPr id="14" name="TextBox 13">
            <a:extLst>
              <a:ext uri="{FF2B5EF4-FFF2-40B4-BE49-F238E27FC236}">
                <a16:creationId xmlns:a16="http://schemas.microsoft.com/office/drawing/2014/main" id="{4B722FF1-3A8F-556B-72D3-BF31748F5CBC}"/>
              </a:ext>
            </a:extLst>
          </p:cNvPr>
          <p:cNvSpPr txBox="1"/>
          <p:nvPr/>
        </p:nvSpPr>
        <p:spPr>
          <a:xfrm>
            <a:off x="4533761" y="4365157"/>
            <a:ext cx="3123285" cy="646331"/>
          </a:xfrm>
          <a:prstGeom prst="rect">
            <a:avLst/>
          </a:prstGeom>
          <a:noFill/>
        </p:spPr>
        <p:txBody>
          <a:bodyPr wrap="square">
            <a:spAutoFit/>
          </a:bodyPr>
          <a:lstStyle/>
          <a:p>
            <a:pPr lvl="0" algn="ctr">
              <a:defRPr/>
            </a:pPr>
            <a:r>
              <a:rPr lang="en-US" altLang="zh-CN" sz="3600" b="1">
                <a:solidFill>
                  <a:srgbClr val="6C2334"/>
                </a:solidFill>
                <a:latin typeface="Arial" panose="020B0604020202020204" pitchFamily="34" charset="0"/>
                <a:cs typeface="Arial" panose="020B0604020202020204" pitchFamily="34" charset="0"/>
              </a:rPr>
              <a:t>Applications</a:t>
            </a:r>
            <a:r>
              <a:rPr lang="en-US" sz="3600">
                <a:latin typeface="Arial" panose="020B0604020202020204" pitchFamily="34" charset="0"/>
                <a:cs typeface="Arial" panose="020B0604020202020204" pitchFamily="34" charset="0"/>
              </a:rPr>
              <a:t> </a:t>
            </a:r>
          </a:p>
        </p:txBody>
      </p:sp>
      <p:pic>
        <p:nvPicPr>
          <p:cNvPr id="7" name="Picture 6">
            <a:extLst>
              <a:ext uri="{FF2B5EF4-FFF2-40B4-BE49-F238E27FC236}">
                <a16:creationId xmlns:a16="http://schemas.microsoft.com/office/drawing/2014/main" id="{01EF6EAE-1B18-D000-8F03-269E27AC8FC1}"/>
              </a:ext>
            </a:extLst>
          </p:cNvPr>
          <p:cNvPicPr>
            <a:picLocks noChangeAspect="1"/>
          </p:cNvPicPr>
          <p:nvPr/>
        </p:nvPicPr>
        <p:blipFill>
          <a:blip r:embed="rId12"/>
          <a:stretch>
            <a:fillRect/>
          </a:stretch>
        </p:blipFill>
        <p:spPr>
          <a:xfrm>
            <a:off x="6852457" y="5099446"/>
            <a:ext cx="1009791" cy="1009791"/>
          </a:xfrm>
          <a:prstGeom prst="rect">
            <a:avLst/>
          </a:prstGeom>
        </p:spPr>
      </p:pic>
      <p:pic>
        <p:nvPicPr>
          <p:cNvPr id="11" name="Picture 10">
            <a:extLst>
              <a:ext uri="{FF2B5EF4-FFF2-40B4-BE49-F238E27FC236}">
                <a16:creationId xmlns:a16="http://schemas.microsoft.com/office/drawing/2014/main" id="{6FA9837C-197F-C086-BB86-589FA34AFD46}"/>
              </a:ext>
            </a:extLst>
          </p:cNvPr>
          <p:cNvPicPr>
            <a:picLocks noChangeAspect="1"/>
          </p:cNvPicPr>
          <p:nvPr/>
        </p:nvPicPr>
        <p:blipFill>
          <a:blip r:embed="rId13"/>
          <a:stretch>
            <a:fillRect/>
          </a:stretch>
        </p:blipFill>
        <p:spPr>
          <a:xfrm>
            <a:off x="551736" y="5037453"/>
            <a:ext cx="1371791" cy="1095528"/>
          </a:xfrm>
          <a:prstGeom prst="rect">
            <a:avLst/>
          </a:prstGeom>
        </p:spPr>
      </p:pic>
      <p:pic>
        <p:nvPicPr>
          <p:cNvPr id="15" name="Picture 14">
            <a:extLst>
              <a:ext uri="{FF2B5EF4-FFF2-40B4-BE49-F238E27FC236}">
                <a16:creationId xmlns:a16="http://schemas.microsoft.com/office/drawing/2014/main" id="{18E7378D-09E6-D61A-971C-DA76A421FB3E}"/>
              </a:ext>
            </a:extLst>
          </p:cNvPr>
          <p:cNvPicPr>
            <a:picLocks noChangeAspect="1"/>
          </p:cNvPicPr>
          <p:nvPr/>
        </p:nvPicPr>
        <p:blipFill>
          <a:blip r:embed="rId14"/>
          <a:stretch>
            <a:fillRect/>
          </a:stretch>
        </p:blipFill>
        <p:spPr>
          <a:xfrm>
            <a:off x="3087920" y="5021737"/>
            <a:ext cx="1829055" cy="1028844"/>
          </a:xfrm>
          <a:prstGeom prst="rect">
            <a:avLst/>
          </a:prstGeom>
        </p:spPr>
      </p:pic>
      <p:sp>
        <p:nvSpPr>
          <p:cNvPr id="16" name="TextBox 15">
            <a:extLst>
              <a:ext uri="{FF2B5EF4-FFF2-40B4-BE49-F238E27FC236}">
                <a16:creationId xmlns:a16="http://schemas.microsoft.com/office/drawing/2014/main" id="{BEDF4882-D08C-E5B5-4477-06F95086CF0A}"/>
              </a:ext>
            </a:extLst>
          </p:cNvPr>
          <p:cNvSpPr txBox="1"/>
          <p:nvPr/>
        </p:nvSpPr>
        <p:spPr>
          <a:xfrm>
            <a:off x="275070" y="6148697"/>
            <a:ext cx="2254345" cy="523220"/>
          </a:xfrm>
          <a:prstGeom prst="rect">
            <a:avLst/>
          </a:prstGeom>
          <a:noFill/>
        </p:spPr>
        <p:txBody>
          <a:bodyPr wrap="square">
            <a:spAutoFit/>
          </a:bodyPr>
          <a:lstStyle/>
          <a:p>
            <a:pPr lvl="0" algn="ctr">
              <a:defRPr/>
            </a:pPr>
            <a:r>
              <a:rPr lang="en-US" sz="2800">
                <a:latin typeface="Arial" panose="020B0604020202020204" pitchFamily="34" charset="0"/>
                <a:cs typeface="Arial" panose="020B0604020202020204" pitchFamily="34" charset="0"/>
              </a:rPr>
              <a:t>Tracking</a:t>
            </a:r>
          </a:p>
        </p:txBody>
      </p:sp>
      <p:sp>
        <p:nvSpPr>
          <p:cNvPr id="19" name="TextBox 18">
            <a:extLst>
              <a:ext uri="{FF2B5EF4-FFF2-40B4-BE49-F238E27FC236}">
                <a16:creationId xmlns:a16="http://schemas.microsoft.com/office/drawing/2014/main" id="{DD1DFA7C-2510-8F2C-CA63-21BFCFB01088}"/>
              </a:ext>
            </a:extLst>
          </p:cNvPr>
          <p:cNvSpPr txBox="1"/>
          <p:nvPr/>
        </p:nvSpPr>
        <p:spPr>
          <a:xfrm>
            <a:off x="5652280" y="6152533"/>
            <a:ext cx="3608055" cy="523220"/>
          </a:xfrm>
          <a:prstGeom prst="rect">
            <a:avLst/>
          </a:prstGeom>
          <a:noFill/>
        </p:spPr>
        <p:txBody>
          <a:bodyPr wrap="square">
            <a:spAutoFit/>
          </a:bodyPr>
          <a:lstStyle/>
          <a:p>
            <a:pPr lvl="0" algn="ctr">
              <a:defRPr/>
            </a:pPr>
            <a:r>
              <a:rPr lang="en-US" sz="2800">
                <a:latin typeface="Arial" panose="020B0604020202020204" pitchFamily="34" charset="0"/>
                <a:cs typeface="Arial" panose="020B0604020202020204" pitchFamily="34" charset="0"/>
              </a:rPr>
              <a:t>Vital signs monitoring</a:t>
            </a:r>
          </a:p>
        </p:txBody>
      </p:sp>
      <p:sp>
        <p:nvSpPr>
          <p:cNvPr id="21" name="TextBox 20">
            <a:extLst>
              <a:ext uri="{FF2B5EF4-FFF2-40B4-BE49-F238E27FC236}">
                <a16:creationId xmlns:a16="http://schemas.microsoft.com/office/drawing/2014/main" id="{7873E383-B170-A91E-DB9B-5BA94F4A62F0}"/>
              </a:ext>
            </a:extLst>
          </p:cNvPr>
          <p:cNvSpPr txBox="1"/>
          <p:nvPr/>
        </p:nvSpPr>
        <p:spPr>
          <a:xfrm>
            <a:off x="2285570" y="6148996"/>
            <a:ext cx="3505200" cy="523220"/>
          </a:xfrm>
          <a:prstGeom prst="rect">
            <a:avLst/>
          </a:prstGeom>
          <a:noFill/>
        </p:spPr>
        <p:txBody>
          <a:bodyPr wrap="square">
            <a:spAutoFit/>
          </a:bodyPr>
          <a:lstStyle/>
          <a:p>
            <a:pPr lvl="0" algn="ctr">
              <a:defRPr/>
            </a:pPr>
            <a:r>
              <a:rPr lang="en-US" sz="2800">
                <a:latin typeface="Arial" panose="020B0604020202020204" pitchFamily="34" charset="0"/>
                <a:cs typeface="Arial" panose="020B0604020202020204" pitchFamily="34" charset="0"/>
              </a:rPr>
              <a:t>Gesture recognition</a:t>
            </a:r>
          </a:p>
        </p:txBody>
      </p:sp>
      <p:pic>
        <p:nvPicPr>
          <p:cNvPr id="22" name="Picture 15" descr="Authentication - Free security icons">
            <a:extLst>
              <a:ext uri="{FF2B5EF4-FFF2-40B4-BE49-F238E27FC236}">
                <a16:creationId xmlns:a16="http://schemas.microsoft.com/office/drawing/2014/main" id="{6025293A-AA39-F2C2-1BB9-65AADE544A0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97730" y="5110167"/>
            <a:ext cx="1842785" cy="1052568"/>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BE5CF10-3560-56E4-249F-2EACE2627C53}"/>
              </a:ext>
            </a:extLst>
          </p:cNvPr>
          <p:cNvSpPr txBox="1"/>
          <p:nvPr/>
        </p:nvSpPr>
        <p:spPr>
          <a:xfrm>
            <a:off x="9087328" y="6132036"/>
            <a:ext cx="3505200" cy="523220"/>
          </a:xfrm>
          <a:prstGeom prst="rect">
            <a:avLst/>
          </a:prstGeom>
          <a:noFill/>
        </p:spPr>
        <p:txBody>
          <a:bodyPr wrap="square">
            <a:spAutoFit/>
          </a:bodyPr>
          <a:lstStyle/>
          <a:p>
            <a:pPr lvl="0" algn="ctr">
              <a:defRPr/>
            </a:pPr>
            <a:r>
              <a:rPr lang="en-US" sz="2800">
                <a:latin typeface="Arial" panose="020B0604020202020204" pitchFamily="34" charset="0"/>
                <a:cs typeface="Arial" panose="020B0604020202020204" pitchFamily="34" charset="0"/>
              </a:rPr>
              <a:t>Authentication</a:t>
            </a:r>
          </a:p>
        </p:txBody>
      </p:sp>
      <p:sp>
        <p:nvSpPr>
          <p:cNvPr id="27" name="Slide Number Placeholder 3">
            <a:extLst>
              <a:ext uri="{FF2B5EF4-FFF2-40B4-BE49-F238E27FC236}">
                <a16:creationId xmlns:a16="http://schemas.microsoft.com/office/drawing/2014/main" id="{AAF26B53-B0D3-E742-59F2-437B4B472248}"/>
              </a:ext>
            </a:extLst>
          </p:cNvPr>
          <p:cNvSpPr>
            <a:spLocks noGrp="1"/>
          </p:cNvSpPr>
          <p:nvPr>
            <p:ph type="sldNum" sz="quarter" idx="12"/>
          </p:nvPr>
        </p:nvSpPr>
        <p:spPr>
          <a:xfrm>
            <a:off x="4795514"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1</a:t>
            </a:r>
          </a:p>
        </p:txBody>
      </p:sp>
    </p:spTree>
    <p:extLst>
      <p:ext uri="{BB962C8B-B14F-4D97-AF65-F5344CB8AC3E}">
        <p14:creationId xmlns:p14="http://schemas.microsoft.com/office/powerpoint/2010/main" val="19940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14" grpId="0"/>
      <p:bldP spid="16" grpId="0"/>
      <p:bldP spid="19" grpId="0"/>
      <p:bldP spid="21" grpId="0"/>
      <p:bldP spid="23"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A2D7C-5750-E720-9CF4-31367469FC2D}"/>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87706E54-090A-7FA3-D5FC-487CB06BF488}"/>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2</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9DE74A14-FFC5-FA2B-F56E-5751E113E05A}"/>
              </a:ext>
            </a:extLst>
          </p:cNvPr>
          <p:cNvSpPr txBox="1"/>
          <p:nvPr/>
        </p:nvSpPr>
        <p:spPr>
          <a:xfrm>
            <a:off x="0" y="-66286"/>
            <a:ext cx="12192000" cy="674370"/>
          </a:xfrm>
          <a:prstGeom prst="rect">
            <a:avLst/>
          </a:prstGeom>
          <a:solidFill>
            <a:srgbClr val="6C2334"/>
          </a:solidFill>
        </p:spPr>
        <p:txBody>
          <a:bodyPr wrap="square" rtlCol="0">
            <a:spAutoFit/>
          </a:bodyPr>
          <a:lstStyle/>
          <a:p>
            <a:endParaRPr lang="en-US"/>
          </a:p>
        </p:txBody>
      </p:sp>
      <p:pic>
        <p:nvPicPr>
          <p:cNvPr id="3" name="Picture 2">
            <a:extLst>
              <a:ext uri="{FF2B5EF4-FFF2-40B4-BE49-F238E27FC236}">
                <a16:creationId xmlns:a16="http://schemas.microsoft.com/office/drawing/2014/main" id="{180036FB-1830-E4BE-0BDA-63446D852BF0}"/>
              </a:ext>
            </a:extLst>
          </p:cNvPr>
          <p:cNvPicPr preferRelativeResize="0">
            <a:picLocks/>
          </p:cNvPicPr>
          <p:nvPr/>
        </p:nvPicPr>
        <p:blipFill>
          <a:blip r:embed="rId3">
            <a:extLst>
              <a:ext uri="{28A0092B-C50C-407E-A947-70E740481C1C}">
                <a14:useLocalDpi xmlns:a14="http://schemas.microsoft.com/office/drawing/2010/main" val="0"/>
              </a:ext>
            </a:extLst>
          </a:blip>
          <a:srcRect l="45707" t="71681" r="36758" b="21558"/>
          <a:stretch>
            <a:fillRect/>
          </a:stretch>
        </p:blipFill>
        <p:spPr>
          <a:xfrm>
            <a:off x="3948002" y="3696987"/>
            <a:ext cx="3474720" cy="1097280"/>
          </a:xfrm>
          <a:prstGeom prst="rect">
            <a:avLst/>
          </a:prstGeom>
        </p:spPr>
      </p:pic>
      <p:pic>
        <p:nvPicPr>
          <p:cNvPr id="4" name="Picture 3">
            <a:extLst>
              <a:ext uri="{FF2B5EF4-FFF2-40B4-BE49-F238E27FC236}">
                <a16:creationId xmlns:a16="http://schemas.microsoft.com/office/drawing/2014/main" id="{0E873A73-A1F7-DDB9-BDA2-485697130377}"/>
              </a:ext>
            </a:extLst>
          </p:cNvPr>
          <p:cNvPicPr preferRelativeResize="0">
            <a:picLocks/>
          </p:cNvPicPr>
          <p:nvPr/>
        </p:nvPicPr>
        <p:blipFill>
          <a:blip r:embed="rId3">
            <a:extLst>
              <a:ext uri="{28A0092B-C50C-407E-A947-70E740481C1C}">
                <a14:useLocalDpi xmlns:a14="http://schemas.microsoft.com/office/drawing/2010/main" val="0"/>
              </a:ext>
            </a:extLst>
          </a:blip>
          <a:srcRect l="4462" t="70459" r="79953" b="21869"/>
          <a:stretch>
            <a:fillRect/>
          </a:stretch>
        </p:blipFill>
        <p:spPr>
          <a:xfrm>
            <a:off x="3948002" y="1300893"/>
            <a:ext cx="3474720" cy="1097280"/>
          </a:xfrm>
          <a:prstGeom prst="rect">
            <a:avLst/>
          </a:prstGeom>
        </p:spPr>
      </p:pic>
      <p:pic>
        <p:nvPicPr>
          <p:cNvPr id="5" name="Picture 4">
            <a:extLst>
              <a:ext uri="{FF2B5EF4-FFF2-40B4-BE49-F238E27FC236}">
                <a16:creationId xmlns:a16="http://schemas.microsoft.com/office/drawing/2014/main" id="{B6132E9C-D482-8095-0415-C3AD65BF3462}"/>
              </a:ext>
            </a:extLst>
          </p:cNvPr>
          <p:cNvPicPr preferRelativeResize="0">
            <a:picLocks/>
          </p:cNvPicPr>
          <p:nvPr/>
        </p:nvPicPr>
        <p:blipFill>
          <a:blip r:embed="rId3">
            <a:extLst>
              <a:ext uri="{28A0092B-C50C-407E-A947-70E740481C1C}">
                <a14:useLocalDpi xmlns:a14="http://schemas.microsoft.com/office/drawing/2010/main" val="0"/>
              </a:ext>
            </a:extLst>
          </a:blip>
          <a:srcRect l="23942" t="69885" r="57086" b="17587"/>
          <a:stretch>
            <a:fillRect/>
          </a:stretch>
        </p:blipFill>
        <p:spPr>
          <a:xfrm>
            <a:off x="3948002" y="2498940"/>
            <a:ext cx="3474720" cy="1097280"/>
          </a:xfrm>
          <a:prstGeom prst="rect">
            <a:avLst/>
          </a:prstGeom>
        </p:spPr>
      </p:pic>
      <p:pic>
        <p:nvPicPr>
          <p:cNvPr id="7" name="Picture 6">
            <a:extLst>
              <a:ext uri="{FF2B5EF4-FFF2-40B4-BE49-F238E27FC236}">
                <a16:creationId xmlns:a16="http://schemas.microsoft.com/office/drawing/2014/main" id="{B23C7CE2-4555-6D1D-BD14-A24B0F6C8F78}"/>
              </a:ext>
            </a:extLst>
          </p:cNvPr>
          <p:cNvPicPr preferRelativeResize="0">
            <a:picLocks/>
          </p:cNvPicPr>
          <p:nvPr/>
        </p:nvPicPr>
        <p:blipFill>
          <a:blip r:embed="rId3">
            <a:extLst>
              <a:ext uri="{28A0092B-C50C-407E-A947-70E740481C1C}">
                <a14:useLocalDpi xmlns:a14="http://schemas.microsoft.com/office/drawing/2010/main" val="0"/>
              </a:ext>
            </a:extLst>
          </a:blip>
          <a:srcRect l="73732" t="70470" r="10214" b="22388"/>
          <a:stretch>
            <a:fillRect/>
          </a:stretch>
        </p:blipFill>
        <p:spPr>
          <a:xfrm>
            <a:off x="3948002" y="4895033"/>
            <a:ext cx="3474720" cy="1097280"/>
          </a:xfrm>
          <a:prstGeom prst="rect">
            <a:avLst/>
          </a:prstGeom>
        </p:spPr>
      </p:pic>
      <p:sp>
        <p:nvSpPr>
          <p:cNvPr id="9" name="Text 9">
            <a:extLst>
              <a:ext uri="{FF2B5EF4-FFF2-40B4-BE49-F238E27FC236}">
                <a16:creationId xmlns:a16="http://schemas.microsoft.com/office/drawing/2014/main" id="{4ACBCB21-90C6-A168-2497-9BD56A5AD468}"/>
              </a:ext>
            </a:extLst>
          </p:cNvPr>
          <p:cNvSpPr/>
          <p:nvPr/>
        </p:nvSpPr>
        <p:spPr>
          <a:xfrm>
            <a:off x="763059" y="2435156"/>
            <a:ext cx="3151751" cy="457200"/>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Finger Gesture</a:t>
            </a:r>
            <a:endParaRPr lang="en-US" sz="3600">
              <a:latin typeface="Times New Roman" panose="02020603050405020304" pitchFamily="18" charset="0"/>
              <a:cs typeface="Times New Roman" panose="02020603050405020304" pitchFamily="18" charset="0"/>
            </a:endParaRPr>
          </a:p>
        </p:txBody>
      </p:sp>
      <p:sp>
        <p:nvSpPr>
          <p:cNvPr id="10" name="Text 9">
            <a:extLst>
              <a:ext uri="{FF2B5EF4-FFF2-40B4-BE49-F238E27FC236}">
                <a16:creationId xmlns:a16="http://schemas.microsoft.com/office/drawing/2014/main" id="{DA4C4A11-0AFC-C553-87AB-304A49E8E454}"/>
              </a:ext>
            </a:extLst>
          </p:cNvPr>
          <p:cNvSpPr/>
          <p:nvPr/>
        </p:nvSpPr>
        <p:spPr>
          <a:xfrm>
            <a:off x="864931" y="1294800"/>
            <a:ext cx="2815471" cy="457200"/>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ea typeface="Arial" pitchFamily="34" charset="-122"/>
                <a:cs typeface="Times New Roman" panose="02020603050405020304" pitchFamily="18" charset="0"/>
              </a:rPr>
              <a:t>Gait Gesture</a:t>
            </a:r>
            <a:endParaRPr lang="en-US" sz="3600">
              <a:latin typeface="Times New Roman" panose="02020603050405020304" pitchFamily="18" charset="0"/>
              <a:cs typeface="Times New Roman" panose="02020603050405020304" pitchFamily="18" charset="0"/>
            </a:endParaRPr>
          </a:p>
        </p:txBody>
      </p:sp>
      <p:sp>
        <p:nvSpPr>
          <p:cNvPr id="19" name="Text 9">
            <a:extLst>
              <a:ext uri="{FF2B5EF4-FFF2-40B4-BE49-F238E27FC236}">
                <a16:creationId xmlns:a16="http://schemas.microsoft.com/office/drawing/2014/main" id="{DAC688EF-F68A-C76D-8665-7769AFA014B1}"/>
              </a:ext>
            </a:extLst>
          </p:cNvPr>
          <p:cNvSpPr/>
          <p:nvPr/>
        </p:nvSpPr>
        <p:spPr>
          <a:xfrm>
            <a:off x="1067859" y="3575512"/>
            <a:ext cx="2542151" cy="457200"/>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Respiration</a:t>
            </a:r>
            <a:endParaRPr lang="en-US" sz="3600">
              <a:latin typeface="Times New Roman" panose="02020603050405020304" pitchFamily="18" charset="0"/>
              <a:cs typeface="Times New Roman" panose="02020603050405020304" pitchFamily="18" charset="0"/>
            </a:endParaRPr>
          </a:p>
        </p:txBody>
      </p:sp>
      <p:sp>
        <p:nvSpPr>
          <p:cNvPr id="20" name="Text 9">
            <a:extLst>
              <a:ext uri="{FF2B5EF4-FFF2-40B4-BE49-F238E27FC236}">
                <a16:creationId xmlns:a16="http://schemas.microsoft.com/office/drawing/2014/main" id="{1A036C9D-038A-73CA-7C7D-D72E2D59B772}"/>
              </a:ext>
            </a:extLst>
          </p:cNvPr>
          <p:cNvSpPr/>
          <p:nvPr/>
        </p:nvSpPr>
        <p:spPr>
          <a:xfrm>
            <a:off x="1289601" y="4715868"/>
            <a:ext cx="2098667" cy="457200"/>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Heartbeat</a:t>
            </a:r>
            <a:endParaRPr lang="en-US" sz="3600">
              <a:latin typeface="Times New Roman" panose="02020603050405020304" pitchFamily="18" charset="0"/>
              <a:cs typeface="Times New Roman" panose="02020603050405020304" pitchFamily="18" charset="0"/>
            </a:endParaRPr>
          </a:p>
        </p:txBody>
      </p:sp>
      <p:sp>
        <p:nvSpPr>
          <p:cNvPr id="21" name="Arrow: Down 20">
            <a:extLst>
              <a:ext uri="{FF2B5EF4-FFF2-40B4-BE49-F238E27FC236}">
                <a16:creationId xmlns:a16="http://schemas.microsoft.com/office/drawing/2014/main" id="{43F4195C-98DC-AEE4-4FFB-E9BCE97F252E}"/>
              </a:ext>
            </a:extLst>
          </p:cNvPr>
          <p:cNvSpPr/>
          <p:nvPr/>
        </p:nvSpPr>
        <p:spPr>
          <a:xfrm>
            <a:off x="10101266" y="2432018"/>
            <a:ext cx="731520" cy="3265016"/>
          </a:xfrm>
          <a:prstGeom prst="down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rgbClr val="8B0025"/>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4" name="Text 9">
            <a:extLst>
              <a:ext uri="{FF2B5EF4-FFF2-40B4-BE49-F238E27FC236}">
                <a16:creationId xmlns:a16="http://schemas.microsoft.com/office/drawing/2014/main" id="{3D779ED0-00FF-3CEE-EC12-3A4B3B97A594}"/>
              </a:ext>
            </a:extLst>
          </p:cNvPr>
          <p:cNvSpPr/>
          <p:nvPr/>
        </p:nvSpPr>
        <p:spPr>
          <a:xfrm>
            <a:off x="10055529" y="1842247"/>
            <a:ext cx="1095620" cy="854409"/>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Easy</a:t>
            </a:r>
            <a:endParaRPr lang="en-US" sz="3600">
              <a:latin typeface="Times New Roman" panose="02020603050405020304" pitchFamily="18" charset="0"/>
              <a:cs typeface="Times New Roman" panose="02020603050405020304" pitchFamily="18" charset="0"/>
            </a:endParaRPr>
          </a:p>
        </p:txBody>
      </p:sp>
      <p:sp>
        <p:nvSpPr>
          <p:cNvPr id="25" name="Text 9">
            <a:extLst>
              <a:ext uri="{FF2B5EF4-FFF2-40B4-BE49-F238E27FC236}">
                <a16:creationId xmlns:a16="http://schemas.microsoft.com/office/drawing/2014/main" id="{A0A729E4-9D1D-8727-A74C-6CDA7C8D1171}"/>
              </a:ext>
            </a:extLst>
          </p:cNvPr>
          <p:cNvSpPr/>
          <p:nvPr/>
        </p:nvSpPr>
        <p:spPr>
          <a:xfrm>
            <a:off x="10037256" y="5649829"/>
            <a:ext cx="1107151" cy="600087"/>
          </a:xfrm>
          <a:prstGeom prst="rect">
            <a:avLst/>
          </a:prstGeom>
          <a:noFill/>
          <a:ln/>
        </p:spPr>
        <p:txBody>
          <a:bodyPr wrap="square" lIns="508" tIns="508" rIns="508" bIns="508" rtlCol="0" anchor="t"/>
          <a:lstStyle/>
          <a:p>
            <a:pPr algn="just"/>
            <a:r>
              <a:rPr lang="en-US" sz="3600">
                <a:solidFill>
                  <a:srgbClr val="222222"/>
                </a:solidFill>
                <a:latin typeface="Times New Roman" panose="02020603050405020304" pitchFamily="18" charset="0"/>
                <a:cs typeface="Times New Roman" panose="02020603050405020304" pitchFamily="18" charset="0"/>
              </a:rPr>
              <a:t>Hard</a:t>
            </a:r>
            <a:endParaRPr lang="en-US" sz="3600">
              <a:latin typeface="Times New Roman" panose="02020603050405020304" pitchFamily="18" charset="0"/>
              <a:cs typeface="Times New Roman" panose="02020603050405020304" pitchFamily="18" charset="0"/>
            </a:endParaRPr>
          </a:p>
        </p:txBody>
      </p:sp>
      <p:sp>
        <p:nvSpPr>
          <p:cNvPr id="26" name="Text 9">
            <a:extLst>
              <a:ext uri="{FF2B5EF4-FFF2-40B4-BE49-F238E27FC236}">
                <a16:creationId xmlns:a16="http://schemas.microsoft.com/office/drawing/2014/main" id="{B32FE430-33C4-DD46-10E3-1E5CABEA5F01}"/>
              </a:ext>
            </a:extLst>
          </p:cNvPr>
          <p:cNvSpPr/>
          <p:nvPr/>
        </p:nvSpPr>
        <p:spPr>
          <a:xfrm>
            <a:off x="9374751" y="669253"/>
            <a:ext cx="2184551" cy="1345589"/>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Mimic</a:t>
            </a:r>
          </a:p>
          <a:p>
            <a:pPr algn="ctr"/>
            <a:r>
              <a:rPr lang="en-US" sz="3600">
                <a:solidFill>
                  <a:srgbClr val="222222"/>
                </a:solidFill>
                <a:latin typeface="Times New Roman" panose="02020603050405020304" pitchFamily="18" charset="0"/>
                <a:cs typeface="Times New Roman" panose="02020603050405020304" pitchFamily="18" charset="0"/>
              </a:rPr>
              <a:t>Difficulty</a:t>
            </a:r>
          </a:p>
        </p:txBody>
      </p:sp>
      <p:sp>
        <p:nvSpPr>
          <p:cNvPr id="27" name="Right Brace 26">
            <a:extLst>
              <a:ext uri="{FF2B5EF4-FFF2-40B4-BE49-F238E27FC236}">
                <a16:creationId xmlns:a16="http://schemas.microsoft.com/office/drawing/2014/main" id="{A4A60F7E-C3F2-A5F9-F956-17EAF7468189}"/>
              </a:ext>
            </a:extLst>
          </p:cNvPr>
          <p:cNvSpPr/>
          <p:nvPr/>
        </p:nvSpPr>
        <p:spPr>
          <a:xfrm>
            <a:off x="7740626" y="4191059"/>
            <a:ext cx="630613" cy="1386160"/>
          </a:xfrm>
          <a:prstGeom prst="rightBrace">
            <a:avLst/>
          </a:prstGeom>
          <a:ln w="127000">
            <a:solidFill>
              <a:srgbClr val="D70C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1901">
              <a:latin typeface="Times New Roman" panose="02020603050405020304" pitchFamily="18" charset="0"/>
              <a:cs typeface="Times New Roman" panose="02020603050405020304" pitchFamily="18" charset="0"/>
            </a:endParaRPr>
          </a:p>
        </p:txBody>
      </p:sp>
      <p:sp>
        <p:nvSpPr>
          <p:cNvPr id="28" name="Right Brace 27">
            <a:extLst>
              <a:ext uri="{FF2B5EF4-FFF2-40B4-BE49-F238E27FC236}">
                <a16:creationId xmlns:a16="http://schemas.microsoft.com/office/drawing/2014/main" id="{016626EE-62FE-F583-8146-043A5A842648}"/>
              </a:ext>
            </a:extLst>
          </p:cNvPr>
          <p:cNvSpPr/>
          <p:nvPr/>
        </p:nvSpPr>
        <p:spPr>
          <a:xfrm>
            <a:off x="7727262" y="1561602"/>
            <a:ext cx="611124" cy="2450278"/>
          </a:xfrm>
          <a:prstGeom prst="rightBrace">
            <a:avLst/>
          </a:prstGeom>
          <a:ln w="127000">
            <a:solidFill>
              <a:srgbClr val="D70C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1901">
              <a:latin typeface="Times New Roman" panose="02020603050405020304" pitchFamily="18" charset="0"/>
              <a:cs typeface="Times New Roman" panose="02020603050405020304" pitchFamily="18" charset="0"/>
            </a:endParaRPr>
          </a:p>
        </p:txBody>
      </p:sp>
      <p:sp>
        <p:nvSpPr>
          <p:cNvPr id="29" name="Text 9">
            <a:extLst>
              <a:ext uri="{FF2B5EF4-FFF2-40B4-BE49-F238E27FC236}">
                <a16:creationId xmlns:a16="http://schemas.microsoft.com/office/drawing/2014/main" id="{F0E244C6-5AB6-0EAF-7AAF-C3CB53F1E319}"/>
              </a:ext>
            </a:extLst>
          </p:cNvPr>
          <p:cNvSpPr/>
          <p:nvPr/>
        </p:nvSpPr>
        <p:spPr>
          <a:xfrm rot="5400000">
            <a:off x="7878181" y="2773351"/>
            <a:ext cx="2086410" cy="192024"/>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Previous</a:t>
            </a:r>
            <a:endParaRPr lang="en-US" sz="3600">
              <a:latin typeface="Times New Roman" panose="02020603050405020304" pitchFamily="18" charset="0"/>
              <a:cs typeface="Times New Roman" panose="02020603050405020304" pitchFamily="18" charset="0"/>
            </a:endParaRPr>
          </a:p>
        </p:txBody>
      </p:sp>
      <p:sp>
        <p:nvSpPr>
          <p:cNvPr id="30" name="Text 9">
            <a:extLst>
              <a:ext uri="{FF2B5EF4-FFF2-40B4-BE49-F238E27FC236}">
                <a16:creationId xmlns:a16="http://schemas.microsoft.com/office/drawing/2014/main" id="{6DAA8E13-ABE0-033F-E298-99E9890F75C5}"/>
              </a:ext>
            </a:extLst>
          </p:cNvPr>
          <p:cNvSpPr/>
          <p:nvPr/>
        </p:nvSpPr>
        <p:spPr>
          <a:xfrm rot="5400000">
            <a:off x="7876572" y="4790436"/>
            <a:ext cx="2086410" cy="192024"/>
          </a:xfrm>
          <a:prstGeom prst="rect">
            <a:avLst/>
          </a:prstGeom>
          <a:noFill/>
          <a:ln/>
        </p:spPr>
        <p:txBody>
          <a:bodyPr wrap="square" lIns="508" tIns="508" rIns="508" bIns="508" rtlCol="0" anchor="t"/>
          <a:lstStyle/>
          <a:p>
            <a:pPr algn="ctr"/>
            <a:r>
              <a:rPr lang="en-US" sz="3600">
                <a:solidFill>
                  <a:srgbClr val="222222"/>
                </a:solidFill>
                <a:latin typeface="Times New Roman" panose="02020603050405020304" pitchFamily="18" charset="0"/>
                <a:cs typeface="Times New Roman" panose="02020603050405020304" pitchFamily="18" charset="0"/>
              </a:rPr>
              <a:t>2FiA</a:t>
            </a:r>
            <a:endParaRPr lang="en-US" sz="3600">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D8543B07-7744-FDAB-85CF-087822368A41}"/>
              </a:ext>
            </a:extLst>
          </p:cNvPr>
          <p:cNvSpPr/>
          <p:nvPr/>
        </p:nvSpPr>
        <p:spPr>
          <a:xfrm>
            <a:off x="24337" y="-15917"/>
            <a:ext cx="9919764" cy="734384"/>
          </a:xfrm>
          <a:prstGeom prst="rect">
            <a:avLst/>
          </a:prstGeom>
          <a:noFill/>
          <a:ln/>
        </p:spPr>
        <p:txBody>
          <a:bodyPr wrap="square" lIns="508" tIns="508" rIns="508" bIns="508" rtlCol="0" anchor="t"/>
          <a:lstStyle/>
          <a:p>
            <a:pPr algn="ctr"/>
            <a:r>
              <a:rPr lang="en-US" sz="3600" b="1">
                <a:solidFill>
                  <a:srgbClr val="CEB888"/>
                </a:solidFill>
                <a:highlight>
                  <a:srgbClr val="6C2334"/>
                </a:highlight>
                <a:latin typeface="Arial" panose="020B0604020202020204" pitchFamily="34" charset="0"/>
                <a:cs typeface="Arial" panose="020B0604020202020204" pitchFamily="34" charset="0"/>
              </a:rPr>
              <a:t>Biometrics for Wi-Fi Human Authentication</a:t>
            </a:r>
          </a:p>
        </p:txBody>
      </p:sp>
      <p:sp>
        <p:nvSpPr>
          <p:cNvPr id="15" name="Text 9">
            <a:extLst>
              <a:ext uri="{FF2B5EF4-FFF2-40B4-BE49-F238E27FC236}">
                <a16:creationId xmlns:a16="http://schemas.microsoft.com/office/drawing/2014/main" id="{DFB868A5-553B-9D20-62F3-357D0B1BB0C3}"/>
              </a:ext>
            </a:extLst>
          </p:cNvPr>
          <p:cNvSpPr/>
          <p:nvPr/>
        </p:nvSpPr>
        <p:spPr>
          <a:xfrm>
            <a:off x="659742" y="5286046"/>
            <a:ext cx="3151751" cy="457200"/>
          </a:xfrm>
          <a:prstGeom prst="rect">
            <a:avLst/>
          </a:prstGeom>
          <a:noFill/>
          <a:ln/>
        </p:spPr>
        <p:txBody>
          <a:bodyPr wrap="square" lIns="508" tIns="508" rIns="508" bIns="508" rtlCol="0" anchor="t"/>
          <a:lstStyle/>
          <a:p>
            <a:pPr algn="ctr"/>
            <a:r>
              <a:rPr lang="en-US" sz="3600">
                <a:solidFill>
                  <a:srgbClr val="C82C31"/>
                </a:solidFill>
                <a:latin typeface="Times New Roman" panose="02020603050405020304" pitchFamily="18" charset="0"/>
                <a:cs typeface="Times New Roman" panose="02020603050405020304" pitchFamily="18" charset="0"/>
              </a:rPr>
              <a:t>Involuntary</a:t>
            </a:r>
          </a:p>
        </p:txBody>
      </p:sp>
      <p:sp>
        <p:nvSpPr>
          <p:cNvPr id="16" name="Text 9">
            <a:extLst>
              <a:ext uri="{FF2B5EF4-FFF2-40B4-BE49-F238E27FC236}">
                <a16:creationId xmlns:a16="http://schemas.microsoft.com/office/drawing/2014/main" id="{674A68F4-AFB4-EE36-A205-5DD2AE69EFF5}"/>
              </a:ext>
            </a:extLst>
          </p:cNvPr>
          <p:cNvSpPr/>
          <p:nvPr/>
        </p:nvSpPr>
        <p:spPr>
          <a:xfrm>
            <a:off x="517266" y="4145690"/>
            <a:ext cx="3506351" cy="457200"/>
          </a:xfrm>
          <a:prstGeom prst="rect">
            <a:avLst/>
          </a:prstGeom>
          <a:noFill/>
          <a:ln/>
        </p:spPr>
        <p:txBody>
          <a:bodyPr wrap="square" lIns="508" tIns="508" rIns="508" bIns="508" rtlCol="0" anchor="t"/>
          <a:lstStyle/>
          <a:p>
            <a:pPr algn="ctr"/>
            <a:r>
              <a:rPr lang="en-US" sz="3600">
                <a:solidFill>
                  <a:srgbClr val="C82C31"/>
                </a:solidFill>
                <a:latin typeface="Times New Roman" panose="02020603050405020304" pitchFamily="18" charset="0"/>
                <a:cs typeface="Times New Roman" panose="02020603050405020304" pitchFamily="18" charset="0"/>
              </a:rPr>
              <a:t>Semi-voluntary</a:t>
            </a:r>
          </a:p>
        </p:txBody>
      </p:sp>
      <p:sp>
        <p:nvSpPr>
          <p:cNvPr id="18" name="Text 9">
            <a:extLst>
              <a:ext uri="{FF2B5EF4-FFF2-40B4-BE49-F238E27FC236}">
                <a16:creationId xmlns:a16="http://schemas.microsoft.com/office/drawing/2014/main" id="{FBB7CAE5-F518-CFFC-3883-C2DE5603929B}"/>
              </a:ext>
            </a:extLst>
          </p:cNvPr>
          <p:cNvSpPr/>
          <p:nvPr/>
        </p:nvSpPr>
        <p:spPr>
          <a:xfrm>
            <a:off x="529796" y="3005334"/>
            <a:ext cx="3506351" cy="457200"/>
          </a:xfrm>
          <a:prstGeom prst="rect">
            <a:avLst/>
          </a:prstGeom>
          <a:noFill/>
          <a:ln/>
        </p:spPr>
        <p:txBody>
          <a:bodyPr wrap="square" lIns="508" tIns="508" rIns="508" bIns="508" rtlCol="0" anchor="t"/>
          <a:lstStyle/>
          <a:p>
            <a:pPr algn="ctr"/>
            <a:r>
              <a:rPr lang="en-US" sz="3600">
                <a:solidFill>
                  <a:srgbClr val="5780AB"/>
                </a:solidFill>
                <a:latin typeface="Times New Roman" panose="02020603050405020304" pitchFamily="18" charset="0"/>
                <a:cs typeface="Times New Roman" panose="02020603050405020304" pitchFamily="18" charset="0"/>
              </a:rPr>
              <a:t>Voluntary</a:t>
            </a:r>
          </a:p>
        </p:txBody>
      </p:sp>
      <p:sp>
        <p:nvSpPr>
          <p:cNvPr id="22" name="Text 9">
            <a:extLst>
              <a:ext uri="{FF2B5EF4-FFF2-40B4-BE49-F238E27FC236}">
                <a16:creationId xmlns:a16="http://schemas.microsoft.com/office/drawing/2014/main" id="{C10B66ED-5402-9788-D516-52570CB8A7D5}"/>
              </a:ext>
            </a:extLst>
          </p:cNvPr>
          <p:cNvSpPr/>
          <p:nvPr/>
        </p:nvSpPr>
        <p:spPr>
          <a:xfrm>
            <a:off x="529796" y="1864978"/>
            <a:ext cx="3506351" cy="457200"/>
          </a:xfrm>
          <a:prstGeom prst="rect">
            <a:avLst/>
          </a:prstGeom>
          <a:noFill/>
          <a:ln/>
        </p:spPr>
        <p:txBody>
          <a:bodyPr wrap="square" lIns="508" tIns="508" rIns="508" bIns="508" rtlCol="0" anchor="t"/>
          <a:lstStyle/>
          <a:p>
            <a:pPr algn="ctr"/>
            <a:r>
              <a:rPr lang="en-US" sz="3600">
                <a:solidFill>
                  <a:srgbClr val="5780AB"/>
                </a:solidFill>
                <a:latin typeface="Times New Roman" panose="02020603050405020304" pitchFamily="18" charset="0"/>
                <a:cs typeface="Times New Roman" panose="02020603050405020304" pitchFamily="18" charset="0"/>
              </a:rPr>
              <a:t>Voluntary</a:t>
            </a:r>
          </a:p>
        </p:txBody>
      </p:sp>
    </p:spTree>
    <p:extLst>
      <p:ext uri="{BB962C8B-B14F-4D97-AF65-F5344CB8AC3E}">
        <p14:creationId xmlns:p14="http://schemas.microsoft.com/office/powerpoint/2010/main" val="397413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5" grpId="0" animBg="1"/>
      <p:bldP spid="26" grpId="0" animBg="1"/>
      <p:bldP spid="27" grpId="0" animBg="1"/>
      <p:bldP spid="30" grpId="0" animBg="1"/>
      <p:bldP spid="15" grpId="0" animBg="1"/>
      <p:bldP spid="16" grpId="0" animBg="1"/>
      <p:bldP spid="18"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F8734-3B61-DEEC-0157-49E1BB621ED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D33BD08-8A87-4ADF-60F3-6C3F1EDF4065}"/>
              </a:ext>
            </a:extLst>
          </p:cNvPr>
          <p:cNvSpPr txBox="1"/>
          <p:nvPr/>
        </p:nvSpPr>
        <p:spPr>
          <a:xfrm>
            <a:off x="0" y="-611"/>
            <a:ext cx="12192000" cy="674370"/>
          </a:xfrm>
          <a:prstGeom prst="rect">
            <a:avLst/>
          </a:prstGeom>
          <a:solidFill>
            <a:srgbClr val="6C2334"/>
          </a:solidFill>
        </p:spPr>
        <p:txBody>
          <a:bodyPr wrap="square" rtlCol="0">
            <a:spAutoFit/>
          </a:bodyPr>
          <a:lstStyle/>
          <a:p>
            <a:endParaRPr lang="en-US"/>
          </a:p>
        </p:txBody>
      </p:sp>
      <p:sp>
        <p:nvSpPr>
          <p:cNvPr id="6" name="TextBox 5">
            <a:extLst>
              <a:ext uri="{FF2B5EF4-FFF2-40B4-BE49-F238E27FC236}">
                <a16:creationId xmlns:a16="http://schemas.microsoft.com/office/drawing/2014/main" id="{33CE3D95-027E-1CA8-744F-0030BB71FC0C}"/>
              </a:ext>
            </a:extLst>
          </p:cNvPr>
          <p:cNvSpPr txBox="1"/>
          <p:nvPr/>
        </p:nvSpPr>
        <p:spPr>
          <a:xfrm>
            <a:off x="-68166" y="6595"/>
            <a:ext cx="12031566" cy="646331"/>
          </a:xfrm>
          <a:prstGeom prst="rect">
            <a:avLst/>
          </a:prstGeom>
          <a:noFill/>
        </p:spPr>
        <p:txBody>
          <a:bodyPr wrap="square">
            <a:spAutoFit/>
          </a:bodyPr>
          <a:lstStyle/>
          <a:p>
            <a:pPr lvl="0" algn="ctr">
              <a:defRPr/>
            </a:pPr>
            <a:r>
              <a:rPr lang="en-US" sz="3600" b="1">
                <a:solidFill>
                  <a:srgbClr val="CEB888"/>
                </a:solidFill>
                <a:highlight>
                  <a:srgbClr val="6C2334"/>
                </a:highlight>
                <a:latin typeface="Arial" panose="020B0604020202020204" pitchFamily="34" charset="0"/>
                <a:cs typeface="Arial" panose="020B0604020202020204" pitchFamily="34" charset="0"/>
              </a:rPr>
              <a:t>                             </a:t>
            </a:r>
          </a:p>
        </p:txBody>
      </p:sp>
      <p:sp>
        <p:nvSpPr>
          <p:cNvPr id="70" name="Arc 69">
            <a:extLst>
              <a:ext uri="{FF2B5EF4-FFF2-40B4-BE49-F238E27FC236}">
                <a16:creationId xmlns:a16="http://schemas.microsoft.com/office/drawing/2014/main" id="{78403164-72D1-84F5-5017-5617A2E2639E}"/>
              </a:ext>
            </a:extLst>
          </p:cNvPr>
          <p:cNvSpPr/>
          <p:nvPr/>
        </p:nvSpPr>
        <p:spPr>
          <a:xfrm rot="12465410" flipH="1">
            <a:off x="5302890" y="2937493"/>
            <a:ext cx="3945465" cy="3288722"/>
          </a:xfrm>
          <a:prstGeom prst="arc">
            <a:avLst>
              <a:gd name="adj1" fmla="val 15435877"/>
              <a:gd name="adj2" fmla="val 21046383"/>
            </a:avLst>
          </a:prstGeom>
          <a:ln w="57150">
            <a:solidFill>
              <a:srgbClr val="4382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600">
              <a:solidFill>
                <a:srgbClr val="4382B5"/>
              </a:solidFill>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1171973F-09ED-FA2C-B9EA-7746A8E14E58}"/>
              </a:ext>
            </a:extLst>
          </p:cNvPr>
          <p:cNvSpPr/>
          <p:nvPr/>
        </p:nvSpPr>
        <p:spPr>
          <a:xfrm>
            <a:off x="3686826" y="5831365"/>
            <a:ext cx="2652981" cy="522903"/>
          </a:xfrm>
          <a:prstGeom prst="ellipse">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lin ang="13500000" scaled="1"/>
            <a:tileRect/>
          </a:gra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直接连接符 5">
            <a:extLst>
              <a:ext uri="{FF2B5EF4-FFF2-40B4-BE49-F238E27FC236}">
                <a16:creationId xmlns:a16="http://schemas.microsoft.com/office/drawing/2014/main" id="{E1AE2F62-DA47-D321-F40B-0CE24D7003FB}"/>
              </a:ext>
            </a:extLst>
          </p:cNvPr>
          <p:cNvCxnSpPr>
            <a:cxnSpLocks/>
          </p:cNvCxnSpPr>
          <p:nvPr/>
        </p:nvCxnSpPr>
        <p:spPr>
          <a:xfrm>
            <a:off x="3792212" y="4804260"/>
            <a:ext cx="4276125" cy="16133"/>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pic>
        <p:nvPicPr>
          <p:cNvPr id="14" name="Picture 13" descr="A human body with a heart&#10;&#10;AI-generated content may be incorrect.">
            <a:extLst>
              <a:ext uri="{FF2B5EF4-FFF2-40B4-BE49-F238E27FC236}">
                <a16:creationId xmlns:a16="http://schemas.microsoft.com/office/drawing/2014/main" id="{7662CF61-01D9-EE95-60CA-D95F54A6C143}"/>
              </a:ext>
            </a:extLst>
          </p:cNvPr>
          <p:cNvPicPr>
            <a:picLocks noChangeAspect="1"/>
          </p:cNvPicPr>
          <p:nvPr/>
        </p:nvPicPr>
        <p:blipFill>
          <a:blip r:embed="rId3">
            <a:extLst>
              <a:ext uri="{28A0092B-C50C-407E-A947-70E740481C1C}">
                <a14:useLocalDpi xmlns:a14="http://schemas.microsoft.com/office/drawing/2010/main" val="0"/>
              </a:ext>
            </a:extLst>
          </a:blip>
          <a:srcRect l="35911" t="8224" r="34926" b="8240"/>
          <a:stretch/>
        </p:blipFill>
        <p:spPr>
          <a:xfrm>
            <a:off x="4333727" y="2428375"/>
            <a:ext cx="1399760" cy="3853530"/>
          </a:xfrm>
          <a:prstGeom prst="rect">
            <a:avLst/>
          </a:prstGeom>
        </p:spPr>
      </p:pic>
      <p:sp>
        <p:nvSpPr>
          <p:cNvPr id="15" name="Cube 14">
            <a:extLst>
              <a:ext uri="{FF2B5EF4-FFF2-40B4-BE49-F238E27FC236}">
                <a16:creationId xmlns:a16="http://schemas.microsoft.com/office/drawing/2014/main" id="{05EB6E78-3BF6-3BF4-9B6A-86E01984ECDD}"/>
              </a:ext>
            </a:extLst>
          </p:cNvPr>
          <p:cNvSpPr/>
          <p:nvPr/>
        </p:nvSpPr>
        <p:spPr>
          <a:xfrm flipH="1">
            <a:off x="7991915" y="2501445"/>
            <a:ext cx="1599346" cy="3791274"/>
          </a:xfrm>
          <a:prstGeom prst="cube">
            <a:avLst>
              <a:gd name="adj" fmla="val 93066"/>
            </a:avLst>
          </a:prstGeom>
          <a:solidFill>
            <a:schemeClr val="bg1">
              <a:lumMod val="95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9">
              <a:latin typeface="Times New Roman" panose="02020603050405020304" pitchFamily="18" charset="0"/>
              <a:cs typeface="Times New Roman" panose="02020603050405020304" pitchFamily="18" charset="0"/>
            </a:endParaRPr>
          </a:p>
        </p:txBody>
      </p:sp>
      <p:cxnSp>
        <p:nvCxnSpPr>
          <p:cNvPr id="16" name="直接箭头连接符 41">
            <a:extLst>
              <a:ext uri="{FF2B5EF4-FFF2-40B4-BE49-F238E27FC236}">
                <a16:creationId xmlns:a16="http://schemas.microsoft.com/office/drawing/2014/main" id="{E95FA417-0BF8-09AE-1919-D5E5CD076385}"/>
              </a:ext>
            </a:extLst>
          </p:cNvPr>
          <p:cNvCxnSpPr>
            <a:cxnSpLocks/>
          </p:cNvCxnSpPr>
          <p:nvPr/>
        </p:nvCxnSpPr>
        <p:spPr>
          <a:xfrm>
            <a:off x="5011656" y="3581327"/>
            <a:ext cx="5577" cy="2519879"/>
          </a:xfrm>
          <a:prstGeom prst="straightConnector1">
            <a:avLst/>
          </a:prstGeom>
          <a:ln w="47625">
            <a:solidFill>
              <a:srgbClr val="4382B5"/>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B3EF6A-F650-0F3B-9976-5271D8AC5FE0}"/>
              </a:ext>
            </a:extLst>
          </p:cNvPr>
          <p:cNvCxnSpPr>
            <a:cxnSpLocks/>
          </p:cNvCxnSpPr>
          <p:nvPr/>
        </p:nvCxnSpPr>
        <p:spPr>
          <a:xfrm flipH="1" flipV="1">
            <a:off x="5271043" y="5810811"/>
            <a:ext cx="0" cy="210782"/>
          </a:xfrm>
          <a:prstGeom prst="line">
            <a:avLst/>
          </a:prstGeom>
          <a:ln w="47625">
            <a:solidFill>
              <a:srgbClr val="4382B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5BAF8EF-7EAF-30DC-60EC-D71E9D1B9E38}"/>
              </a:ext>
            </a:extLst>
          </p:cNvPr>
          <p:cNvCxnSpPr>
            <a:cxnSpLocks/>
          </p:cNvCxnSpPr>
          <p:nvPr/>
        </p:nvCxnSpPr>
        <p:spPr>
          <a:xfrm flipV="1">
            <a:off x="5003437" y="5832972"/>
            <a:ext cx="259556" cy="66575"/>
          </a:xfrm>
          <a:prstGeom prst="line">
            <a:avLst/>
          </a:prstGeom>
          <a:ln w="47625">
            <a:solidFill>
              <a:srgbClr val="4382B5"/>
            </a:solidFill>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7C321527-EA5E-6240-0084-49BBF0B5C580}"/>
              </a:ext>
            </a:extLst>
          </p:cNvPr>
          <p:cNvSpPr/>
          <p:nvPr/>
        </p:nvSpPr>
        <p:spPr>
          <a:xfrm flipH="1">
            <a:off x="5775322" y="2501445"/>
            <a:ext cx="3945465" cy="3288722"/>
          </a:xfrm>
          <a:prstGeom prst="arc">
            <a:avLst>
              <a:gd name="adj1" fmla="val 15435877"/>
              <a:gd name="adj2" fmla="val 21046383"/>
            </a:avLst>
          </a:prstGeom>
          <a:ln w="57150">
            <a:solidFill>
              <a:srgbClr val="4382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600">
              <a:solidFill>
                <a:srgbClr val="4382B5"/>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F1B11B2-9C78-75A0-78D3-9722291FB385}"/>
              </a:ext>
            </a:extLst>
          </p:cNvPr>
          <p:cNvSpPr txBox="1"/>
          <p:nvPr/>
        </p:nvSpPr>
        <p:spPr>
          <a:xfrm flipH="1">
            <a:off x="2679976" y="3263676"/>
            <a:ext cx="1268976" cy="707886"/>
          </a:xfrm>
          <a:prstGeom prst="rect">
            <a:avLst/>
          </a:prstGeom>
          <a:noFill/>
        </p:spPr>
        <p:txBody>
          <a:bodyPr wrap="square" rtlCol="0">
            <a:spAutoFit/>
          </a:bodyPr>
          <a:lstStyle/>
          <a:p>
            <a:r>
              <a:rPr lang="en-US" sz="4000" b="1" i="1" err="1">
                <a:solidFill>
                  <a:srgbClr val="5780AB"/>
                </a:solidFill>
                <a:latin typeface="Times New Roman" panose="02020603050405020304" pitchFamily="18" charset="0"/>
                <a:cs typeface="Times New Roman" panose="02020603050405020304" pitchFamily="18" charset="0"/>
              </a:rPr>
              <a:t>ToF</a:t>
            </a:r>
            <a:endParaRPr lang="en-US" sz="4000" b="1" i="1">
              <a:solidFill>
                <a:srgbClr val="5780AB"/>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3E143AE-7546-E5E2-459B-8A51699041EA}"/>
                  </a:ext>
                </a:extLst>
              </p:cNvPr>
              <p:cNvSpPr txBox="1"/>
              <p:nvPr/>
            </p:nvSpPr>
            <p:spPr>
              <a:xfrm flipH="1">
                <a:off x="5915924" y="3096224"/>
                <a:ext cx="1578625"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1" i="1">
                              <a:solidFill>
                                <a:srgbClr val="4382B5"/>
                              </a:solidFill>
                              <a:latin typeface="Cambria Math" panose="02040503050406030204" pitchFamily="18" charset="0"/>
                            </a:rPr>
                          </m:ctrlPr>
                        </m:sSubPr>
                        <m:e>
                          <m:r>
                            <a:rPr lang="en-US" altLang="zh-CN" sz="4000" b="1" i="1">
                              <a:solidFill>
                                <a:srgbClr val="4382B5"/>
                              </a:solidFill>
                              <a:latin typeface="Cambria Math" panose="02040503050406030204" pitchFamily="18" charset="0"/>
                            </a:rPr>
                            <m:t>𝑨𝒐𝑨</m:t>
                          </m:r>
                        </m:e>
                        <m:sub>
                          <m:r>
                            <a:rPr lang="en-US" sz="4000" b="1" i="1">
                              <a:solidFill>
                                <a:srgbClr val="4382B5"/>
                              </a:solidFill>
                              <a:latin typeface="Cambria Math" panose="02040503050406030204" pitchFamily="18" charset="0"/>
                            </a:rPr>
                            <m:t>𝒆𝒍</m:t>
                          </m:r>
                        </m:sub>
                      </m:sSub>
                    </m:oMath>
                  </m:oMathPara>
                </a14:m>
                <a:endParaRPr lang="en-US" sz="4400" b="1">
                  <a:solidFill>
                    <a:srgbClr val="0070C0"/>
                  </a:solidFill>
                  <a:latin typeface="Times New Roman" panose="02020603050405020304" pitchFamily="18"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93E143AE-7546-E5E2-459B-8A51699041EA}"/>
                  </a:ext>
                </a:extLst>
              </p:cNvPr>
              <p:cNvSpPr txBox="1">
                <a:spLocks noRot="1" noChangeAspect="1" noMove="1" noResize="1" noEditPoints="1" noAdjustHandles="1" noChangeArrowheads="1" noChangeShapeType="1" noTextEdit="1"/>
              </p:cNvSpPr>
              <p:nvPr/>
            </p:nvSpPr>
            <p:spPr>
              <a:xfrm flipH="1">
                <a:off x="5915924" y="3096224"/>
                <a:ext cx="1578625" cy="615553"/>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2FCD1F-2700-FE01-84F5-A49F17598572}"/>
                  </a:ext>
                </a:extLst>
              </p:cNvPr>
              <p:cNvSpPr txBox="1"/>
              <p:nvPr/>
            </p:nvSpPr>
            <p:spPr>
              <a:xfrm flipH="1">
                <a:off x="6659958" y="5453700"/>
                <a:ext cx="1578625"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1" i="1">
                              <a:solidFill>
                                <a:srgbClr val="4382B5"/>
                              </a:solidFill>
                              <a:latin typeface="Cambria Math" panose="02040503050406030204" pitchFamily="18" charset="0"/>
                            </a:rPr>
                          </m:ctrlPr>
                        </m:sSubPr>
                        <m:e>
                          <m:r>
                            <a:rPr lang="en-US" sz="4000" b="1" i="1">
                              <a:solidFill>
                                <a:srgbClr val="4382B5"/>
                              </a:solidFill>
                              <a:latin typeface="Cambria Math" panose="02040503050406030204" pitchFamily="18" charset="0"/>
                            </a:rPr>
                            <m:t>𝑨𝒐𝑨</m:t>
                          </m:r>
                        </m:e>
                        <m:sub>
                          <m:r>
                            <a:rPr lang="en-US" sz="4000" b="1" i="1">
                              <a:solidFill>
                                <a:srgbClr val="4382B5"/>
                              </a:solidFill>
                              <a:latin typeface="Cambria Math" panose="02040503050406030204" pitchFamily="18" charset="0"/>
                            </a:rPr>
                            <m:t>𝒂𝒛</m:t>
                          </m:r>
                        </m:sub>
                      </m:sSub>
                    </m:oMath>
                  </m:oMathPara>
                </a14:m>
                <a:endParaRPr lang="en-US" sz="4400" b="1" i="1">
                  <a:solidFill>
                    <a:srgbClr val="4382B5"/>
                  </a:solidFill>
                  <a:latin typeface="Times New Roman" panose="02020603050405020304" pitchFamily="18"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502FCD1F-2700-FE01-84F5-A49F17598572}"/>
                  </a:ext>
                </a:extLst>
              </p:cNvPr>
              <p:cNvSpPr txBox="1">
                <a:spLocks noRot="1" noChangeAspect="1" noMove="1" noResize="1" noEditPoints="1" noAdjustHandles="1" noChangeArrowheads="1" noChangeShapeType="1" noTextEdit="1"/>
              </p:cNvSpPr>
              <p:nvPr/>
            </p:nvSpPr>
            <p:spPr>
              <a:xfrm flipH="1">
                <a:off x="6659958" y="5453700"/>
                <a:ext cx="1578625" cy="615553"/>
              </a:xfrm>
              <a:prstGeom prst="rect">
                <a:avLst/>
              </a:prstGeom>
              <a:blipFill>
                <a:blip r:embed="rId5"/>
                <a:stretch>
                  <a:fillRect/>
                </a:stretch>
              </a:blipFill>
              <a:ln>
                <a:noFill/>
              </a:ln>
            </p:spPr>
            <p:txBody>
              <a:bodyPr/>
              <a:lstStyle/>
              <a:p>
                <a:r>
                  <a:rPr lang="en-US">
                    <a:noFill/>
                  </a:rPr>
                  <a:t> </a:t>
                </a:r>
              </a:p>
            </p:txBody>
          </p:sp>
        </mc:Fallback>
      </mc:AlternateContent>
      <p:sp>
        <p:nvSpPr>
          <p:cNvPr id="24" name="TextBox 23">
            <a:extLst>
              <a:ext uri="{FF2B5EF4-FFF2-40B4-BE49-F238E27FC236}">
                <a16:creationId xmlns:a16="http://schemas.microsoft.com/office/drawing/2014/main" id="{6620846E-7AA1-8A49-D425-A5B16E9B2A63}"/>
              </a:ext>
            </a:extLst>
          </p:cNvPr>
          <p:cNvSpPr txBox="1"/>
          <p:nvPr/>
        </p:nvSpPr>
        <p:spPr>
          <a:xfrm flipH="1">
            <a:off x="8141888" y="3785042"/>
            <a:ext cx="1399742" cy="523220"/>
          </a:xfrm>
          <a:prstGeom prst="rect">
            <a:avLst/>
          </a:prstGeom>
          <a:noFill/>
        </p:spPr>
        <p:txBody>
          <a:bodyPr wrap="none" rtlCol="0">
            <a:spAutoFit/>
          </a:bodyPr>
          <a:lstStyle/>
          <a:p>
            <a:r>
              <a:rPr lang="en-US" sz="2800">
                <a:latin typeface="Times New Roman" panose="02020603050405020304" pitchFamily="18" charset="0"/>
                <a:cs typeface="Times New Roman" panose="02020603050405020304" pitchFamily="18" charset="0"/>
              </a:rPr>
              <a:t>Antenna</a:t>
            </a:r>
          </a:p>
        </p:txBody>
      </p:sp>
      <p:cxnSp>
        <p:nvCxnSpPr>
          <p:cNvPr id="25" name="Straight Arrow Connector 24">
            <a:extLst>
              <a:ext uri="{FF2B5EF4-FFF2-40B4-BE49-F238E27FC236}">
                <a16:creationId xmlns:a16="http://schemas.microsoft.com/office/drawing/2014/main" id="{45F39380-6020-C456-DA16-D667F329E4A9}"/>
              </a:ext>
            </a:extLst>
          </p:cNvPr>
          <p:cNvCxnSpPr>
            <a:cxnSpLocks/>
          </p:cNvCxnSpPr>
          <p:nvPr/>
        </p:nvCxnSpPr>
        <p:spPr>
          <a:xfrm flipV="1">
            <a:off x="2049008" y="3562442"/>
            <a:ext cx="2984600" cy="988756"/>
          </a:xfrm>
          <a:prstGeom prst="straightConnector1">
            <a:avLst/>
          </a:prstGeom>
          <a:ln w="114300">
            <a:solidFill>
              <a:srgbClr val="DC143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E9B3FB0-E0EB-F9BF-6EE8-2CE62A6AB695}"/>
              </a:ext>
            </a:extLst>
          </p:cNvPr>
          <p:cNvCxnSpPr>
            <a:cxnSpLocks/>
          </p:cNvCxnSpPr>
          <p:nvPr/>
        </p:nvCxnSpPr>
        <p:spPr>
          <a:xfrm>
            <a:off x="4981465" y="3562442"/>
            <a:ext cx="3000267" cy="1181380"/>
          </a:xfrm>
          <a:prstGeom prst="straightConnector1">
            <a:avLst/>
          </a:prstGeom>
          <a:ln w="114300">
            <a:solidFill>
              <a:srgbClr val="DC143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41">
            <a:extLst>
              <a:ext uri="{FF2B5EF4-FFF2-40B4-BE49-F238E27FC236}">
                <a16:creationId xmlns:a16="http://schemas.microsoft.com/office/drawing/2014/main" id="{197D7F89-B808-E1B1-C7E5-91DB6F548F6F}"/>
              </a:ext>
            </a:extLst>
          </p:cNvPr>
          <p:cNvCxnSpPr>
            <a:cxnSpLocks/>
          </p:cNvCxnSpPr>
          <p:nvPr/>
        </p:nvCxnSpPr>
        <p:spPr>
          <a:xfrm flipH="1">
            <a:off x="4997840" y="4906489"/>
            <a:ext cx="2975266" cy="1177939"/>
          </a:xfrm>
          <a:prstGeom prst="straightConnector1">
            <a:avLst/>
          </a:prstGeom>
          <a:ln w="47625">
            <a:solidFill>
              <a:srgbClr val="4382B5"/>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5">
            <a:extLst>
              <a:ext uri="{FF2B5EF4-FFF2-40B4-BE49-F238E27FC236}">
                <a16:creationId xmlns:a16="http://schemas.microsoft.com/office/drawing/2014/main" id="{C91D8796-313B-9316-79A1-40479240C000}"/>
              </a:ext>
            </a:extLst>
          </p:cNvPr>
          <p:cNvCxnSpPr>
            <a:cxnSpLocks/>
          </p:cNvCxnSpPr>
          <p:nvPr/>
        </p:nvCxnSpPr>
        <p:spPr>
          <a:xfrm flipH="1">
            <a:off x="8106496" y="2291617"/>
            <a:ext cx="6493" cy="2579421"/>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5">
            <a:extLst>
              <a:ext uri="{FF2B5EF4-FFF2-40B4-BE49-F238E27FC236}">
                <a16:creationId xmlns:a16="http://schemas.microsoft.com/office/drawing/2014/main" id="{F1E84F85-1113-2D46-86FF-C4DD50D74A70}"/>
              </a:ext>
            </a:extLst>
          </p:cNvPr>
          <p:cNvCxnSpPr>
            <a:cxnSpLocks/>
          </p:cNvCxnSpPr>
          <p:nvPr/>
        </p:nvCxnSpPr>
        <p:spPr>
          <a:xfrm flipH="1" flipV="1">
            <a:off x="8112989" y="4826003"/>
            <a:ext cx="1592853" cy="1607052"/>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22C0EFF-B92A-E97E-FA46-2F7D09AE895D}"/>
              </a:ext>
            </a:extLst>
          </p:cNvPr>
          <p:cNvSpPr txBox="1"/>
          <p:nvPr/>
        </p:nvSpPr>
        <p:spPr>
          <a:xfrm flipH="1">
            <a:off x="1557253" y="5481712"/>
            <a:ext cx="1036862" cy="523220"/>
          </a:xfrm>
          <a:prstGeom prst="rect">
            <a:avLst/>
          </a:prstGeom>
          <a:noFill/>
        </p:spPr>
        <p:txBody>
          <a:bodyPr wrap="square" rtlCol="0">
            <a:spAutoFit/>
          </a:bodyPr>
          <a:lstStyle/>
          <a:p>
            <a:r>
              <a:rPr lang="en-US" sz="2800" err="1">
                <a:latin typeface="Times New Roman" panose="02020603050405020304" pitchFamily="18" charset="0"/>
                <a:cs typeface="Times New Roman" panose="02020603050405020304" pitchFamily="18" charset="0"/>
              </a:rPr>
              <a:t>W</a:t>
            </a:r>
            <a:r>
              <a:rPr lang="en-US" altLang="zh-CN" sz="2800" err="1">
                <a:latin typeface="Times New Roman" panose="02020603050405020304" pitchFamily="18" charset="0"/>
                <a:cs typeface="Times New Roman" panose="02020603050405020304" pitchFamily="18" charset="0"/>
              </a:rPr>
              <a:t>iFi</a:t>
            </a:r>
            <a:endParaRPr lang="en-US" altLang="zh-CN" sz="2800">
              <a:latin typeface="Times New Roman" panose="02020603050405020304" pitchFamily="18" charset="0"/>
              <a:cs typeface="Times New Roman" panose="02020603050405020304" pitchFamily="18" charset="0"/>
            </a:endParaRPr>
          </a:p>
        </p:txBody>
      </p:sp>
      <p:pic>
        <p:nvPicPr>
          <p:cNvPr id="31" name="Picture 30" descr="A black wifi symbol on a black background&#10;&#10;AI-generated content may be incorrect.">
            <a:extLst>
              <a:ext uri="{FF2B5EF4-FFF2-40B4-BE49-F238E27FC236}">
                <a16:creationId xmlns:a16="http://schemas.microsoft.com/office/drawing/2014/main" id="{F567C3C5-DC29-6D71-CD72-7416CF8FF3B7}"/>
              </a:ext>
            </a:extLst>
          </p:cNvPr>
          <p:cNvPicPr>
            <a:picLocks noChangeAspect="1"/>
          </p:cNvPicPr>
          <p:nvPr/>
        </p:nvPicPr>
        <p:blipFill>
          <a:blip r:embed="rId6"/>
          <a:stretch>
            <a:fillRect/>
          </a:stretch>
        </p:blipFill>
        <p:spPr>
          <a:xfrm rot="16200000">
            <a:off x="7493974" y="4639575"/>
            <a:ext cx="1201702" cy="1268344"/>
          </a:xfrm>
          <a:prstGeom prst="rect">
            <a:avLst/>
          </a:prstGeom>
        </p:spPr>
      </p:pic>
      <p:pic>
        <p:nvPicPr>
          <p:cNvPr id="32" name="Picture 31" descr="A black wifi symbol on a black background&#10;&#10;AI-generated content may be incorrect.">
            <a:extLst>
              <a:ext uri="{FF2B5EF4-FFF2-40B4-BE49-F238E27FC236}">
                <a16:creationId xmlns:a16="http://schemas.microsoft.com/office/drawing/2014/main" id="{17F4F76C-50C4-5A6E-4D44-C3FA3B1B6617}"/>
              </a:ext>
            </a:extLst>
          </p:cNvPr>
          <p:cNvPicPr>
            <a:picLocks noChangeAspect="1"/>
          </p:cNvPicPr>
          <p:nvPr/>
        </p:nvPicPr>
        <p:blipFill>
          <a:blip r:embed="rId6"/>
          <a:stretch>
            <a:fillRect/>
          </a:stretch>
        </p:blipFill>
        <p:spPr>
          <a:xfrm rot="16200000">
            <a:off x="7031560" y="4192206"/>
            <a:ext cx="1201702" cy="1268344"/>
          </a:xfrm>
          <a:prstGeom prst="rect">
            <a:avLst/>
          </a:prstGeom>
        </p:spPr>
      </p:pic>
      <p:pic>
        <p:nvPicPr>
          <p:cNvPr id="33" name="Picture 32" descr="A black wifi symbol on a black background&#10;&#10;AI-generated content may be incorrect.">
            <a:extLst>
              <a:ext uri="{FF2B5EF4-FFF2-40B4-BE49-F238E27FC236}">
                <a16:creationId xmlns:a16="http://schemas.microsoft.com/office/drawing/2014/main" id="{66BA260C-76E4-ECCB-FFB3-E0CF69312D5F}"/>
              </a:ext>
            </a:extLst>
          </p:cNvPr>
          <p:cNvPicPr>
            <a:picLocks noChangeAspect="1"/>
          </p:cNvPicPr>
          <p:nvPr/>
        </p:nvPicPr>
        <p:blipFill>
          <a:blip r:embed="rId6"/>
          <a:stretch>
            <a:fillRect/>
          </a:stretch>
        </p:blipFill>
        <p:spPr>
          <a:xfrm rot="16200000">
            <a:off x="8245340" y="5354276"/>
            <a:ext cx="1201702" cy="1268344"/>
          </a:xfrm>
          <a:prstGeom prst="rect">
            <a:avLst/>
          </a:prstGeom>
        </p:spPr>
      </p:pic>
      <p:pic>
        <p:nvPicPr>
          <p:cNvPr id="35" name="Picture 34" descr="A black wifi symbol on a black background&#10;&#10;AI-generated content may be incorrect.">
            <a:extLst>
              <a:ext uri="{FF2B5EF4-FFF2-40B4-BE49-F238E27FC236}">
                <a16:creationId xmlns:a16="http://schemas.microsoft.com/office/drawing/2014/main" id="{6E3A99FB-7750-DCDF-1CD1-680BBA3E16B4}"/>
              </a:ext>
            </a:extLst>
          </p:cNvPr>
          <p:cNvPicPr>
            <a:picLocks noChangeAspect="1"/>
          </p:cNvPicPr>
          <p:nvPr/>
        </p:nvPicPr>
        <p:blipFill>
          <a:blip r:embed="rId6"/>
          <a:stretch>
            <a:fillRect/>
          </a:stretch>
        </p:blipFill>
        <p:spPr>
          <a:xfrm rot="16200000">
            <a:off x="7015185" y="3448357"/>
            <a:ext cx="1201702" cy="1268344"/>
          </a:xfrm>
          <a:prstGeom prst="rect">
            <a:avLst/>
          </a:prstGeom>
        </p:spPr>
      </p:pic>
      <p:pic>
        <p:nvPicPr>
          <p:cNvPr id="39" name="Picture 38" descr="A black wifi symbol on a black background&#10;&#10;AI-generated content may be incorrect.">
            <a:extLst>
              <a:ext uri="{FF2B5EF4-FFF2-40B4-BE49-F238E27FC236}">
                <a16:creationId xmlns:a16="http://schemas.microsoft.com/office/drawing/2014/main" id="{D29E1ACB-5794-A2E4-92EB-65DF29D5B7C2}"/>
              </a:ext>
            </a:extLst>
          </p:cNvPr>
          <p:cNvPicPr>
            <a:picLocks noChangeAspect="1"/>
          </p:cNvPicPr>
          <p:nvPr/>
        </p:nvPicPr>
        <p:blipFill>
          <a:blip r:embed="rId6"/>
          <a:stretch>
            <a:fillRect/>
          </a:stretch>
        </p:blipFill>
        <p:spPr>
          <a:xfrm rot="16200000">
            <a:off x="7014996" y="2312768"/>
            <a:ext cx="1201702" cy="1268344"/>
          </a:xfrm>
          <a:prstGeom prst="rect">
            <a:avLst/>
          </a:prstGeom>
        </p:spPr>
      </p:pic>
      <p:pic>
        <p:nvPicPr>
          <p:cNvPr id="40" name="Picture 2" descr="wifi router Icon - Free PNG &amp; SVG 86246 - Noun Project">
            <a:extLst>
              <a:ext uri="{FF2B5EF4-FFF2-40B4-BE49-F238E27FC236}">
                <a16:creationId xmlns:a16="http://schemas.microsoft.com/office/drawing/2014/main" id="{77C828FB-98F8-0168-42DA-3D578CBFF7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8305" y="4348316"/>
            <a:ext cx="1431448" cy="1356236"/>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887AD61F-930A-911E-4A06-9C95E5D63DFC}"/>
              </a:ext>
            </a:extLst>
          </p:cNvPr>
          <p:cNvSpPr txBox="1"/>
          <p:nvPr/>
        </p:nvSpPr>
        <p:spPr>
          <a:xfrm flipH="1">
            <a:off x="1669993" y="5851651"/>
            <a:ext cx="1036862"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TX</a:t>
            </a:r>
            <a:endParaRPr lang="en-US" altLang="zh-CN" sz="280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1E0123B4-1EE7-F424-F13B-BD376E02BFF1}"/>
              </a:ext>
            </a:extLst>
          </p:cNvPr>
          <p:cNvSpPr txBox="1"/>
          <p:nvPr/>
        </p:nvSpPr>
        <p:spPr>
          <a:xfrm rot="16200000" flipH="1">
            <a:off x="7447517" y="3012954"/>
            <a:ext cx="954108" cy="1015663"/>
          </a:xfrm>
          <a:prstGeom prst="rect">
            <a:avLst/>
          </a:prstGeom>
          <a:noFill/>
        </p:spPr>
        <p:txBody>
          <a:bodyPr wrap="none" rtlCol="0">
            <a:spAutoFit/>
          </a:bodyPr>
          <a:lstStyle/>
          <a:p>
            <a:r>
              <a:rPr lang="en-US" sz="6000" b="1">
                <a:latin typeface="Times New Roman" panose="02020603050405020304" pitchFamily="18" charset="0"/>
                <a:cs typeface="Times New Roman" panose="02020603050405020304" pitchFamily="18" charset="0"/>
              </a:rPr>
              <a:t>…</a:t>
            </a:r>
          </a:p>
        </p:txBody>
      </p:sp>
      <p:sp>
        <p:nvSpPr>
          <p:cNvPr id="43" name="TextBox 42">
            <a:extLst>
              <a:ext uri="{FF2B5EF4-FFF2-40B4-BE49-F238E27FC236}">
                <a16:creationId xmlns:a16="http://schemas.microsoft.com/office/drawing/2014/main" id="{5B3444C1-41CA-329C-E1C7-2ACB7C01905C}"/>
              </a:ext>
            </a:extLst>
          </p:cNvPr>
          <p:cNvSpPr txBox="1"/>
          <p:nvPr/>
        </p:nvSpPr>
        <p:spPr>
          <a:xfrm flipH="1">
            <a:off x="8150338" y="4581855"/>
            <a:ext cx="1495987" cy="523220"/>
          </a:xfrm>
          <a:prstGeom prst="rect">
            <a:avLst/>
          </a:prstGeom>
          <a:noFill/>
        </p:spPr>
        <p:txBody>
          <a:bodyPr wrap="none" rtlCol="0">
            <a:spAutoFit/>
          </a:bodyPr>
          <a:lstStyle/>
          <a:p>
            <a:r>
              <a:rPr lang="en-US" sz="2800" err="1">
                <a:latin typeface="Times New Roman" panose="02020603050405020304" pitchFamily="18" charset="0"/>
                <a:cs typeface="Times New Roman" panose="02020603050405020304" pitchFamily="18" charset="0"/>
              </a:rPr>
              <a:t>W</a:t>
            </a:r>
            <a:r>
              <a:rPr lang="en-US" altLang="zh-CN" sz="2800" err="1">
                <a:latin typeface="Times New Roman" panose="02020603050405020304" pitchFamily="18" charset="0"/>
                <a:cs typeface="Times New Roman" panose="02020603050405020304" pitchFamily="18" charset="0"/>
              </a:rPr>
              <a:t>iFi</a:t>
            </a:r>
            <a:r>
              <a:rPr lang="en-US" altLang="zh-CN" sz="2800">
                <a:latin typeface="Times New Roman" panose="02020603050405020304" pitchFamily="18" charset="0"/>
                <a:cs typeface="Times New Roman" panose="02020603050405020304" pitchFamily="18" charset="0"/>
              </a:rPr>
              <a:t> RX</a:t>
            </a:r>
          </a:p>
        </p:txBody>
      </p:sp>
      <p:sp>
        <p:nvSpPr>
          <p:cNvPr id="44" name="TextBox 43">
            <a:extLst>
              <a:ext uri="{FF2B5EF4-FFF2-40B4-BE49-F238E27FC236}">
                <a16:creationId xmlns:a16="http://schemas.microsoft.com/office/drawing/2014/main" id="{4B05BB1A-B910-C4C2-CF6E-F7F3D00B2D96}"/>
              </a:ext>
            </a:extLst>
          </p:cNvPr>
          <p:cNvSpPr txBox="1"/>
          <p:nvPr/>
        </p:nvSpPr>
        <p:spPr>
          <a:xfrm flipH="1">
            <a:off x="8119424" y="4146538"/>
            <a:ext cx="1510350" cy="523220"/>
          </a:xfrm>
          <a:prstGeom prst="rect">
            <a:avLst/>
          </a:prstGeom>
          <a:noFill/>
        </p:spPr>
        <p:txBody>
          <a:bodyPr wrap="none" rtlCol="0">
            <a:spAutoFit/>
          </a:bodyPr>
          <a:lstStyle/>
          <a:p>
            <a:r>
              <a:rPr lang="en-US" sz="2800">
                <a:latin typeface="Times New Roman" panose="02020603050405020304" pitchFamily="18" charset="0"/>
                <a:cs typeface="Times New Roman" panose="02020603050405020304" pitchFamily="18" charset="0"/>
              </a:rPr>
              <a:t>Arrays at</a:t>
            </a:r>
          </a:p>
        </p:txBody>
      </p:sp>
      <p:sp>
        <p:nvSpPr>
          <p:cNvPr id="45" name="TextBox 44">
            <a:extLst>
              <a:ext uri="{FF2B5EF4-FFF2-40B4-BE49-F238E27FC236}">
                <a16:creationId xmlns:a16="http://schemas.microsoft.com/office/drawing/2014/main" id="{07112C2F-8F6D-1536-309F-95CAF34529EE}"/>
              </a:ext>
            </a:extLst>
          </p:cNvPr>
          <p:cNvSpPr txBox="1"/>
          <p:nvPr/>
        </p:nvSpPr>
        <p:spPr>
          <a:xfrm rot="2785311" flipH="1">
            <a:off x="8567376" y="5002101"/>
            <a:ext cx="954108" cy="1015663"/>
          </a:xfrm>
          <a:prstGeom prst="rect">
            <a:avLst/>
          </a:prstGeom>
          <a:noFill/>
        </p:spPr>
        <p:txBody>
          <a:bodyPr wrap="none" rtlCol="0">
            <a:spAutoFit/>
          </a:bodyPr>
          <a:lstStyle/>
          <a:p>
            <a:r>
              <a:rPr lang="en-US" sz="6000" b="1">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0F33DFCF-FF0E-BF68-B349-313F4E772D9F}"/>
              </a:ext>
            </a:extLst>
          </p:cNvPr>
          <p:cNvSpPr txBox="1"/>
          <p:nvPr/>
        </p:nvSpPr>
        <p:spPr>
          <a:xfrm>
            <a:off x="0" y="-13478"/>
            <a:ext cx="5422392" cy="646331"/>
          </a:xfrm>
          <a:prstGeom prst="rect">
            <a:avLst/>
          </a:prstGeom>
          <a:noFill/>
        </p:spPr>
        <p:txBody>
          <a:bodyPr wrap="square">
            <a:spAutoFit/>
          </a:bodyPr>
          <a:lstStyle/>
          <a:p>
            <a:pPr lvl="0" algn="ctr">
              <a:defRPr/>
            </a:pPr>
            <a:r>
              <a:rPr lang="en-US" sz="3600" b="1">
                <a:solidFill>
                  <a:srgbClr val="CEB888"/>
                </a:solidFill>
                <a:highlight>
                  <a:srgbClr val="6C2334"/>
                </a:highlight>
                <a:latin typeface="Arial" panose="020B0604020202020204" pitchFamily="34" charset="0"/>
                <a:cs typeface="Arial" panose="020B0604020202020204" pitchFamily="34" charset="0"/>
              </a:rPr>
              <a:t>Challenge and  Insight                                                      </a:t>
            </a:r>
          </a:p>
        </p:txBody>
      </p:sp>
      <p:sp>
        <p:nvSpPr>
          <p:cNvPr id="9" name="Text 9">
            <a:extLst>
              <a:ext uri="{FF2B5EF4-FFF2-40B4-BE49-F238E27FC236}">
                <a16:creationId xmlns:a16="http://schemas.microsoft.com/office/drawing/2014/main" id="{3315867C-9B2C-685C-1454-8DE37F1ADBA8}"/>
              </a:ext>
            </a:extLst>
          </p:cNvPr>
          <p:cNvSpPr/>
          <p:nvPr/>
        </p:nvSpPr>
        <p:spPr>
          <a:xfrm>
            <a:off x="84235" y="679627"/>
            <a:ext cx="12031566" cy="541652"/>
          </a:xfrm>
          <a:prstGeom prst="rect">
            <a:avLst/>
          </a:prstGeom>
          <a:noFill/>
          <a:ln/>
        </p:spPr>
        <p:txBody>
          <a:bodyPr wrap="square" lIns="508" tIns="508" rIns="508" bIns="508" rtlCol="0" anchor="t"/>
          <a:lstStyle/>
          <a:p>
            <a:r>
              <a:rPr lang="en-US" sz="3600">
                <a:latin typeface="Times New Roman" panose="02020603050405020304" pitchFamily="18" charset="0"/>
                <a:cs typeface="Times New Roman" panose="02020603050405020304" pitchFamily="18" charset="0"/>
              </a:rPr>
              <a:t>Challenge: Heartbeat is a subtle motion, weak in Wi-Fi signals</a:t>
            </a:r>
          </a:p>
        </p:txBody>
      </p:sp>
      <p:sp>
        <p:nvSpPr>
          <p:cNvPr id="11" name="Slide Number Placeholder 3">
            <a:extLst>
              <a:ext uri="{FF2B5EF4-FFF2-40B4-BE49-F238E27FC236}">
                <a16:creationId xmlns:a16="http://schemas.microsoft.com/office/drawing/2014/main" id="{F3D738CC-4E74-9416-8F3C-996155C9B8E8}"/>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3</a:t>
            </a:r>
          </a:p>
        </p:txBody>
      </p:sp>
      <p:sp>
        <p:nvSpPr>
          <p:cNvPr id="12" name="Text 9">
            <a:extLst>
              <a:ext uri="{FF2B5EF4-FFF2-40B4-BE49-F238E27FC236}">
                <a16:creationId xmlns:a16="http://schemas.microsoft.com/office/drawing/2014/main" id="{66FE5E6B-B171-CB16-AE01-B5B75B68DB2E}"/>
              </a:ext>
            </a:extLst>
          </p:cNvPr>
          <p:cNvSpPr/>
          <p:nvPr/>
        </p:nvSpPr>
        <p:spPr>
          <a:xfrm>
            <a:off x="84235" y="1273988"/>
            <a:ext cx="12031566" cy="593953"/>
          </a:xfrm>
          <a:prstGeom prst="rect">
            <a:avLst/>
          </a:prstGeom>
          <a:noFill/>
          <a:ln/>
        </p:spPr>
        <p:txBody>
          <a:bodyPr wrap="square" lIns="508" tIns="508" rIns="508" bIns="508" rtlCol="0" anchor="t"/>
          <a:lstStyle/>
          <a:p>
            <a:r>
              <a:rPr lang="en-US" altLang="zh-CN" sz="3600">
                <a:latin typeface="Times New Roman" panose="02020603050405020304" pitchFamily="18" charset="0"/>
                <a:cs typeface="Times New Roman" panose="02020603050405020304" pitchFamily="18" charset="0"/>
              </a:rPr>
              <a:t>Insight: Wi-Fi </a:t>
            </a:r>
            <a:r>
              <a:rPr lang="en-US" sz="3600">
                <a:latin typeface="Times New Roman" panose="02020603050405020304" pitchFamily="18" charset="0"/>
                <a:cs typeface="Times New Roman" panose="02020603050405020304" pitchFamily="18" charset="0"/>
              </a:rPr>
              <a:t>3D spatial modeling to locate the thoracic region.</a:t>
            </a:r>
          </a:p>
        </p:txBody>
      </p:sp>
      <p:grpSp>
        <p:nvGrpSpPr>
          <p:cNvPr id="3" name="Group 2">
            <a:extLst>
              <a:ext uri="{FF2B5EF4-FFF2-40B4-BE49-F238E27FC236}">
                <a16:creationId xmlns:a16="http://schemas.microsoft.com/office/drawing/2014/main" id="{5DC0B5BF-82CA-1003-F09B-0D033A858297}"/>
              </a:ext>
            </a:extLst>
          </p:cNvPr>
          <p:cNvGrpSpPr/>
          <p:nvPr/>
        </p:nvGrpSpPr>
        <p:grpSpPr>
          <a:xfrm>
            <a:off x="11714527" y="2354027"/>
            <a:ext cx="6185280" cy="3964781"/>
            <a:chOff x="6392795" y="2247959"/>
            <a:chExt cx="6185280" cy="3964781"/>
          </a:xfrm>
        </p:grpSpPr>
        <p:pic>
          <p:nvPicPr>
            <p:cNvPr id="4" name="Picture 3">
              <a:extLst>
                <a:ext uri="{FF2B5EF4-FFF2-40B4-BE49-F238E27FC236}">
                  <a16:creationId xmlns:a16="http://schemas.microsoft.com/office/drawing/2014/main" id="{BAB3ADB2-BDB2-B441-DE30-8D94C5C6B45D}"/>
                </a:ext>
              </a:extLst>
            </p:cNvPr>
            <p:cNvPicPr>
              <a:picLocks noChangeAspect="1"/>
            </p:cNvPicPr>
            <p:nvPr/>
          </p:nvPicPr>
          <p:blipFill>
            <a:blip r:embed="rId8"/>
            <a:stretch>
              <a:fillRect/>
            </a:stretch>
          </p:blipFill>
          <p:spPr>
            <a:xfrm>
              <a:off x="7511099" y="2247959"/>
              <a:ext cx="4141737" cy="2994952"/>
            </a:xfrm>
            <a:prstGeom prst="rect">
              <a:avLst/>
            </a:prstGeom>
          </p:spPr>
        </p:pic>
        <p:sp>
          <p:nvSpPr>
            <p:cNvPr id="10" name="文本框 80">
              <a:extLst>
                <a:ext uri="{FF2B5EF4-FFF2-40B4-BE49-F238E27FC236}">
                  <a16:creationId xmlns:a16="http://schemas.microsoft.com/office/drawing/2014/main" id="{AB0B87A8-9B48-17D9-B5CA-7929D0663DFE}"/>
                </a:ext>
              </a:extLst>
            </p:cNvPr>
            <p:cNvSpPr txBox="1"/>
            <p:nvPr/>
          </p:nvSpPr>
          <p:spPr>
            <a:xfrm rot="16200000">
              <a:off x="5976666" y="3621773"/>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46" name="文本框 80">
              <a:extLst>
                <a:ext uri="{FF2B5EF4-FFF2-40B4-BE49-F238E27FC236}">
                  <a16:creationId xmlns:a16="http://schemas.microsoft.com/office/drawing/2014/main" id="{8C6BFF93-BCBB-97C9-E990-91685807488E}"/>
                </a:ext>
              </a:extLst>
            </p:cNvPr>
            <p:cNvSpPr txBox="1"/>
            <p:nvPr/>
          </p:nvSpPr>
          <p:spPr>
            <a:xfrm>
              <a:off x="6850922" y="486378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47" name="文本框 80">
              <a:extLst>
                <a:ext uri="{FF2B5EF4-FFF2-40B4-BE49-F238E27FC236}">
                  <a16:creationId xmlns:a16="http://schemas.microsoft.com/office/drawing/2014/main" id="{82708E47-4224-8C0F-5916-1DEE2B10972D}"/>
                </a:ext>
              </a:extLst>
            </p:cNvPr>
            <p:cNvSpPr txBox="1"/>
            <p:nvPr/>
          </p:nvSpPr>
          <p:spPr>
            <a:xfrm rot="19640601">
              <a:off x="9521114" y="4583534"/>
              <a:ext cx="2634513" cy="646331"/>
            </a:xfrm>
            <a:prstGeom prst="rect">
              <a:avLst/>
            </a:prstGeom>
            <a:noFill/>
          </p:spPr>
          <p:txBody>
            <a:bodyPr wrap="square" rtlCol="0">
              <a:spAutoFit/>
            </a:bodyPr>
            <a:lstStyle/>
            <a:p>
              <a:pPr algn="ctr"/>
              <a:r>
                <a:rPr lang="en-US" altLang="zh-CN" sz="3600" err="1">
                  <a:latin typeface="Times New Roman" panose="02020603050405020304" pitchFamily="18" charset="0"/>
                  <a:cs typeface="Times New Roman" panose="02020603050405020304" pitchFamily="18" charset="0"/>
                </a:rPr>
                <a:t>ToF</a:t>
              </a:r>
              <a:endParaRPr lang="zh-CN" altLang="en-US" sz="360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51EE71C-8181-D162-F30A-CE932BB233DC}"/>
                </a:ext>
              </a:extLst>
            </p:cNvPr>
            <p:cNvSpPr txBox="1"/>
            <p:nvPr/>
          </p:nvSpPr>
          <p:spPr>
            <a:xfrm>
              <a:off x="6392795" y="5566409"/>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Spectrum</a:t>
              </a:r>
              <a:endParaRPr lang="en-US" sz="3600" b="1">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00906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4" fill="hold" nodeType="withEffect">
                                  <p:stCondLst>
                                    <p:cond delay="250"/>
                                  </p:stCondLst>
                                  <p:childTnLst>
                                    <p:set>
                                      <p:cBhvr>
                                        <p:cTn id="9" dur="1" fill="hold">
                                          <p:stCondLst>
                                            <p:cond delay="0"/>
                                          </p:stCondLst>
                                        </p:cTn>
                                        <p:tgtEl>
                                          <p:spTgt spid="25"/>
                                        </p:tgtEl>
                                        <p:attrNameLst>
                                          <p:attrName>style.visibility</p:attrName>
                                        </p:attrNameLst>
                                      </p:cBhvr>
                                      <p:to>
                                        <p:strVal val="visible"/>
                                      </p:to>
                                    </p:set>
                                    <p:animEffect transition="in" filter="wipe(down)">
                                      <p:cBhvr>
                                        <p:cTn id="10" dur="500"/>
                                        <p:tgtEl>
                                          <p:spTgt spid="25"/>
                                        </p:tgtEl>
                                      </p:cBhvr>
                                    </p:animEffect>
                                  </p:childTnLst>
                                </p:cTn>
                              </p:par>
                            </p:childTnLst>
                          </p:cTn>
                        </p:par>
                        <p:par>
                          <p:cTn id="11" fill="hold">
                            <p:stCondLst>
                              <p:cond delay="750"/>
                            </p:stCondLst>
                            <p:childTnLst>
                              <p:par>
                                <p:cTn id="12" presetID="22" presetClass="entr" presetSubtype="1"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wipe(down)">
                                      <p:cBhvr>
                                        <p:cTn id="25" dur="500"/>
                                        <p:tgtEl>
                                          <p:spTgt spid="70"/>
                                        </p:tgtEl>
                                      </p:cBhvr>
                                    </p:animEffect>
                                  </p:childTnLst>
                                </p:cTn>
                              </p:par>
                              <p:par>
                                <p:cTn id="26" presetID="22" presetClass="entr" presetSubtype="4"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down)">
                                      <p:cBhvr>
                                        <p:cTn id="31" dur="500"/>
                                        <p:tgtEl>
                                          <p:spTgt spid="19"/>
                                        </p:tgtEl>
                                      </p:cBhvr>
                                    </p:animEffect>
                                  </p:childTnLst>
                                </p:cTn>
                              </p:par>
                              <p:par>
                                <p:cTn id="32" presetID="22" presetClass="entr" presetSubtype="4"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down)">
                                      <p:cBhvr>
                                        <p:cTn id="37" dur="500"/>
                                        <p:tgtEl>
                                          <p:spTgt spid="20"/>
                                        </p:tgtEl>
                                      </p:cBhvr>
                                    </p:animEffect>
                                  </p:childTnLst>
                                </p:cTn>
                              </p:par>
                              <p:par>
                                <p:cTn id="38" presetID="22" presetClass="entr" presetSubtype="4"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500"/>
                                        <p:tgtEl>
                                          <p:spTgt spid="27"/>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20" grpId="0" animBg="1"/>
      <p:bldP spid="21" grpId="0"/>
      <p:bldP spid="22" grpId="0"/>
      <p:bldP spid="23"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83A1-CBAC-2F8D-2AF0-C191FF0768A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1F1B98C-CD42-F69F-1C02-41B9EDB2DAF2}"/>
              </a:ext>
            </a:extLst>
          </p:cNvPr>
          <p:cNvSpPr txBox="1"/>
          <p:nvPr/>
        </p:nvSpPr>
        <p:spPr>
          <a:xfrm>
            <a:off x="0" y="-1071"/>
            <a:ext cx="12192000" cy="674370"/>
          </a:xfrm>
          <a:prstGeom prst="rect">
            <a:avLst/>
          </a:prstGeom>
          <a:solidFill>
            <a:srgbClr val="6C2334"/>
          </a:solidFill>
        </p:spPr>
        <p:txBody>
          <a:bodyPr wrap="square" rtlCol="0">
            <a:spAutoFit/>
          </a:bodyPr>
          <a:lstStyle/>
          <a:p>
            <a:endParaRPr lang="en-US"/>
          </a:p>
        </p:txBody>
      </p:sp>
      <p:sp>
        <p:nvSpPr>
          <p:cNvPr id="6" name="TextBox 5">
            <a:extLst>
              <a:ext uri="{FF2B5EF4-FFF2-40B4-BE49-F238E27FC236}">
                <a16:creationId xmlns:a16="http://schemas.microsoft.com/office/drawing/2014/main" id="{0270BFF4-E967-3B14-5FA9-84DA1A2CF365}"/>
              </a:ext>
            </a:extLst>
          </p:cNvPr>
          <p:cNvSpPr txBox="1"/>
          <p:nvPr/>
        </p:nvSpPr>
        <p:spPr>
          <a:xfrm>
            <a:off x="-68166" y="-1071"/>
            <a:ext cx="12031566" cy="646331"/>
          </a:xfrm>
          <a:prstGeom prst="rect">
            <a:avLst/>
          </a:prstGeom>
          <a:noFill/>
        </p:spPr>
        <p:txBody>
          <a:bodyPr wrap="square">
            <a:spAutoFit/>
          </a:bodyPr>
          <a:lstStyle/>
          <a:p>
            <a:pPr lvl="0" algn="ctr">
              <a:defRPr/>
            </a:pPr>
            <a:r>
              <a:rPr lang="en-US" sz="3600" b="1">
                <a:solidFill>
                  <a:srgbClr val="CEB888"/>
                </a:solidFill>
                <a:highlight>
                  <a:srgbClr val="6C2334"/>
                </a:highlight>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FA95D21-0D3B-DB8A-AAD3-A8D5522FD32E}"/>
              </a:ext>
            </a:extLst>
          </p:cNvPr>
          <p:cNvSpPr txBox="1"/>
          <p:nvPr/>
        </p:nvSpPr>
        <p:spPr>
          <a:xfrm>
            <a:off x="0" y="-1071"/>
            <a:ext cx="5422392" cy="646331"/>
          </a:xfrm>
          <a:prstGeom prst="rect">
            <a:avLst/>
          </a:prstGeom>
          <a:noFill/>
        </p:spPr>
        <p:txBody>
          <a:bodyPr wrap="square">
            <a:spAutoFit/>
          </a:bodyPr>
          <a:lstStyle/>
          <a:p>
            <a:pPr lvl="0" algn="ctr">
              <a:defRPr/>
            </a:pPr>
            <a:r>
              <a:rPr lang="en-US" sz="3600" b="1">
                <a:solidFill>
                  <a:srgbClr val="CEB888"/>
                </a:solidFill>
                <a:highlight>
                  <a:srgbClr val="6C2334"/>
                </a:highlight>
                <a:latin typeface="Arial" panose="020B0604020202020204" pitchFamily="34" charset="0"/>
                <a:cs typeface="Arial" panose="020B0604020202020204" pitchFamily="34" charset="0"/>
              </a:rPr>
              <a:t>Challenge and  Insight                                                      </a:t>
            </a:r>
          </a:p>
        </p:txBody>
      </p:sp>
      <p:sp>
        <p:nvSpPr>
          <p:cNvPr id="9" name="Text 9">
            <a:extLst>
              <a:ext uri="{FF2B5EF4-FFF2-40B4-BE49-F238E27FC236}">
                <a16:creationId xmlns:a16="http://schemas.microsoft.com/office/drawing/2014/main" id="{24BF1BDC-58B2-E58A-6153-84129D26757F}"/>
              </a:ext>
            </a:extLst>
          </p:cNvPr>
          <p:cNvSpPr/>
          <p:nvPr/>
        </p:nvSpPr>
        <p:spPr>
          <a:xfrm>
            <a:off x="84235" y="679627"/>
            <a:ext cx="12031566" cy="541652"/>
          </a:xfrm>
          <a:prstGeom prst="rect">
            <a:avLst/>
          </a:prstGeom>
          <a:noFill/>
          <a:ln/>
        </p:spPr>
        <p:txBody>
          <a:bodyPr wrap="square" lIns="508" tIns="508" rIns="508" bIns="508" rtlCol="0" anchor="t"/>
          <a:lstStyle/>
          <a:p>
            <a:r>
              <a:rPr lang="en-US" sz="3600">
                <a:latin typeface="Times New Roman" panose="02020603050405020304" pitchFamily="18" charset="0"/>
                <a:cs typeface="Times New Roman" panose="02020603050405020304" pitchFamily="18" charset="0"/>
              </a:rPr>
              <a:t>Challenge: Heartbeat is a subtle motion, weak in Wi-Fi signals</a:t>
            </a:r>
          </a:p>
        </p:txBody>
      </p:sp>
      <p:sp>
        <p:nvSpPr>
          <p:cNvPr id="11" name="Slide Number Placeholder 3">
            <a:extLst>
              <a:ext uri="{FF2B5EF4-FFF2-40B4-BE49-F238E27FC236}">
                <a16:creationId xmlns:a16="http://schemas.microsoft.com/office/drawing/2014/main" id="{EC984DE4-A325-46F8-C994-A6787B22C2C3}"/>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3</a:t>
            </a:r>
          </a:p>
        </p:txBody>
      </p:sp>
      <p:sp>
        <p:nvSpPr>
          <p:cNvPr id="12" name="Text 9">
            <a:extLst>
              <a:ext uri="{FF2B5EF4-FFF2-40B4-BE49-F238E27FC236}">
                <a16:creationId xmlns:a16="http://schemas.microsoft.com/office/drawing/2014/main" id="{EC3F6D8D-3182-E864-902B-6A4169813705}"/>
              </a:ext>
            </a:extLst>
          </p:cNvPr>
          <p:cNvSpPr/>
          <p:nvPr/>
        </p:nvSpPr>
        <p:spPr>
          <a:xfrm>
            <a:off x="84235" y="1273988"/>
            <a:ext cx="12031566" cy="593953"/>
          </a:xfrm>
          <a:prstGeom prst="rect">
            <a:avLst/>
          </a:prstGeom>
          <a:noFill/>
          <a:ln/>
        </p:spPr>
        <p:txBody>
          <a:bodyPr wrap="square" lIns="508" tIns="508" rIns="508" bIns="508" rtlCol="0" anchor="t"/>
          <a:lstStyle/>
          <a:p>
            <a:r>
              <a:rPr lang="en-US" altLang="zh-CN" sz="3600">
                <a:latin typeface="Times New Roman" panose="02020603050405020304" pitchFamily="18" charset="0"/>
                <a:cs typeface="Times New Roman" panose="02020603050405020304" pitchFamily="18" charset="0"/>
              </a:rPr>
              <a:t>Insight: Wi-Fi </a:t>
            </a:r>
            <a:r>
              <a:rPr lang="en-US" sz="3600">
                <a:latin typeface="Times New Roman" panose="02020603050405020304" pitchFamily="18" charset="0"/>
                <a:cs typeface="Times New Roman" panose="02020603050405020304" pitchFamily="18" charset="0"/>
              </a:rPr>
              <a:t>3D spatial modeling to locate the thoracic region.</a:t>
            </a:r>
          </a:p>
        </p:txBody>
      </p:sp>
      <p:grpSp>
        <p:nvGrpSpPr>
          <p:cNvPr id="3" name="Group 2">
            <a:extLst>
              <a:ext uri="{FF2B5EF4-FFF2-40B4-BE49-F238E27FC236}">
                <a16:creationId xmlns:a16="http://schemas.microsoft.com/office/drawing/2014/main" id="{454CD768-EF9B-67B8-31F7-64F3E8B7A309}"/>
              </a:ext>
            </a:extLst>
          </p:cNvPr>
          <p:cNvGrpSpPr/>
          <p:nvPr/>
        </p:nvGrpSpPr>
        <p:grpSpPr>
          <a:xfrm>
            <a:off x="6392795" y="2247959"/>
            <a:ext cx="6185280" cy="3964781"/>
            <a:chOff x="6392795" y="2247959"/>
            <a:chExt cx="6185280" cy="3964781"/>
          </a:xfrm>
        </p:grpSpPr>
        <p:pic>
          <p:nvPicPr>
            <p:cNvPr id="36" name="Picture 35">
              <a:extLst>
                <a:ext uri="{FF2B5EF4-FFF2-40B4-BE49-F238E27FC236}">
                  <a16:creationId xmlns:a16="http://schemas.microsoft.com/office/drawing/2014/main" id="{A06B09C9-B0E4-FA44-F111-3699F45267C5}"/>
                </a:ext>
              </a:extLst>
            </p:cNvPr>
            <p:cNvPicPr>
              <a:picLocks noChangeAspect="1"/>
            </p:cNvPicPr>
            <p:nvPr/>
          </p:nvPicPr>
          <p:blipFill>
            <a:blip r:embed="rId3"/>
            <a:stretch>
              <a:fillRect/>
            </a:stretch>
          </p:blipFill>
          <p:spPr>
            <a:xfrm>
              <a:off x="7511099" y="2247959"/>
              <a:ext cx="4141737" cy="2994952"/>
            </a:xfrm>
            <a:prstGeom prst="rect">
              <a:avLst/>
            </a:prstGeom>
          </p:spPr>
        </p:pic>
        <p:sp>
          <p:nvSpPr>
            <p:cNvPr id="37" name="文本框 80">
              <a:extLst>
                <a:ext uri="{FF2B5EF4-FFF2-40B4-BE49-F238E27FC236}">
                  <a16:creationId xmlns:a16="http://schemas.microsoft.com/office/drawing/2014/main" id="{06EF3668-9B90-F9CC-D2D8-0F4125EEA006}"/>
                </a:ext>
              </a:extLst>
            </p:cNvPr>
            <p:cNvSpPr txBox="1"/>
            <p:nvPr/>
          </p:nvSpPr>
          <p:spPr>
            <a:xfrm rot="16200000">
              <a:off x="5976666" y="3621773"/>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38" name="文本框 80">
              <a:extLst>
                <a:ext uri="{FF2B5EF4-FFF2-40B4-BE49-F238E27FC236}">
                  <a16:creationId xmlns:a16="http://schemas.microsoft.com/office/drawing/2014/main" id="{C8ED0FEC-3C70-CE03-42F8-C82C255CEE9A}"/>
                </a:ext>
              </a:extLst>
            </p:cNvPr>
            <p:cNvSpPr txBox="1"/>
            <p:nvPr/>
          </p:nvSpPr>
          <p:spPr>
            <a:xfrm>
              <a:off x="6850922" y="486378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46" name="文本框 80">
              <a:extLst>
                <a:ext uri="{FF2B5EF4-FFF2-40B4-BE49-F238E27FC236}">
                  <a16:creationId xmlns:a16="http://schemas.microsoft.com/office/drawing/2014/main" id="{8D7E9C82-CED9-D1E8-5C55-297E0A882E0A}"/>
                </a:ext>
              </a:extLst>
            </p:cNvPr>
            <p:cNvSpPr txBox="1"/>
            <p:nvPr/>
          </p:nvSpPr>
          <p:spPr>
            <a:xfrm rot="19640601">
              <a:off x="9521114" y="4583534"/>
              <a:ext cx="2634513" cy="646331"/>
            </a:xfrm>
            <a:prstGeom prst="rect">
              <a:avLst/>
            </a:prstGeom>
            <a:noFill/>
          </p:spPr>
          <p:txBody>
            <a:bodyPr wrap="square" rtlCol="0">
              <a:spAutoFit/>
            </a:bodyPr>
            <a:lstStyle/>
            <a:p>
              <a:pPr algn="ctr"/>
              <a:r>
                <a:rPr lang="en-US" altLang="zh-CN" sz="3600" err="1">
                  <a:latin typeface="Times New Roman" panose="02020603050405020304" pitchFamily="18" charset="0"/>
                  <a:cs typeface="Times New Roman" panose="02020603050405020304" pitchFamily="18" charset="0"/>
                </a:rPr>
                <a:t>ToF</a:t>
              </a:r>
              <a:endParaRPr lang="zh-CN" altLang="en-US" sz="360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B514EED-69EA-A30C-75FE-AC7B0271152F}"/>
                </a:ext>
              </a:extLst>
            </p:cNvPr>
            <p:cNvSpPr txBox="1"/>
            <p:nvPr/>
          </p:nvSpPr>
          <p:spPr>
            <a:xfrm>
              <a:off x="6392795" y="5566409"/>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Spectrum</a:t>
              </a:r>
              <a:endParaRPr lang="en-US" sz="3600" b="1">
                <a:latin typeface="Times New Roman" panose="02020603050405020304" pitchFamily="18" charset="0"/>
                <a:cs typeface="Times New Roman" panose="02020603050405020304" pitchFamily="18" charset="0"/>
              </a:endParaRPr>
            </a:p>
          </p:txBody>
        </p:sp>
      </p:grpSp>
      <p:sp>
        <p:nvSpPr>
          <p:cNvPr id="54" name="Arc 53">
            <a:extLst>
              <a:ext uri="{FF2B5EF4-FFF2-40B4-BE49-F238E27FC236}">
                <a16:creationId xmlns:a16="http://schemas.microsoft.com/office/drawing/2014/main" id="{0B1AD57E-ADB3-6CEA-F6A9-BC3A98D0A2B5}"/>
              </a:ext>
            </a:extLst>
          </p:cNvPr>
          <p:cNvSpPr/>
          <p:nvPr/>
        </p:nvSpPr>
        <p:spPr>
          <a:xfrm rot="12465410" flipH="1">
            <a:off x="3250270" y="2680670"/>
            <a:ext cx="3210303" cy="3288722"/>
          </a:xfrm>
          <a:prstGeom prst="arc">
            <a:avLst>
              <a:gd name="adj1" fmla="val 15435877"/>
              <a:gd name="adj2" fmla="val 21046383"/>
            </a:avLst>
          </a:prstGeom>
          <a:ln w="57150">
            <a:solidFill>
              <a:srgbClr val="4382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600">
              <a:solidFill>
                <a:srgbClr val="4382B5"/>
              </a:solidFill>
              <a:latin typeface="Times New Roman" panose="02020603050405020304" pitchFamily="18" charset="0"/>
              <a:cs typeface="Times New Roman" panose="02020603050405020304" pitchFamily="18" charset="0"/>
            </a:endParaRPr>
          </a:p>
        </p:txBody>
      </p:sp>
      <p:sp>
        <p:nvSpPr>
          <p:cNvPr id="55" name="Oval 54">
            <a:extLst>
              <a:ext uri="{FF2B5EF4-FFF2-40B4-BE49-F238E27FC236}">
                <a16:creationId xmlns:a16="http://schemas.microsoft.com/office/drawing/2014/main" id="{B7FC99FE-158C-C913-F22C-75B802859FD6}"/>
              </a:ext>
            </a:extLst>
          </p:cNvPr>
          <p:cNvSpPr/>
          <p:nvPr/>
        </p:nvSpPr>
        <p:spPr>
          <a:xfrm>
            <a:off x="1935329" y="5574542"/>
            <a:ext cx="2158649" cy="522903"/>
          </a:xfrm>
          <a:prstGeom prst="ellipse">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lin ang="13500000" scaled="1"/>
            <a:tileRect/>
          </a:gra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56" name="直接连接符 5">
            <a:extLst>
              <a:ext uri="{FF2B5EF4-FFF2-40B4-BE49-F238E27FC236}">
                <a16:creationId xmlns:a16="http://schemas.microsoft.com/office/drawing/2014/main" id="{23C4DCA3-2F5F-71A9-63D6-7CBF8F993AC8}"/>
              </a:ext>
            </a:extLst>
          </p:cNvPr>
          <p:cNvCxnSpPr>
            <a:cxnSpLocks/>
          </p:cNvCxnSpPr>
          <p:nvPr/>
        </p:nvCxnSpPr>
        <p:spPr>
          <a:xfrm>
            <a:off x="2021078" y="4547437"/>
            <a:ext cx="3479351" cy="16133"/>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pic>
        <p:nvPicPr>
          <p:cNvPr id="57" name="Picture 56" descr="A human body with a heart&#10;&#10;AI-generated content may be incorrect.">
            <a:extLst>
              <a:ext uri="{FF2B5EF4-FFF2-40B4-BE49-F238E27FC236}">
                <a16:creationId xmlns:a16="http://schemas.microsoft.com/office/drawing/2014/main" id="{52AFF933-1601-40F3-FCC6-0C346E548714}"/>
              </a:ext>
            </a:extLst>
          </p:cNvPr>
          <p:cNvPicPr>
            <a:picLocks noChangeAspect="1"/>
          </p:cNvPicPr>
          <p:nvPr/>
        </p:nvPicPr>
        <p:blipFill>
          <a:blip r:embed="rId4">
            <a:extLst>
              <a:ext uri="{28A0092B-C50C-407E-A947-70E740481C1C}">
                <a14:useLocalDpi xmlns:a14="http://schemas.microsoft.com/office/drawing/2010/main" val="0"/>
              </a:ext>
            </a:extLst>
          </a:blip>
          <a:srcRect l="35911" t="8224" r="34926" b="8240"/>
          <a:stretch/>
        </p:blipFill>
        <p:spPr>
          <a:xfrm>
            <a:off x="2461692" y="2171552"/>
            <a:ext cx="1138941" cy="3853530"/>
          </a:xfrm>
          <a:prstGeom prst="rect">
            <a:avLst/>
          </a:prstGeom>
        </p:spPr>
      </p:pic>
      <p:sp>
        <p:nvSpPr>
          <p:cNvPr id="58" name="Cube 57">
            <a:extLst>
              <a:ext uri="{FF2B5EF4-FFF2-40B4-BE49-F238E27FC236}">
                <a16:creationId xmlns:a16="http://schemas.microsoft.com/office/drawing/2014/main" id="{522D06E1-E7D0-C090-5F84-8CB5A2A90CA0}"/>
              </a:ext>
            </a:extLst>
          </p:cNvPr>
          <p:cNvSpPr/>
          <p:nvPr/>
        </p:nvSpPr>
        <p:spPr>
          <a:xfrm flipH="1">
            <a:off x="5438247" y="2244622"/>
            <a:ext cx="1301338" cy="3791274"/>
          </a:xfrm>
          <a:prstGeom prst="cube">
            <a:avLst>
              <a:gd name="adj" fmla="val 93066"/>
            </a:avLst>
          </a:prstGeom>
          <a:solidFill>
            <a:schemeClr val="bg1">
              <a:lumMod val="95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9">
              <a:latin typeface="Times New Roman" panose="02020603050405020304" pitchFamily="18" charset="0"/>
              <a:cs typeface="Times New Roman" panose="02020603050405020304" pitchFamily="18" charset="0"/>
            </a:endParaRPr>
          </a:p>
        </p:txBody>
      </p:sp>
      <p:cxnSp>
        <p:nvCxnSpPr>
          <p:cNvPr id="59" name="直接箭头连接符 41">
            <a:extLst>
              <a:ext uri="{FF2B5EF4-FFF2-40B4-BE49-F238E27FC236}">
                <a16:creationId xmlns:a16="http://schemas.microsoft.com/office/drawing/2014/main" id="{AF307A46-53E0-A3F5-4038-B47FD66B8CEE}"/>
              </a:ext>
            </a:extLst>
          </p:cNvPr>
          <p:cNvCxnSpPr>
            <a:cxnSpLocks/>
          </p:cNvCxnSpPr>
          <p:nvPr/>
        </p:nvCxnSpPr>
        <p:spPr>
          <a:xfrm>
            <a:off x="3013302" y="3324504"/>
            <a:ext cx="4538" cy="2519879"/>
          </a:xfrm>
          <a:prstGeom prst="straightConnector1">
            <a:avLst/>
          </a:prstGeom>
          <a:ln w="47625">
            <a:solidFill>
              <a:srgbClr val="4382B5"/>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8AC1124-97C8-50DB-E07B-392BF08F29DB}"/>
              </a:ext>
            </a:extLst>
          </p:cNvPr>
          <p:cNvCxnSpPr>
            <a:cxnSpLocks/>
          </p:cNvCxnSpPr>
          <p:nvPr/>
        </p:nvCxnSpPr>
        <p:spPr>
          <a:xfrm flipH="1" flipV="1">
            <a:off x="3224357" y="5553988"/>
            <a:ext cx="0" cy="210782"/>
          </a:xfrm>
          <a:prstGeom prst="line">
            <a:avLst/>
          </a:prstGeom>
          <a:ln w="47625">
            <a:solidFill>
              <a:srgbClr val="4382B5"/>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FF69D79-86A5-5C6F-2352-644F6572609D}"/>
              </a:ext>
            </a:extLst>
          </p:cNvPr>
          <p:cNvCxnSpPr>
            <a:cxnSpLocks/>
          </p:cNvCxnSpPr>
          <p:nvPr/>
        </p:nvCxnSpPr>
        <p:spPr>
          <a:xfrm flipV="1">
            <a:off x="3006615" y="5576149"/>
            <a:ext cx="211193" cy="66575"/>
          </a:xfrm>
          <a:prstGeom prst="line">
            <a:avLst/>
          </a:prstGeom>
          <a:ln w="47625">
            <a:solidFill>
              <a:srgbClr val="4382B5"/>
            </a:solidFill>
          </a:ln>
        </p:spPr>
        <p:style>
          <a:lnRef idx="1">
            <a:schemeClr val="accent1"/>
          </a:lnRef>
          <a:fillRef idx="0">
            <a:schemeClr val="accent1"/>
          </a:fillRef>
          <a:effectRef idx="0">
            <a:schemeClr val="accent1"/>
          </a:effectRef>
          <a:fontRef idx="minor">
            <a:schemeClr val="tx1"/>
          </a:fontRef>
        </p:style>
      </p:cxnSp>
      <p:sp>
        <p:nvSpPr>
          <p:cNvPr id="62" name="Arc 61">
            <a:extLst>
              <a:ext uri="{FF2B5EF4-FFF2-40B4-BE49-F238E27FC236}">
                <a16:creationId xmlns:a16="http://schemas.microsoft.com/office/drawing/2014/main" id="{D1BEA949-C643-1CF5-2684-B6014691CD75}"/>
              </a:ext>
            </a:extLst>
          </p:cNvPr>
          <p:cNvSpPr/>
          <p:nvPr/>
        </p:nvSpPr>
        <p:spPr>
          <a:xfrm flipH="1">
            <a:off x="3634674" y="2244622"/>
            <a:ext cx="3210303" cy="3288722"/>
          </a:xfrm>
          <a:prstGeom prst="arc">
            <a:avLst>
              <a:gd name="adj1" fmla="val 15435877"/>
              <a:gd name="adj2" fmla="val 21046383"/>
            </a:avLst>
          </a:prstGeom>
          <a:ln w="57150">
            <a:solidFill>
              <a:srgbClr val="4382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600">
              <a:solidFill>
                <a:srgbClr val="4382B5"/>
              </a:solidFill>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6A0A23F0-FCD9-5115-0B0D-E0E049C99410}"/>
              </a:ext>
            </a:extLst>
          </p:cNvPr>
          <p:cNvSpPr txBox="1"/>
          <p:nvPr/>
        </p:nvSpPr>
        <p:spPr>
          <a:xfrm flipH="1">
            <a:off x="974546" y="3012160"/>
            <a:ext cx="1214045" cy="707886"/>
          </a:xfrm>
          <a:prstGeom prst="rect">
            <a:avLst/>
          </a:prstGeom>
          <a:noFill/>
        </p:spPr>
        <p:txBody>
          <a:bodyPr wrap="square" rtlCol="0">
            <a:spAutoFit/>
          </a:bodyPr>
          <a:lstStyle/>
          <a:p>
            <a:r>
              <a:rPr lang="en-US" sz="4000" b="1" i="1" err="1">
                <a:solidFill>
                  <a:srgbClr val="5780AB"/>
                </a:solidFill>
                <a:latin typeface="Times New Roman" panose="02020603050405020304" pitchFamily="18" charset="0"/>
                <a:cs typeface="Times New Roman" panose="02020603050405020304" pitchFamily="18" charset="0"/>
              </a:rPr>
              <a:t>ToF</a:t>
            </a:r>
            <a:endParaRPr lang="en-US" sz="4000" b="1" i="1">
              <a:solidFill>
                <a:srgbClr val="5780AB"/>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47060FC-B155-D796-2724-2FFD31057FDC}"/>
                  </a:ext>
                </a:extLst>
              </p:cNvPr>
              <p:cNvSpPr txBox="1"/>
              <p:nvPr/>
            </p:nvSpPr>
            <p:spPr>
              <a:xfrm flipH="1">
                <a:off x="3749077" y="2839401"/>
                <a:ext cx="1284478"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1" i="1">
                              <a:solidFill>
                                <a:srgbClr val="4382B5"/>
                              </a:solidFill>
                              <a:latin typeface="Cambria Math" panose="02040503050406030204" pitchFamily="18" charset="0"/>
                            </a:rPr>
                          </m:ctrlPr>
                        </m:sSubPr>
                        <m:e>
                          <m:r>
                            <a:rPr lang="en-US" altLang="zh-CN" sz="4000" b="1" i="1">
                              <a:solidFill>
                                <a:srgbClr val="4382B5"/>
                              </a:solidFill>
                              <a:latin typeface="Cambria Math" panose="02040503050406030204" pitchFamily="18" charset="0"/>
                            </a:rPr>
                            <m:t>𝑨𝒐𝑨</m:t>
                          </m:r>
                        </m:e>
                        <m:sub>
                          <m:r>
                            <a:rPr lang="en-US" sz="4000" b="1" i="1">
                              <a:solidFill>
                                <a:srgbClr val="4382B5"/>
                              </a:solidFill>
                              <a:latin typeface="Cambria Math" panose="02040503050406030204" pitchFamily="18" charset="0"/>
                            </a:rPr>
                            <m:t>𝒆𝒍</m:t>
                          </m:r>
                        </m:sub>
                      </m:sSub>
                    </m:oMath>
                  </m:oMathPara>
                </a14:m>
                <a:endParaRPr lang="en-US" sz="4400" b="1">
                  <a:solidFill>
                    <a:srgbClr val="0070C0"/>
                  </a:solidFill>
                  <a:latin typeface="Times New Roman" panose="02020603050405020304" pitchFamily="18" charset="0"/>
                  <a:cs typeface="Times New Roman" panose="02020603050405020304" pitchFamily="18" charset="0"/>
                </a:endParaRPr>
              </a:p>
            </p:txBody>
          </p:sp>
        </mc:Choice>
        <mc:Fallback xmlns="">
          <p:sp>
            <p:nvSpPr>
              <p:cNvPr id="64" name="TextBox 63">
                <a:extLst>
                  <a:ext uri="{FF2B5EF4-FFF2-40B4-BE49-F238E27FC236}">
                    <a16:creationId xmlns:a16="http://schemas.microsoft.com/office/drawing/2014/main" id="{347060FC-B155-D796-2724-2FFD31057FDC}"/>
                  </a:ext>
                </a:extLst>
              </p:cNvPr>
              <p:cNvSpPr txBox="1">
                <a:spLocks noRot="1" noChangeAspect="1" noMove="1" noResize="1" noEditPoints="1" noAdjustHandles="1" noChangeArrowheads="1" noChangeShapeType="1" noTextEdit="1"/>
              </p:cNvSpPr>
              <p:nvPr/>
            </p:nvSpPr>
            <p:spPr>
              <a:xfrm flipH="1">
                <a:off x="3749077" y="2839401"/>
                <a:ext cx="1284478" cy="615553"/>
              </a:xfrm>
              <a:prstGeom prst="rect">
                <a:avLst/>
              </a:prstGeom>
              <a:blipFill>
                <a:blip r:embed="rId5"/>
                <a:stretch>
                  <a:fillRect l="-474" r="-94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ABA3257-2C73-F806-0972-EF450A65AED2}"/>
                  </a:ext>
                </a:extLst>
              </p:cNvPr>
              <p:cNvSpPr txBox="1"/>
              <p:nvPr/>
            </p:nvSpPr>
            <p:spPr>
              <a:xfrm flipH="1">
                <a:off x="4354475" y="5196877"/>
                <a:ext cx="1284478"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1" i="1">
                              <a:solidFill>
                                <a:srgbClr val="4382B5"/>
                              </a:solidFill>
                              <a:latin typeface="Cambria Math" panose="02040503050406030204" pitchFamily="18" charset="0"/>
                            </a:rPr>
                          </m:ctrlPr>
                        </m:sSubPr>
                        <m:e>
                          <m:r>
                            <a:rPr lang="en-US" sz="4000" b="1" i="1">
                              <a:solidFill>
                                <a:srgbClr val="4382B5"/>
                              </a:solidFill>
                              <a:latin typeface="Cambria Math" panose="02040503050406030204" pitchFamily="18" charset="0"/>
                            </a:rPr>
                            <m:t>𝑨𝒐𝑨</m:t>
                          </m:r>
                        </m:e>
                        <m:sub>
                          <m:r>
                            <a:rPr lang="en-US" sz="4000" b="1" i="1">
                              <a:solidFill>
                                <a:srgbClr val="4382B5"/>
                              </a:solidFill>
                              <a:latin typeface="Cambria Math" panose="02040503050406030204" pitchFamily="18" charset="0"/>
                            </a:rPr>
                            <m:t>𝒂𝒛</m:t>
                          </m:r>
                        </m:sub>
                      </m:sSub>
                    </m:oMath>
                  </m:oMathPara>
                </a14:m>
                <a:endParaRPr lang="en-US" sz="4400" b="1" i="1">
                  <a:solidFill>
                    <a:srgbClr val="4382B5"/>
                  </a:solidFill>
                  <a:latin typeface="Times New Roman" panose="02020603050405020304" pitchFamily="18" charset="0"/>
                  <a:cs typeface="Times New Roman" panose="02020603050405020304" pitchFamily="18" charset="0"/>
                </a:endParaRPr>
              </a:p>
            </p:txBody>
          </p:sp>
        </mc:Choice>
        <mc:Fallback xmlns="">
          <p:sp>
            <p:nvSpPr>
              <p:cNvPr id="65" name="TextBox 64">
                <a:extLst>
                  <a:ext uri="{FF2B5EF4-FFF2-40B4-BE49-F238E27FC236}">
                    <a16:creationId xmlns:a16="http://schemas.microsoft.com/office/drawing/2014/main" id="{3ABA3257-2C73-F806-0972-EF450A65AED2}"/>
                  </a:ext>
                </a:extLst>
              </p:cNvPr>
              <p:cNvSpPr txBox="1">
                <a:spLocks noRot="1" noChangeAspect="1" noMove="1" noResize="1" noEditPoints="1" noAdjustHandles="1" noChangeArrowheads="1" noChangeShapeType="1" noTextEdit="1"/>
              </p:cNvSpPr>
              <p:nvPr/>
            </p:nvSpPr>
            <p:spPr>
              <a:xfrm flipH="1">
                <a:off x="4354475" y="5196877"/>
                <a:ext cx="1284478" cy="615553"/>
              </a:xfrm>
              <a:prstGeom prst="rect">
                <a:avLst/>
              </a:prstGeom>
              <a:blipFill>
                <a:blip r:embed="rId6"/>
                <a:stretch>
                  <a:fillRect l="-474" r="-8057"/>
                </a:stretch>
              </a:blipFill>
              <a:ln>
                <a:noFill/>
              </a:ln>
            </p:spPr>
            <p:txBody>
              <a:bodyPr/>
              <a:lstStyle/>
              <a:p>
                <a:r>
                  <a:rPr lang="en-US">
                    <a:noFill/>
                  </a:rPr>
                  <a:t> </a:t>
                </a:r>
              </a:p>
            </p:txBody>
          </p:sp>
        </mc:Fallback>
      </mc:AlternateContent>
      <p:sp>
        <p:nvSpPr>
          <p:cNvPr id="66" name="TextBox 65">
            <a:extLst>
              <a:ext uri="{FF2B5EF4-FFF2-40B4-BE49-F238E27FC236}">
                <a16:creationId xmlns:a16="http://schemas.microsoft.com/office/drawing/2014/main" id="{72EAEA04-7A29-14DD-0D84-6C1CFE0E7C62}"/>
              </a:ext>
            </a:extLst>
          </p:cNvPr>
          <p:cNvSpPr txBox="1"/>
          <p:nvPr/>
        </p:nvSpPr>
        <p:spPr>
          <a:xfrm flipH="1">
            <a:off x="5560275" y="3528219"/>
            <a:ext cx="1226618" cy="461665"/>
          </a:xfrm>
          <a:prstGeom prst="rect">
            <a:avLst/>
          </a:prstGeom>
          <a:noFill/>
        </p:spPr>
        <p:txBody>
          <a:bodyPr wrap="none" rtlCol="0">
            <a:spAutoFit/>
          </a:bodyPr>
          <a:lstStyle/>
          <a:p>
            <a:r>
              <a:rPr lang="en-US" sz="2400">
                <a:latin typeface="Times New Roman" panose="02020603050405020304" pitchFamily="18" charset="0"/>
                <a:cs typeface="Times New Roman" panose="02020603050405020304" pitchFamily="18" charset="0"/>
              </a:rPr>
              <a:t>Antenna</a:t>
            </a:r>
          </a:p>
        </p:txBody>
      </p:sp>
      <p:cxnSp>
        <p:nvCxnSpPr>
          <p:cNvPr id="67" name="Straight Arrow Connector 66">
            <a:extLst>
              <a:ext uri="{FF2B5EF4-FFF2-40B4-BE49-F238E27FC236}">
                <a16:creationId xmlns:a16="http://schemas.microsoft.com/office/drawing/2014/main" id="{C2DB4CDD-8364-B09D-C946-021AAEF0E2D1}"/>
              </a:ext>
            </a:extLst>
          </p:cNvPr>
          <p:cNvCxnSpPr>
            <a:cxnSpLocks/>
          </p:cNvCxnSpPr>
          <p:nvPr/>
        </p:nvCxnSpPr>
        <p:spPr>
          <a:xfrm flipV="1">
            <a:off x="602687" y="3305619"/>
            <a:ext cx="2428477" cy="988756"/>
          </a:xfrm>
          <a:prstGeom prst="straightConnector1">
            <a:avLst/>
          </a:prstGeom>
          <a:ln w="114300">
            <a:solidFill>
              <a:srgbClr val="DC143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E589C6E-D6D6-91C6-821F-A706CB555BC6}"/>
              </a:ext>
            </a:extLst>
          </p:cNvPr>
          <p:cNvCxnSpPr>
            <a:cxnSpLocks/>
          </p:cNvCxnSpPr>
          <p:nvPr/>
        </p:nvCxnSpPr>
        <p:spPr>
          <a:xfrm>
            <a:off x="2988737" y="3305619"/>
            <a:ext cx="2441224" cy="1181380"/>
          </a:xfrm>
          <a:prstGeom prst="straightConnector1">
            <a:avLst/>
          </a:prstGeom>
          <a:ln w="114300">
            <a:solidFill>
              <a:srgbClr val="DC1439"/>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41">
            <a:extLst>
              <a:ext uri="{FF2B5EF4-FFF2-40B4-BE49-F238E27FC236}">
                <a16:creationId xmlns:a16="http://schemas.microsoft.com/office/drawing/2014/main" id="{6F37D4F6-CD7D-009C-F1B3-C3FA686A059A}"/>
              </a:ext>
            </a:extLst>
          </p:cNvPr>
          <p:cNvCxnSpPr>
            <a:cxnSpLocks/>
          </p:cNvCxnSpPr>
          <p:nvPr/>
        </p:nvCxnSpPr>
        <p:spPr>
          <a:xfrm flipH="1">
            <a:off x="3002061" y="4649666"/>
            <a:ext cx="2420882" cy="1177939"/>
          </a:xfrm>
          <a:prstGeom prst="straightConnector1">
            <a:avLst/>
          </a:prstGeom>
          <a:ln w="47625">
            <a:solidFill>
              <a:srgbClr val="4382B5"/>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5">
            <a:extLst>
              <a:ext uri="{FF2B5EF4-FFF2-40B4-BE49-F238E27FC236}">
                <a16:creationId xmlns:a16="http://schemas.microsoft.com/office/drawing/2014/main" id="{50D2D5E0-DE6D-378E-4648-E1CC2396A7FA}"/>
              </a:ext>
            </a:extLst>
          </p:cNvPr>
          <p:cNvCxnSpPr>
            <a:cxnSpLocks/>
          </p:cNvCxnSpPr>
          <p:nvPr/>
        </p:nvCxnSpPr>
        <p:spPr>
          <a:xfrm flipH="1">
            <a:off x="5531478" y="2034794"/>
            <a:ext cx="5283" cy="2579421"/>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2" name="直接连接符 5">
            <a:extLst>
              <a:ext uri="{FF2B5EF4-FFF2-40B4-BE49-F238E27FC236}">
                <a16:creationId xmlns:a16="http://schemas.microsoft.com/office/drawing/2014/main" id="{0058B700-8FEE-76E2-EF89-59A3DF87F176}"/>
              </a:ext>
            </a:extLst>
          </p:cNvPr>
          <p:cNvCxnSpPr>
            <a:cxnSpLocks/>
          </p:cNvCxnSpPr>
          <p:nvPr/>
        </p:nvCxnSpPr>
        <p:spPr>
          <a:xfrm flipH="1" flipV="1">
            <a:off x="5536761" y="4569180"/>
            <a:ext cx="1296055" cy="1607052"/>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FDAB8474-308D-5C9E-AA9F-A9A47484B889}"/>
              </a:ext>
            </a:extLst>
          </p:cNvPr>
          <p:cNvSpPr txBox="1"/>
          <p:nvPr/>
        </p:nvSpPr>
        <p:spPr>
          <a:xfrm flipH="1">
            <a:off x="202560" y="5224889"/>
            <a:ext cx="996205" cy="523220"/>
          </a:xfrm>
          <a:prstGeom prst="rect">
            <a:avLst/>
          </a:prstGeom>
          <a:noFill/>
        </p:spPr>
        <p:txBody>
          <a:bodyPr wrap="square" rtlCol="0">
            <a:spAutoFit/>
          </a:bodyPr>
          <a:lstStyle/>
          <a:p>
            <a:r>
              <a:rPr lang="en-US" sz="2800" err="1">
                <a:latin typeface="Times New Roman" panose="02020603050405020304" pitchFamily="18" charset="0"/>
                <a:cs typeface="Times New Roman" panose="02020603050405020304" pitchFamily="18" charset="0"/>
              </a:rPr>
              <a:t>W</a:t>
            </a:r>
            <a:r>
              <a:rPr lang="en-US" altLang="zh-CN" sz="2800" err="1">
                <a:latin typeface="Times New Roman" panose="02020603050405020304" pitchFamily="18" charset="0"/>
                <a:cs typeface="Times New Roman" panose="02020603050405020304" pitchFamily="18" charset="0"/>
              </a:rPr>
              <a:t>iFi</a:t>
            </a:r>
            <a:endParaRPr lang="en-US" altLang="zh-CN" sz="2800">
              <a:latin typeface="Times New Roman" panose="02020603050405020304" pitchFamily="18" charset="0"/>
              <a:cs typeface="Times New Roman" panose="02020603050405020304" pitchFamily="18" charset="0"/>
            </a:endParaRPr>
          </a:p>
        </p:txBody>
      </p:sp>
      <p:pic>
        <p:nvPicPr>
          <p:cNvPr id="74" name="Picture 73" descr="A black wifi symbol on a black background&#10;&#10;AI-generated content may be incorrect.">
            <a:extLst>
              <a:ext uri="{FF2B5EF4-FFF2-40B4-BE49-F238E27FC236}">
                <a16:creationId xmlns:a16="http://schemas.microsoft.com/office/drawing/2014/main" id="{35966998-D449-45A3-F23F-482B32D2363B}"/>
              </a:ext>
            </a:extLst>
          </p:cNvPr>
          <p:cNvPicPr>
            <a:picLocks noChangeAspect="1"/>
          </p:cNvPicPr>
          <p:nvPr/>
        </p:nvPicPr>
        <p:blipFill>
          <a:blip r:embed="rId7"/>
          <a:stretch>
            <a:fillRect/>
          </a:stretch>
        </p:blipFill>
        <p:spPr>
          <a:xfrm rot="16200000">
            <a:off x="4921130" y="4500918"/>
            <a:ext cx="1201702" cy="1032012"/>
          </a:xfrm>
          <a:prstGeom prst="rect">
            <a:avLst/>
          </a:prstGeom>
        </p:spPr>
      </p:pic>
      <p:pic>
        <p:nvPicPr>
          <p:cNvPr id="75" name="Picture 74" descr="A black wifi symbol on a black background&#10;&#10;AI-generated content may be incorrect.">
            <a:extLst>
              <a:ext uri="{FF2B5EF4-FFF2-40B4-BE49-F238E27FC236}">
                <a16:creationId xmlns:a16="http://schemas.microsoft.com/office/drawing/2014/main" id="{1A8DEB35-FC7C-FBCA-4366-E36A853A7A51}"/>
              </a:ext>
            </a:extLst>
          </p:cNvPr>
          <p:cNvPicPr>
            <a:picLocks noChangeAspect="1"/>
          </p:cNvPicPr>
          <p:nvPr/>
        </p:nvPicPr>
        <p:blipFill>
          <a:blip r:embed="rId7"/>
          <a:stretch>
            <a:fillRect/>
          </a:stretch>
        </p:blipFill>
        <p:spPr>
          <a:xfrm rot="16200000">
            <a:off x="4544878" y="4053549"/>
            <a:ext cx="1201702" cy="1032012"/>
          </a:xfrm>
          <a:prstGeom prst="rect">
            <a:avLst/>
          </a:prstGeom>
        </p:spPr>
      </p:pic>
      <p:pic>
        <p:nvPicPr>
          <p:cNvPr id="76" name="Picture 75" descr="A black wifi symbol on a black background&#10;&#10;AI-generated content may be incorrect.">
            <a:extLst>
              <a:ext uri="{FF2B5EF4-FFF2-40B4-BE49-F238E27FC236}">
                <a16:creationId xmlns:a16="http://schemas.microsoft.com/office/drawing/2014/main" id="{664A6DB9-15F4-5EE3-EDFE-8433B9F2079A}"/>
              </a:ext>
            </a:extLst>
          </p:cNvPr>
          <p:cNvPicPr>
            <a:picLocks noChangeAspect="1"/>
          </p:cNvPicPr>
          <p:nvPr/>
        </p:nvPicPr>
        <p:blipFill>
          <a:blip r:embed="rId7"/>
          <a:stretch>
            <a:fillRect/>
          </a:stretch>
        </p:blipFill>
        <p:spPr>
          <a:xfrm rot="16200000">
            <a:off x="5532494" y="5215619"/>
            <a:ext cx="1201702" cy="1032012"/>
          </a:xfrm>
          <a:prstGeom prst="rect">
            <a:avLst/>
          </a:prstGeom>
        </p:spPr>
      </p:pic>
      <p:pic>
        <p:nvPicPr>
          <p:cNvPr id="77" name="Picture 76" descr="A black wifi symbol on a black background&#10;&#10;AI-generated content may be incorrect.">
            <a:extLst>
              <a:ext uri="{FF2B5EF4-FFF2-40B4-BE49-F238E27FC236}">
                <a16:creationId xmlns:a16="http://schemas.microsoft.com/office/drawing/2014/main" id="{30745A72-A78E-1A09-27D7-E552DB117A20}"/>
              </a:ext>
            </a:extLst>
          </p:cNvPr>
          <p:cNvPicPr>
            <a:picLocks noChangeAspect="1"/>
          </p:cNvPicPr>
          <p:nvPr/>
        </p:nvPicPr>
        <p:blipFill>
          <a:blip r:embed="rId7"/>
          <a:stretch>
            <a:fillRect/>
          </a:stretch>
        </p:blipFill>
        <p:spPr>
          <a:xfrm rot="16200000">
            <a:off x="4531555" y="3309700"/>
            <a:ext cx="1201702" cy="1032012"/>
          </a:xfrm>
          <a:prstGeom prst="rect">
            <a:avLst/>
          </a:prstGeom>
        </p:spPr>
      </p:pic>
      <p:pic>
        <p:nvPicPr>
          <p:cNvPr id="78" name="Picture 77" descr="A black wifi symbol on a black background&#10;&#10;AI-generated content may be incorrect.">
            <a:extLst>
              <a:ext uri="{FF2B5EF4-FFF2-40B4-BE49-F238E27FC236}">
                <a16:creationId xmlns:a16="http://schemas.microsoft.com/office/drawing/2014/main" id="{BD296651-40C4-74FA-5891-F4C5BD872739}"/>
              </a:ext>
            </a:extLst>
          </p:cNvPr>
          <p:cNvPicPr>
            <a:picLocks noChangeAspect="1"/>
          </p:cNvPicPr>
          <p:nvPr/>
        </p:nvPicPr>
        <p:blipFill>
          <a:blip r:embed="rId7"/>
          <a:stretch>
            <a:fillRect/>
          </a:stretch>
        </p:blipFill>
        <p:spPr>
          <a:xfrm rot="16200000">
            <a:off x="4531401" y="2174111"/>
            <a:ext cx="1201702" cy="1032012"/>
          </a:xfrm>
          <a:prstGeom prst="rect">
            <a:avLst/>
          </a:prstGeom>
        </p:spPr>
      </p:pic>
      <p:pic>
        <p:nvPicPr>
          <p:cNvPr id="79" name="Picture 2" descr="wifi router Icon - Free PNG &amp; SVG 86246 - Noun Project">
            <a:extLst>
              <a:ext uri="{FF2B5EF4-FFF2-40B4-BE49-F238E27FC236}">
                <a16:creationId xmlns:a16="http://schemas.microsoft.com/office/drawing/2014/main" id="{3D1093FD-1D70-43A4-D909-4FFC4C876B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091493"/>
            <a:ext cx="1164725" cy="1356236"/>
          </a:xfrm>
          <a:prstGeom prst="rect">
            <a:avLst/>
          </a:prstGeom>
          <a:noFill/>
          <a:extLst>
            <a:ext uri="{909E8E84-426E-40DD-AFC4-6F175D3DCCD1}">
              <a14:hiddenFill xmlns:a14="http://schemas.microsoft.com/office/drawing/2010/main">
                <a:solidFill>
                  <a:srgbClr val="FFFFFF"/>
                </a:solidFill>
              </a14:hiddenFill>
            </a:ext>
          </a:extLst>
        </p:spPr>
      </p:pic>
      <p:sp>
        <p:nvSpPr>
          <p:cNvPr id="80" name="TextBox 79">
            <a:extLst>
              <a:ext uri="{FF2B5EF4-FFF2-40B4-BE49-F238E27FC236}">
                <a16:creationId xmlns:a16="http://schemas.microsoft.com/office/drawing/2014/main" id="{C4A45B4E-1912-67B2-E911-6AA89C76BDBA}"/>
              </a:ext>
            </a:extLst>
          </p:cNvPr>
          <p:cNvSpPr txBox="1"/>
          <p:nvPr/>
        </p:nvSpPr>
        <p:spPr>
          <a:xfrm flipH="1">
            <a:off x="294294" y="5594828"/>
            <a:ext cx="843663"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TX</a:t>
            </a:r>
            <a:endParaRPr lang="en-US" altLang="zh-CN" sz="2800">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162ABA5C-CEE2-CC79-4D0F-01F4AC60E367}"/>
              </a:ext>
            </a:extLst>
          </p:cNvPr>
          <p:cNvSpPr txBox="1"/>
          <p:nvPr/>
        </p:nvSpPr>
        <p:spPr>
          <a:xfrm rot="16200000" flipH="1">
            <a:off x="4906397" y="2850756"/>
            <a:ext cx="954108" cy="826414"/>
          </a:xfrm>
          <a:prstGeom prst="rect">
            <a:avLst/>
          </a:prstGeom>
          <a:noFill/>
        </p:spPr>
        <p:txBody>
          <a:bodyPr wrap="none" rtlCol="0">
            <a:spAutoFit/>
          </a:bodyPr>
          <a:lstStyle/>
          <a:p>
            <a:r>
              <a:rPr lang="en-US" sz="6000" b="1">
                <a:latin typeface="Times New Roman" panose="02020603050405020304" pitchFamily="18" charset="0"/>
                <a:cs typeface="Times New Roman" panose="02020603050405020304" pitchFamily="18" charset="0"/>
              </a:rPr>
              <a:t>…</a:t>
            </a:r>
          </a:p>
        </p:txBody>
      </p:sp>
      <p:sp>
        <p:nvSpPr>
          <p:cNvPr id="82" name="TextBox 81">
            <a:extLst>
              <a:ext uri="{FF2B5EF4-FFF2-40B4-BE49-F238E27FC236}">
                <a16:creationId xmlns:a16="http://schemas.microsoft.com/office/drawing/2014/main" id="{FF8DBAFA-4E9E-94DF-F5F3-18AF201FF9B7}"/>
              </a:ext>
            </a:extLst>
          </p:cNvPr>
          <p:cNvSpPr txBox="1"/>
          <p:nvPr/>
        </p:nvSpPr>
        <p:spPr>
          <a:xfrm flipH="1">
            <a:off x="5567151" y="4325032"/>
            <a:ext cx="1308884" cy="461665"/>
          </a:xfrm>
          <a:prstGeom prst="rect">
            <a:avLst/>
          </a:prstGeom>
          <a:noFill/>
        </p:spPr>
        <p:txBody>
          <a:bodyPr wrap="none" rtlCol="0">
            <a:spAutoFit/>
          </a:bodyPr>
          <a:lstStyle/>
          <a:p>
            <a:r>
              <a:rPr lang="en-US" sz="2400" err="1">
                <a:latin typeface="Times New Roman" panose="02020603050405020304" pitchFamily="18" charset="0"/>
                <a:cs typeface="Times New Roman" panose="02020603050405020304" pitchFamily="18" charset="0"/>
              </a:rPr>
              <a:t>W</a:t>
            </a:r>
            <a:r>
              <a:rPr lang="en-US" altLang="zh-CN" sz="2400" err="1">
                <a:latin typeface="Times New Roman" panose="02020603050405020304" pitchFamily="18" charset="0"/>
                <a:cs typeface="Times New Roman" panose="02020603050405020304" pitchFamily="18" charset="0"/>
              </a:rPr>
              <a:t>iFi</a:t>
            </a:r>
            <a:r>
              <a:rPr lang="en-US" altLang="zh-CN" sz="2400">
                <a:latin typeface="Times New Roman" panose="02020603050405020304" pitchFamily="18" charset="0"/>
                <a:cs typeface="Times New Roman" panose="02020603050405020304" pitchFamily="18" charset="0"/>
              </a:rPr>
              <a:t> RX</a:t>
            </a:r>
          </a:p>
        </p:txBody>
      </p:sp>
      <p:sp>
        <p:nvSpPr>
          <p:cNvPr id="83" name="TextBox 82">
            <a:extLst>
              <a:ext uri="{FF2B5EF4-FFF2-40B4-BE49-F238E27FC236}">
                <a16:creationId xmlns:a16="http://schemas.microsoft.com/office/drawing/2014/main" id="{C0B471AE-E724-DFC6-92DB-D26C08972565}"/>
              </a:ext>
            </a:extLst>
          </p:cNvPr>
          <p:cNvSpPr txBox="1"/>
          <p:nvPr/>
        </p:nvSpPr>
        <p:spPr>
          <a:xfrm flipH="1">
            <a:off x="5541997" y="3889715"/>
            <a:ext cx="1321196" cy="461665"/>
          </a:xfrm>
          <a:prstGeom prst="rect">
            <a:avLst/>
          </a:prstGeom>
          <a:noFill/>
        </p:spPr>
        <p:txBody>
          <a:bodyPr wrap="none" rtlCol="0">
            <a:spAutoFit/>
          </a:bodyPr>
          <a:lstStyle/>
          <a:p>
            <a:r>
              <a:rPr lang="en-US" sz="2400">
                <a:latin typeface="Times New Roman" panose="02020603050405020304" pitchFamily="18" charset="0"/>
                <a:cs typeface="Times New Roman" panose="02020603050405020304" pitchFamily="18" charset="0"/>
              </a:rPr>
              <a:t>Arrays at</a:t>
            </a:r>
          </a:p>
        </p:txBody>
      </p:sp>
      <p:sp>
        <p:nvSpPr>
          <p:cNvPr id="84" name="TextBox 83">
            <a:extLst>
              <a:ext uri="{FF2B5EF4-FFF2-40B4-BE49-F238E27FC236}">
                <a16:creationId xmlns:a16="http://schemas.microsoft.com/office/drawing/2014/main" id="{1E3865CE-91FC-7AA0-0C30-14215B950F03}"/>
              </a:ext>
            </a:extLst>
          </p:cNvPr>
          <p:cNvSpPr txBox="1"/>
          <p:nvPr/>
        </p:nvSpPr>
        <p:spPr>
          <a:xfrm rot="2785311" flipH="1">
            <a:off x="5817592" y="4839903"/>
            <a:ext cx="954108" cy="826414"/>
          </a:xfrm>
          <a:prstGeom prst="rect">
            <a:avLst/>
          </a:prstGeom>
          <a:noFill/>
        </p:spPr>
        <p:txBody>
          <a:bodyPr wrap="none" rtlCol="0">
            <a:spAutoFit/>
          </a:bodyPr>
          <a:lstStyle/>
          <a:p>
            <a:r>
              <a:rPr lang="en-US" sz="6000" b="1">
                <a:latin typeface="Times New Roman" panose="02020603050405020304" pitchFamily="18" charset="0"/>
                <a:cs typeface="Times New Roman" panose="02020603050405020304" pitchFamily="18" charset="0"/>
              </a:rPr>
              <a:t>…</a:t>
            </a:r>
          </a:p>
        </p:txBody>
      </p:sp>
      <p:sp>
        <p:nvSpPr>
          <p:cNvPr id="85" name="TextBox 84">
            <a:extLst>
              <a:ext uri="{FF2B5EF4-FFF2-40B4-BE49-F238E27FC236}">
                <a16:creationId xmlns:a16="http://schemas.microsoft.com/office/drawing/2014/main" id="{7EA80C5A-2C9B-4C53-811F-E569BF7B6E77}"/>
              </a:ext>
            </a:extLst>
          </p:cNvPr>
          <p:cNvSpPr txBox="1"/>
          <p:nvPr/>
        </p:nvSpPr>
        <p:spPr>
          <a:xfrm>
            <a:off x="12260166" y="-1071"/>
            <a:ext cx="8265515" cy="646331"/>
          </a:xfrm>
          <a:prstGeom prst="rect">
            <a:avLst/>
          </a:prstGeom>
          <a:noFill/>
        </p:spPr>
        <p:txBody>
          <a:bodyPr wrap="square">
            <a:spAutoFit/>
          </a:bodyPr>
          <a:lstStyle/>
          <a:p>
            <a:r>
              <a:rPr lang="en-US" sz="3600" b="1">
                <a:solidFill>
                  <a:srgbClr val="CEB888"/>
                </a:solidFill>
                <a:highlight>
                  <a:srgbClr val="6C2334"/>
                </a:highlight>
                <a:latin typeface="Arial" panose="020B0604020202020204" pitchFamily="34" charset="0"/>
                <a:cs typeface="Arial" panose="020B0604020202020204" pitchFamily="34" charset="0"/>
              </a:rPr>
              <a:t>Localization of the Thoracic Region</a:t>
            </a:r>
          </a:p>
        </p:txBody>
      </p:sp>
      <p:sp>
        <p:nvSpPr>
          <p:cNvPr id="101" name="Text 9">
            <a:extLst>
              <a:ext uri="{FF2B5EF4-FFF2-40B4-BE49-F238E27FC236}">
                <a16:creationId xmlns:a16="http://schemas.microsoft.com/office/drawing/2014/main" id="{15A2FB25-1EC9-3E88-0925-B9D1C72E6A8A}"/>
              </a:ext>
            </a:extLst>
          </p:cNvPr>
          <p:cNvSpPr/>
          <p:nvPr/>
        </p:nvSpPr>
        <p:spPr>
          <a:xfrm>
            <a:off x="12359099" y="697926"/>
            <a:ext cx="12031567" cy="1150703"/>
          </a:xfrm>
          <a:prstGeom prst="rect">
            <a:avLst/>
          </a:prstGeom>
          <a:noFill/>
          <a:ln/>
        </p:spPr>
        <p:txBody>
          <a:bodyPr wrap="square" lIns="508" tIns="508" rIns="508" bIns="508" rtlCol="0" anchor="t"/>
          <a:lstStyle/>
          <a:p>
            <a:r>
              <a:rPr lang="en-US" sz="3600">
                <a:latin typeface="Times New Roman" panose="02020603050405020304" pitchFamily="18" charset="0"/>
                <a:cs typeface="Times New Roman" panose="02020603050405020304" pitchFamily="18" charset="0"/>
              </a:rPr>
              <a:t>Combines spatial spectrum energy with temporal clues to localize the thoracic region.</a:t>
            </a:r>
          </a:p>
        </p:txBody>
      </p:sp>
      <p:grpSp>
        <p:nvGrpSpPr>
          <p:cNvPr id="5" name="Group 4">
            <a:extLst>
              <a:ext uri="{FF2B5EF4-FFF2-40B4-BE49-F238E27FC236}">
                <a16:creationId xmlns:a16="http://schemas.microsoft.com/office/drawing/2014/main" id="{86F418AD-9B90-42B9-D232-5A13FF4A968D}"/>
              </a:ext>
            </a:extLst>
          </p:cNvPr>
          <p:cNvGrpSpPr/>
          <p:nvPr/>
        </p:nvGrpSpPr>
        <p:grpSpPr>
          <a:xfrm>
            <a:off x="16296737" y="2005005"/>
            <a:ext cx="6185280" cy="4181093"/>
            <a:chOff x="-94268" y="2005005"/>
            <a:chExt cx="6185280" cy="4181093"/>
          </a:xfrm>
        </p:grpSpPr>
        <p:grpSp>
          <p:nvGrpSpPr>
            <p:cNvPr id="10" name="Group 9">
              <a:extLst>
                <a:ext uri="{FF2B5EF4-FFF2-40B4-BE49-F238E27FC236}">
                  <a16:creationId xmlns:a16="http://schemas.microsoft.com/office/drawing/2014/main" id="{6E06D97F-D139-4355-030D-71D0DD288D0C}"/>
                </a:ext>
              </a:extLst>
            </p:cNvPr>
            <p:cNvGrpSpPr/>
            <p:nvPr/>
          </p:nvGrpSpPr>
          <p:grpSpPr>
            <a:xfrm>
              <a:off x="1774215" y="2005005"/>
              <a:ext cx="2840811" cy="2330168"/>
              <a:chOff x="9517569" y="1796836"/>
              <a:chExt cx="2074374" cy="1701500"/>
            </a:xfrm>
          </p:grpSpPr>
          <p:sp>
            <p:nvSpPr>
              <p:cNvPr id="23" name="Cube 22">
                <a:extLst>
                  <a:ext uri="{FF2B5EF4-FFF2-40B4-BE49-F238E27FC236}">
                    <a16:creationId xmlns:a16="http://schemas.microsoft.com/office/drawing/2014/main" id="{DAB698D4-7A76-EB6D-AA8A-EC208CF436C4}"/>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22C30ECC-9E43-6CBF-45F4-440BCADD5262}"/>
                  </a:ext>
                </a:extLst>
              </p:cNvPr>
              <p:cNvPicPr>
                <a:picLocks noChangeAspect="1"/>
              </p:cNvPicPr>
              <p:nvPr/>
            </p:nvPicPr>
            <p:blipFill>
              <a:blip r:embed="rId3"/>
              <a:stretch>
                <a:fillRect/>
              </a:stretch>
            </p:blipFill>
            <p:spPr>
              <a:xfrm>
                <a:off x="9550935" y="1938326"/>
                <a:ext cx="1909094" cy="1560010"/>
              </a:xfrm>
              <a:prstGeom prst="rect">
                <a:avLst/>
              </a:prstGeom>
            </p:spPr>
          </p:pic>
        </p:grpSp>
        <p:grpSp>
          <p:nvGrpSpPr>
            <p:cNvPr id="13" name="Group 12">
              <a:extLst>
                <a:ext uri="{FF2B5EF4-FFF2-40B4-BE49-F238E27FC236}">
                  <a16:creationId xmlns:a16="http://schemas.microsoft.com/office/drawing/2014/main" id="{6F626956-FE6F-D042-E1E5-BAF7C7C234F4}"/>
                </a:ext>
              </a:extLst>
            </p:cNvPr>
            <p:cNvGrpSpPr/>
            <p:nvPr/>
          </p:nvGrpSpPr>
          <p:grpSpPr>
            <a:xfrm>
              <a:off x="1342273" y="2482307"/>
              <a:ext cx="2840811" cy="2330168"/>
              <a:chOff x="9517569" y="1796836"/>
              <a:chExt cx="2074374" cy="1701500"/>
            </a:xfrm>
          </p:grpSpPr>
          <p:sp>
            <p:nvSpPr>
              <p:cNvPr id="21" name="Cube 20">
                <a:extLst>
                  <a:ext uri="{FF2B5EF4-FFF2-40B4-BE49-F238E27FC236}">
                    <a16:creationId xmlns:a16="http://schemas.microsoft.com/office/drawing/2014/main" id="{29048AB9-F4A3-6891-D821-C4E1C449F5FA}"/>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032F0C50-4047-0998-A8C5-10209FF44A0D}"/>
                  </a:ext>
                </a:extLst>
              </p:cNvPr>
              <p:cNvPicPr>
                <a:picLocks noChangeAspect="1"/>
              </p:cNvPicPr>
              <p:nvPr/>
            </p:nvPicPr>
            <p:blipFill>
              <a:blip r:embed="rId3"/>
              <a:stretch>
                <a:fillRect/>
              </a:stretch>
            </p:blipFill>
            <p:spPr>
              <a:xfrm>
                <a:off x="9550935" y="1938326"/>
                <a:ext cx="1909094" cy="1560010"/>
              </a:xfrm>
              <a:prstGeom prst="rect">
                <a:avLst/>
              </a:prstGeom>
            </p:spPr>
          </p:pic>
        </p:grpSp>
        <p:sp>
          <p:nvSpPr>
            <p:cNvPr id="14" name="Cube 13">
              <a:extLst>
                <a:ext uri="{FF2B5EF4-FFF2-40B4-BE49-F238E27FC236}">
                  <a16:creationId xmlns:a16="http://schemas.microsoft.com/office/drawing/2014/main" id="{F871B6A2-86F2-3521-88D4-565BBCD174FF}"/>
                </a:ext>
              </a:extLst>
            </p:cNvPr>
            <p:cNvSpPr>
              <a:spLocks noChangeAspect="1"/>
            </p:cNvSpPr>
            <p:nvPr/>
          </p:nvSpPr>
          <p:spPr>
            <a:xfrm>
              <a:off x="1093808" y="2749334"/>
              <a:ext cx="2840811" cy="2289993"/>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1BDC1337-5307-36B7-13A1-50363534DFD0}"/>
                </a:ext>
              </a:extLst>
            </p:cNvPr>
            <p:cNvPicPr>
              <a:picLocks noChangeAspect="1"/>
            </p:cNvPicPr>
            <p:nvPr/>
          </p:nvPicPr>
          <p:blipFill>
            <a:blip r:embed="rId3"/>
            <a:stretch>
              <a:fillRect/>
            </a:stretch>
          </p:blipFill>
          <p:spPr>
            <a:xfrm>
              <a:off x="1148704" y="2889372"/>
              <a:ext cx="2614463" cy="2136400"/>
            </a:xfrm>
            <a:prstGeom prst="rect">
              <a:avLst/>
            </a:prstGeom>
          </p:spPr>
        </p:pic>
        <p:sp>
          <p:nvSpPr>
            <p:cNvPr id="16" name="TextBox 15">
              <a:extLst>
                <a:ext uri="{FF2B5EF4-FFF2-40B4-BE49-F238E27FC236}">
                  <a16:creationId xmlns:a16="http://schemas.microsoft.com/office/drawing/2014/main" id="{DD003617-3BC3-BC22-14B2-82B9CA69C61E}"/>
                </a:ext>
              </a:extLst>
            </p:cNvPr>
            <p:cNvSpPr txBox="1"/>
            <p:nvPr/>
          </p:nvSpPr>
          <p:spPr>
            <a:xfrm>
              <a:off x="-94268" y="5539767"/>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Spectra</a:t>
              </a:r>
              <a:endParaRPr lang="en-US" sz="3600" b="1">
                <a:latin typeface="Times New Roman" panose="02020603050405020304" pitchFamily="18" charset="0"/>
                <a:cs typeface="Times New Roman" panose="02020603050405020304" pitchFamily="18" charset="0"/>
              </a:endParaRPr>
            </a:p>
          </p:txBody>
        </p:sp>
        <p:sp>
          <p:nvSpPr>
            <p:cNvPr id="17" name="文本框 80">
              <a:extLst>
                <a:ext uri="{FF2B5EF4-FFF2-40B4-BE49-F238E27FC236}">
                  <a16:creationId xmlns:a16="http://schemas.microsoft.com/office/drawing/2014/main" id="{53EA0DEA-98CE-FE06-E732-BABD508EE3B8}"/>
                </a:ext>
              </a:extLst>
            </p:cNvPr>
            <p:cNvSpPr txBox="1"/>
            <p:nvPr/>
          </p:nvSpPr>
          <p:spPr>
            <a:xfrm rot="18919217">
              <a:off x="2890904" y="4115826"/>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t>
              </a:r>
              <a:endParaRPr lang="zh-CN" altLang="en-US" sz="3600">
                <a:latin typeface="Times New Roman" panose="02020603050405020304" pitchFamily="18" charset="0"/>
                <a:cs typeface="Times New Roman" panose="02020603050405020304" pitchFamily="18" charset="0"/>
              </a:endParaRPr>
            </a:p>
          </p:txBody>
        </p:sp>
        <p:sp>
          <p:nvSpPr>
            <p:cNvPr id="18" name="文本框 80">
              <a:extLst>
                <a:ext uri="{FF2B5EF4-FFF2-40B4-BE49-F238E27FC236}">
                  <a16:creationId xmlns:a16="http://schemas.microsoft.com/office/drawing/2014/main" id="{8BC3D5DE-7441-04EB-F9D8-2F0DFC741B24}"/>
                </a:ext>
              </a:extLst>
            </p:cNvPr>
            <p:cNvSpPr txBox="1"/>
            <p:nvPr/>
          </p:nvSpPr>
          <p:spPr>
            <a:xfrm rot="18919217">
              <a:off x="3197539" y="4533960"/>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Time</a:t>
              </a:r>
              <a:endParaRPr lang="zh-CN" altLang="en-US" sz="3600">
                <a:latin typeface="Times New Roman" panose="02020603050405020304" pitchFamily="18" charset="0"/>
                <a:cs typeface="Times New Roman" panose="02020603050405020304" pitchFamily="18" charset="0"/>
              </a:endParaRPr>
            </a:p>
          </p:txBody>
        </p:sp>
        <p:sp>
          <p:nvSpPr>
            <p:cNvPr id="19" name="文本框 80">
              <a:extLst>
                <a:ext uri="{FF2B5EF4-FFF2-40B4-BE49-F238E27FC236}">
                  <a16:creationId xmlns:a16="http://schemas.microsoft.com/office/drawing/2014/main" id="{2D6EBBD6-725A-8CFD-11AB-C17F66B5C5A0}"/>
                </a:ext>
              </a:extLst>
            </p:cNvPr>
            <p:cNvSpPr txBox="1"/>
            <p:nvPr/>
          </p:nvSpPr>
          <p:spPr>
            <a:xfrm>
              <a:off x="1183450" y="5084349"/>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20" name="文本框 80">
              <a:extLst>
                <a:ext uri="{FF2B5EF4-FFF2-40B4-BE49-F238E27FC236}">
                  <a16:creationId xmlns:a16="http://schemas.microsoft.com/office/drawing/2014/main" id="{32176245-F45C-6810-B9EF-AABB39645762}"/>
                </a:ext>
              </a:extLst>
            </p:cNvPr>
            <p:cNvSpPr txBox="1"/>
            <p:nvPr/>
          </p:nvSpPr>
          <p:spPr>
            <a:xfrm rot="16200000">
              <a:off x="-650183" y="360812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083406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53770-CCE4-8033-A076-9C9AD8F454C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6A0BEA1-F9F6-532B-9676-AA724462AD53}"/>
              </a:ext>
            </a:extLst>
          </p:cNvPr>
          <p:cNvSpPr txBox="1"/>
          <p:nvPr/>
        </p:nvSpPr>
        <p:spPr>
          <a:xfrm>
            <a:off x="0" y="-19754"/>
            <a:ext cx="12192000" cy="674370"/>
          </a:xfrm>
          <a:prstGeom prst="rect">
            <a:avLst/>
          </a:prstGeom>
          <a:solidFill>
            <a:srgbClr val="6C2334"/>
          </a:solidFill>
        </p:spPr>
        <p:txBody>
          <a:bodyPr wrap="square" rtlCol="0">
            <a:spAutoFit/>
          </a:bodyPr>
          <a:lstStyle/>
          <a:p>
            <a:endParaRPr lang="en-US"/>
          </a:p>
        </p:txBody>
      </p:sp>
      <p:sp>
        <p:nvSpPr>
          <p:cNvPr id="6" name="TextBox 5">
            <a:extLst>
              <a:ext uri="{FF2B5EF4-FFF2-40B4-BE49-F238E27FC236}">
                <a16:creationId xmlns:a16="http://schemas.microsoft.com/office/drawing/2014/main" id="{0A7C9619-2B3F-FBC0-E2D7-45164133D669}"/>
              </a:ext>
            </a:extLst>
          </p:cNvPr>
          <p:cNvSpPr txBox="1"/>
          <p:nvPr/>
        </p:nvSpPr>
        <p:spPr>
          <a:xfrm>
            <a:off x="-68166" y="-12548"/>
            <a:ext cx="12031566" cy="646331"/>
          </a:xfrm>
          <a:prstGeom prst="rect">
            <a:avLst/>
          </a:prstGeom>
          <a:noFill/>
        </p:spPr>
        <p:txBody>
          <a:bodyPr wrap="square">
            <a:spAutoFit/>
          </a:bodyPr>
          <a:lstStyle/>
          <a:p>
            <a:pPr lvl="0" algn="ctr">
              <a:defRPr/>
            </a:pPr>
            <a:r>
              <a:rPr lang="en-US" sz="3600" b="1">
                <a:solidFill>
                  <a:srgbClr val="CEB888"/>
                </a:solidFill>
                <a:highlight>
                  <a:srgbClr val="6C2334"/>
                </a:highlight>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E89096B9-C514-37B7-3D15-22E7DE6C2D0F}"/>
              </a:ext>
            </a:extLst>
          </p:cNvPr>
          <p:cNvSpPr txBox="1"/>
          <p:nvPr/>
        </p:nvSpPr>
        <p:spPr>
          <a:xfrm>
            <a:off x="-5490558" y="-5117"/>
            <a:ext cx="5422392" cy="646331"/>
          </a:xfrm>
          <a:prstGeom prst="rect">
            <a:avLst/>
          </a:prstGeom>
          <a:noFill/>
        </p:spPr>
        <p:txBody>
          <a:bodyPr wrap="square">
            <a:spAutoFit/>
          </a:bodyPr>
          <a:lstStyle/>
          <a:p>
            <a:pPr lvl="0" algn="ctr">
              <a:defRPr/>
            </a:pPr>
            <a:r>
              <a:rPr lang="en-US" sz="3600" b="1">
                <a:solidFill>
                  <a:srgbClr val="CEB888"/>
                </a:solidFill>
                <a:highlight>
                  <a:srgbClr val="6C2334"/>
                </a:highlight>
                <a:latin typeface="Arial" panose="020B0604020202020204" pitchFamily="34" charset="0"/>
                <a:cs typeface="Arial" panose="020B0604020202020204" pitchFamily="34" charset="0"/>
              </a:rPr>
              <a:t>Challenge and  Insight                                                      </a:t>
            </a:r>
          </a:p>
        </p:txBody>
      </p:sp>
      <p:sp>
        <p:nvSpPr>
          <p:cNvPr id="9" name="Text 9">
            <a:extLst>
              <a:ext uri="{FF2B5EF4-FFF2-40B4-BE49-F238E27FC236}">
                <a16:creationId xmlns:a16="http://schemas.microsoft.com/office/drawing/2014/main" id="{69BCEFBC-F745-579D-D0F3-5CF713FF0EC1}"/>
              </a:ext>
            </a:extLst>
          </p:cNvPr>
          <p:cNvSpPr/>
          <p:nvPr/>
        </p:nvSpPr>
        <p:spPr>
          <a:xfrm>
            <a:off x="-11830872" y="689167"/>
            <a:ext cx="12031566" cy="541652"/>
          </a:xfrm>
          <a:prstGeom prst="rect">
            <a:avLst/>
          </a:prstGeom>
          <a:noFill/>
          <a:ln/>
        </p:spPr>
        <p:txBody>
          <a:bodyPr wrap="square" lIns="508" tIns="508" rIns="508" bIns="508" rtlCol="0" anchor="t"/>
          <a:lstStyle/>
          <a:p>
            <a:r>
              <a:rPr lang="en-US" sz="3600">
                <a:latin typeface="Times New Roman" panose="02020603050405020304" pitchFamily="18" charset="0"/>
                <a:cs typeface="Times New Roman" panose="02020603050405020304" pitchFamily="18" charset="0"/>
              </a:rPr>
              <a:t>Challenge: Heartbeat is a subtle motion, weak in Wi-Fi signals</a:t>
            </a:r>
          </a:p>
          <a:p>
            <a:endParaRPr lang="en-US" sz="3600">
              <a:latin typeface="Times New Roman" panose="02020603050405020304" pitchFamily="18" charset="0"/>
              <a:cs typeface="Times New Roman" panose="02020603050405020304" pitchFamily="18" charset="0"/>
            </a:endParaRPr>
          </a:p>
        </p:txBody>
      </p:sp>
      <p:sp>
        <p:nvSpPr>
          <p:cNvPr id="11" name="Slide Number Placeholder 3">
            <a:extLst>
              <a:ext uri="{FF2B5EF4-FFF2-40B4-BE49-F238E27FC236}">
                <a16:creationId xmlns:a16="http://schemas.microsoft.com/office/drawing/2014/main" id="{4144BBD0-84ED-D15C-575D-DEADDDDD1AA5}"/>
              </a:ext>
            </a:extLst>
          </p:cNvPr>
          <p:cNvSpPr>
            <a:spLocks noGrp="1"/>
          </p:cNvSpPr>
          <p:nvPr>
            <p:ph type="sldNum" sz="quarter" idx="12"/>
          </p:nvPr>
        </p:nvSpPr>
        <p:spPr>
          <a:xfrm>
            <a:off x="4299383" y="6425376"/>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4</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 9">
            <a:extLst>
              <a:ext uri="{FF2B5EF4-FFF2-40B4-BE49-F238E27FC236}">
                <a16:creationId xmlns:a16="http://schemas.microsoft.com/office/drawing/2014/main" id="{41E72FEA-0F16-1982-9D0E-77FF44D1B8E0}"/>
              </a:ext>
            </a:extLst>
          </p:cNvPr>
          <p:cNvSpPr/>
          <p:nvPr/>
        </p:nvSpPr>
        <p:spPr>
          <a:xfrm>
            <a:off x="-11830872" y="1157653"/>
            <a:ext cx="12031566" cy="593953"/>
          </a:xfrm>
          <a:prstGeom prst="rect">
            <a:avLst/>
          </a:prstGeom>
          <a:noFill/>
          <a:ln/>
        </p:spPr>
        <p:txBody>
          <a:bodyPr wrap="square" lIns="508" tIns="508" rIns="508" bIns="508" rtlCol="0" anchor="t"/>
          <a:lstStyle/>
          <a:p>
            <a:r>
              <a:rPr lang="en-US" altLang="zh-CN" sz="3600">
                <a:latin typeface="Times New Roman" panose="02020603050405020304" pitchFamily="18" charset="0"/>
                <a:cs typeface="Times New Roman" panose="02020603050405020304" pitchFamily="18" charset="0"/>
              </a:rPr>
              <a:t>Insight: Wi-Fi </a:t>
            </a:r>
            <a:r>
              <a:rPr lang="en-US" sz="3600">
                <a:latin typeface="Times New Roman" panose="02020603050405020304" pitchFamily="18" charset="0"/>
                <a:cs typeface="Times New Roman" panose="02020603050405020304" pitchFamily="18" charset="0"/>
              </a:rPr>
              <a:t>3D spatial modeling to locate the thoracic region.</a:t>
            </a:r>
          </a:p>
        </p:txBody>
      </p:sp>
      <p:sp>
        <p:nvSpPr>
          <p:cNvPr id="2" name="TextBox 1">
            <a:extLst>
              <a:ext uri="{FF2B5EF4-FFF2-40B4-BE49-F238E27FC236}">
                <a16:creationId xmlns:a16="http://schemas.microsoft.com/office/drawing/2014/main" id="{41380C8B-9B07-D835-E253-28BDDD31CA29}"/>
              </a:ext>
            </a:extLst>
          </p:cNvPr>
          <p:cNvSpPr txBox="1"/>
          <p:nvPr/>
        </p:nvSpPr>
        <p:spPr>
          <a:xfrm>
            <a:off x="247864" y="-19754"/>
            <a:ext cx="8265515" cy="646331"/>
          </a:xfrm>
          <a:prstGeom prst="rect">
            <a:avLst/>
          </a:prstGeom>
          <a:noFill/>
        </p:spPr>
        <p:txBody>
          <a:bodyPr wrap="square">
            <a:spAutoFit/>
          </a:bodyPr>
          <a:lstStyle/>
          <a:p>
            <a:r>
              <a:rPr lang="en-US" sz="3600" b="1">
                <a:solidFill>
                  <a:srgbClr val="CEB888"/>
                </a:solidFill>
                <a:highlight>
                  <a:srgbClr val="6C2334"/>
                </a:highlight>
                <a:latin typeface="Arial" panose="020B0604020202020204" pitchFamily="34" charset="0"/>
                <a:cs typeface="Arial" panose="020B0604020202020204" pitchFamily="34" charset="0"/>
              </a:rPr>
              <a:t>Localization of the Thoracic Region</a:t>
            </a:r>
          </a:p>
        </p:txBody>
      </p:sp>
      <p:sp>
        <p:nvSpPr>
          <p:cNvPr id="3" name="Text 9">
            <a:extLst>
              <a:ext uri="{FF2B5EF4-FFF2-40B4-BE49-F238E27FC236}">
                <a16:creationId xmlns:a16="http://schemas.microsoft.com/office/drawing/2014/main" id="{3AE4E517-1A5E-9E85-867D-3CC2E9F03F1D}"/>
              </a:ext>
            </a:extLst>
          </p:cNvPr>
          <p:cNvSpPr/>
          <p:nvPr/>
        </p:nvSpPr>
        <p:spPr>
          <a:xfrm>
            <a:off x="138145" y="725624"/>
            <a:ext cx="12031567" cy="1150703"/>
          </a:xfrm>
          <a:prstGeom prst="rect">
            <a:avLst/>
          </a:prstGeom>
          <a:noFill/>
          <a:ln/>
        </p:spPr>
        <p:txBody>
          <a:bodyPr wrap="square" lIns="508" tIns="508" rIns="508" bIns="508" rtlCol="0" anchor="t"/>
          <a:lstStyle/>
          <a:p>
            <a:r>
              <a:rPr lang="en-US" sz="3600">
                <a:latin typeface="Times New Roman" panose="02020603050405020304" pitchFamily="18" charset="0"/>
                <a:cs typeface="Times New Roman" panose="02020603050405020304" pitchFamily="18" charset="0"/>
              </a:rPr>
              <a:t>Combines spatial spectrum energy with temporal clues to localize the thoracic region.</a:t>
            </a:r>
          </a:p>
        </p:txBody>
      </p:sp>
      <p:sp>
        <p:nvSpPr>
          <p:cNvPr id="31" name="Arrow: Right 30">
            <a:extLst>
              <a:ext uri="{FF2B5EF4-FFF2-40B4-BE49-F238E27FC236}">
                <a16:creationId xmlns:a16="http://schemas.microsoft.com/office/drawing/2014/main" id="{2EFAC8E8-5AAB-CA03-DFB9-BE0F0433BE1A}"/>
              </a:ext>
            </a:extLst>
          </p:cNvPr>
          <p:cNvSpPr/>
          <p:nvPr/>
        </p:nvSpPr>
        <p:spPr>
          <a:xfrm>
            <a:off x="12281265" y="3047075"/>
            <a:ext cx="2223505"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S-PSNR</a:t>
            </a:r>
          </a:p>
        </p:txBody>
      </p:sp>
      <p:sp>
        <p:nvSpPr>
          <p:cNvPr id="44" name="TextBox 43">
            <a:extLst>
              <a:ext uri="{FF2B5EF4-FFF2-40B4-BE49-F238E27FC236}">
                <a16:creationId xmlns:a16="http://schemas.microsoft.com/office/drawing/2014/main" id="{904C4D7B-E394-2006-00E2-ACA25658B94D}"/>
              </a:ext>
            </a:extLst>
          </p:cNvPr>
          <p:cNvSpPr txBox="1"/>
          <p:nvPr/>
        </p:nvSpPr>
        <p:spPr>
          <a:xfrm>
            <a:off x="12287153" y="700810"/>
            <a:ext cx="12381803" cy="1200329"/>
          </a:xfrm>
          <a:prstGeom prst="rect">
            <a:avLst/>
          </a:prstGeom>
          <a:noFill/>
        </p:spPr>
        <p:txBody>
          <a:bodyPr wrap="square">
            <a:spAutoFit/>
          </a:bodyPr>
          <a:lstStyle/>
          <a:p>
            <a:pPr lvl="0">
              <a:defRPr/>
            </a:pPr>
            <a:r>
              <a:rPr lang="en-US" sz="3600">
                <a:latin typeface="Times New Roman" panose="02020603050405020304" pitchFamily="18" charset="0"/>
                <a:cs typeface="Times New Roman" panose="02020603050405020304" pitchFamily="18" charset="0"/>
              </a:rPr>
              <a:t>Spatial Physiological Signal-to-Noise Ratio (S-PSNR)</a:t>
            </a:r>
          </a:p>
          <a:p>
            <a:pPr marL="571500" lvl="0" indent="-571500">
              <a:buFont typeface="Wingdings" panose="05000000000000000000" pitchFamily="2" charset="2"/>
              <a:buChar char="Ø"/>
              <a:defRPr/>
            </a:pPr>
            <a:r>
              <a:rPr lang="en-US" sz="3600">
                <a:latin typeface="Times New Roman" panose="02020603050405020304" pitchFamily="18" charset="0"/>
                <a:cs typeface="Times New Roman" panose="02020603050405020304" pitchFamily="18" charset="0"/>
              </a:rPr>
              <a:t>How strongly vital signs signal at each region.</a:t>
            </a:r>
          </a:p>
        </p:txBody>
      </p:sp>
      <p:grpSp>
        <p:nvGrpSpPr>
          <p:cNvPr id="42" name="Group 41">
            <a:extLst>
              <a:ext uri="{FF2B5EF4-FFF2-40B4-BE49-F238E27FC236}">
                <a16:creationId xmlns:a16="http://schemas.microsoft.com/office/drawing/2014/main" id="{5B5F610F-F85C-F4AE-C326-B3ADE899CDE8}"/>
              </a:ext>
            </a:extLst>
          </p:cNvPr>
          <p:cNvGrpSpPr/>
          <p:nvPr/>
        </p:nvGrpSpPr>
        <p:grpSpPr>
          <a:xfrm>
            <a:off x="-89280" y="2139272"/>
            <a:ext cx="6185280" cy="3964781"/>
            <a:chOff x="6392795" y="2247959"/>
            <a:chExt cx="6185280" cy="3964781"/>
          </a:xfrm>
        </p:grpSpPr>
        <p:pic>
          <p:nvPicPr>
            <p:cNvPr id="43" name="Picture 42">
              <a:extLst>
                <a:ext uri="{FF2B5EF4-FFF2-40B4-BE49-F238E27FC236}">
                  <a16:creationId xmlns:a16="http://schemas.microsoft.com/office/drawing/2014/main" id="{F3F172F7-61D3-5EE1-305F-0BCE5E852274}"/>
                </a:ext>
              </a:extLst>
            </p:cNvPr>
            <p:cNvPicPr>
              <a:picLocks noChangeAspect="1"/>
            </p:cNvPicPr>
            <p:nvPr/>
          </p:nvPicPr>
          <p:blipFill>
            <a:blip r:embed="rId3"/>
            <a:stretch>
              <a:fillRect/>
            </a:stretch>
          </p:blipFill>
          <p:spPr>
            <a:xfrm>
              <a:off x="7511099" y="2247959"/>
              <a:ext cx="4141737" cy="2994952"/>
            </a:xfrm>
            <a:prstGeom prst="rect">
              <a:avLst/>
            </a:prstGeom>
          </p:spPr>
        </p:pic>
        <p:sp>
          <p:nvSpPr>
            <p:cNvPr id="45" name="文本框 80">
              <a:extLst>
                <a:ext uri="{FF2B5EF4-FFF2-40B4-BE49-F238E27FC236}">
                  <a16:creationId xmlns:a16="http://schemas.microsoft.com/office/drawing/2014/main" id="{ED4E9350-AC34-9B0D-623F-49E5D9B888B0}"/>
                </a:ext>
              </a:extLst>
            </p:cNvPr>
            <p:cNvSpPr txBox="1"/>
            <p:nvPr/>
          </p:nvSpPr>
          <p:spPr>
            <a:xfrm rot="16200000">
              <a:off x="5976666" y="3621773"/>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46" name="文本框 80">
              <a:extLst>
                <a:ext uri="{FF2B5EF4-FFF2-40B4-BE49-F238E27FC236}">
                  <a16:creationId xmlns:a16="http://schemas.microsoft.com/office/drawing/2014/main" id="{8E4DF5CA-4E64-A204-E7F7-35D2C4C1A897}"/>
                </a:ext>
              </a:extLst>
            </p:cNvPr>
            <p:cNvSpPr txBox="1"/>
            <p:nvPr/>
          </p:nvSpPr>
          <p:spPr>
            <a:xfrm>
              <a:off x="6850922" y="486378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47" name="文本框 80">
              <a:extLst>
                <a:ext uri="{FF2B5EF4-FFF2-40B4-BE49-F238E27FC236}">
                  <a16:creationId xmlns:a16="http://schemas.microsoft.com/office/drawing/2014/main" id="{40756274-0961-6BCE-4369-DC394ED9DDBA}"/>
                </a:ext>
              </a:extLst>
            </p:cNvPr>
            <p:cNvSpPr txBox="1"/>
            <p:nvPr/>
          </p:nvSpPr>
          <p:spPr>
            <a:xfrm rot="19640601">
              <a:off x="9521114" y="4583534"/>
              <a:ext cx="2634513" cy="646331"/>
            </a:xfrm>
            <a:prstGeom prst="rect">
              <a:avLst/>
            </a:prstGeom>
            <a:noFill/>
          </p:spPr>
          <p:txBody>
            <a:bodyPr wrap="square" rtlCol="0">
              <a:spAutoFit/>
            </a:bodyPr>
            <a:lstStyle/>
            <a:p>
              <a:pPr algn="ctr"/>
              <a:r>
                <a:rPr lang="en-US" altLang="zh-CN" sz="3600" err="1">
                  <a:latin typeface="Times New Roman" panose="02020603050405020304" pitchFamily="18" charset="0"/>
                  <a:cs typeface="Times New Roman" panose="02020603050405020304" pitchFamily="18" charset="0"/>
                </a:rPr>
                <a:t>ToF</a:t>
              </a:r>
              <a:endParaRPr lang="zh-CN" altLang="en-US" sz="3600">
                <a:latin typeface="Times New Roman" panose="02020603050405020304" pitchFamily="18" charset="0"/>
                <a:cs typeface="Times New Roman" panose="02020603050405020304" pitchFamily="18" charset="0"/>
              </a:endParaRPr>
            </a:p>
          </p:txBody>
        </p:sp>
        <p:sp>
          <p:nvSpPr>
            <p:cNvPr id="87" name="TextBox 86">
              <a:extLst>
                <a:ext uri="{FF2B5EF4-FFF2-40B4-BE49-F238E27FC236}">
                  <a16:creationId xmlns:a16="http://schemas.microsoft.com/office/drawing/2014/main" id="{759DFADA-7CAA-BC60-C79B-07FFD36FAD4F}"/>
                </a:ext>
              </a:extLst>
            </p:cNvPr>
            <p:cNvSpPr txBox="1"/>
            <p:nvPr/>
          </p:nvSpPr>
          <p:spPr>
            <a:xfrm>
              <a:off x="6392795" y="5566409"/>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Spectrum</a:t>
              </a:r>
              <a:endParaRPr lang="en-US" sz="3600" b="1">
                <a:latin typeface="Times New Roman" panose="02020603050405020304" pitchFamily="18" charset="0"/>
                <a:cs typeface="Times New Roman" panose="02020603050405020304" pitchFamily="18" charset="0"/>
              </a:endParaRPr>
            </a:p>
          </p:txBody>
        </p:sp>
      </p:grpSp>
      <p:sp>
        <p:nvSpPr>
          <p:cNvPr id="88" name="Arc 87">
            <a:extLst>
              <a:ext uri="{FF2B5EF4-FFF2-40B4-BE49-F238E27FC236}">
                <a16:creationId xmlns:a16="http://schemas.microsoft.com/office/drawing/2014/main" id="{2A82AFFD-0261-6DD6-35E4-3AD739636CC2}"/>
              </a:ext>
            </a:extLst>
          </p:cNvPr>
          <p:cNvSpPr/>
          <p:nvPr/>
        </p:nvSpPr>
        <p:spPr>
          <a:xfrm rot="12465410" flipH="1">
            <a:off x="-4296962" y="2680670"/>
            <a:ext cx="3210303" cy="3288722"/>
          </a:xfrm>
          <a:prstGeom prst="arc">
            <a:avLst>
              <a:gd name="adj1" fmla="val 15435877"/>
              <a:gd name="adj2" fmla="val 21046383"/>
            </a:avLst>
          </a:prstGeom>
          <a:ln w="57150">
            <a:solidFill>
              <a:srgbClr val="4382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600">
              <a:solidFill>
                <a:srgbClr val="4382B5"/>
              </a:solidFill>
              <a:latin typeface="Times New Roman" panose="02020603050405020304" pitchFamily="18" charset="0"/>
              <a:cs typeface="Times New Roman" panose="02020603050405020304" pitchFamily="18" charset="0"/>
            </a:endParaRPr>
          </a:p>
        </p:txBody>
      </p:sp>
      <p:sp>
        <p:nvSpPr>
          <p:cNvPr id="89" name="Oval 88">
            <a:extLst>
              <a:ext uri="{FF2B5EF4-FFF2-40B4-BE49-F238E27FC236}">
                <a16:creationId xmlns:a16="http://schemas.microsoft.com/office/drawing/2014/main" id="{EDDA62EF-C0FD-BD48-AF06-502B437421EF}"/>
              </a:ext>
            </a:extLst>
          </p:cNvPr>
          <p:cNvSpPr/>
          <p:nvPr/>
        </p:nvSpPr>
        <p:spPr>
          <a:xfrm>
            <a:off x="-5611903" y="5574542"/>
            <a:ext cx="2158649" cy="522903"/>
          </a:xfrm>
          <a:prstGeom prst="ellipse">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lin ang="13500000" scaled="1"/>
            <a:tileRect/>
          </a:gra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90" name="直接连接符 5">
            <a:extLst>
              <a:ext uri="{FF2B5EF4-FFF2-40B4-BE49-F238E27FC236}">
                <a16:creationId xmlns:a16="http://schemas.microsoft.com/office/drawing/2014/main" id="{92DD1A46-3153-603A-C72D-FD6E9E735344}"/>
              </a:ext>
            </a:extLst>
          </p:cNvPr>
          <p:cNvCxnSpPr>
            <a:cxnSpLocks/>
          </p:cNvCxnSpPr>
          <p:nvPr/>
        </p:nvCxnSpPr>
        <p:spPr>
          <a:xfrm>
            <a:off x="-5526154" y="4547437"/>
            <a:ext cx="3479351" cy="16133"/>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pic>
        <p:nvPicPr>
          <p:cNvPr id="91" name="Picture 90" descr="A human body with a heart&#10;&#10;AI-generated content may be incorrect.">
            <a:extLst>
              <a:ext uri="{FF2B5EF4-FFF2-40B4-BE49-F238E27FC236}">
                <a16:creationId xmlns:a16="http://schemas.microsoft.com/office/drawing/2014/main" id="{3D9DDC0A-3EDE-8918-E7A1-650147F20EEA}"/>
              </a:ext>
            </a:extLst>
          </p:cNvPr>
          <p:cNvPicPr>
            <a:picLocks noChangeAspect="1"/>
          </p:cNvPicPr>
          <p:nvPr/>
        </p:nvPicPr>
        <p:blipFill>
          <a:blip r:embed="rId4">
            <a:extLst>
              <a:ext uri="{28A0092B-C50C-407E-A947-70E740481C1C}">
                <a14:useLocalDpi xmlns:a14="http://schemas.microsoft.com/office/drawing/2010/main" val="0"/>
              </a:ext>
            </a:extLst>
          </a:blip>
          <a:srcRect l="35911" t="8224" r="34926" b="8240"/>
          <a:stretch/>
        </p:blipFill>
        <p:spPr>
          <a:xfrm>
            <a:off x="-5085540" y="2171552"/>
            <a:ext cx="1138941" cy="3853530"/>
          </a:xfrm>
          <a:prstGeom prst="rect">
            <a:avLst/>
          </a:prstGeom>
        </p:spPr>
      </p:pic>
      <p:sp>
        <p:nvSpPr>
          <p:cNvPr id="92" name="Cube 91">
            <a:extLst>
              <a:ext uri="{FF2B5EF4-FFF2-40B4-BE49-F238E27FC236}">
                <a16:creationId xmlns:a16="http://schemas.microsoft.com/office/drawing/2014/main" id="{B39248B7-A383-42AA-EE9F-6824BEB2D8BA}"/>
              </a:ext>
            </a:extLst>
          </p:cNvPr>
          <p:cNvSpPr/>
          <p:nvPr/>
        </p:nvSpPr>
        <p:spPr>
          <a:xfrm flipH="1">
            <a:off x="-2108985" y="2244622"/>
            <a:ext cx="1301338" cy="3791274"/>
          </a:xfrm>
          <a:prstGeom prst="cube">
            <a:avLst>
              <a:gd name="adj" fmla="val 93066"/>
            </a:avLst>
          </a:prstGeom>
          <a:solidFill>
            <a:schemeClr val="bg1">
              <a:lumMod val="95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9">
              <a:latin typeface="Times New Roman" panose="02020603050405020304" pitchFamily="18" charset="0"/>
              <a:cs typeface="Times New Roman" panose="02020603050405020304" pitchFamily="18" charset="0"/>
            </a:endParaRPr>
          </a:p>
        </p:txBody>
      </p:sp>
      <p:cxnSp>
        <p:nvCxnSpPr>
          <p:cNvPr id="93" name="直接箭头连接符 41">
            <a:extLst>
              <a:ext uri="{FF2B5EF4-FFF2-40B4-BE49-F238E27FC236}">
                <a16:creationId xmlns:a16="http://schemas.microsoft.com/office/drawing/2014/main" id="{ABD8454D-A430-FD80-279F-849AEB832D63}"/>
              </a:ext>
            </a:extLst>
          </p:cNvPr>
          <p:cNvCxnSpPr>
            <a:cxnSpLocks/>
          </p:cNvCxnSpPr>
          <p:nvPr/>
        </p:nvCxnSpPr>
        <p:spPr>
          <a:xfrm>
            <a:off x="-4533930" y="3324504"/>
            <a:ext cx="4538" cy="2519879"/>
          </a:xfrm>
          <a:prstGeom prst="straightConnector1">
            <a:avLst/>
          </a:prstGeom>
          <a:ln w="47625">
            <a:solidFill>
              <a:srgbClr val="4382B5"/>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52033F1-0189-8E8C-261B-8FB1006BCA09}"/>
              </a:ext>
            </a:extLst>
          </p:cNvPr>
          <p:cNvCxnSpPr>
            <a:cxnSpLocks/>
          </p:cNvCxnSpPr>
          <p:nvPr/>
        </p:nvCxnSpPr>
        <p:spPr>
          <a:xfrm flipH="1" flipV="1">
            <a:off x="-4322875" y="5553988"/>
            <a:ext cx="0" cy="210782"/>
          </a:xfrm>
          <a:prstGeom prst="line">
            <a:avLst/>
          </a:prstGeom>
          <a:ln w="47625">
            <a:solidFill>
              <a:srgbClr val="4382B5"/>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83D1DA8-A721-D051-2301-98E253C47E33}"/>
              </a:ext>
            </a:extLst>
          </p:cNvPr>
          <p:cNvCxnSpPr>
            <a:cxnSpLocks/>
          </p:cNvCxnSpPr>
          <p:nvPr/>
        </p:nvCxnSpPr>
        <p:spPr>
          <a:xfrm flipV="1">
            <a:off x="-4540617" y="5576149"/>
            <a:ext cx="211193" cy="66575"/>
          </a:xfrm>
          <a:prstGeom prst="line">
            <a:avLst/>
          </a:prstGeom>
          <a:ln w="47625">
            <a:solidFill>
              <a:srgbClr val="4382B5"/>
            </a:solidFill>
          </a:ln>
        </p:spPr>
        <p:style>
          <a:lnRef idx="1">
            <a:schemeClr val="accent1"/>
          </a:lnRef>
          <a:fillRef idx="0">
            <a:schemeClr val="accent1"/>
          </a:fillRef>
          <a:effectRef idx="0">
            <a:schemeClr val="accent1"/>
          </a:effectRef>
          <a:fontRef idx="minor">
            <a:schemeClr val="tx1"/>
          </a:fontRef>
        </p:style>
      </p:cxnSp>
      <p:sp>
        <p:nvSpPr>
          <p:cNvPr id="96" name="Arc 95">
            <a:extLst>
              <a:ext uri="{FF2B5EF4-FFF2-40B4-BE49-F238E27FC236}">
                <a16:creationId xmlns:a16="http://schemas.microsoft.com/office/drawing/2014/main" id="{8E73AC84-7C21-4682-725B-87A3A6503143}"/>
              </a:ext>
            </a:extLst>
          </p:cNvPr>
          <p:cNvSpPr/>
          <p:nvPr/>
        </p:nvSpPr>
        <p:spPr>
          <a:xfrm flipH="1">
            <a:off x="-3912558" y="2244622"/>
            <a:ext cx="3210303" cy="3288722"/>
          </a:xfrm>
          <a:prstGeom prst="arc">
            <a:avLst>
              <a:gd name="adj1" fmla="val 15435877"/>
              <a:gd name="adj2" fmla="val 21046383"/>
            </a:avLst>
          </a:prstGeom>
          <a:ln w="57150">
            <a:solidFill>
              <a:srgbClr val="4382B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600">
              <a:solidFill>
                <a:srgbClr val="4382B5"/>
              </a:solidFill>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2894DE86-3506-2689-8A3B-BF801A4B014E}"/>
              </a:ext>
            </a:extLst>
          </p:cNvPr>
          <p:cNvSpPr txBox="1"/>
          <p:nvPr/>
        </p:nvSpPr>
        <p:spPr>
          <a:xfrm flipH="1">
            <a:off x="-6572686" y="3012160"/>
            <a:ext cx="1214045" cy="707886"/>
          </a:xfrm>
          <a:prstGeom prst="rect">
            <a:avLst/>
          </a:prstGeom>
          <a:noFill/>
        </p:spPr>
        <p:txBody>
          <a:bodyPr wrap="square" rtlCol="0">
            <a:spAutoFit/>
          </a:bodyPr>
          <a:lstStyle/>
          <a:p>
            <a:r>
              <a:rPr lang="en-US" sz="4000" b="1" i="1" err="1">
                <a:solidFill>
                  <a:srgbClr val="5780AB"/>
                </a:solidFill>
                <a:latin typeface="Times New Roman" panose="02020603050405020304" pitchFamily="18" charset="0"/>
                <a:cs typeface="Times New Roman" panose="02020603050405020304" pitchFamily="18" charset="0"/>
              </a:rPr>
              <a:t>ToF</a:t>
            </a:r>
            <a:endParaRPr lang="en-US" sz="4000" b="1" i="1">
              <a:solidFill>
                <a:srgbClr val="5780AB"/>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FACD4101-8511-8D1A-8FFE-D32BEFC498BE}"/>
                  </a:ext>
                </a:extLst>
              </p:cNvPr>
              <p:cNvSpPr txBox="1"/>
              <p:nvPr/>
            </p:nvSpPr>
            <p:spPr>
              <a:xfrm flipH="1">
                <a:off x="-3798155" y="2839401"/>
                <a:ext cx="1284478"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1" i="1">
                              <a:solidFill>
                                <a:srgbClr val="4382B5"/>
                              </a:solidFill>
                              <a:latin typeface="Cambria Math" panose="02040503050406030204" pitchFamily="18" charset="0"/>
                            </a:rPr>
                          </m:ctrlPr>
                        </m:sSubPr>
                        <m:e>
                          <m:r>
                            <a:rPr lang="en-US" altLang="zh-CN" sz="4000" b="1" i="1">
                              <a:solidFill>
                                <a:srgbClr val="4382B5"/>
                              </a:solidFill>
                              <a:latin typeface="Cambria Math" panose="02040503050406030204" pitchFamily="18" charset="0"/>
                            </a:rPr>
                            <m:t>𝑨𝒐𝑨</m:t>
                          </m:r>
                        </m:e>
                        <m:sub>
                          <m:r>
                            <a:rPr lang="en-US" sz="4000" b="1" i="1">
                              <a:solidFill>
                                <a:srgbClr val="4382B5"/>
                              </a:solidFill>
                              <a:latin typeface="Cambria Math" panose="02040503050406030204" pitchFamily="18" charset="0"/>
                            </a:rPr>
                            <m:t>𝒆𝒍</m:t>
                          </m:r>
                        </m:sub>
                      </m:sSub>
                    </m:oMath>
                  </m:oMathPara>
                </a14:m>
                <a:endParaRPr lang="en-US" sz="4400" b="1">
                  <a:solidFill>
                    <a:srgbClr val="0070C0"/>
                  </a:solidFill>
                  <a:latin typeface="Times New Roman" panose="02020603050405020304" pitchFamily="18" charset="0"/>
                  <a:cs typeface="Times New Roman" panose="02020603050405020304" pitchFamily="18" charset="0"/>
                </a:endParaRPr>
              </a:p>
            </p:txBody>
          </p:sp>
        </mc:Choice>
        <mc:Fallback xmlns="">
          <p:sp>
            <p:nvSpPr>
              <p:cNvPr id="98" name="TextBox 97">
                <a:extLst>
                  <a:ext uri="{FF2B5EF4-FFF2-40B4-BE49-F238E27FC236}">
                    <a16:creationId xmlns:a16="http://schemas.microsoft.com/office/drawing/2014/main" id="{FACD4101-8511-8D1A-8FFE-D32BEFC498BE}"/>
                  </a:ext>
                </a:extLst>
              </p:cNvPr>
              <p:cNvSpPr txBox="1">
                <a:spLocks noRot="1" noChangeAspect="1" noMove="1" noResize="1" noEditPoints="1" noAdjustHandles="1" noChangeArrowheads="1" noChangeShapeType="1" noTextEdit="1"/>
              </p:cNvSpPr>
              <p:nvPr/>
            </p:nvSpPr>
            <p:spPr>
              <a:xfrm flipH="1">
                <a:off x="-3798155" y="2839401"/>
                <a:ext cx="1284478" cy="615553"/>
              </a:xfrm>
              <a:prstGeom prst="rect">
                <a:avLst/>
              </a:prstGeom>
              <a:blipFill>
                <a:blip r:embed="rId5"/>
                <a:stretch>
                  <a:fillRect l="-474" r="-94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D3D83178-B739-41E1-C5BE-9C0E9AF11A9D}"/>
                  </a:ext>
                </a:extLst>
              </p:cNvPr>
              <p:cNvSpPr txBox="1"/>
              <p:nvPr/>
            </p:nvSpPr>
            <p:spPr>
              <a:xfrm flipH="1">
                <a:off x="-3192757" y="5196877"/>
                <a:ext cx="1284478"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1" i="1">
                              <a:solidFill>
                                <a:srgbClr val="4382B5"/>
                              </a:solidFill>
                              <a:latin typeface="Cambria Math" panose="02040503050406030204" pitchFamily="18" charset="0"/>
                            </a:rPr>
                          </m:ctrlPr>
                        </m:sSubPr>
                        <m:e>
                          <m:r>
                            <a:rPr lang="en-US" sz="4000" b="1" i="1">
                              <a:solidFill>
                                <a:srgbClr val="4382B5"/>
                              </a:solidFill>
                              <a:latin typeface="Cambria Math" panose="02040503050406030204" pitchFamily="18" charset="0"/>
                            </a:rPr>
                            <m:t>𝑨𝒐𝑨</m:t>
                          </m:r>
                        </m:e>
                        <m:sub>
                          <m:r>
                            <a:rPr lang="en-US" sz="4000" b="1" i="1">
                              <a:solidFill>
                                <a:srgbClr val="4382B5"/>
                              </a:solidFill>
                              <a:latin typeface="Cambria Math" panose="02040503050406030204" pitchFamily="18" charset="0"/>
                            </a:rPr>
                            <m:t>𝒂𝒛</m:t>
                          </m:r>
                        </m:sub>
                      </m:sSub>
                    </m:oMath>
                  </m:oMathPara>
                </a14:m>
                <a:endParaRPr lang="en-US" sz="4400" b="1" i="1">
                  <a:solidFill>
                    <a:srgbClr val="4382B5"/>
                  </a:solidFill>
                  <a:latin typeface="Times New Roman" panose="02020603050405020304" pitchFamily="18" charset="0"/>
                  <a:cs typeface="Times New Roman" panose="02020603050405020304" pitchFamily="18" charset="0"/>
                </a:endParaRPr>
              </a:p>
            </p:txBody>
          </p:sp>
        </mc:Choice>
        <mc:Fallback xmlns="">
          <p:sp>
            <p:nvSpPr>
              <p:cNvPr id="99" name="TextBox 98">
                <a:extLst>
                  <a:ext uri="{FF2B5EF4-FFF2-40B4-BE49-F238E27FC236}">
                    <a16:creationId xmlns:a16="http://schemas.microsoft.com/office/drawing/2014/main" id="{D3D83178-B739-41E1-C5BE-9C0E9AF11A9D}"/>
                  </a:ext>
                </a:extLst>
              </p:cNvPr>
              <p:cNvSpPr txBox="1">
                <a:spLocks noRot="1" noChangeAspect="1" noMove="1" noResize="1" noEditPoints="1" noAdjustHandles="1" noChangeArrowheads="1" noChangeShapeType="1" noTextEdit="1"/>
              </p:cNvSpPr>
              <p:nvPr/>
            </p:nvSpPr>
            <p:spPr>
              <a:xfrm flipH="1">
                <a:off x="-3192757" y="5196877"/>
                <a:ext cx="1284478" cy="615553"/>
              </a:xfrm>
              <a:prstGeom prst="rect">
                <a:avLst/>
              </a:prstGeom>
              <a:blipFill>
                <a:blip r:embed="rId6"/>
                <a:stretch>
                  <a:fillRect l="-474" r="-8057"/>
                </a:stretch>
              </a:blipFill>
              <a:ln>
                <a:noFill/>
              </a:ln>
            </p:spPr>
            <p:txBody>
              <a:bodyPr/>
              <a:lstStyle/>
              <a:p>
                <a:r>
                  <a:rPr lang="en-US">
                    <a:noFill/>
                  </a:rPr>
                  <a:t> </a:t>
                </a:r>
              </a:p>
            </p:txBody>
          </p:sp>
        </mc:Fallback>
      </mc:AlternateContent>
      <p:sp>
        <p:nvSpPr>
          <p:cNvPr id="100" name="TextBox 99">
            <a:extLst>
              <a:ext uri="{FF2B5EF4-FFF2-40B4-BE49-F238E27FC236}">
                <a16:creationId xmlns:a16="http://schemas.microsoft.com/office/drawing/2014/main" id="{66969078-79BD-F382-15DA-62AD2DA9389A}"/>
              </a:ext>
            </a:extLst>
          </p:cNvPr>
          <p:cNvSpPr txBox="1"/>
          <p:nvPr/>
        </p:nvSpPr>
        <p:spPr>
          <a:xfrm flipH="1">
            <a:off x="-1986957" y="3528219"/>
            <a:ext cx="1226618" cy="461665"/>
          </a:xfrm>
          <a:prstGeom prst="rect">
            <a:avLst/>
          </a:prstGeom>
          <a:noFill/>
        </p:spPr>
        <p:txBody>
          <a:bodyPr wrap="none" rtlCol="0">
            <a:spAutoFit/>
          </a:bodyPr>
          <a:lstStyle/>
          <a:p>
            <a:r>
              <a:rPr lang="en-US" sz="2400">
                <a:latin typeface="Times New Roman" panose="02020603050405020304" pitchFamily="18" charset="0"/>
                <a:cs typeface="Times New Roman" panose="02020603050405020304" pitchFamily="18" charset="0"/>
              </a:rPr>
              <a:t>Antenna</a:t>
            </a:r>
          </a:p>
        </p:txBody>
      </p:sp>
      <p:cxnSp>
        <p:nvCxnSpPr>
          <p:cNvPr id="101" name="Straight Arrow Connector 100">
            <a:extLst>
              <a:ext uri="{FF2B5EF4-FFF2-40B4-BE49-F238E27FC236}">
                <a16:creationId xmlns:a16="http://schemas.microsoft.com/office/drawing/2014/main" id="{8F3B4E5D-D47F-753D-551F-7E65F862C32A}"/>
              </a:ext>
            </a:extLst>
          </p:cNvPr>
          <p:cNvCxnSpPr>
            <a:cxnSpLocks/>
          </p:cNvCxnSpPr>
          <p:nvPr/>
        </p:nvCxnSpPr>
        <p:spPr>
          <a:xfrm flipV="1">
            <a:off x="-6944545" y="3305619"/>
            <a:ext cx="2428477" cy="988756"/>
          </a:xfrm>
          <a:prstGeom prst="straightConnector1">
            <a:avLst/>
          </a:prstGeom>
          <a:ln w="114300">
            <a:solidFill>
              <a:srgbClr val="DC143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4123EFAB-7D1D-B30F-EC5E-2D449987A747}"/>
              </a:ext>
            </a:extLst>
          </p:cNvPr>
          <p:cNvCxnSpPr>
            <a:cxnSpLocks/>
          </p:cNvCxnSpPr>
          <p:nvPr/>
        </p:nvCxnSpPr>
        <p:spPr>
          <a:xfrm>
            <a:off x="-4558495" y="3305619"/>
            <a:ext cx="2441224" cy="1181380"/>
          </a:xfrm>
          <a:prstGeom prst="straightConnector1">
            <a:avLst/>
          </a:prstGeom>
          <a:ln w="114300">
            <a:solidFill>
              <a:srgbClr val="DC1439"/>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41">
            <a:extLst>
              <a:ext uri="{FF2B5EF4-FFF2-40B4-BE49-F238E27FC236}">
                <a16:creationId xmlns:a16="http://schemas.microsoft.com/office/drawing/2014/main" id="{5DE0BF7C-0B9D-0852-4AE1-ACA0B6102C33}"/>
              </a:ext>
            </a:extLst>
          </p:cNvPr>
          <p:cNvCxnSpPr>
            <a:cxnSpLocks/>
          </p:cNvCxnSpPr>
          <p:nvPr/>
        </p:nvCxnSpPr>
        <p:spPr>
          <a:xfrm flipH="1">
            <a:off x="-4545171" y="4649666"/>
            <a:ext cx="2420882" cy="1177939"/>
          </a:xfrm>
          <a:prstGeom prst="straightConnector1">
            <a:avLst/>
          </a:prstGeom>
          <a:ln w="47625">
            <a:solidFill>
              <a:srgbClr val="4382B5"/>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04" name="直接连接符 5">
            <a:extLst>
              <a:ext uri="{FF2B5EF4-FFF2-40B4-BE49-F238E27FC236}">
                <a16:creationId xmlns:a16="http://schemas.microsoft.com/office/drawing/2014/main" id="{2C324F1C-3545-F5A4-2EB8-F57FDEB7DD5B}"/>
              </a:ext>
            </a:extLst>
          </p:cNvPr>
          <p:cNvCxnSpPr>
            <a:cxnSpLocks/>
          </p:cNvCxnSpPr>
          <p:nvPr/>
        </p:nvCxnSpPr>
        <p:spPr>
          <a:xfrm flipH="1">
            <a:off x="-2015754" y="2034794"/>
            <a:ext cx="5283" cy="2579421"/>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5" name="直接连接符 5">
            <a:extLst>
              <a:ext uri="{FF2B5EF4-FFF2-40B4-BE49-F238E27FC236}">
                <a16:creationId xmlns:a16="http://schemas.microsoft.com/office/drawing/2014/main" id="{DF4A65E1-8019-9E14-08DE-635BE9F5AF84}"/>
              </a:ext>
            </a:extLst>
          </p:cNvPr>
          <p:cNvCxnSpPr>
            <a:cxnSpLocks/>
          </p:cNvCxnSpPr>
          <p:nvPr/>
        </p:nvCxnSpPr>
        <p:spPr>
          <a:xfrm flipH="1" flipV="1">
            <a:off x="-2010471" y="4569180"/>
            <a:ext cx="1296055" cy="1607052"/>
          </a:xfrm>
          <a:prstGeom prst="line">
            <a:avLst/>
          </a:prstGeom>
          <a:ln w="57150">
            <a:solidFill>
              <a:schemeClr val="bg1">
                <a:lumMod val="6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F0B9575F-7C77-E01C-9163-96151AFF9487}"/>
              </a:ext>
            </a:extLst>
          </p:cNvPr>
          <p:cNvSpPr txBox="1"/>
          <p:nvPr/>
        </p:nvSpPr>
        <p:spPr>
          <a:xfrm flipH="1">
            <a:off x="-7344672" y="5224889"/>
            <a:ext cx="996205" cy="523220"/>
          </a:xfrm>
          <a:prstGeom prst="rect">
            <a:avLst/>
          </a:prstGeom>
          <a:noFill/>
        </p:spPr>
        <p:txBody>
          <a:bodyPr wrap="square" rtlCol="0">
            <a:spAutoFit/>
          </a:bodyPr>
          <a:lstStyle/>
          <a:p>
            <a:r>
              <a:rPr lang="en-US" sz="2800" err="1">
                <a:latin typeface="Times New Roman" panose="02020603050405020304" pitchFamily="18" charset="0"/>
                <a:cs typeface="Times New Roman" panose="02020603050405020304" pitchFamily="18" charset="0"/>
              </a:rPr>
              <a:t>W</a:t>
            </a:r>
            <a:r>
              <a:rPr lang="en-US" altLang="zh-CN" sz="2800" err="1">
                <a:latin typeface="Times New Roman" panose="02020603050405020304" pitchFamily="18" charset="0"/>
                <a:cs typeface="Times New Roman" panose="02020603050405020304" pitchFamily="18" charset="0"/>
              </a:rPr>
              <a:t>iFi</a:t>
            </a:r>
            <a:endParaRPr lang="en-US" altLang="zh-CN" sz="2800">
              <a:latin typeface="Times New Roman" panose="02020603050405020304" pitchFamily="18" charset="0"/>
              <a:cs typeface="Times New Roman" panose="02020603050405020304" pitchFamily="18" charset="0"/>
            </a:endParaRPr>
          </a:p>
        </p:txBody>
      </p:sp>
      <p:pic>
        <p:nvPicPr>
          <p:cNvPr id="107" name="Picture 106" descr="A black wifi symbol on a black background&#10;&#10;AI-generated content may be incorrect.">
            <a:extLst>
              <a:ext uri="{FF2B5EF4-FFF2-40B4-BE49-F238E27FC236}">
                <a16:creationId xmlns:a16="http://schemas.microsoft.com/office/drawing/2014/main" id="{73CAE977-52DD-FE34-EE6F-4DBE11E809D5}"/>
              </a:ext>
            </a:extLst>
          </p:cNvPr>
          <p:cNvPicPr>
            <a:picLocks noChangeAspect="1"/>
          </p:cNvPicPr>
          <p:nvPr/>
        </p:nvPicPr>
        <p:blipFill>
          <a:blip r:embed="rId7"/>
          <a:stretch>
            <a:fillRect/>
          </a:stretch>
        </p:blipFill>
        <p:spPr>
          <a:xfrm rot="16200000">
            <a:off x="-2626102" y="4500918"/>
            <a:ext cx="1201702" cy="1032012"/>
          </a:xfrm>
          <a:prstGeom prst="rect">
            <a:avLst/>
          </a:prstGeom>
        </p:spPr>
      </p:pic>
      <p:pic>
        <p:nvPicPr>
          <p:cNvPr id="108" name="Picture 107" descr="A black wifi symbol on a black background&#10;&#10;AI-generated content may be incorrect.">
            <a:extLst>
              <a:ext uri="{FF2B5EF4-FFF2-40B4-BE49-F238E27FC236}">
                <a16:creationId xmlns:a16="http://schemas.microsoft.com/office/drawing/2014/main" id="{4528CE7B-4A2B-2F11-45A1-6725DB4E46BE}"/>
              </a:ext>
            </a:extLst>
          </p:cNvPr>
          <p:cNvPicPr>
            <a:picLocks noChangeAspect="1"/>
          </p:cNvPicPr>
          <p:nvPr/>
        </p:nvPicPr>
        <p:blipFill>
          <a:blip r:embed="rId7"/>
          <a:stretch>
            <a:fillRect/>
          </a:stretch>
        </p:blipFill>
        <p:spPr>
          <a:xfrm rot="16200000">
            <a:off x="-3002354" y="4053549"/>
            <a:ext cx="1201702" cy="1032012"/>
          </a:xfrm>
          <a:prstGeom prst="rect">
            <a:avLst/>
          </a:prstGeom>
        </p:spPr>
      </p:pic>
      <p:pic>
        <p:nvPicPr>
          <p:cNvPr id="109" name="Picture 108" descr="A black wifi symbol on a black background&#10;&#10;AI-generated content may be incorrect.">
            <a:extLst>
              <a:ext uri="{FF2B5EF4-FFF2-40B4-BE49-F238E27FC236}">
                <a16:creationId xmlns:a16="http://schemas.microsoft.com/office/drawing/2014/main" id="{A4E8CC56-720B-6F57-0DAB-F55F024CC66D}"/>
              </a:ext>
            </a:extLst>
          </p:cNvPr>
          <p:cNvPicPr>
            <a:picLocks noChangeAspect="1"/>
          </p:cNvPicPr>
          <p:nvPr/>
        </p:nvPicPr>
        <p:blipFill>
          <a:blip r:embed="rId7"/>
          <a:stretch>
            <a:fillRect/>
          </a:stretch>
        </p:blipFill>
        <p:spPr>
          <a:xfrm rot="16200000">
            <a:off x="-2014738" y="5215619"/>
            <a:ext cx="1201702" cy="1032012"/>
          </a:xfrm>
          <a:prstGeom prst="rect">
            <a:avLst/>
          </a:prstGeom>
        </p:spPr>
      </p:pic>
      <p:pic>
        <p:nvPicPr>
          <p:cNvPr id="110" name="Picture 109" descr="A black wifi symbol on a black background&#10;&#10;AI-generated content may be incorrect.">
            <a:extLst>
              <a:ext uri="{FF2B5EF4-FFF2-40B4-BE49-F238E27FC236}">
                <a16:creationId xmlns:a16="http://schemas.microsoft.com/office/drawing/2014/main" id="{53DE5B10-3230-1B74-60AD-1693B03A5DDB}"/>
              </a:ext>
            </a:extLst>
          </p:cNvPr>
          <p:cNvPicPr>
            <a:picLocks noChangeAspect="1"/>
          </p:cNvPicPr>
          <p:nvPr/>
        </p:nvPicPr>
        <p:blipFill>
          <a:blip r:embed="rId7"/>
          <a:stretch>
            <a:fillRect/>
          </a:stretch>
        </p:blipFill>
        <p:spPr>
          <a:xfrm rot="16200000">
            <a:off x="-3015677" y="3309700"/>
            <a:ext cx="1201702" cy="1032012"/>
          </a:xfrm>
          <a:prstGeom prst="rect">
            <a:avLst/>
          </a:prstGeom>
        </p:spPr>
      </p:pic>
      <p:pic>
        <p:nvPicPr>
          <p:cNvPr id="111" name="Picture 110" descr="A black wifi symbol on a black background&#10;&#10;AI-generated content may be incorrect.">
            <a:extLst>
              <a:ext uri="{FF2B5EF4-FFF2-40B4-BE49-F238E27FC236}">
                <a16:creationId xmlns:a16="http://schemas.microsoft.com/office/drawing/2014/main" id="{D63788AE-675C-11B8-ED5F-EEC4F21FCFF9}"/>
              </a:ext>
            </a:extLst>
          </p:cNvPr>
          <p:cNvPicPr>
            <a:picLocks noChangeAspect="1"/>
          </p:cNvPicPr>
          <p:nvPr/>
        </p:nvPicPr>
        <p:blipFill>
          <a:blip r:embed="rId7"/>
          <a:stretch>
            <a:fillRect/>
          </a:stretch>
        </p:blipFill>
        <p:spPr>
          <a:xfrm rot="16200000">
            <a:off x="-3015831" y="2174111"/>
            <a:ext cx="1201702" cy="1032012"/>
          </a:xfrm>
          <a:prstGeom prst="rect">
            <a:avLst/>
          </a:prstGeom>
        </p:spPr>
      </p:pic>
      <p:pic>
        <p:nvPicPr>
          <p:cNvPr id="112" name="Picture 2" descr="wifi router Icon - Free PNG &amp; SVG 86246 - Noun Project">
            <a:extLst>
              <a:ext uri="{FF2B5EF4-FFF2-40B4-BE49-F238E27FC236}">
                <a16:creationId xmlns:a16="http://schemas.microsoft.com/office/drawing/2014/main" id="{2430E6B2-1614-A921-3094-0B7D5381C8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7232" y="4091493"/>
            <a:ext cx="1164725" cy="1356236"/>
          </a:xfrm>
          <a:prstGeom prst="rect">
            <a:avLst/>
          </a:prstGeom>
          <a:noFill/>
          <a:extLst>
            <a:ext uri="{909E8E84-426E-40DD-AFC4-6F175D3DCCD1}">
              <a14:hiddenFill xmlns:a14="http://schemas.microsoft.com/office/drawing/2010/main">
                <a:solidFill>
                  <a:srgbClr val="FFFFFF"/>
                </a:solidFill>
              </a14:hiddenFill>
            </a:ext>
          </a:extLst>
        </p:spPr>
      </p:pic>
      <p:sp>
        <p:nvSpPr>
          <p:cNvPr id="113" name="TextBox 112">
            <a:extLst>
              <a:ext uri="{FF2B5EF4-FFF2-40B4-BE49-F238E27FC236}">
                <a16:creationId xmlns:a16="http://schemas.microsoft.com/office/drawing/2014/main" id="{6FBAD011-72E0-7095-AB08-86F1B9CC5712}"/>
              </a:ext>
            </a:extLst>
          </p:cNvPr>
          <p:cNvSpPr txBox="1"/>
          <p:nvPr/>
        </p:nvSpPr>
        <p:spPr>
          <a:xfrm flipH="1">
            <a:off x="-7252938" y="5594828"/>
            <a:ext cx="843663"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TX</a:t>
            </a:r>
            <a:endParaRPr lang="en-US" altLang="zh-CN" sz="2800">
              <a:latin typeface="Times New Roman" panose="02020603050405020304" pitchFamily="18" charset="0"/>
              <a:cs typeface="Times New Roman" panose="02020603050405020304" pitchFamily="18" charset="0"/>
            </a:endParaRPr>
          </a:p>
        </p:txBody>
      </p:sp>
      <p:sp>
        <p:nvSpPr>
          <p:cNvPr id="114" name="TextBox 113">
            <a:extLst>
              <a:ext uri="{FF2B5EF4-FFF2-40B4-BE49-F238E27FC236}">
                <a16:creationId xmlns:a16="http://schemas.microsoft.com/office/drawing/2014/main" id="{2F3F8ACC-F9F9-4580-E108-6CC0C5926B96}"/>
              </a:ext>
            </a:extLst>
          </p:cNvPr>
          <p:cNvSpPr txBox="1"/>
          <p:nvPr/>
        </p:nvSpPr>
        <p:spPr>
          <a:xfrm rot="16200000" flipH="1">
            <a:off x="-2640835" y="2850756"/>
            <a:ext cx="954108" cy="826414"/>
          </a:xfrm>
          <a:prstGeom prst="rect">
            <a:avLst/>
          </a:prstGeom>
          <a:noFill/>
        </p:spPr>
        <p:txBody>
          <a:bodyPr wrap="none" rtlCol="0">
            <a:spAutoFit/>
          </a:bodyPr>
          <a:lstStyle/>
          <a:p>
            <a:r>
              <a:rPr lang="en-US" sz="6000" b="1">
                <a:latin typeface="Times New Roman" panose="02020603050405020304" pitchFamily="18" charset="0"/>
                <a:cs typeface="Times New Roman" panose="02020603050405020304" pitchFamily="18" charset="0"/>
              </a:rPr>
              <a:t>…</a:t>
            </a:r>
          </a:p>
        </p:txBody>
      </p:sp>
      <p:sp>
        <p:nvSpPr>
          <p:cNvPr id="115" name="TextBox 114">
            <a:extLst>
              <a:ext uri="{FF2B5EF4-FFF2-40B4-BE49-F238E27FC236}">
                <a16:creationId xmlns:a16="http://schemas.microsoft.com/office/drawing/2014/main" id="{9039C083-841B-2D29-4BE0-6B2C36FFBCE2}"/>
              </a:ext>
            </a:extLst>
          </p:cNvPr>
          <p:cNvSpPr txBox="1"/>
          <p:nvPr/>
        </p:nvSpPr>
        <p:spPr>
          <a:xfrm flipH="1">
            <a:off x="-1980081" y="4325032"/>
            <a:ext cx="1308884" cy="461665"/>
          </a:xfrm>
          <a:prstGeom prst="rect">
            <a:avLst/>
          </a:prstGeom>
          <a:noFill/>
        </p:spPr>
        <p:txBody>
          <a:bodyPr wrap="none" rtlCol="0">
            <a:spAutoFit/>
          </a:bodyPr>
          <a:lstStyle/>
          <a:p>
            <a:r>
              <a:rPr lang="en-US" sz="2400" err="1">
                <a:latin typeface="Times New Roman" panose="02020603050405020304" pitchFamily="18" charset="0"/>
                <a:cs typeface="Times New Roman" panose="02020603050405020304" pitchFamily="18" charset="0"/>
              </a:rPr>
              <a:t>W</a:t>
            </a:r>
            <a:r>
              <a:rPr lang="en-US" altLang="zh-CN" sz="2400" err="1">
                <a:latin typeface="Times New Roman" panose="02020603050405020304" pitchFamily="18" charset="0"/>
                <a:cs typeface="Times New Roman" panose="02020603050405020304" pitchFamily="18" charset="0"/>
              </a:rPr>
              <a:t>iFi</a:t>
            </a:r>
            <a:r>
              <a:rPr lang="en-US" altLang="zh-CN" sz="2400">
                <a:latin typeface="Times New Roman" panose="02020603050405020304" pitchFamily="18" charset="0"/>
                <a:cs typeface="Times New Roman" panose="02020603050405020304" pitchFamily="18" charset="0"/>
              </a:rPr>
              <a:t> RX</a:t>
            </a:r>
          </a:p>
        </p:txBody>
      </p:sp>
      <p:sp>
        <p:nvSpPr>
          <p:cNvPr id="116" name="TextBox 115">
            <a:extLst>
              <a:ext uri="{FF2B5EF4-FFF2-40B4-BE49-F238E27FC236}">
                <a16:creationId xmlns:a16="http://schemas.microsoft.com/office/drawing/2014/main" id="{40CE3755-98A7-242F-858F-B8921454CCF8}"/>
              </a:ext>
            </a:extLst>
          </p:cNvPr>
          <p:cNvSpPr txBox="1"/>
          <p:nvPr/>
        </p:nvSpPr>
        <p:spPr>
          <a:xfrm flipH="1">
            <a:off x="-2005235" y="3889715"/>
            <a:ext cx="1321196" cy="461665"/>
          </a:xfrm>
          <a:prstGeom prst="rect">
            <a:avLst/>
          </a:prstGeom>
          <a:noFill/>
        </p:spPr>
        <p:txBody>
          <a:bodyPr wrap="none" rtlCol="0">
            <a:spAutoFit/>
          </a:bodyPr>
          <a:lstStyle/>
          <a:p>
            <a:r>
              <a:rPr lang="en-US" sz="2400">
                <a:latin typeface="Times New Roman" panose="02020603050405020304" pitchFamily="18" charset="0"/>
                <a:cs typeface="Times New Roman" panose="02020603050405020304" pitchFamily="18" charset="0"/>
              </a:rPr>
              <a:t>Arrays at</a:t>
            </a:r>
          </a:p>
        </p:txBody>
      </p:sp>
      <p:sp>
        <p:nvSpPr>
          <p:cNvPr id="117" name="TextBox 116">
            <a:extLst>
              <a:ext uri="{FF2B5EF4-FFF2-40B4-BE49-F238E27FC236}">
                <a16:creationId xmlns:a16="http://schemas.microsoft.com/office/drawing/2014/main" id="{546CFF7B-DED0-8B2D-84F4-B1E1D3A1AA87}"/>
              </a:ext>
            </a:extLst>
          </p:cNvPr>
          <p:cNvSpPr txBox="1"/>
          <p:nvPr/>
        </p:nvSpPr>
        <p:spPr>
          <a:xfrm rot="2785311" flipH="1">
            <a:off x="-1729640" y="4839903"/>
            <a:ext cx="954108" cy="826414"/>
          </a:xfrm>
          <a:prstGeom prst="rect">
            <a:avLst/>
          </a:prstGeom>
          <a:noFill/>
        </p:spPr>
        <p:txBody>
          <a:bodyPr wrap="none" rtlCol="0">
            <a:spAutoFit/>
          </a:bodyPr>
          <a:lstStyle/>
          <a:p>
            <a:r>
              <a:rPr lang="en-US" sz="6000" b="1">
                <a:latin typeface="Times New Roman" panose="02020603050405020304" pitchFamily="18" charset="0"/>
                <a:cs typeface="Times New Roman" panose="02020603050405020304" pitchFamily="18" charset="0"/>
              </a:rPr>
              <a:t>…</a:t>
            </a:r>
          </a:p>
        </p:txBody>
      </p:sp>
      <p:grpSp>
        <p:nvGrpSpPr>
          <p:cNvPr id="118" name="Group 117">
            <a:extLst>
              <a:ext uri="{FF2B5EF4-FFF2-40B4-BE49-F238E27FC236}">
                <a16:creationId xmlns:a16="http://schemas.microsoft.com/office/drawing/2014/main" id="{93F736C6-16C5-C298-4AD9-27C3F38D0AF2}"/>
              </a:ext>
            </a:extLst>
          </p:cNvPr>
          <p:cNvGrpSpPr/>
          <p:nvPr/>
        </p:nvGrpSpPr>
        <p:grpSpPr>
          <a:xfrm>
            <a:off x="5919612" y="2134138"/>
            <a:ext cx="6185280" cy="4181093"/>
            <a:chOff x="-94268" y="2005005"/>
            <a:chExt cx="6185280" cy="4181093"/>
          </a:xfrm>
        </p:grpSpPr>
        <p:grpSp>
          <p:nvGrpSpPr>
            <p:cNvPr id="119" name="Group 118">
              <a:extLst>
                <a:ext uri="{FF2B5EF4-FFF2-40B4-BE49-F238E27FC236}">
                  <a16:creationId xmlns:a16="http://schemas.microsoft.com/office/drawing/2014/main" id="{B53024AE-8F3A-2436-3700-4CC285082C67}"/>
                </a:ext>
              </a:extLst>
            </p:cNvPr>
            <p:cNvGrpSpPr/>
            <p:nvPr/>
          </p:nvGrpSpPr>
          <p:grpSpPr>
            <a:xfrm>
              <a:off x="1774215" y="2005005"/>
              <a:ext cx="2840811" cy="2330168"/>
              <a:chOff x="9517569" y="1796836"/>
              <a:chExt cx="2074374" cy="1701500"/>
            </a:xfrm>
          </p:grpSpPr>
          <p:sp>
            <p:nvSpPr>
              <p:cNvPr id="130" name="Cube 129">
                <a:extLst>
                  <a:ext uri="{FF2B5EF4-FFF2-40B4-BE49-F238E27FC236}">
                    <a16:creationId xmlns:a16="http://schemas.microsoft.com/office/drawing/2014/main" id="{E8D41D11-6344-C1BC-119F-0D3A354B67AD}"/>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131" name="Picture 130">
                <a:extLst>
                  <a:ext uri="{FF2B5EF4-FFF2-40B4-BE49-F238E27FC236}">
                    <a16:creationId xmlns:a16="http://schemas.microsoft.com/office/drawing/2014/main" id="{F9939C60-2B00-1502-B024-BD4FC5AE87A8}"/>
                  </a:ext>
                </a:extLst>
              </p:cNvPr>
              <p:cNvPicPr>
                <a:picLocks noChangeAspect="1"/>
              </p:cNvPicPr>
              <p:nvPr/>
            </p:nvPicPr>
            <p:blipFill>
              <a:blip r:embed="rId3"/>
              <a:stretch>
                <a:fillRect/>
              </a:stretch>
            </p:blipFill>
            <p:spPr>
              <a:xfrm>
                <a:off x="9550935" y="1938326"/>
                <a:ext cx="1909094" cy="1560010"/>
              </a:xfrm>
              <a:prstGeom prst="rect">
                <a:avLst/>
              </a:prstGeom>
            </p:spPr>
          </p:pic>
        </p:grpSp>
        <p:grpSp>
          <p:nvGrpSpPr>
            <p:cNvPr id="120" name="Group 119">
              <a:extLst>
                <a:ext uri="{FF2B5EF4-FFF2-40B4-BE49-F238E27FC236}">
                  <a16:creationId xmlns:a16="http://schemas.microsoft.com/office/drawing/2014/main" id="{DAD450FB-DB18-AFCE-7086-2AAC322DDCE7}"/>
                </a:ext>
              </a:extLst>
            </p:cNvPr>
            <p:cNvGrpSpPr/>
            <p:nvPr/>
          </p:nvGrpSpPr>
          <p:grpSpPr>
            <a:xfrm>
              <a:off x="1342273" y="2482307"/>
              <a:ext cx="2840811" cy="2330168"/>
              <a:chOff x="9517569" y="1796836"/>
              <a:chExt cx="2074374" cy="1701500"/>
            </a:xfrm>
          </p:grpSpPr>
          <p:sp>
            <p:nvSpPr>
              <p:cNvPr id="128" name="Cube 127">
                <a:extLst>
                  <a:ext uri="{FF2B5EF4-FFF2-40B4-BE49-F238E27FC236}">
                    <a16:creationId xmlns:a16="http://schemas.microsoft.com/office/drawing/2014/main" id="{B394DB6C-09A1-D251-7EF4-1752B4A546DE}"/>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129" name="Picture 128">
                <a:extLst>
                  <a:ext uri="{FF2B5EF4-FFF2-40B4-BE49-F238E27FC236}">
                    <a16:creationId xmlns:a16="http://schemas.microsoft.com/office/drawing/2014/main" id="{DCBE3930-3797-7AD6-A1D6-38635230EC54}"/>
                  </a:ext>
                </a:extLst>
              </p:cNvPr>
              <p:cNvPicPr>
                <a:picLocks noChangeAspect="1"/>
              </p:cNvPicPr>
              <p:nvPr/>
            </p:nvPicPr>
            <p:blipFill>
              <a:blip r:embed="rId3"/>
              <a:stretch>
                <a:fillRect/>
              </a:stretch>
            </p:blipFill>
            <p:spPr>
              <a:xfrm>
                <a:off x="9550935" y="1938326"/>
                <a:ext cx="1909094" cy="1560010"/>
              </a:xfrm>
              <a:prstGeom prst="rect">
                <a:avLst/>
              </a:prstGeom>
            </p:spPr>
          </p:pic>
        </p:grpSp>
        <p:sp>
          <p:nvSpPr>
            <p:cNvPr id="121" name="Cube 120">
              <a:extLst>
                <a:ext uri="{FF2B5EF4-FFF2-40B4-BE49-F238E27FC236}">
                  <a16:creationId xmlns:a16="http://schemas.microsoft.com/office/drawing/2014/main" id="{FBF44F1E-5A4E-1F15-23D3-4C3B0CE03E22}"/>
                </a:ext>
              </a:extLst>
            </p:cNvPr>
            <p:cNvSpPr>
              <a:spLocks noChangeAspect="1"/>
            </p:cNvSpPr>
            <p:nvPr/>
          </p:nvSpPr>
          <p:spPr>
            <a:xfrm>
              <a:off x="1093808" y="2749334"/>
              <a:ext cx="2840811" cy="2289993"/>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122" name="Picture 121">
              <a:extLst>
                <a:ext uri="{FF2B5EF4-FFF2-40B4-BE49-F238E27FC236}">
                  <a16:creationId xmlns:a16="http://schemas.microsoft.com/office/drawing/2014/main" id="{5F7C4391-BB68-6F94-3239-98C9D5F3773B}"/>
                </a:ext>
              </a:extLst>
            </p:cNvPr>
            <p:cNvPicPr>
              <a:picLocks noChangeAspect="1"/>
            </p:cNvPicPr>
            <p:nvPr/>
          </p:nvPicPr>
          <p:blipFill>
            <a:blip r:embed="rId3"/>
            <a:stretch>
              <a:fillRect/>
            </a:stretch>
          </p:blipFill>
          <p:spPr>
            <a:xfrm>
              <a:off x="1148704" y="2889372"/>
              <a:ext cx="2614463" cy="2136400"/>
            </a:xfrm>
            <a:prstGeom prst="rect">
              <a:avLst/>
            </a:prstGeom>
          </p:spPr>
        </p:pic>
        <p:sp>
          <p:nvSpPr>
            <p:cNvPr id="123" name="TextBox 122">
              <a:extLst>
                <a:ext uri="{FF2B5EF4-FFF2-40B4-BE49-F238E27FC236}">
                  <a16:creationId xmlns:a16="http://schemas.microsoft.com/office/drawing/2014/main" id="{632E8328-B134-4EF8-FF2C-EEB7F0B8F1BD}"/>
                </a:ext>
              </a:extLst>
            </p:cNvPr>
            <p:cNvSpPr txBox="1"/>
            <p:nvPr/>
          </p:nvSpPr>
          <p:spPr>
            <a:xfrm>
              <a:off x="-94268" y="5539767"/>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Spectra</a:t>
              </a:r>
              <a:endParaRPr lang="en-US" sz="3600" b="1">
                <a:latin typeface="Times New Roman" panose="02020603050405020304" pitchFamily="18" charset="0"/>
                <a:cs typeface="Times New Roman" panose="02020603050405020304" pitchFamily="18" charset="0"/>
              </a:endParaRPr>
            </a:p>
          </p:txBody>
        </p:sp>
        <p:sp>
          <p:nvSpPr>
            <p:cNvPr id="124" name="文本框 80">
              <a:extLst>
                <a:ext uri="{FF2B5EF4-FFF2-40B4-BE49-F238E27FC236}">
                  <a16:creationId xmlns:a16="http://schemas.microsoft.com/office/drawing/2014/main" id="{BF181BD5-4FB2-C102-E5BC-4AB2C8DBAE1B}"/>
                </a:ext>
              </a:extLst>
            </p:cNvPr>
            <p:cNvSpPr txBox="1"/>
            <p:nvPr/>
          </p:nvSpPr>
          <p:spPr>
            <a:xfrm rot="18919217">
              <a:off x="2890904" y="4115826"/>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t>
              </a:r>
              <a:endParaRPr lang="zh-CN" altLang="en-US" sz="3600">
                <a:latin typeface="Times New Roman" panose="02020603050405020304" pitchFamily="18" charset="0"/>
                <a:cs typeface="Times New Roman" panose="02020603050405020304" pitchFamily="18" charset="0"/>
              </a:endParaRPr>
            </a:p>
          </p:txBody>
        </p:sp>
        <p:sp>
          <p:nvSpPr>
            <p:cNvPr id="125" name="文本框 80">
              <a:extLst>
                <a:ext uri="{FF2B5EF4-FFF2-40B4-BE49-F238E27FC236}">
                  <a16:creationId xmlns:a16="http://schemas.microsoft.com/office/drawing/2014/main" id="{3EE0CA43-CD33-FC24-B35A-366367F5E172}"/>
                </a:ext>
              </a:extLst>
            </p:cNvPr>
            <p:cNvSpPr txBox="1"/>
            <p:nvPr/>
          </p:nvSpPr>
          <p:spPr>
            <a:xfrm rot="18919217">
              <a:off x="3197539" y="4533960"/>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Time</a:t>
              </a:r>
              <a:endParaRPr lang="zh-CN" altLang="en-US" sz="3600">
                <a:latin typeface="Times New Roman" panose="02020603050405020304" pitchFamily="18" charset="0"/>
                <a:cs typeface="Times New Roman" panose="02020603050405020304" pitchFamily="18" charset="0"/>
              </a:endParaRPr>
            </a:p>
          </p:txBody>
        </p:sp>
        <p:sp>
          <p:nvSpPr>
            <p:cNvPr id="126" name="文本框 80">
              <a:extLst>
                <a:ext uri="{FF2B5EF4-FFF2-40B4-BE49-F238E27FC236}">
                  <a16:creationId xmlns:a16="http://schemas.microsoft.com/office/drawing/2014/main" id="{63C1529D-7D9C-1D5A-9CF0-F513132B1141}"/>
                </a:ext>
              </a:extLst>
            </p:cNvPr>
            <p:cNvSpPr txBox="1"/>
            <p:nvPr/>
          </p:nvSpPr>
          <p:spPr>
            <a:xfrm>
              <a:off x="1183450" y="5084349"/>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127" name="文本框 80">
              <a:extLst>
                <a:ext uri="{FF2B5EF4-FFF2-40B4-BE49-F238E27FC236}">
                  <a16:creationId xmlns:a16="http://schemas.microsoft.com/office/drawing/2014/main" id="{91A4F642-C8B3-3D70-B144-5A6EC3996AE8}"/>
                </a:ext>
              </a:extLst>
            </p:cNvPr>
            <p:cNvSpPr txBox="1"/>
            <p:nvPr/>
          </p:nvSpPr>
          <p:spPr>
            <a:xfrm rot="16200000">
              <a:off x="-650183" y="360812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grpSp>
      <p:grpSp>
        <p:nvGrpSpPr>
          <p:cNvPr id="132" name="Group 131">
            <a:extLst>
              <a:ext uri="{FF2B5EF4-FFF2-40B4-BE49-F238E27FC236}">
                <a16:creationId xmlns:a16="http://schemas.microsoft.com/office/drawing/2014/main" id="{226BD050-DCFE-991D-E061-772BE01821E0}"/>
              </a:ext>
            </a:extLst>
          </p:cNvPr>
          <p:cNvGrpSpPr/>
          <p:nvPr/>
        </p:nvGrpSpPr>
        <p:grpSpPr>
          <a:xfrm>
            <a:off x="13851928" y="2026699"/>
            <a:ext cx="6185280" cy="4143594"/>
            <a:chOff x="6284223" y="2026699"/>
            <a:chExt cx="6185280" cy="4143594"/>
          </a:xfrm>
        </p:grpSpPr>
        <p:grpSp>
          <p:nvGrpSpPr>
            <p:cNvPr id="133" name="Group 132">
              <a:extLst>
                <a:ext uri="{FF2B5EF4-FFF2-40B4-BE49-F238E27FC236}">
                  <a16:creationId xmlns:a16="http://schemas.microsoft.com/office/drawing/2014/main" id="{04D6C260-E510-1AD4-792B-3648CBD06AA6}"/>
                </a:ext>
              </a:extLst>
            </p:cNvPr>
            <p:cNvGrpSpPr/>
            <p:nvPr/>
          </p:nvGrpSpPr>
          <p:grpSpPr>
            <a:xfrm>
              <a:off x="7576976" y="2026699"/>
              <a:ext cx="4386857" cy="3084928"/>
              <a:chOff x="7511361" y="1890791"/>
              <a:chExt cx="4386857" cy="3084928"/>
            </a:xfrm>
          </p:grpSpPr>
          <p:pic>
            <p:nvPicPr>
              <p:cNvPr id="137" name="Picture 136">
                <a:extLst>
                  <a:ext uri="{FF2B5EF4-FFF2-40B4-BE49-F238E27FC236}">
                    <a16:creationId xmlns:a16="http://schemas.microsoft.com/office/drawing/2014/main" id="{178A13C1-121D-D903-EA9B-2056E680E43D}"/>
                  </a:ext>
                </a:extLst>
              </p:cNvPr>
              <p:cNvPicPr>
                <a:picLocks noChangeAspect="1"/>
              </p:cNvPicPr>
              <p:nvPr/>
            </p:nvPicPr>
            <p:blipFill>
              <a:blip r:embed="rId9">
                <a:extLst>
                  <a:ext uri="{28A0092B-C50C-407E-A947-70E740481C1C}">
                    <a14:useLocalDpi xmlns:a14="http://schemas.microsoft.com/office/drawing/2010/main" val="0"/>
                  </a:ext>
                </a:extLst>
              </a:blip>
              <a:srcRect l="22062" t="13464" r="29377" b="64900"/>
              <a:stretch/>
            </p:blipFill>
            <p:spPr>
              <a:xfrm flipH="1">
                <a:off x="8151441" y="2062453"/>
                <a:ext cx="3383280" cy="2640133"/>
              </a:xfrm>
              <a:prstGeom prst="rect">
                <a:avLst/>
              </a:prstGeom>
            </p:spPr>
          </p:pic>
          <p:sp>
            <p:nvSpPr>
              <p:cNvPr id="138" name="Rectangle 137">
                <a:extLst>
                  <a:ext uri="{FF2B5EF4-FFF2-40B4-BE49-F238E27FC236}">
                    <a16:creationId xmlns:a16="http://schemas.microsoft.com/office/drawing/2014/main" id="{CDAC05C4-C5D4-8294-8095-CC5399EFB4F5}"/>
                  </a:ext>
                </a:extLst>
              </p:cNvPr>
              <p:cNvSpPr>
                <a:spLocks noChangeAspect="1"/>
              </p:cNvSpPr>
              <p:nvPr/>
            </p:nvSpPr>
            <p:spPr>
              <a:xfrm>
                <a:off x="7753271" y="3922220"/>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sp>
            <p:nvSpPr>
              <p:cNvPr id="139" name="Rectangle 138">
                <a:extLst>
                  <a:ext uri="{FF2B5EF4-FFF2-40B4-BE49-F238E27FC236}">
                    <a16:creationId xmlns:a16="http://schemas.microsoft.com/office/drawing/2014/main" id="{5D51304F-ED6D-E36A-5E07-8DE4CBCAC86D}"/>
                  </a:ext>
                </a:extLst>
              </p:cNvPr>
              <p:cNvSpPr>
                <a:spLocks noChangeAspect="1"/>
              </p:cNvSpPr>
              <p:nvPr/>
            </p:nvSpPr>
            <p:spPr>
              <a:xfrm>
                <a:off x="10850867" y="3922221"/>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pic>
            <p:nvPicPr>
              <p:cNvPr id="140" name="Picture 139" descr="A graph of rhombuses and diamonds&#10;&#10;AI-generated content may be incorrect.">
                <a:extLst>
                  <a:ext uri="{FF2B5EF4-FFF2-40B4-BE49-F238E27FC236}">
                    <a16:creationId xmlns:a16="http://schemas.microsoft.com/office/drawing/2014/main" id="{1017A0AF-4B6F-3599-2F72-48F6BE82DE7D}"/>
                  </a:ext>
                </a:extLst>
              </p:cNvPr>
              <p:cNvPicPr>
                <a:picLocks noChangeAspect="1"/>
              </p:cNvPicPr>
              <p:nvPr/>
            </p:nvPicPr>
            <p:blipFill>
              <a:blip r:embed="rId10">
                <a:alphaModFix amt="85000"/>
                <a:extLst>
                  <a:ext uri="{28A0092B-C50C-407E-A947-70E740481C1C}">
                    <a14:useLocalDpi xmlns:a14="http://schemas.microsoft.com/office/drawing/2010/main" val="0"/>
                  </a:ext>
                </a:extLst>
              </a:blip>
              <a:stretch>
                <a:fillRect/>
              </a:stretch>
            </p:blipFill>
            <p:spPr>
              <a:xfrm>
                <a:off x="7511361" y="1890791"/>
                <a:ext cx="4023360" cy="3084928"/>
              </a:xfrm>
              <a:prstGeom prst="rect">
                <a:avLst/>
              </a:prstGeom>
            </p:spPr>
          </p:pic>
        </p:grpSp>
        <p:sp>
          <p:nvSpPr>
            <p:cNvPr id="134" name="文本框 80">
              <a:extLst>
                <a:ext uri="{FF2B5EF4-FFF2-40B4-BE49-F238E27FC236}">
                  <a16:creationId xmlns:a16="http://schemas.microsoft.com/office/drawing/2014/main" id="{BE54607B-E99F-6271-29B5-947B449CFF13}"/>
                </a:ext>
              </a:extLst>
            </p:cNvPr>
            <p:cNvSpPr txBox="1"/>
            <p:nvPr/>
          </p:nvSpPr>
          <p:spPr>
            <a:xfrm>
              <a:off x="8374037" y="5088178"/>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135" name="文本框 80">
              <a:extLst>
                <a:ext uri="{FF2B5EF4-FFF2-40B4-BE49-F238E27FC236}">
                  <a16:creationId xmlns:a16="http://schemas.microsoft.com/office/drawing/2014/main" id="{99FB2548-5390-A9C5-1D4C-C0F4D50EB124}"/>
                </a:ext>
              </a:extLst>
            </p:cNvPr>
            <p:cNvSpPr txBox="1"/>
            <p:nvPr/>
          </p:nvSpPr>
          <p:spPr>
            <a:xfrm rot="16200000">
              <a:off x="6057281" y="3535420"/>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136" name="TextBox 135">
              <a:extLst>
                <a:ext uri="{FF2B5EF4-FFF2-40B4-BE49-F238E27FC236}">
                  <a16:creationId xmlns:a16="http://schemas.microsoft.com/office/drawing/2014/main" id="{B2FC6AA7-09B9-5695-A682-A6C92FE4743A}"/>
                </a:ext>
              </a:extLst>
            </p:cNvPr>
            <p:cNvSpPr txBox="1"/>
            <p:nvPr/>
          </p:nvSpPr>
          <p:spPr>
            <a:xfrm>
              <a:off x="6284223" y="5523962"/>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S-PSNR Spectrum</a:t>
              </a:r>
            </a:p>
          </p:txBody>
        </p:sp>
      </p:grpSp>
    </p:spTree>
    <p:extLst>
      <p:ext uri="{BB962C8B-B14F-4D97-AF65-F5344CB8AC3E}">
        <p14:creationId xmlns:p14="http://schemas.microsoft.com/office/powerpoint/2010/main" val="1616777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59068-E97E-9EEB-CC61-C211C5CFDBA9}"/>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2B30B911-3072-750D-3D5B-227AE803AEC8}"/>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cs typeface="Times New Roman" panose="02020603050405020304" pitchFamily="18" charset="0"/>
              </a:rPr>
              <a:t>4</a:t>
            </a:r>
          </a:p>
        </p:txBody>
      </p:sp>
      <p:sp>
        <p:nvSpPr>
          <p:cNvPr id="20" name="TextBox 19">
            <a:extLst>
              <a:ext uri="{FF2B5EF4-FFF2-40B4-BE49-F238E27FC236}">
                <a16:creationId xmlns:a16="http://schemas.microsoft.com/office/drawing/2014/main" id="{399492D4-C34B-DF84-2770-408BA9A7FDAD}"/>
              </a:ext>
            </a:extLst>
          </p:cNvPr>
          <p:cNvSpPr txBox="1"/>
          <p:nvPr/>
        </p:nvSpPr>
        <p:spPr>
          <a:xfrm>
            <a:off x="57261" y="698054"/>
            <a:ext cx="12381803" cy="1200329"/>
          </a:xfrm>
          <a:prstGeom prst="rect">
            <a:avLst/>
          </a:prstGeom>
          <a:noFill/>
        </p:spPr>
        <p:txBody>
          <a:bodyPr wrap="square">
            <a:spAutoFit/>
          </a:bodyPr>
          <a:lstStyle/>
          <a:p>
            <a:pPr lvl="0">
              <a:defRPr/>
            </a:pPr>
            <a:r>
              <a:rPr lang="en-US" sz="3600">
                <a:latin typeface="Times New Roman" panose="02020603050405020304" pitchFamily="18" charset="0"/>
                <a:cs typeface="Times New Roman" panose="02020603050405020304" pitchFamily="18" charset="0"/>
              </a:rPr>
              <a:t>Spatial Physiological Signal-to-Noise Ratio (S-PSNR)</a:t>
            </a:r>
          </a:p>
          <a:p>
            <a:pPr marL="571500" lvl="0" indent="-571500">
              <a:buFont typeface="Wingdings" panose="05000000000000000000" pitchFamily="2" charset="2"/>
              <a:buChar char="Ø"/>
              <a:defRPr/>
            </a:pPr>
            <a:r>
              <a:rPr lang="en-US" sz="3600">
                <a:latin typeface="Times New Roman" panose="02020603050405020304" pitchFamily="18" charset="0"/>
                <a:cs typeface="Times New Roman" panose="02020603050405020304" pitchFamily="18" charset="0"/>
              </a:rPr>
              <a:t>How strongly vital signs signal at each region.</a:t>
            </a:r>
          </a:p>
        </p:txBody>
      </p:sp>
      <p:grpSp>
        <p:nvGrpSpPr>
          <p:cNvPr id="3" name="Group 2">
            <a:extLst>
              <a:ext uri="{FF2B5EF4-FFF2-40B4-BE49-F238E27FC236}">
                <a16:creationId xmlns:a16="http://schemas.microsoft.com/office/drawing/2014/main" id="{13F91D61-8FC0-159F-281D-48937AFA9604}"/>
              </a:ext>
            </a:extLst>
          </p:cNvPr>
          <p:cNvGrpSpPr/>
          <p:nvPr/>
        </p:nvGrpSpPr>
        <p:grpSpPr>
          <a:xfrm>
            <a:off x="-94268" y="2005005"/>
            <a:ext cx="6185280" cy="4181093"/>
            <a:chOff x="-94268" y="2005005"/>
            <a:chExt cx="6185280" cy="4181093"/>
          </a:xfrm>
        </p:grpSpPr>
        <p:grpSp>
          <p:nvGrpSpPr>
            <p:cNvPr id="64" name="Group 63">
              <a:extLst>
                <a:ext uri="{FF2B5EF4-FFF2-40B4-BE49-F238E27FC236}">
                  <a16:creationId xmlns:a16="http://schemas.microsoft.com/office/drawing/2014/main" id="{376C4606-F8EE-76B1-2C8A-3C23B35ABF0B}"/>
                </a:ext>
              </a:extLst>
            </p:cNvPr>
            <p:cNvGrpSpPr/>
            <p:nvPr/>
          </p:nvGrpSpPr>
          <p:grpSpPr>
            <a:xfrm>
              <a:off x="1774215" y="2005005"/>
              <a:ext cx="2840811" cy="2330168"/>
              <a:chOff x="9517569" y="1796836"/>
              <a:chExt cx="2074374" cy="1701500"/>
            </a:xfrm>
          </p:grpSpPr>
          <p:sp>
            <p:nvSpPr>
              <p:cNvPr id="65" name="Cube 64">
                <a:extLst>
                  <a:ext uri="{FF2B5EF4-FFF2-40B4-BE49-F238E27FC236}">
                    <a16:creationId xmlns:a16="http://schemas.microsoft.com/office/drawing/2014/main" id="{286BEA9C-B04C-BBC4-6050-11E913A0F7B4}"/>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66" name="Picture 65">
                <a:extLst>
                  <a:ext uri="{FF2B5EF4-FFF2-40B4-BE49-F238E27FC236}">
                    <a16:creationId xmlns:a16="http://schemas.microsoft.com/office/drawing/2014/main" id="{7EE12C67-B92D-3099-2E25-CC455054B798}"/>
                  </a:ext>
                </a:extLst>
              </p:cNvPr>
              <p:cNvPicPr>
                <a:picLocks noChangeAspect="1"/>
              </p:cNvPicPr>
              <p:nvPr/>
            </p:nvPicPr>
            <p:blipFill>
              <a:blip r:embed="rId3"/>
              <a:stretch>
                <a:fillRect/>
              </a:stretch>
            </p:blipFill>
            <p:spPr>
              <a:xfrm>
                <a:off x="9550935" y="1938326"/>
                <a:ext cx="1909094" cy="1560010"/>
              </a:xfrm>
              <a:prstGeom prst="rect">
                <a:avLst/>
              </a:prstGeom>
            </p:spPr>
          </p:pic>
        </p:grpSp>
        <p:grpSp>
          <p:nvGrpSpPr>
            <p:cNvPr id="63" name="Group 62">
              <a:extLst>
                <a:ext uri="{FF2B5EF4-FFF2-40B4-BE49-F238E27FC236}">
                  <a16:creationId xmlns:a16="http://schemas.microsoft.com/office/drawing/2014/main" id="{D110E038-1087-E9A5-8A68-CA38B7AC8D11}"/>
                </a:ext>
              </a:extLst>
            </p:cNvPr>
            <p:cNvGrpSpPr/>
            <p:nvPr/>
          </p:nvGrpSpPr>
          <p:grpSpPr>
            <a:xfrm>
              <a:off x="1342273" y="2482307"/>
              <a:ext cx="2840811" cy="2330168"/>
              <a:chOff x="9517569" y="1796836"/>
              <a:chExt cx="2074374" cy="1701500"/>
            </a:xfrm>
          </p:grpSpPr>
          <p:sp>
            <p:nvSpPr>
              <p:cNvPr id="28" name="Cube 27">
                <a:extLst>
                  <a:ext uri="{FF2B5EF4-FFF2-40B4-BE49-F238E27FC236}">
                    <a16:creationId xmlns:a16="http://schemas.microsoft.com/office/drawing/2014/main" id="{A9D4D12A-F6B5-7F11-CEE5-DB809B5A02A3}"/>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62" name="Picture 61">
                <a:extLst>
                  <a:ext uri="{FF2B5EF4-FFF2-40B4-BE49-F238E27FC236}">
                    <a16:creationId xmlns:a16="http://schemas.microsoft.com/office/drawing/2014/main" id="{19B67108-ACC2-11DF-2FDA-CAE2A582C5E1}"/>
                  </a:ext>
                </a:extLst>
              </p:cNvPr>
              <p:cNvPicPr>
                <a:picLocks noChangeAspect="1"/>
              </p:cNvPicPr>
              <p:nvPr/>
            </p:nvPicPr>
            <p:blipFill>
              <a:blip r:embed="rId3"/>
              <a:stretch>
                <a:fillRect/>
              </a:stretch>
            </p:blipFill>
            <p:spPr>
              <a:xfrm>
                <a:off x="9550935" y="1938326"/>
                <a:ext cx="1909094" cy="1560010"/>
              </a:xfrm>
              <a:prstGeom prst="rect">
                <a:avLst/>
              </a:prstGeom>
            </p:spPr>
          </p:pic>
        </p:grpSp>
        <p:sp>
          <p:nvSpPr>
            <p:cNvPr id="55" name="Cube 54">
              <a:extLst>
                <a:ext uri="{FF2B5EF4-FFF2-40B4-BE49-F238E27FC236}">
                  <a16:creationId xmlns:a16="http://schemas.microsoft.com/office/drawing/2014/main" id="{600AC850-DB20-0ED0-CC7F-39F004F23A3D}"/>
                </a:ext>
              </a:extLst>
            </p:cNvPr>
            <p:cNvSpPr>
              <a:spLocks noChangeAspect="1"/>
            </p:cNvSpPr>
            <p:nvPr/>
          </p:nvSpPr>
          <p:spPr>
            <a:xfrm>
              <a:off x="1093808" y="2749334"/>
              <a:ext cx="2840811" cy="2289993"/>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61" name="Picture 60">
              <a:extLst>
                <a:ext uri="{FF2B5EF4-FFF2-40B4-BE49-F238E27FC236}">
                  <a16:creationId xmlns:a16="http://schemas.microsoft.com/office/drawing/2014/main" id="{7CCD073D-58A7-8EA2-EC7A-CD786660C563}"/>
                </a:ext>
              </a:extLst>
            </p:cNvPr>
            <p:cNvPicPr>
              <a:picLocks noChangeAspect="1"/>
            </p:cNvPicPr>
            <p:nvPr/>
          </p:nvPicPr>
          <p:blipFill>
            <a:blip r:embed="rId3"/>
            <a:stretch>
              <a:fillRect/>
            </a:stretch>
          </p:blipFill>
          <p:spPr>
            <a:xfrm>
              <a:off x="1148704" y="2889372"/>
              <a:ext cx="2614463" cy="2136400"/>
            </a:xfrm>
            <a:prstGeom prst="rect">
              <a:avLst/>
            </a:prstGeom>
          </p:spPr>
        </p:pic>
        <p:sp>
          <p:nvSpPr>
            <p:cNvPr id="70" name="TextBox 69">
              <a:extLst>
                <a:ext uri="{FF2B5EF4-FFF2-40B4-BE49-F238E27FC236}">
                  <a16:creationId xmlns:a16="http://schemas.microsoft.com/office/drawing/2014/main" id="{A3005DB9-16C0-B7C5-5939-26A9135EADC3}"/>
                </a:ext>
              </a:extLst>
            </p:cNvPr>
            <p:cNvSpPr txBox="1"/>
            <p:nvPr/>
          </p:nvSpPr>
          <p:spPr>
            <a:xfrm>
              <a:off x="-94268" y="5539767"/>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Spectra</a:t>
              </a:r>
              <a:endParaRPr lang="en-US" sz="3600" b="1">
                <a:latin typeface="Times New Roman" panose="02020603050405020304" pitchFamily="18" charset="0"/>
                <a:cs typeface="Times New Roman" panose="02020603050405020304" pitchFamily="18" charset="0"/>
              </a:endParaRPr>
            </a:p>
          </p:txBody>
        </p:sp>
        <p:sp>
          <p:nvSpPr>
            <p:cNvPr id="6" name="文本框 80">
              <a:extLst>
                <a:ext uri="{FF2B5EF4-FFF2-40B4-BE49-F238E27FC236}">
                  <a16:creationId xmlns:a16="http://schemas.microsoft.com/office/drawing/2014/main" id="{9904E08C-3924-61B3-1951-52B987CBDF03}"/>
                </a:ext>
              </a:extLst>
            </p:cNvPr>
            <p:cNvSpPr txBox="1"/>
            <p:nvPr/>
          </p:nvSpPr>
          <p:spPr>
            <a:xfrm rot="18919217">
              <a:off x="2890904" y="4115826"/>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t>
              </a:r>
              <a:endParaRPr lang="zh-CN" altLang="en-US" sz="3600">
                <a:latin typeface="Times New Roman" panose="02020603050405020304" pitchFamily="18" charset="0"/>
                <a:cs typeface="Times New Roman" panose="02020603050405020304" pitchFamily="18" charset="0"/>
              </a:endParaRPr>
            </a:p>
          </p:txBody>
        </p:sp>
        <p:sp>
          <p:nvSpPr>
            <p:cNvPr id="9" name="文本框 80">
              <a:extLst>
                <a:ext uri="{FF2B5EF4-FFF2-40B4-BE49-F238E27FC236}">
                  <a16:creationId xmlns:a16="http://schemas.microsoft.com/office/drawing/2014/main" id="{C82BAEDF-385B-0EBA-82A0-38FCF5B45F9E}"/>
                </a:ext>
              </a:extLst>
            </p:cNvPr>
            <p:cNvSpPr txBox="1"/>
            <p:nvPr/>
          </p:nvSpPr>
          <p:spPr>
            <a:xfrm rot="18919217">
              <a:off x="3197539" y="4533960"/>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Time</a:t>
              </a:r>
              <a:endParaRPr lang="zh-CN" altLang="en-US" sz="3600">
                <a:latin typeface="Times New Roman" panose="02020603050405020304" pitchFamily="18" charset="0"/>
                <a:cs typeface="Times New Roman" panose="02020603050405020304" pitchFamily="18" charset="0"/>
              </a:endParaRPr>
            </a:p>
          </p:txBody>
        </p:sp>
        <p:sp>
          <p:nvSpPr>
            <p:cNvPr id="16" name="文本框 80">
              <a:extLst>
                <a:ext uri="{FF2B5EF4-FFF2-40B4-BE49-F238E27FC236}">
                  <a16:creationId xmlns:a16="http://schemas.microsoft.com/office/drawing/2014/main" id="{D3010D34-6969-7143-A103-4E5F829F12AF}"/>
                </a:ext>
              </a:extLst>
            </p:cNvPr>
            <p:cNvSpPr txBox="1"/>
            <p:nvPr/>
          </p:nvSpPr>
          <p:spPr>
            <a:xfrm>
              <a:off x="1183450" y="5084349"/>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18" name="文本框 80">
              <a:extLst>
                <a:ext uri="{FF2B5EF4-FFF2-40B4-BE49-F238E27FC236}">
                  <a16:creationId xmlns:a16="http://schemas.microsoft.com/office/drawing/2014/main" id="{CD960AE4-2D99-2FDE-110B-9587AEA2A7E9}"/>
                </a:ext>
              </a:extLst>
            </p:cNvPr>
            <p:cNvSpPr txBox="1"/>
            <p:nvPr/>
          </p:nvSpPr>
          <p:spPr>
            <a:xfrm rot="16200000">
              <a:off x="-650183" y="360812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grpSp>
      <p:sp>
        <p:nvSpPr>
          <p:cNvPr id="19" name="Arrow: Right 18">
            <a:extLst>
              <a:ext uri="{FF2B5EF4-FFF2-40B4-BE49-F238E27FC236}">
                <a16:creationId xmlns:a16="http://schemas.microsoft.com/office/drawing/2014/main" id="{FC13A34C-6242-8E3C-E229-703F34C97270}"/>
              </a:ext>
            </a:extLst>
          </p:cNvPr>
          <p:cNvSpPr/>
          <p:nvPr/>
        </p:nvSpPr>
        <p:spPr>
          <a:xfrm>
            <a:off x="4948947" y="2988528"/>
            <a:ext cx="2223505"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S-PSNR</a:t>
            </a:r>
          </a:p>
        </p:txBody>
      </p:sp>
      <p:grpSp>
        <p:nvGrpSpPr>
          <p:cNvPr id="4" name="Group 3">
            <a:extLst>
              <a:ext uri="{FF2B5EF4-FFF2-40B4-BE49-F238E27FC236}">
                <a16:creationId xmlns:a16="http://schemas.microsoft.com/office/drawing/2014/main" id="{FD7F6CA4-836D-F349-6D95-63A0234BFEB0}"/>
              </a:ext>
            </a:extLst>
          </p:cNvPr>
          <p:cNvGrpSpPr/>
          <p:nvPr/>
        </p:nvGrpSpPr>
        <p:grpSpPr>
          <a:xfrm>
            <a:off x="6284223" y="2026699"/>
            <a:ext cx="6185280" cy="4143594"/>
            <a:chOff x="6284223" y="2026699"/>
            <a:chExt cx="6185280" cy="4143594"/>
          </a:xfrm>
        </p:grpSpPr>
        <p:grpSp>
          <p:nvGrpSpPr>
            <p:cNvPr id="24" name="Group 23">
              <a:extLst>
                <a:ext uri="{FF2B5EF4-FFF2-40B4-BE49-F238E27FC236}">
                  <a16:creationId xmlns:a16="http://schemas.microsoft.com/office/drawing/2014/main" id="{EB8344F8-1263-D251-3054-1724FCB10299}"/>
                </a:ext>
              </a:extLst>
            </p:cNvPr>
            <p:cNvGrpSpPr/>
            <p:nvPr/>
          </p:nvGrpSpPr>
          <p:grpSpPr>
            <a:xfrm>
              <a:off x="7576976" y="2026699"/>
              <a:ext cx="4386857" cy="3084928"/>
              <a:chOff x="7511361" y="1890791"/>
              <a:chExt cx="4386857" cy="3084928"/>
            </a:xfrm>
          </p:grpSpPr>
          <p:pic>
            <p:nvPicPr>
              <p:cNvPr id="10" name="Picture 9">
                <a:extLst>
                  <a:ext uri="{FF2B5EF4-FFF2-40B4-BE49-F238E27FC236}">
                    <a16:creationId xmlns:a16="http://schemas.microsoft.com/office/drawing/2014/main" id="{8BFC8006-A178-637C-C2EA-C33D71865007}"/>
                  </a:ext>
                </a:extLst>
              </p:cNvPr>
              <p:cNvPicPr>
                <a:picLocks noChangeAspect="1"/>
              </p:cNvPicPr>
              <p:nvPr/>
            </p:nvPicPr>
            <p:blipFill>
              <a:blip r:embed="rId4">
                <a:extLst>
                  <a:ext uri="{28A0092B-C50C-407E-A947-70E740481C1C}">
                    <a14:useLocalDpi xmlns:a14="http://schemas.microsoft.com/office/drawing/2010/main" val="0"/>
                  </a:ext>
                </a:extLst>
              </a:blip>
              <a:srcRect l="22062" t="13464" r="29377" b="64900"/>
              <a:stretch/>
            </p:blipFill>
            <p:spPr>
              <a:xfrm flipH="1">
                <a:off x="8151441" y="2062453"/>
                <a:ext cx="3383280" cy="2640133"/>
              </a:xfrm>
              <a:prstGeom prst="rect">
                <a:avLst/>
              </a:prstGeom>
            </p:spPr>
          </p:pic>
          <p:sp>
            <p:nvSpPr>
              <p:cNvPr id="11" name="Rectangle 10">
                <a:extLst>
                  <a:ext uri="{FF2B5EF4-FFF2-40B4-BE49-F238E27FC236}">
                    <a16:creationId xmlns:a16="http://schemas.microsoft.com/office/drawing/2014/main" id="{1EFDB070-C56B-9F58-FD6D-3543B7A61D35}"/>
                  </a:ext>
                </a:extLst>
              </p:cNvPr>
              <p:cNvSpPr>
                <a:spLocks noChangeAspect="1"/>
              </p:cNvSpPr>
              <p:nvPr/>
            </p:nvSpPr>
            <p:spPr>
              <a:xfrm>
                <a:off x="7753271" y="3922220"/>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4D43E17F-FC02-8148-9310-F8F62D0463F0}"/>
                  </a:ext>
                </a:extLst>
              </p:cNvPr>
              <p:cNvSpPr>
                <a:spLocks noChangeAspect="1"/>
              </p:cNvSpPr>
              <p:nvPr/>
            </p:nvSpPr>
            <p:spPr>
              <a:xfrm>
                <a:off x="10850867" y="3922221"/>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pic>
            <p:nvPicPr>
              <p:cNvPr id="13" name="Picture 12" descr="A graph of rhombuses and diamonds&#10;&#10;AI-generated content may be incorrect.">
                <a:extLst>
                  <a:ext uri="{FF2B5EF4-FFF2-40B4-BE49-F238E27FC236}">
                    <a16:creationId xmlns:a16="http://schemas.microsoft.com/office/drawing/2014/main" id="{94F9DF07-58DF-9999-0259-5482E3EEBA29}"/>
                  </a:ext>
                </a:extLst>
              </p:cNvPr>
              <p:cNvPicPr>
                <a:picLocks noChangeAspect="1"/>
              </p:cNvPicPr>
              <p:nvPr/>
            </p:nvPicPr>
            <p:blipFill>
              <a:blip r:embed="rId5">
                <a:alphaModFix amt="85000"/>
                <a:extLst>
                  <a:ext uri="{28A0092B-C50C-407E-A947-70E740481C1C}">
                    <a14:useLocalDpi xmlns:a14="http://schemas.microsoft.com/office/drawing/2010/main" val="0"/>
                  </a:ext>
                </a:extLst>
              </a:blip>
              <a:stretch>
                <a:fillRect/>
              </a:stretch>
            </p:blipFill>
            <p:spPr>
              <a:xfrm>
                <a:off x="7511361" y="1890791"/>
                <a:ext cx="4023360" cy="3084928"/>
              </a:xfrm>
              <a:prstGeom prst="rect">
                <a:avLst/>
              </a:prstGeom>
            </p:spPr>
          </p:pic>
        </p:grpSp>
        <p:sp>
          <p:nvSpPr>
            <p:cNvPr id="21" name="文本框 80">
              <a:extLst>
                <a:ext uri="{FF2B5EF4-FFF2-40B4-BE49-F238E27FC236}">
                  <a16:creationId xmlns:a16="http://schemas.microsoft.com/office/drawing/2014/main" id="{11584843-749D-897C-28C8-19F1BD7D7220}"/>
                </a:ext>
              </a:extLst>
            </p:cNvPr>
            <p:cNvSpPr txBox="1"/>
            <p:nvPr/>
          </p:nvSpPr>
          <p:spPr>
            <a:xfrm>
              <a:off x="8374037" y="5088178"/>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22" name="文本框 80">
              <a:extLst>
                <a:ext uri="{FF2B5EF4-FFF2-40B4-BE49-F238E27FC236}">
                  <a16:creationId xmlns:a16="http://schemas.microsoft.com/office/drawing/2014/main" id="{0D403B44-4337-6B84-80BA-1B0A9C886994}"/>
                </a:ext>
              </a:extLst>
            </p:cNvPr>
            <p:cNvSpPr txBox="1"/>
            <p:nvPr/>
          </p:nvSpPr>
          <p:spPr>
            <a:xfrm rot="16200000">
              <a:off x="6057281" y="3535420"/>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76538B37-A87C-2A31-6902-938570E20469}"/>
                </a:ext>
              </a:extLst>
            </p:cNvPr>
            <p:cNvSpPr txBox="1"/>
            <p:nvPr/>
          </p:nvSpPr>
          <p:spPr>
            <a:xfrm>
              <a:off x="6284223" y="5523962"/>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S-PSNR Spectrum</a:t>
              </a:r>
            </a:p>
          </p:txBody>
        </p:sp>
      </p:grpSp>
      <p:pic>
        <p:nvPicPr>
          <p:cNvPr id="33" name="Picture 32">
            <a:extLst>
              <a:ext uri="{FF2B5EF4-FFF2-40B4-BE49-F238E27FC236}">
                <a16:creationId xmlns:a16="http://schemas.microsoft.com/office/drawing/2014/main" id="{8F996FA9-379A-2930-6BE9-53DF9D7AD80C}"/>
              </a:ext>
            </a:extLst>
          </p:cNvPr>
          <p:cNvPicPr>
            <a:picLocks noChangeAspect="1"/>
          </p:cNvPicPr>
          <p:nvPr/>
        </p:nvPicPr>
        <p:blipFill>
          <a:blip r:embed="rId6">
            <a:extLst>
              <a:ext uri="{28A0092B-C50C-407E-A947-70E740481C1C}">
                <a14:useLocalDpi xmlns:a14="http://schemas.microsoft.com/office/drawing/2010/main" val="0"/>
              </a:ext>
            </a:extLst>
          </a:blip>
          <a:srcRect l="7093" b="7664"/>
          <a:stretch>
            <a:fillRect/>
          </a:stretch>
        </p:blipFill>
        <p:spPr>
          <a:xfrm>
            <a:off x="13653838" y="2150258"/>
            <a:ext cx="4531750" cy="3389509"/>
          </a:xfrm>
          <a:prstGeom prst="rect">
            <a:avLst/>
          </a:prstGeom>
        </p:spPr>
      </p:pic>
      <p:sp>
        <p:nvSpPr>
          <p:cNvPr id="34" name="文本框 80">
            <a:extLst>
              <a:ext uri="{FF2B5EF4-FFF2-40B4-BE49-F238E27FC236}">
                <a16:creationId xmlns:a16="http://schemas.microsoft.com/office/drawing/2014/main" id="{B6F6E3FB-94E2-ABBB-A6A1-B2FEB1EFC114}"/>
              </a:ext>
            </a:extLst>
          </p:cNvPr>
          <p:cNvSpPr txBox="1"/>
          <p:nvPr/>
        </p:nvSpPr>
        <p:spPr>
          <a:xfrm>
            <a:off x="14743699" y="5449383"/>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35" name="文本框 80">
            <a:extLst>
              <a:ext uri="{FF2B5EF4-FFF2-40B4-BE49-F238E27FC236}">
                <a16:creationId xmlns:a16="http://schemas.microsoft.com/office/drawing/2014/main" id="{C9BA68AD-C77B-2527-EDA8-107317AD5173}"/>
              </a:ext>
            </a:extLst>
          </p:cNvPr>
          <p:cNvSpPr txBox="1"/>
          <p:nvPr/>
        </p:nvSpPr>
        <p:spPr>
          <a:xfrm rot="16200000">
            <a:off x="12096188" y="3479980"/>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06453306-B3B4-29AE-85B4-FFDBFD324A7E}"/>
              </a:ext>
            </a:extLst>
          </p:cNvPr>
          <p:cNvSpPr txBox="1"/>
          <p:nvPr/>
        </p:nvSpPr>
        <p:spPr>
          <a:xfrm>
            <a:off x="12968315" y="1769896"/>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a:t>
            </a:r>
            <a:r>
              <a:rPr lang="en-US" altLang="zh-CN" sz="3600">
                <a:latin typeface="Times New Roman" panose="02020603050405020304" pitchFamily="18" charset="0"/>
                <a:cs typeface="Times New Roman" panose="02020603050405020304" pitchFamily="18" charset="0"/>
              </a:rPr>
              <a:t>Refined Thoracic Region</a:t>
            </a:r>
            <a:endParaRPr lang="en-US" sz="360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4C6FB4BA-BE3D-3444-ACE7-0962322F8568}"/>
              </a:ext>
            </a:extLst>
          </p:cNvPr>
          <p:cNvSpPr txBox="1"/>
          <p:nvPr/>
        </p:nvSpPr>
        <p:spPr>
          <a:xfrm>
            <a:off x="12687529" y="5763168"/>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S-PSNR Spectrum</a:t>
            </a:r>
          </a:p>
        </p:txBody>
      </p:sp>
      <p:sp>
        <p:nvSpPr>
          <p:cNvPr id="38" name="TextBox 37">
            <a:extLst>
              <a:ext uri="{FF2B5EF4-FFF2-40B4-BE49-F238E27FC236}">
                <a16:creationId xmlns:a16="http://schemas.microsoft.com/office/drawing/2014/main" id="{3437F655-72AE-B2E1-70E5-8E87021E57AA}"/>
              </a:ext>
            </a:extLst>
          </p:cNvPr>
          <p:cNvSpPr txBox="1"/>
          <p:nvPr/>
        </p:nvSpPr>
        <p:spPr>
          <a:xfrm>
            <a:off x="12308214" y="698054"/>
            <a:ext cx="11944135" cy="1200329"/>
          </a:xfrm>
          <a:prstGeom prst="rect">
            <a:avLst/>
          </a:prstGeom>
          <a:noFill/>
        </p:spPr>
        <p:txBody>
          <a:bodyPr wrap="square">
            <a:spAutoFit/>
          </a:bodyPr>
          <a:lstStyle/>
          <a:p>
            <a:pPr>
              <a:defRPr/>
            </a:pPr>
            <a:r>
              <a:rPr lang="en-US" sz="3600">
                <a:latin typeface="Times New Roman" panose="02020603050405020304" pitchFamily="18" charset="0"/>
                <a:cs typeface="Times New Roman" panose="02020603050405020304" pitchFamily="18" charset="0"/>
              </a:rPr>
              <a:t>Contrastive signal cancellation and</a:t>
            </a:r>
            <a:r>
              <a:rPr lang="zh-CN" altLang="en-US" sz="3600">
                <a:latin typeface="Times New Roman" panose="02020603050405020304" pitchFamily="18" charset="0"/>
                <a:cs typeface="Times New Roman" panose="02020603050405020304" pitchFamily="18" charset="0"/>
              </a:rPr>
              <a:t> </a:t>
            </a:r>
            <a:r>
              <a:rPr lang="en-US" altLang="zh-CN" sz="3600">
                <a:latin typeface="Times New Roman" panose="02020603050405020304" pitchFamily="18" charset="0"/>
                <a:cs typeface="Times New Roman" panose="02020603050405020304" pitchFamily="18" charset="0"/>
              </a:rPr>
              <a:t>clustering</a:t>
            </a:r>
            <a:endParaRPr lang="en-US" sz="3200">
              <a:latin typeface="Times New Roman" panose="02020603050405020304" pitchFamily="18" charset="0"/>
              <a:cs typeface="Times New Roman" panose="02020603050405020304" pitchFamily="18" charset="0"/>
            </a:endParaRPr>
          </a:p>
          <a:p>
            <a:pPr marL="742950" lvl="0" indent="-742950">
              <a:buFont typeface="Wingdings" panose="05000000000000000000" pitchFamily="2" charset="2"/>
              <a:buChar char="Ø"/>
              <a:defRPr/>
            </a:pPr>
            <a:r>
              <a:rPr lang="en-US" sz="3600">
                <a:latin typeface="Times New Roman" panose="02020603050405020304" pitchFamily="18" charset="0"/>
                <a:cs typeface="Times New Roman" panose="02020603050405020304" pitchFamily="18" charset="0"/>
              </a:rPr>
              <a:t>Refine thoracic region </a:t>
            </a:r>
          </a:p>
        </p:txBody>
      </p:sp>
      <p:pic>
        <p:nvPicPr>
          <p:cNvPr id="39" name="Picture 38">
            <a:extLst>
              <a:ext uri="{FF2B5EF4-FFF2-40B4-BE49-F238E27FC236}">
                <a16:creationId xmlns:a16="http://schemas.microsoft.com/office/drawing/2014/main" id="{44CFDC0A-A136-B6ED-2BF4-EBD92C979F5E}"/>
              </a:ext>
            </a:extLst>
          </p:cNvPr>
          <p:cNvPicPr>
            <a:picLocks noChangeAspect="1"/>
          </p:cNvPicPr>
          <p:nvPr/>
        </p:nvPicPr>
        <p:blipFill>
          <a:blip r:embed="rId3"/>
          <a:stretch>
            <a:fillRect/>
          </a:stretch>
        </p:blipFill>
        <p:spPr>
          <a:xfrm>
            <a:off x="-4687033" y="2416227"/>
            <a:ext cx="4141737" cy="2994952"/>
          </a:xfrm>
          <a:prstGeom prst="rect">
            <a:avLst/>
          </a:prstGeom>
        </p:spPr>
      </p:pic>
      <p:sp>
        <p:nvSpPr>
          <p:cNvPr id="40" name="文本框 80">
            <a:extLst>
              <a:ext uri="{FF2B5EF4-FFF2-40B4-BE49-F238E27FC236}">
                <a16:creationId xmlns:a16="http://schemas.microsoft.com/office/drawing/2014/main" id="{81F48713-E1D9-DFCD-CABB-EFECE81B5BCA}"/>
              </a:ext>
            </a:extLst>
          </p:cNvPr>
          <p:cNvSpPr txBox="1"/>
          <p:nvPr/>
        </p:nvSpPr>
        <p:spPr>
          <a:xfrm rot="16200000">
            <a:off x="-6221466" y="3790041"/>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41" name="文本框 80">
            <a:extLst>
              <a:ext uri="{FF2B5EF4-FFF2-40B4-BE49-F238E27FC236}">
                <a16:creationId xmlns:a16="http://schemas.microsoft.com/office/drawing/2014/main" id="{61A5C1F4-E78D-E7D3-9BB3-214F0DCABE5E}"/>
              </a:ext>
            </a:extLst>
          </p:cNvPr>
          <p:cNvSpPr txBox="1"/>
          <p:nvPr/>
        </p:nvSpPr>
        <p:spPr>
          <a:xfrm>
            <a:off x="-5347210" y="5032055"/>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42" name="文本框 80">
            <a:extLst>
              <a:ext uri="{FF2B5EF4-FFF2-40B4-BE49-F238E27FC236}">
                <a16:creationId xmlns:a16="http://schemas.microsoft.com/office/drawing/2014/main" id="{990D68AB-085B-FA99-DD69-61A5F5879E02}"/>
              </a:ext>
            </a:extLst>
          </p:cNvPr>
          <p:cNvSpPr txBox="1"/>
          <p:nvPr/>
        </p:nvSpPr>
        <p:spPr>
          <a:xfrm rot="19640601">
            <a:off x="-2677018" y="4751802"/>
            <a:ext cx="2634513" cy="646331"/>
          </a:xfrm>
          <a:prstGeom prst="rect">
            <a:avLst/>
          </a:prstGeom>
          <a:noFill/>
        </p:spPr>
        <p:txBody>
          <a:bodyPr wrap="square" rtlCol="0">
            <a:spAutoFit/>
          </a:bodyPr>
          <a:lstStyle/>
          <a:p>
            <a:pPr algn="ctr"/>
            <a:r>
              <a:rPr lang="en-US" altLang="zh-CN" sz="3600" err="1">
                <a:latin typeface="Times New Roman" panose="02020603050405020304" pitchFamily="18" charset="0"/>
                <a:cs typeface="Times New Roman" panose="02020603050405020304" pitchFamily="18" charset="0"/>
              </a:rPr>
              <a:t>ToF</a:t>
            </a:r>
            <a:endParaRPr lang="zh-CN" altLang="en-US" sz="360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E79E2678-DFC0-985B-7060-F130327C3E2B}"/>
              </a:ext>
            </a:extLst>
          </p:cNvPr>
          <p:cNvSpPr txBox="1"/>
          <p:nvPr/>
        </p:nvSpPr>
        <p:spPr>
          <a:xfrm>
            <a:off x="-5805337" y="5734677"/>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Spectrum</a:t>
            </a:r>
            <a:endParaRPr lang="en-US" sz="3600" b="1">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81656BB1-2CCA-C7E9-7B54-A3B681CE5CDD}"/>
              </a:ext>
            </a:extLst>
          </p:cNvPr>
          <p:cNvSpPr txBox="1"/>
          <p:nvPr/>
        </p:nvSpPr>
        <p:spPr>
          <a:xfrm>
            <a:off x="0" y="-6663"/>
            <a:ext cx="12192000" cy="674370"/>
          </a:xfrm>
          <a:prstGeom prst="rect">
            <a:avLst/>
          </a:prstGeom>
          <a:solidFill>
            <a:srgbClr val="6C2334"/>
          </a:solidFill>
        </p:spPr>
        <p:txBody>
          <a:bodyPr wrap="square" rtlCol="0">
            <a:spAutoFit/>
          </a:bodyPr>
          <a:lstStyle/>
          <a:p>
            <a:endParaRPr lang="en-US"/>
          </a:p>
        </p:txBody>
      </p:sp>
      <p:sp>
        <p:nvSpPr>
          <p:cNvPr id="45" name="TextBox 44">
            <a:extLst>
              <a:ext uri="{FF2B5EF4-FFF2-40B4-BE49-F238E27FC236}">
                <a16:creationId xmlns:a16="http://schemas.microsoft.com/office/drawing/2014/main" id="{C597CE12-5E7A-F07A-A9F1-0794ACBBD84B}"/>
              </a:ext>
            </a:extLst>
          </p:cNvPr>
          <p:cNvSpPr txBox="1"/>
          <p:nvPr/>
        </p:nvSpPr>
        <p:spPr>
          <a:xfrm>
            <a:off x="247864" y="-6663"/>
            <a:ext cx="8265515" cy="646331"/>
          </a:xfrm>
          <a:prstGeom prst="rect">
            <a:avLst/>
          </a:prstGeom>
          <a:noFill/>
        </p:spPr>
        <p:txBody>
          <a:bodyPr wrap="square">
            <a:spAutoFit/>
          </a:bodyPr>
          <a:lstStyle/>
          <a:p>
            <a:r>
              <a:rPr lang="en-US" sz="3600" b="1">
                <a:solidFill>
                  <a:srgbClr val="CEB888"/>
                </a:solidFill>
                <a:highlight>
                  <a:srgbClr val="6C2334"/>
                </a:highlight>
                <a:latin typeface="Arial" panose="020B0604020202020204" pitchFamily="34" charset="0"/>
                <a:cs typeface="Arial" panose="020B0604020202020204" pitchFamily="34" charset="0"/>
              </a:rPr>
              <a:t>Localization of the Thoracic Region</a:t>
            </a:r>
          </a:p>
        </p:txBody>
      </p:sp>
      <p:sp>
        <p:nvSpPr>
          <p:cNvPr id="47" name="Text 9">
            <a:extLst>
              <a:ext uri="{FF2B5EF4-FFF2-40B4-BE49-F238E27FC236}">
                <a16:creationId xmlns:a16="http://schemas.microsoft.com/office/drawing/2014/main" id="{B5916548-462F-AA19-2706-76BBC0792C13}"/>
              </a:ext>
            </a:extLst>
          </p:cNvPr>
          <p:cNvSpPr/>
          <p:nvPr/>
        </p:nvSpPr>
        <p:spPr>
          <a:xfrm>
            <a:off x="-10878454" y="667707"/>
            <a:ext cx="12031567" cy="1150703"/>
          </a:xfrm>
          <a:prstGeom prst="rect">
            <a:avLst/>
          </a:prstGeom>
          <a:noFill/>
          <a:ln/>
        </p:spPr>
        <p:txBody>
          <a:bodyPr wrap="square" lIns="508" tIns="508" rIns="508" bIns="508" rtlCol="0" anchor="t"/>
          <a:lstStyle/>
          <a:p>
            <a:r>
              <a:rPr lang="en-US" sz="3600">
                <a:latin typeface="Times New Roman" panose="02020603050405020304" pitchFamily="18" charset="0"/>
                <a:cs typeface="Times New Roman" panose="02020603050405020304" pitchFamily="18" charset="0"/>
              </a:rPr>
              <a:t>Combines spatial spectrum energy with temporal clues to localize the thoracic region.</a:t>
            </a:r>
          </a:p>
        </p:txBody>
      </p:sp>
      <p:sp>
        <p:nvSpPr>
          <p:cNvPr id="48" name="Arrow: Right 47">
            <a:extLst>
              <a:ext uri="{FF2B5EF4-FFF2-40B4-BE49-F238E27FC236}">
                <a16:creationId xmlns:a16="http://schemas.microsoft.com/office/drawing/2014/main" id="{1C7A538D-F4AE-0EC2-C6DC-5AB3B66B8E0C}"/>
              </a:ext>
            </a:extLst>
          </p:cNvPr>
          <p:cNvSpPr/>
          <p:nvPr/>
        </p:nvSpPr>
        <p:spPr>
          <a:xfrm>
            <a:off x="12439064" y="3058993"/>
            <a:ext cx="2223505"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Refine</a:t>
            </a:r>
          </a:p>
        </p:txBody>
      </p:sp>
    </p:spTree>
    <p:extLst>
      <p:ext uri="{BB962C8B-B14F-4D97-AF65-F5344CB8AC3E}">
        <p14:creationId xmlns:p14="http://schemas.microsoft.com/office/powerpoint/2010/main" val="2368508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60CCC-AE5D-9EC4-8105-F4ECA2CD151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149AAA8-311A-F016-6D26-2A9091723E3C}"/>
              </a:ext>
            </a:extLst>
          </p:cNvPr>
          <p:cNvSpPr>
            <a:spLocks noChangeAspect="1"/>
          </p:cNvSpPr>
          <p:nvPr/>
        </p:nvSpPr>
        <p:spPr>
          <a:xfrm>
            <a:off x="3594365" y="4325141"/>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8E54575-1AA3-76CD-A7E3-2273792F2314}"/>
              </a:ext>
            </a:extLst>
          </p:cNvPr>
          <p:cNvSpPr>
            <a:spLocks noChangeAspect="1"/>
          </p:cNvSpPr>
          <p:nvPr/>
        </p:nvSpPr>
        <p:spPr>
          <a:xfrm>
            <a:off x="496769" y="4325140"/>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sp>
        <p:nvSpPr>
          <p:cNvPr id="17" name="Slide Number Placeholder 3">
            <a:extLst>
              <a:ext uri="{FF2B5EF4-FFF2-40B4-BE49-F238E27FC236}">
                <a16:creationId xmlns:a16="http://schemas.microsoft.com/office/drawing/2014/main" id="{27351B51-1478-5147-F52B-43A2FD2403EB}"/>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Times New Roman" panose="02020603050405020304" pitchFamily="18" charset="0"/>
                <a:cs typeface="Times New Roman" panose="02020603050405020304" pitchFamily="18" charset="0"/>
              </a:rPr>
              <a:t>4</a:t>
            </a: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cs typeface="Times New Roman" panose="02020603050405020304" pitchFamily="18" charset="0"/>
            </a:endParaRPr>
          </a:p>
        </p:txBody>
      </p:sp>
      <p:sp>
        <p:nvSpPr>
          <p:cNvPr id="19" name="Arrow: Right 18">
            <a:extLst>
              <a:ext uri="{FF2B5EF4-FFF2-40B4-BE49-F238E27FC236}">
                <a16:creationId xmlns:a16="http://schemas.microsoft.com/office/drawing/2014/main" id="{0A823288-C971-D715-BCA5-12A4BF35993E}"/>
              </a:ext>
            </a:extLst>
          </p:cNvPr>
          <p:cNvSpPr/>
          <p:nvPr/>
        </p:nvSpPr>
        <p:spPr>
          <a:xfrm>
            <a:off x="-2422061" y="3366034"/>
            <a:ext cx="2223505"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S-PSNR</a:t>
            </a:r>
          </a:p>
        </p:txBody>
      </p:sp>
      <p:pic>
        <p:nvPicPr>
          <p:cNvPr id="3" name="Picture 2">
            <a:extLst>
              <a:ext uri="{FF2B5EF4-FFF2-40B4-BE49-F238E27FC236}">
                <a16:creationId xmlns:a16="http://schemas.microsoft.com/office/drawing/2014/main" id="{33505C3D-76E5-A2D5-8448-BF3389224602}"/>
              </a:ext>
            </a:extLst>
          </p:cNvPr>
          <p:cNvPicPr>
            <a:picLocks noChangeAspect="1"/>
          </p:cNvPicPr>
          <p:nvPr/>
        </p:nvPicPr>
        <p:blipFill>
          <a:blip r:embed="rId3">
            <a:extLst>
              <a:ext uri="{28A0092B-C50C-407E-A947-70E740481C1C}">
                <a14:useLocalDpi xmlns:a14="http://schemas.microsoft.com/office/drawing/2010/main" val="0"/>
              </a:ext>
            </a:extLst>
          </a:blip>
          <a:srcRect l="7093" b="7664"/>
          <a:stretch>
            <a:fillRect/>
          </a:stretch>
        </p:blipFill>
        <p:spPr>
          <a:xfrm>
            <a:off x="7358106" y="2209800"/>
            <a:ext cx="4429164" cy="3312780"/>
          </a:xfrm>
          <a:prstGeom prst="rect">
            <a:avLst/>
          </a:prstGeom>
        </p:spPr>
      </p:pic>
      <p:sp>
        <p:nvSpPr>
          <p:cNvPr id="4" name="Arrow: Right 3">
            <a:extLst>
              <a:ext uri="{FF2B5EF4-FFF2-40B4-BE49-F238E27FC236}">
                <a16:creationId xmlns:a16="http://schemas.microsoft.com/office/drawing/2014/main" id="{D902755E-C1F5-2FE1-F315-0639C45463F2}"/>
              </a:ext>
            </a:extLst>
          </p:cNvPr>
          <p:cNvSpPr/>
          <p:nvPr/>
        </p:nvSpPr>
        <p:spPr>
          <a:xfrm>
            <a:off x="4491767" y="3116916"/>
            <a:ext cx="2223505"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Refine</a:t>
            </a:r>
          </a:p>
        </p:txBody>
      </p:sp>
      <p:sp>
        <p:nvSpPr>
          <p:cNvPr id="2" name="TextBox 1">
            <a:extLst>
              <a:ext uri="{FF2B5EF4-FFF2-40B4-BE49-F238E27FC236}">
                <a16:creationId xmlns:a16="http://schemas.microsoft.com/office/drawing/2014/main" id="{1D679FE6-D31A-9BCB-F8E5-D7CF69213E14}"/>
              </a:ext>
            </a:extLst>
          </p:cNvPr>
          <p:cNvSpPr txBox="1"/>
          <p:nvPr/>
        </p:nvSpPr>
        <p:spPr>
          <a:xfrm>
            <a:off x="247864" y="673318"/>
            <a:ext cx="11944135" cy="1200329"/>
          </a:xfrm>
          <a:prstGeom prst="rect">
            <a:avLst/>
          </a:prstGeom>
          <a:noFill/>
        </p:spPr>
        <p:txBody>
          <a:bodyPr wrap="square">
            <a:spAutoFit/>
          </a:bodyPr>
          <a:lstStyle/>
          <a:p>
            <a:pPr>
              <a:defRPr/>
            </a:pPr>
            <a:r>
              <a:rPr lang="en-US" sz="3600">
                <a:latin typeface="Times New Roman" panose="02020603050405020304" pitchFamily="18" charset="0"/>
                <a:cs typeface="Times New Roman" panose="02020603050405020304" pitchFamily="18" charset="0"/>
              </a:rPr>
              <a:t>Contrastive signal cancellation and</a:t>
            </a:r>
            <a:r>
              <a:rPr lang="zh-CN" altLang="en-US" sz="3600">
                <a:latin typeface="Times New Roman" panose="02020603050405020304" pitchFamily="18" charset="0"/>
                <a:cs typeface="Times New Roman" panose="02020603050405020304" pitchFamily="18" charset="0"/>
              </a:rPr>
              <a:t> </a:t>
            </a:r>
            <a:r>
              <a:rPr lang="en-US" altLang="zh-CN" sz="3600">
                <a:latin typeface="Times New Roman" panose="02020603050405020304" pitchFamily="18" charset="0"/>
                <a:cs typeface="Times New Roman" panose="02020603050405020304" pitchFamily="18" charset="0"/>
              </a:rPr>
              <a:t>clustering</a:t>
            </a:r>
            <a:endParaRPr lang="en-US" sz="3200">
              <a:latin typeface="Times New Roman" panose="02020603050405020304" pitchFamily="18" charset="0"/>
              <a:cs typeface="Times New Roman" panose="02020603050405020304" pitchFamily="18" charset="0"/>
            </a:endParaRPr>
          </a:p>
          <a:p>
            <a:pPr marL="742950" lvl="0" indent="-742950">
              <a:buFont typeface="Wingdings" panose="05000000000000000000" pitchFamily="2" charset="2"/>
              <a:buChar char="Ø"/>
              <a:defRPr/>
            </a:pPr>
            <a:r>
              <a:rPr lang="en-US" sz="3600">
                <a:latin typeface="Times New Roman" panose="02020603050405020304" pitchFamily="18" charset="0"/>
                <a:cs typeface="Times New Roman" panose="02020603050405020304" pitchFamily="18" charset="0"/>
              </a:rPr>
              <a:t>Refine thoracic region </a:t>
            </a:r>
          </a:p>
        </p:txBody>
      </p:sp>
      <p:sp>
        <p:nvSpPr>
          <p:cNvPr id="23" name="文本框 80">
            <a:extLst>
              <a:ext uri="{FF2B5EF4-FFF2-40B4-BE49-F238E27FC236}">
                <a16:creationId xmlns:a16="http://schemas.microsoft.com/office/drawing/2014/main" id="{FA6E90CC-CADF-6B08-1518-FC5D288EAB80}"/>
              </a:ext>
            </a:extLst>
          </p:cNvPr>
          <p:cNvSpPr txBox="1"/>
          <p:nvPr/>
        </p:nvSpPr>
        <p:spPr>
          <a:xfrm>
            <a:off x="8345381" y="5432196"/>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24" name="文本框 80">
            <a:extLst>
              <a:ext uri="{FF2B5EF4-FFF2-40B4-BE49-F238E27FC236}">
                <a16:creationId xmlns:a16="http://schemas.microsoft.com/office/drawing/2014/main" id="{D63701CD-1365-7E1D-9EB3-4A7E3AAC5B13}"/>
              </a:ext>
            </a:extLst>
          </p:cNvPr>
          <p:cNvSpPr txBox="1"/>
          <p:nvPr/>
        </p:nvSpPr>
        <p:spPr>
          <a:xfrm rot="16200000">
            <a:off x="5697870" y="3462793"/>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643B38D9-8972-DA25-2A9C-FDF7EAD74422}"/>
              </a:ext>
            </a:extLst>
          </p:cNvPr>
          <p:cNvSpPr txBox="1"/>
          <p:nvPr/>
        </p:nvSpPr>
        <p:spPr>
          <a:xfrm>
            <a:off x="6569997" y="1752709"/>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a:t>
            </a:r>
            <a:r>
              <a:rPr lang="en-US" altLang="zh-CN" sz="3600">
                <a:latin typeface="Times New Roman" panose="02020603050405020304" pitchFamily="18" charset="0"/>
                <a:cs typeface="Times New Roman" panose="02020603050405020304" pitchFamily="18" charset="0"/>
              </a:rPr>
              <a:t>Refined Thoracic Region</a:t>
            </a:r>
            <a:endParaRPr lang="en-US" sz="360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6B2DEB29-4D3A-DC5A-F75C-88E06D3F5948}"/>
              </a:ext>
            </a:extLst>
          </p:cNvPr>
          <p:cNvSpPr txBox="1"/>
          <p:nvPr/>
        </p:nvSpPr>
        <p:spPr>
          <a:xfrm>
            <a:off x="-560818" y="1752710"/>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Initial </a:t>
            </a:r>
            <a:r>
              <a:rPr lang="en-US" altLang="zh-CN" sz="3600">
                <a:latin typeface="Times New Roman" panose="02020603050405020304" pitchFamily="18" charset="0"/>
                <a:cs typeface="Times New Roman" panose="02020603050405020304" pitchFamily="18" charset="0"/>
              </a:rPr>
              <a:t>Thoracic </a:t>
            </a:r>
            <a:r>
              <a:rPr lang="en-US" sz="3600">
                <a:latin typeface="Times New Roman" panose="02020603050405020304" pitchFamily="18" charset="0"/>
                <a:cs typeface="Times New Roman" panose="02020603050405020304" pitchFamily="18" charset="0"/>
              </a:rPr>
              <a:t>Region</a:t>
            </a:r>
          </a:p>
        </p:txBody>
      </p:sp>
      <p:sp>
        <p:nvSpPr>
          <p:cNvPr id="27" name="TextBox 26">
            <a:extLst>
              <a:ext uri="{FF2B5EF4-FFF2-40B4-BE49-F238E27FC236}">
                <a16:creationId xmlns:a16="http://schemas.microsoft.com/office/drawing/2014/main" id="{53B65ACA-2BAA-88BD-BA53-308252823E12}"/>
              </a:ext>
            </a:extLst>
          </p:cNvPr>
          <p:cNvSpPr txBox="1"/>
          <p:nvPr/>
        </p:nvSpPr>
        <p:spPr>
          <a:xfrm>
            <a:off x="6428755" y="6002998"/>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S-PSNR Spectrum</a:t>
            </a:r>
          </a:p>
        </p:txBody>
      </p:sp>
      <p:sp>
        <p:nvSpPr>
          <p:cNvPr id="10" name="TextBox 9">
            <a:extLst>
              <a:ext uri="{FF2B5EF4-FFF2-40B4-BE49-F238E27FC236}">
                <a16:creationId xmlns:a16="http://schemas.microsoft.com/office/drawing/2014/main" id="{CC4BF377-5494-7DF9-7FD4-280E08C569D7}"/>
              </a:ext>
            </a:extLst>
          </p:cNvPr>
          <p:cNvSpPr txBox="1"/>
          <p:nvPr/>
        </p:nvSpPr>
        <p:spPr>
          <a:xfrm>
            <a:off x="0" y="-1052"/>
            <a:ext cx="12192000" cy="674370"/>
          </a:xfrm>
          <a:prstGeom prst="rect">
            <a:avLst/>
          </a:prstGeom>
          <a:solidFill>
            <a:srgbClr val="6C2334"/>
          </a:solidFill>
        </p:spPr>
        <p:txBody>
          <a:bodyPr wrap="square" rtlCol="0">
            <a:spAutoFit/>
          </a:bodyPr>
          <a:lstStyle/>
          <a:p>
            <a:endParaRPr lang="en-US"/>
          </a:p>
        </p:txBody>
      </p:sp>
      <p:sp>
        <p:nvSpPr>
          <p:cNvPr id="13" name="TextBox 12">
            <a:extLst>
              <a:ext uri="{FF2B5EF4-FFF2-40B4-BE49-F238E27FC236}">
                <a16:creationId xmlns:a16="http://schemas.microsoft.com/office/drawing/2014/main" id="{59D8CF18-2252-E328-689C-16D7DA1727E5}"/>
              </a:ext>
            </a:extLst>
          </p:cNvPr>
          <p:cNvSpPr txBox="1"/>
          <p:nvPr/>
        </p:nvSpPr>
        <p:spPr>
          <a:xfrm>
            <a:off x="247864" y="-1052"/>
            <a:ext cx="8265515" cy="646331"/>
          </a:xfrm>
          <a:prstGeom prst="rect">
            <a:avLst/>
          </a:prstGeom>
          <a:noFill/>
        </p:spPr>
        <p:txBody>
          <a:bodyPr wrap="square">
            <a:spAutoFit/>
          </a:bodyPr>
          <a:lstStyle/>
          <a:p>
            <a:r>
              <a:rPr lang="en-US" sz="3600" b="1">
                <a:solidFill>
                  <a:srgbClr val="CEB888"/>
                </a:solidFill>
                <a:highlight>
                  <a:srgbClr val="6C2334"/>
                </a:highlight>
                <a:latin typeface="Arial" panose="020B0604020202020204" pitchFamily="34" charset="0"/>
                <a:cs typeface="Arial" panose="020B0604020202020204" pitchFamily="34" charset="0"/>
              </a:rPr>
              <a:t>Localization of the Thoracic Region</a:t>
            </a:r>
          </a:p>
        </p:txBody>
      </p:sp>
      <p:grpSp>
        <p:nvGrpSpPr>
          <p:cNvPr id="34" name="Group 33">
            <a:extLst>
              <a:ext uri="{FF2B5EF4-FFF2-40B4-BE49-F238E27FC236}">
                <a16:creationId xmlns:a16="http://schemas.microsoft.com/office/drawing/2014/main" id="{A6089C99-AA7C-761D-4EDC-EBBA7EFA8F55}"/>
              </a:ext>
            </a:extLst>
          </p:cNvPr>
          <p:cNvGrpSpPr/>
          <p:nvPr/>
        </p:nvGrpSpPr>
        <p:grpSpPr>
          <a:xfrm>
            <a:off x="-867217" y="2442959"/>
            <a:ext cx="6185280" cy="4143594"/>
            <a:chOff x="6284223" y="2026699"/>
            <a:chExt cx="6185280" cy="4143594"/>
          </a:xfrm>
        </p:grpSpPr>
        <p:grpSp>
          <p:nvGrpSpPr>
            <p:cNvPr id="36" name="Group 35">
              <a:extLst>
                <a:ext uri="{FF2B5EF4-FFF2-40B4-BE49-F238E27FC236}">
                  <a16:creationId xmlns:a16="http://schemas.microsoft.com/office/drawing/2014/main" id="{5DE1A50A-1DE9-BA6F-D608-128A4259311C}"/>
                </a:ext>
              </a:extLst>
            </p:cNvPr>
            <p:cNvGrpSpPr/>
            <p:nvPr/>
          </p:nvGrpSpPr>
          <p:grpSpPr>
            <a:xfrm>
              <a:off x="7576976" y="2026699"/>
              <a:ext cx="4386857" cy="3084928"/>
              <a:chOff x="7511361" y="1890791"/>
              <a:chExt cx="4386857" cy="3084928"/>
            </a:xfrm>
          </p:grpSpPr>
          <p:pic>
            <p:nvPicPr>
              <p:cNvPr id="42" name="Picture 41">
                <a:extLst>
                  <a:ext uri="{FF2B5EF4-FFF2-40B4-BE49-F238E27FC236}">
                    <a16:creationId xmlns:a16="http://schemas.microsoft.com/office/drawing/2014/main" id="{B3136D28-4AB2-44B9-D8E8-07B6560952AA}"/>
                  </a:ext>
                </a:extLst>
              </p:cNvPr>
              <p:cNvPicPr>
                <a:picLocks noChangeAspect="1"/>
              </p:cNvPicPr>
              <p:nvPr/>
            </p:nvPicPr>
            <p:blipFill>
              <a:blip r:embed="rId4">
                <a:extLst>
                  <a:ext uri="{28A0092B-C50C-407E-A947-70E740481C1C}">
                    <a14:useLocalDpi xmlns:a14="http://schemas.microsoft.com/office/drawing/2010/main" val="0"/>
                  </a:ext>
                </a:extLst>
              </a:blip>
              <a:srcRect l="22062" t="13464" r="29377" b="64900"/>
              <a:stretch/>
            </p:blipFill>
            <p:spPr>
              <a:xfrm flipH="1">
                <a:off x="8151441" y="2062453"/>
                <a:ext cx="3383280" cy="2640133"/>
              </a:xfrm>
              <a:prstGeom prst="rect">
                <a:avLst/>
              </a:prstGeom>
            </p:spPr>
          </p:pic>
          <p:sp>
            <p:nvSpPr>
              <p:cNvPr id="43" name="Rectangle 42">
                <a:extLst>
                  <a:ext uri="{FF2B5EF4-FFF2-40B4-BE49-F238E27FC236}">
                    <a16:creationId xmlns:a16="http://schemas.microsoft.com/office/drawing/2014/main" id="{46BDF35A-72FF-FD00-B84A-ADF3B3D3DB81}"/>
                  </a:ext>
                </a:extLst>
              </p:cNvPr>
              <p:cNvSpPr>
                <a:spLocks noChangeAspect="1"/>
              </p:cNvSpPr>
              <p:nvPr/>
            </p:nvSpPr>
            <p:spPr>
              <a:xfrm>
                <a:off x="7753271" y="3922220"/>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26AB6679-07FE-D9F0-1835-9D382F6CBB8D}"/>
                  </a:ext>
                </a:extLst>
              </p:cNvPr>
              <p:cNvSpPr>
                <a:spLocks noChangeAspect="1"/>
              </p:cNvSpPr>
              <p:nvPr/>
            </p:nvSpPr>
            <p:spPr>
              <a:xfrm>
                <a:off x="10850867" y="3922221"/>
                <a:ext cx="1047351" cy="8196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Times New Roman" panose="02020603050405020304" pitchFamily="18" charset="0"/>
                  <a:cs typeface="Times New Roman" panose="02020603050405020304" pitchFamily="18" charset="0"/>
                </a:endParaRPr>
              </a:p>
            </p:txBody>
          </p:sp>
          <p:pic>
            <p:nvPicPr>
              <p:cNvPr id="45" name="Picture 44" descr="A graph of rhombuses and diamonds&#10;&#10;AI-generated content may be incorrect.">
                <a:extLst>
                  <a:ext uri="{FF2B5EF4-FFF2-40B4-BE49-F238E27FC236}">
                    <a16:creationId xmlns:a16="http://schemas.microsoft.com/office/drawing/2014/main" id="{11019785-A523-BA02-7424-4B739220DE18}"/>
                  </a:ext>
                </a:extLst>
              </p:cNvPr>
              <p:cNvPicPr>
                <a:picLocks noChangeAspect="1"/>
              </p:cNvPicPr>
              <p:nvPr/>
            </p:nvPicPr>
            <p:blipFill>
              <a:blip r:embed="rId5">
                <a:alphaModFix amt="85000"/>
                <a:extLst>
                  <a:ext uri="{28A0092B-C50C-407E-A947-70E740481C1C}">
                    <a14:useLocalDpi xmlns:a14="http://schemas.microsoft.com/office/drawing/2010/main" val="0"/>
                  </a:ext>
                </a:extLst>
              </a:blip>
              <a:stretch>
                <a:fillRect/>
              </a:stretch>
            </p:blipFill>
            <p:spPr>
              <a:xfrm>
                <a:off x="7511361" y="1890791"/>
                <a:ext cx="4023360" cy="3084928"/>
              </a:xfrm>
              <a:prstGeom prst="rect">
                <a:avLst/>
              </a:prstGeom>
            </p:spPr>
          </p:pic>
        </p:grpSp>
        <p:sp>
          <p:nvSpPr>
            <p:cNvPr id="37" name="文本框 80">
              <a:extLst>
                <a:ext uri="{FF2B5EF4-FFF2-40B4-BE49-F238E27FC236}">
                  <a16:creationId xmlns:a16="http://schemas.microsoft.com/office/drawing/2014/main" id="{659D7F96-5C76-D9E8-D0B9-B95DD0350A4C}"/>
                </a:ext>
              </a:extLst>
            </p:cNvPr>
            <p:cNvSpPr txBox="1"/>
            <p:nvPr/>
          </p:nvSpPr>
          <p:spPr>
            <a:xfrm>
              <a:off x="8374037" y="5088178"/>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38" name="文本框 80">
              <a:extLst>
                <a:ext uri="{FF2B5EF4-FFF2-40B4-BE49-F238E27FC236}">
                  <a16:creationId xmlns:a16="http://schemas.microsoft.com/office/drawing/2014/main" id="{ACBBB073-F7D4-2323-8E28-E60E43480B89}"/>
                </a:ext>
              </a:extLst>
            </p:cNvPr>
            <p:cNvSpPr txBox="1"/>
            <p:nvPr/>
          </p:nvSpPr>
          <p:spPr>
            <a:xfrm rot="16200000">
              <a:off x="6057281" y="3535420"/>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D3AD967F-B8FF-9456-07A1-28FCBED92EEC}"/>
                </a:ext>
              </a:extLst>
            </p:cNvPr>
            <p:cNvSpPr txBox="1"/>
            <p:nvPr/>
          </p:nvSpPr>
          <p:spPr>
            <a:xfrm>
              <a:off x="6284223" y="5523962"/>
              <a:ext cx="6185280" cy="646331"/>
            </a:xfrm>
            <a:prstGeom prst="rect">
              <a:avLst/>
            </a:prstGeom>
            <a:noFill/>
          </p:spPr>
          <p:txBody>
            <a:bodyPr wrap="square">
              <a:spAutoFit/>
            </a:bodyPr>
            <a:lstStyle/>
            <a:p>
              <a:pPr lvl="0" algn="ctr">
                <a:defRPr/>
              </a:pPr>
              <a:r>
                <a:rPr lang="en-US" sz="3600">
                  <a:latin typeface="Times New Roman" panose="02020603050405020304" pitchFamily="18" charset="0"/>
                  <a:cs typeface="Times New Roman" panose="02020603050405020304" pitchFamily="18" charset="0"/>
                </a:rPr>
                <a:t> S-PSNR Spectrum</a:t>
              </a:r>
            </a:p>
          </p:txBody>
        </p:sp>
      </p:grpSp>
      <p:grpSp>
        <p:nvGrpSpPr>
          <p:cNvPr id="46" name="Group 45">
            <a:extLst>
              <a:ext uri="{FF2B5EF4-FFF2-40B4-BE49-F238E27FC236}">
                <a16:creationId xmlns:a16="http://schemas.microsoft.com/office/drawing/2014/main" id="{25A7CB6B-DFDA-7B14-77C4-8B8189CA32EB}"/>
              </a:ext>
            </a:extLst>
          </p:cNvPr>
          <p:cNvGrpSpPr/>
          <p:nvPr/>
        </p:nvGrpSpPr>
        <p:grpSpPr>
          <a:xfrm>
            <a:off x="-7832569" y="2005005"/>
            <a:ext cx="6185280" cy="4181093"/>
            <a:chOff x="-94268" y="2005005"/>
            <a:chExt cx="6185280" cy="4181093"/>
          </a:xfrm>
        </p:grpSpPr>
        <p:grpSp>
          <p:nvGrpSpPr>
            <p:cNvPr id="47" name="Group 46">
              <a:extLst>
                <a:ext uri="{FF2B5EF4-FFF2-40B4-BE49-F238E27FC236}">
                  <a16:creationId xmlns:a16="http://schemas.microsoft.com/office/drawing/2014/main" id="{BB543992-F3D4-7286-F47F-9CFA8C6199EC}"/>
                </a:ext>
              </a:extLst>
            </p:cNvPr>
            <p:cNvGrpSpPr/>
            <p:nvPr/>
          </p:nvGrpSpPr>
          <p:grpSpPr>
            <a:xfrm>
              <a:off x="1774215" y="2005005"/>
              <a:ext cx="2840811" cy="2330168"/>
              <a:chOff x="9517569" y="1796836"/>
              <a:chExt cx="2074374" cy="1701500"/>
            </a:xfrm>
          </p:grpSpPr>
          <p:sp>
            <p:nvSpPr>
              <p:cNvPr id="59" name="Cube 58">
                <a:extLst>
                  <a:ext uri="{FF2B5EF4-FFF2-40B4-BE49-F238E27FC236}">
                    <a16:creationId xmlns:a16="http://schemas.microsoft.com/office/drawing/2014/main" id="{00B80BEF-7A49-7932-697F-D4002EC9889D}"/>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60" name="Picture 59">
                <a:extLst>
                  <a:ext uri="{FF2B5EF4-FFF2-40B4-BE49-F238E27FC236}">
                    <a16:creationId xmlns:a16="http://schemas.microsoft.com/office/drawing/2014/main" id="{AD5B4B23-95F7-71FF-CB33-2FEC6EE51CBE}"/>
                  </a:ext>
                </a:extLst>
              </p:cNvPr>
              <p:cNvPicPr>
                <a:picLocks noChangeAspect="1"/>
              </p:cNvPicPr>
              <p:nvPr/>
            </p:nvPicPr>
            <p:blipFill>
              <a:blip r:embed="rId6"/>
              <a:stretch>
                <a:fillRect/>
              </a:stretch>
            </p:blipFill>
            <p:spPr>
              <a:xfrm>
                <a:off x="9550935" y="1938326"/>
                <a:ext cx="1909094" cy="1560010"/>
              </a:xfrm>
              <a:prstGeom prst="rect">
                <a:avLst/>
              </a:prstGeom>
            </p:spPr>
          </p:pic>
        </p:grpSp>
        <p:grpSp>
          <p:nvGrpSpPr>
            <p:cNvPr id="48" name="Group 47">
              <a:extLst>
                <a:ext uri="{FF2B5EF4-FFF2-40B4-BE49-F238E27FC236}">
                  <a16:creationId xmlns:a16="http://schemas.microsoft.com/office/drawing/2014/main" id="{B90FBAEB-E28F-3201-FC78-D6766F0CC726}"/>
                </a:ext>
              </a:extLst>
            </p:cNvPr>
            <p:cNvGrpSpPr/>
            <p:nvPr/>
          </p:nvGrpSpPr>
          <p:grpSpPr>
            <a:xfrm>
              <a:off x="1342273" y="2482307"/>
              <a:ext cx="2840811" cy="2330168"/>
              <a:chOff x="9517569" y="1796836"/>
              <a:chExt cx="2074374" cy="1701500"/>
            </a:xfrm>
          </p:grpSpPr>
          <p:sp>
            <p:nvSpPr>
              <p:cNvPr id="57" name="Cube 56">
                <a:extLst>
                  <a:ext uri="{FF2B5EF4-FFF2-40B4-BE49-F238E27FC236}">
                    <a16:creationId xmlns:a16="http://schemas.microsoft.com/office/drawing/2014/main" id="{59D3500D-3EF6-9F15-83F0-F4055EF4D376}"/>
                  </a:ext>
                </a:extLst>
              </p:cNvPr>
              <p:cNvSpPr>
                <a:spLocks noChangeAspect="1"/>
              </p:cNvSpPr>
              <p:nvPr/>
            </p:nvSpPr>
            <p:spPr>
              <a:xfrm>
                <a:off x="9517569" y="1796836"/>
                <a:ext cx="2074374" cy="1672164"/>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58" name="Picture 57">
                <a:extLst>
                  <a:ext uri="{FF2B5EF4-FFF2-40B4-BE49-F238E27FC236}">
                    <a16:creationId xmlns:a16="http://schemas.microsoft.com/office/drawing/2014/main" id="{F099208C-7E31-7BFB-7867-20CE0C746F26}"/>
                  </a:ext>
                </a:extLst>
              </p:cNvPr>
              <p:cNvPicPr>
                <a:picLocks noChangeAspect="1"/>
              </p:cNvPicPr>
              <p:nvPr/>
            </p:nvPicPr>
            <p:blipFill>
              <a:blip r:embed="rId6"/>
              <a:stretch>
                <a:fillRect/>
              </a:stretch>
            </p:blipFill>
            <p:spPr>
              <a:xfrm>
                <a:off x="9550935" y="1938326"/>
                <a:ext cx="1909094" cy="1560010"/>
              </a:xfrm>
              <a:prstGeom prst="rect">
                <a:avLst/>
              </a:prstGeom>
            </p:spPr>
          </p:pic>
        </p:grpSp>
        <p:sp>
          <p:nvSpPr>
            <p:cNvPr id="49" name="Cube 48">
              <a:extLst>
                <a:ext uri="{FF2B5EF4-FFF2-40B4-BE49-F238E27FC236}">
                  <a16:creationId xmlns:a16="http://schemas.microsoft.com/office/drawing/2014/main" id="{478AD023-EFB2-2146-76D4-CB07412BD27A}"/>
                </a:ext>
              </a:extLst>
            </p:cNvPr>
            <p:cNvSpPr>
              <a:spLocks noChangeAspect="1"/>
            </p:cNvSpPr>
            <p:nvPr/>
          </p:nvSpPr>
          <p:spPr>
            <a:xfrm>
              <a:off x="1093808" y="2749334"/>
              <a:ext cx="2840811" cy="2289993"/>
            </a:xfrm>
            <a:prstGeom prst="cube">
              <a:avLst>
                <a:gd name="adj" fmla="val 6909"/>
              </a:avLst>
            </a:prstGeom>
            <a:solidFill>
              <a:srgbClr val="D9E5F0"/>
            </a:solidFill>
            <a:ln>
              <a:solidFill>
                <a:srgbClr val="D9E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pic>
          <p:nvPicPr>
            <p:cNvPr id="50" name="Picture 49">
              <a:extLst>
                <a:ext uri="{FF2B5EF4-FFF2-40B4-BE49-F238E27FC236}">
                  <a16:creationId xmlns:a16="http://schemas.microsoft.com/office/drawing/2014/main" id="{F1200EDC-7EA6-4A1C-7A3C-FF3237E4372D}"/>
                </a:ext>
              </a:extLst>
            </p:cNvPr>
            <p:cNvPicPr>
              <a:picLocks noChangeAspect="1"/>
            </p:cNvPicPr>
            <p:nvPr/>
          </p:nvPicPr>
          <p:blipFill>
            <a:blip r:embed="rId6"/>
            <a:stretch>
              <a:fillRect/>
            </a:stretch>
          </p:blipFill>
          <p:spPr>
            <a:xfrm>
              <a:off x="1148704" y="2889372"/>
              <a:ext cx="2614463" cy="2136400"/>
            </a:xfrm>
            <a:prstGeom prst="rect">
              <a:avLst/>
            </a:prstGeom>
          </p:spPr>
        </p:pic>
        <p:sp>
          <p:nvSpPr>
            <p:cNvPr id="51" name="TextBox 50">
              <a:extLst>
                <a:ext uri="{FF2B5EF4-FFF2-40B4-BE49-F238E27FC236}">
                  <a16:creationId xmlns:a16="http://schemas.microsoft.com/office/drawing/2014/main" id="{6EFAFF46-A7F0-9D12-7912-B0E56868D72C}"/>
                </a:ext>
              </a:extLst>
            </p:cNvPr>
            <p:cNvSpPr txBox="1"/>
            <p:nvPr/>
          </p:nvSpPr>
          <p:spPr>
            <a:xfrm>
              <a:off x="-94268" y="5539767"/>
              <a:ext cx="6185280" cy="646331"/>
            </a:xfrm>
            <a:prstGeom prst="rect">
              <a:avLst/>
            </a:prstGeom>
            <a:noFill/>
          </p:spPr>
          <p:txBody>
            <a:bodyPr wrap="square">
              <a:spAutoFit/>
            </a:bodyPr>
            <a:lstStyle/>
            <a:p>
              <a:pPr lvl="0" algn="ctr">
                <a:defRPr/>
              </a:pPr>
              <a:r>
                <a:rPr lang="en-US" sz="3600" b="1">
                  <a:latin typeface="Times New Roman" panose="02020603050405020304" pitchFamily="18" charset="0"/>
                  <a:cs typeface="Times New Roman" panose="02020603050405020304" pitchFamily="18" charset="0"/>
                </a:rPr>
                <a:t> </a:t>
              </a:r>
              <a:r>
                <a:rPr lang="en-US" sz="3600">
                  <a:latin typeface="Times New Roman" panose="02020603050405020304" pitchFamily="18" charset="0"/>
                  <a:cs typeface="Times New Roman" panose="02020603050405020304" pitchFamily="18" charset="0"/>
                </a:rPr>
                <a:t>3D Spatial Spectra</a:t>
              </a:r>
              <a:endParaRPr lang="en-US" sz="3600" b="1">
                <a:latin typeface="Times New Roman" panose="02020603050405020304" pitchFamily="18" charset="0"/>
                <a:cs typeface="Times New Roman" panose="02020603050405020304" pitchFamily="18" charset="0"/>
              </a:endParaRPr>
            </a:p>
          </p:txBody>
        </p:sp>
        <p:sp>
          <p:nvSpPr>
            <p:cNvPr id="52" name="文本框 80">
              <a:extLst>
                <a:ext uri="{FF2B5EF4-FFF2-40B4-BE49-F238E27FC236}">
                  <a16:creationId xmlns:a16="http://schemas.microsoft.com/office/drawing/2014/main" id="{D2176E9F-6397-14B3-1422-C27AABB835A1}"/>
                </a:ext>
              </a:extLst>
            </p:cNvPr>
            <p:cNvSpPr txBox="1"/>
            <p:nvPr/>
          </p:nvSpPr>
          <p:spPr>
            <a:xfrm rot="18919217">
              <a:off x="2890904" y="4115826"/>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t>
              </a:r>
              <a:endParaRPr lang="zh-CN" altLang="en-US" sz="3600">
                <a:latin typeface="Times New Roman" panose="02020603050405020304" pitchFamily="18" charset="0"/>
                <a:cs typeface="Times New Roman" panose="02020603050405020304" pitchFamily="18" charset="0"/>
              </a:endParaRPr>
            </a:p>
          </p:txBody>
        </p:sp>
        <p:sp>
          <p:nvSpPr>
            <p:cNvPr id="53" name="文本框 80">
              <a:extLst>
                <a:ext uri="{FF2B5EF4-FFF2-40B4-BE49-F238E27FC236}">
                  <a16:creationId xmlns:a16="http://schemas.microsoft.com/office/drawing/2014/main" id="{ACA20919-1E2C-51F1-2D84-B714A569C37B}"/>
                </a:ext>
              </a:extLst>
            </p:cNvPr>
            <p:cNvSpPr txBox="1"/>
            <p:nvPr/>
          </p:nvSpPr>
          <p:spPr>
            <a:xfrm rot="18919217">
              <a:off x="3197539" y="4533960"/>
              <a:ext cx="2838696"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Time</a:t>
              </a:r>
              <a:endParaRPr lang="zh-CN" altLang="en-US" sz="3600">
                <a:latin typeface="Times New Roman" panose="02020603050405020304" pitchFamily="18" charset="0"/>
                <a:cs typeface="Times New Roman" panose="02020603050405020304" pitchFamily="18" charset="0"/>
              </a:endParaRPr>
            </a:p>
          </p:txBody>
        </p:sp>
        <p:sp>
          <p:nvSpPr>
            <p:cNvPr id="54" name="文本框 80">
              <a:extLst>
                <a:ext uri="{FF2B5EF4-FFF2-40B4-BE49-F238E27FC236}">
                  <a16:creationId xmlns:a16="http://schemas.microsoft.com/office/drawing/2014/main" id="{39D96934-5712-18EB-D679-338D5B161F9C}"/>
                </a:ext>
              </a:extLst>
            </p:cNvPr>
            <p:cNvSpPr txBox="1"/>
            <p:nvPr/>
          </p:nvSpPr>
          <p:spPr>
            <a:xfrm>
              <a:off x="1183450" y="5084349"/>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Azimuth</a:t>
              </a:r>
              <a:endParaRPr lang="zh-CN" altLang="en-US" sz="3600">
                <a:latin typeface="Times New Roman" panose="02020603050405020304" pitchFamily="18" charset="0"/>
                <a:cs typeface="Times New Roman" panose="02020603050405020304" pitchFamily="18" charset="0"/>
              </a:endParaRPr>
            </a:p>
          </p:txBody>
        </p:sp>
        <p:sp>
          <p:nvSpPr>
            <p:cNvPr id="56" name="文本框 80">
              <a:extLst>
                <a:ext uri="{FF2B5EF4-FFF2-40B4-BE49-F238E27FC236}">
                  <a16:creationId xmlns:a16="http://schemas.microsoft.com/office/drawing/2014/main" id="{C7D2E1FA-D636-800F-77F5-047C24AFD1D9}"/>
                </a:ext>
              </a:extLst>
            </p:cNvPr>
            <p:cNvSpPr txBox="1"/>
            <p:nvPr/>
          </p:nvSpPr>
          <p:spPr>
            <a:xfrm rot="16200000">
              <a:off x="-650183" y="3608127"/>
              <a:ext cx="263451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Elevation</a:t>
              </a:r>
              <a:endParaRPr lang="zh-CN" altLang="en-US" sz="36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94064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DFEC2-9C3A-C14F-0B29-7020B346F3E0}"/>
            </a:ext>
          </a:extLst>
        </p:cNvPr>
        <p:cNvGrpSpPr/>
        <p:nvPr/>
      </p:nvGrpSpPr>
      <p:grpSpPr>
        <a:xfrm>
          <a:off x="0" y="0"/>
          <a:ext cx="0" cy="0"/>
          <a:chOff x="0" y="0"/>
          <a:chExt cx="0" cy="0"/>
        </a:xfrm>
      </p:grpSpPr>
      <p:pic>
        <p:nvPicPr>
          <p:cNvPr id="7" name="Picture 24">
            <a:extLst>
              <a:ext uri="{FF2B5EF4-FFF2-40B4-BE49-F238E27FC236}">
                <a16:creationId xmlns:a16="http://schemas.microsoft.com/office/drawing/2014/main" id="{6821574B-A247-9FDB-6E0B-CA6C656D4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1198" y="1095050"/>
            <a:ext cx="7954473" cy="11936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70D13FF6-4FD9-A77B-9D85-E028C40C8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1198" y="3440512"/>
            <a:ext cx="7954473" cy="11936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8">
            <a:extLst>
              <a:ext uri="{FF2B5EF4-FFF2-40B4-BE49-F238E27FC236}">
                <a16:creationId xmlns:a16="http://schemas.microsoft.com/office/drawing/2014/main" id="{9A3699E2-90FF-0771-C900-C9BBD72052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1198" y="5300851"/>
            <a:ext cx="7954473" cy="119366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80">
            <a:extLst>
              <a:ext uri="{FF2B5EF4-FFF2-40B4-BE49-F238E27FC236}">
                <a16:creationId xmlns:a16="http://schemas.microsoft.com/office/drawing/2014/main" id="{2095D1F8-5214-FED3-05DC-9A34EC86010E}"/>
              </a:ext>
            </a:extLst>
          </p:cNvPr>
          <p:cNvSpPr txBox="1"/>
          <p:nvPr/>
        </p:nvSpPr>
        <p:spPr>
          <a:xfrm>
            <a:off x="4106196" y="6308949"/>
            <a:ext cx="3979607"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Time (s)</a:t>
            </a:r>
            <a:endParaRPr lang="zh-CN" altLang="en-US" sz="3600">
              <a:latin typeface="Times New Roman" panose="02020603050405020304" pitchFamily="18" charset="0"/>
              <a:cs typeface="Times New Roman" panose="02020603050405020304" pitchFamily="18" charset="0"/>
            </a:endParaRPr>
          </a:p>
        </p:txBody>
      </p:sp>
      <p:sp>
        <p:nvSpPr>
          <p:cNvPr id="11" name="文本框 80">
            <a:extLst>
              <a:ext uri="{FF2B5EF4-FFF2-40B4-BE49-F238E27FC236}">
                <a16:creationId xmlns:a16="http://schemas.microsoft.com/office/drawing/2014/main" id="{41A2454E-900B-02F3-7208-0201FB0AD439}"/>
              </a:ext>
            </a:extLst>
          </p:cNvPr>
          <p:cNvSpPr txBox="1"/>
          <p:nvPr/>
        </p:nvSpPr>
        <p:spPr>
          <a:xfrm>
            <a:off x="4308938" y="2045366"/>
            <a:ext cx="6108972" cy="646331"/>
          </a:xfrm>
          <a:prstGeom prst="rect">
            <a:avLst/>
          </a:prstGeom>
          <a:noFill/>
        </p:spPr>
        <p:txBody>
          <a:bodyPr wrap="square" rtlCol="0">
            <a:spAutoFit/>
          </a:bodyPr>
          <a:lstStyle/>
          <a:p>
            <a:pPr algn="ctr"/>
            <a:r>
              <a:rPr lang="en-US" altLang="zh-CN" sz="3600">
                <a:solidFill>
                  <a:srgbClr val="CEB888"/>
                </a:solidFill>
                <a:latin typeface="Times New Roman" panose="02020603050405020304" pitchFamily="18" charset="0"/>
                <a:cs typeface="Times New Roman" panose="02020603050405020304" pitchFamily="18" charset="0"/>
              </a:rPr>
              <a:t>Separation and combination </a:t>
            </a:r>
          </a:p>
        </p:txBody>
      </p:sp>
      <p:sp>
        <p:nvSpPr>
          <p:cNvPr id="12" name="文本框 80">
            <a:extLst>
              <a:ext uri="{FF2B5EF4-FFF2-40B4-BE49-F238E27FC236}">
                <a16:creationId xmlns:a16="http://schemas.microsoft.com/office/drawing/2014/main" id="{BB9BEF59-3C9E-01AC-53A8-D1863E6F8257}"/>
              </a:ext>
            </a:extLst>
          </p:cNvPr>
          <p:cNvSpPr txBox="1"/>
          <p:nvPr/>
        </p:nvSpPr>
        <p:spPr>
          <a:xfrm>
            <a:off x="5291989" y="4404521"/>
            <a:ext cx="4133135" cy="646331"/>
          </a:xfrm>
          <a:prstGeom prst="rect">
            <a:avLst/>
          </a:prstGeom>
          <a:noFill/>
        </p:spPr>
        <p:txBody>
          <a:bodyPr wrap="square" rtlCol="0">
            <a:spAutoFit/>
          </a:bodyPr>
          <a:lstStyle/>
          <a:p>
            <a:pPr algn="ctr"/>
            <a:r>
              <a:rPr lang="en-US" sz="3600">
                <a:solidFill>
                  <a:srgbClr val="CEB888"/>
                </a:solidFill>
                <a:latin typeface="Times New Roman" panose="02020603050405020304" pitchFamily="18" charset="0"/>
                <a:cs typeface="Times New Roman" panose="02020603050405020304" pitchFamily="18" charset="0"/>
              </a:rPr>
              <a:t>Respiration Removal</a:t>
            </a:r>
            <a:endParaRPr lang="zh-CN" altLang="en-US" sz="3600">
              <a:solidFill>
                <a:srgbClr val="CEB888"/>
              </a:solidFill>
              <a:latin typeface="Times New Roman" panose="02020603050405020304" pitchFamily="18" charset="0"/>
              <a:cs typeface="Times New Roman" panose="02020603050405020304" pitchFamily="18" charset="0"/>
            </a:endParaRPr>
          </a:p>
        </p:txBody>
      </p:sp>
      <p:sp>
        <p:nvSpPr>
          <p:cNvPr id="13" name="文本框 80">
            <a:extLst>
              <a:ext uri="{FF2B5EF4-FFF2-40B4-BE49-F238E27FC236}">
                <a16:creationId xmlns:a16="http://schemas.microsoft.com/office/drawing/2014/main" id="{EE06156B-1684-5591-AF5B-9B45E07C28D0}"/>
              </a:ext>
            </a:extLst>
          </p:cNvPr>
          <p:cNvSpPr txBox="1"/>
          <p:nvPr/>
        </p:nvSpPr>
        <p:spPr>
          <a:xfrm>
            <a:off x="1107315" y="544622"/>
            <a:ext cx="9977370"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3D-Spectrum Signal (from Refined Thoracic Region)</a:t>
            </a:r>
            <a:endParaRPr lang="zh-CN" altLang="en-US" sz="360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9102D3-60D5-C56D-E952-4509D4AE0889}"/>
              </a:ext>
            </a:extLst>
          </p:cNvPr>
          <p:cNvSpPr txBox="1"/>
          <p:nvPr/>
        </p:nvSpPr>
        <p:spPr>
          <a:xfrm>
            <a:off x="0" y="-479"/>
            <a:ext cx="12192000" cy="674370"/>
          </a:xfrm>
          <a:prstGeom prst="rect">
            <a:avLst/>
          </a:prstGeom>
          <a:solidFill>
            <a:srgbClr val="6C2334"/>
          </a:solidFill>
        </p:spPr>
        <p:txBody>
          <a:bodyPr wrap="square" rtlCol="0">
            <a:spAutoFit/>
          </a:bodyPr>
          <a:lstStyle/>
          <a:p>
            <a:endParaRPr lang="en-US"/>
          </a:p>
        </p:txBody>
      </p:sp>
      <p:sp>
        <p:nvSpPr>
          <p:cNvPr id="4" name="TextBox 3">
            <a:extLst>
              <a:ext uri="{FF2B5EF4-FFF2-40B4-BE49-F238E27FC236}">
                <a16:creationId xmlns:a16="http://schemas.microsoft.com/office/drawing/2014/main" id="{784DDD05-371D-B265-EB21-24C81BBEB143}"/>
              </a:ext>
            </a:extLst>
          </p:cNvPr>
          <p:cNvSpPr txBox="1"/>
          <p:nvPr/>
        </p:nvSpPr>
        <p:spPr>
          <a:xfrm>
            <a:off x="247864" y="-479"/>
            <a:ext cx="10637850" cy="646331"/>
          </a:xfrm>
          <a:prstGeom prst="rect">
            <a:avLst/>
          </a:prstGeom>
          <a:noFill/>
        </p:spPr>
        <p:txBody>
          <a:bodyPr wrap="square">
            <a:spAutoFit/>
          </a:bodyPr>
          <a:lstStyle/>
          <a:p>
            <a:r>
              <a:rPr lang="en-US" sz="3600" b="1">
                <a:solidFill>
                  <a:srgbClr val="CEB888"/>
                </a:solidFill>
                <a:highlight>
                  <a:srgbClr val="6C2334"/>
                </a:highlight>
                <a:latin typeface="Arial" panose="020B0604020202020204" pitchFamily="34" charset="0"/>
                <a:cs typeface="Arial" panose="020B0604020202020204" pitchFamily="34" charset="0"/>
              </a:rPr>
              <a:t>Respiration and Heartbeat Signal Extraction</a:t>
            </a:r>
          </a:p>
        </p:txBody>
      </p:sp>
      <p:sp>
        <p:nvSpPr>
          <p:cNvPr id="14" name="Arrow: Right 13">
            <a:extLst>
              <a:ext uri="{FF2B5EF4-FFF2-40B4-BE49-F238E27FC236}">
                <a16:creationId xmlns:a16="http://schemas.microsoft.com/office/drawing/2014/main" id="{58D36AB5-7648-C765-B927-8C8BD9493BA0}"/>
              </a:ext>
            </a:extLst>
          </p:cNvPr>
          <p:cNvSpPr/>
          <p:nvPr/>
        </p:nvSpPr>
        <p:spPr>
          <a:xfrm rot="5400000">
            <a:off x="2750968" y="2082902"/>
            <a:ext cx="752946"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solidFill>
                <a:schemeClr val="tx1"/>
              </a:solidFill>
            </a:endParaRPr>
          </a:p>
        </p:txBody>
      </p:sp>
      <p:sp>
        <p:nvSpPr>
          <p:cNvPr id="15" name="文本框 80">
            <a:extLst>
              <a:ext uri="{FF2B5EF4-FFF2-40B4-BE49-F238E27FC236}">
                <a16:creationId xmlns:a16="http://schemas.microsoft.com/office/drawing/2014/main" id="{96DEE5F2-A1D1-2072-7015-9155A4F73D9F}"/>
              </a:ext>
            </a:extLst>
          </p:cNvPr>
          <p:cNvSpPr txBox="1"/>
          <p:nvPr/>
        </p:nvSpPr>
        <p:spPr>
          <a:xfrm>
            <a:off x="2797466" y="2909007"/>
            <a:ext cx="672039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Respiration Patterns</a:t>
            </a:r>
            <a:endParaRPr lang="zh-CN" altLang="en-US" sz="3600">
              <a:latin typeface="Times New Roman" panose="02020603050405020304" pitchFamily="18" charset="0"/>
              <a:cs typeface="Times New Roman" panose="02020603050405020304" pitchFamily="18" charset="0"/>
            </a:endParaRPr>
          </a:p>
        </p:txBody>
      </p:sp>
      <p:sp>
        <p:nvSpPr>
          <p:cNvPr id="2" name="文本框 80">
            <a:extLst>
              <a:ext uri="{FF2B5EF4-FFF2-40B4-BE49-F238E27FC236}">
                <a16:creationId xmlns:a16="http://schemas.microsoft.com/office/drawing/2014/main" id="{5EACBC9E-A990-411C-087A-BB8502400D99}"/>
              </a:ext>
            </a:extLst>
          </p:cNvPr>
          <p:cNvSpPr txBox="1"/>
          <p:nvPr/>
        </p:nvSpPr>
        <p:spPr>
          <a:xfrm>
            <a:off x="4967798" y="2536480"/>
            <a:ext cx="4791252" cy="646331"/>
          </a:xfrm>
          <a:prstGeom prst="rect">
            <a:avLst/>
          </a:prstGeom>
          <a:noFill/>
        </p:spPr>
        <p:txBody>
          <a:bodyPr wrap="square" rtlCol="0">
            <a:spAutoFit/>
          </a:bodyPr>
          <a:lstStyle/>
          <a:p>
            <a:pPr algn="ctr"/>
            <a:r>
              <a:rPr lang="en-US" altLang="zh-CN" sz="3600">
                <a:solidFill>
                  <a:srgbClr val="CEB888"/>
                </a:solidFill>
                <a:latin typeface="Times New Roman" panose="02020603050405020304" pitchFamily="18" charset="0"/>
                <a:cs typeface="Times New Roman" panose="02020603050405020304" pitchFamily="18" charset="0"/>
              </a:rPr>
              <a:t>by EMD-based method</a:t>
            </a:r>
            <a:endParaRPr lang="zh-CN" altLang="en-US" sz="3600">
              <a:solidFill>
                <a:srgbClr val="CEB888"/>
              </a:solidFill>
              <a:latin typeface="Times New Roman" panose="02020603050405020304" pitchFamily="18" charset="0"/>
              <a:cs typeface="Times New Roman" panose="02020603050405020304" pitchFamily="18" charset="0"/>
            </a:endParaRPr>
          </a:p>
        </p:txBody>
      </p:sp>
      <p:sp>
        <p:nvSpPr>
          <p:cNvPr id="5" name="文本框 80">
            <a:extLst>
              <a:ext uri="{FF2B5EF4-FFF2-40B4-BE49-F238E27FC236}">
                <a16:creationId xmlns:a16="http://schemas.microsoft.com/office/drawing/2014/main" id="{7FE1A023-37D3-C886-112E-BD59128DDAF6}"/>
              </a:ext>
            </a:extLst>
          </p:cNvPr>
          <p:cNvSpPr txBox="1"/>
          <p:nvPr/>
        </p:nvSpPr>
        <p:spPr>
          <a:xfrm>
            <a:off x="3523834" y="4802120"/>
            <a:ext cx="5267658" cy="646331"/>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Heartbeat Signal Candidate</a:t>
            </a:r>
            <a:endParaRPr lang="zh-CN" altLang="en-US" sz="3600">
              <a:latin typeface="Times New Roman" panose="02020603050405020304" pitchFamily="18" charset="0"/>
              <a:cs typeface="Times New Roman" panose="02020603050405020304" pitchFamily="18" charset="0"/>
            </a:endParaRPr>
          </a:p>
        </p:txBody>
      </p:sp>
      <p:sp>
        <p:nvSpPr>
          <p:cNvPr id="6" name="Arrow: Right 5">
            <a:extLst>
              <a:ext uri="{FF2B5EF4-FFF2-40B4-BE49-F238E27FC236}">
                <a16:creationId xmlns:a16="http://schemas.microsoft.com/office/drawing/2014/main" id="{0627BEF0-F243-B813-F236-4EC6168C8554}"/>
              </a:ext>
            </a:extLst>
          </p:cNvPr>
          <p:cNvSpPr/>
          <p:nvPr/>
        </p:nvSpPr>
        <p:spPr>
          <a:xfrm rot="5400000">
            <a:off x="2750967" y="4371217"/>
            <a:ext cx="752946" cy="1128913"/>
          </a:xfrm>
          <a:prstGeom prst="rightArrow">
            <a:avLst/>
          </a:prstGeom>
          <a:solidFill>
            <a:srgbClr val="CEB8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solidFill>
                <a:schemeClr val="tx1"/>
              </a:solidFill>
            </a:endParaRPr>
          </a:p>
        </p:txBody>
      </p:sp>
      <p:sp>
        <p:nvSpPr>
          <p:cNvPr id="16" name="Slide Number Placeholder 3">
            <a:extLst>
              <a:ext uri="{FF2B5EF4-FFF2-40B4-BE49-F238E27FC236}">
                <a16:creationId xmlns:a16="http://schemas.microsoft.com/office/drawing/2014/main" id="{06713828-B991-F597-D9A6-73A6C737A48A}"/>
              </a:ext>
            </a:extLst>
          </p:cNvPr>
          <p:cNvSpPr>
            <a:spLocks noGrp="1"/>
          </p:cNvSpPr>
          <p:nvPr>
            <p:ph type="sldNum" sz="quarter" idx="12"/>
          </p:nvPr>
        </p:nvSpPr>
        <p:spPr>
          <a:xfrm>
            <a:off x="10417910" y="6452778"/>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Times New Roman" panose="02020603050405020304" pitchFamily="18" charset="0"/>
                <a:cs typeface="Times New Roman" panose="02020603050405020304" pitchFamily="18" charset="0"/>
              </a:rPr>
              <a:t>5</a:t>
            </a: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137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par>
                                <p:cTn id="19" presetID="22" presetClass="entr" presetSubtype="1"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up)">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up)">
                                      <p:cBhvr>
                                        <p:cTn id="34" dur="500"/>
                                        <p:tgtEl>
                                          <p:spTgt spid="5"/>
                                        </p:tgtEl>
                                      </p:cBhvr>
                                    </p:animEffect>
                                  </p:childTnLst>
                                </p:cTn>
                              </p:par>
                              <p:par>
                                <p:cTn id="35" presetID="22" presetClass="entr" presetSubtype="1"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up)">
                                      <p:cBhvr>
                                        <p:cTn id="37" dur="500"/>
                                        <p:tgtEl>
                                          <p:spTgt spid="9"/>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4" grpId="0" animBg="1"/>
      <p:bldP spid="15" grpId="0"/>
      <p:bldP spid="2" grpId="0"/>
      <p:bldP spid="5"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9A347-7D53-1F82-2E86-7E55268DD0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E1138E-34BB-6AB9-7632-4DFC52A80016}"/>
              </a:ext>
            </a:extLst>
          </p:cNvPr>
          <p:cNvSpPr txBox="1"/>
          <p:nvPr/>
        </p:nvSpPr>
        <p:spPr>
          <a:xfrm>
            <a:off x="0" y="-21404"/>
            <a:ext cx="12192000" cy="674370"/>
          </a:xfrm>
          <a:prstGeom prst="rect">
            <a:avLst/>
          </a:prstGeom>
          <a:solidFill>
            <a:srgbClr val="6C2334"/>
          </a:solidFill>
        </p:spPr>
        <p:txBody>
          <a:bodyPr wrap="square" rtlCol="0">
            <a:spAutoFit/>
          </a:bodyPr>
          <a:lstStyle/>
          <a:p>
            <a:endParaRPr lang="en-US"/>
          </a:p>
        </p:txBody>
      </p:sp>
      <p:sp>
        <p:nvSpPr>
          <p:cNvPr id="4" name="TextBox 3">
            <a:extLst>
              <a:ext uri="{FF2B5EF4-FFF2-40B4-BE49-F238E27FC236}">
                <a16:creationId xmlns:a16="http://schemas.microsoft.com/office/drawing/2014/main" id="{804655D8-7F45-0196-23CE-6C6DCB1102D6}"/>
              </a:ext>
            </a:extLst>
          </p:cNvPr>
          <p:cNvSpPr txBox="1"/>
          <p:nvPr/>
        </p:nvSpPr>
        <p:spPr>
          <a:xfrm>
            <a:off x="247864" y="-21404"/>
            <a:ext cx="10637850" cy="646331"/>
          </a:xfrm>
          <a:prstGeom prst="rect">
            <a:avLst/>
          </a:prstGeom>
          <a:noFill/>
        </p:spPr>
        <p:txBody>
          <a:bodyPr wrap="square">
            <a:spAutoFit/>
          </a:bodyPr>
          <a:lstStyle/>
          <a:p>
            <a:r>
              <a:rPr lang="en-US" sz="3600" b="1">
                <a:solidFill>
                  <a:srgbClr val="CEB888"/>
                </a:solidFill>
                <a:highlight>
                  <a:srgbClr val="6C2334"/>
                </a:highlight>
                <a:latin typeface="Arial" panose="020B0604020202020204" pitchFamily="34" charset="0"/>
                <a:cs typeface="Arial" panose="020B0604020202020204" pitchFamily="34" charset="0"/>
              </a:rPr>
              <a:t>Heartbeat Signal Validation</a:t>
            </a:r>
          </a:p>
        </p:txBody>
      </p:sp>
      <p:pic>
        <p:nvPicPr>
          <p:cNvPr id="18" name="Picture 2" descr="Respiratory Sinus Arrhythmia ...">
            <a:extLst>
              <a:ext uri="{FF2B5EF4-FFF2-40B4-BE49-F238E27FC236}">
                <a16:creationId xmlns:a16="http://schemas.microsoft.com/office/drawing/2014/main" id="{C818ABF7-A37E-D8F2-1E88-59D68F9431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83" t="20423" r="37374" b="25675"/>
          <a:stretch>
            <a:fillRect/>
          </a:stretch>
        </p:blipFill>
        <p:spPr bwMode="auto">
          <a:xfrm>
            <a:off x="7754686" y="1282912"/>
            <a:ext cx="4241800" cy="1083564"/>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0BD9322-10BA-72DC-7C40-0EE679196F29}"/>
              </a:ext>
            </a:extLst>
          </p:cNvPr>
          <p:cNvSpPr txBox="1"/>
          <p:nvPr/>
        </p:nvSpPr>
        <p:spPr>
          <a:xfrm>
            <a:off x="346903" y="696610"/>
            <a:ext cx="9067725" cy="646331"/>
          </a:xfrm>
          <a:prstGeom prst="rect">
            <a:avLst/>
          </a:prstGeom>
          <a:noFill/>
        </p:spPr>
        <p:txBody>
          <a:bodyPr wrap="square" rtlCol="0">
            <a:spAutoFit/>
          </a:bodyPr>
          <a:lstStyle/>
          <a:p>
            <a:r>
              <a:rPr lang="en-US" sz="3600">
                <a:latin typeface="Arial" panose="020B0604020202020204" pitchFamily="34" charset="0"/>
                <a:cs typeface="Arial" panose="020B0604020202020204" pitchFamily="34" charset="0"/>
              </a:rPr>
              <a:t>RSA ( Respiratory Sinus Arrhythmia)</a:t>
            </a:r>
            <a:endParaRPr lang="en-US" sz="3600" b="1">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8DCE302A-3C91-56C5-BAAD-D30270FAC0E6}"/>
              </a:ext>
            </a:extLst>
          </p:cNvPr>
          <p:cNvGrpSpPr/>
          <p:nvPr/>
        </p:nvGrpSpPr>
        <p:grpSpPr>
          <a:xfrm>
            <a:off x="1504000" y="3785634"/>
            <a:ext cx="4070436" cy="2498246"/>
            <a:chOff x="-1664753" y="356210"/>
            <a:chExt cx="7128719" cy="4356467"/>
          </a:xfrm>
        </p:grpSpPr>
        <p:grpSp>
          <p:nvGrpSpPr>
            <p:cNvPr id="36" name="Group 35">
              <a:extLst>
                <a:ext uri="{FF2B5EF4-FFF2-40B4-BE49-F238E27FC236}">
                  <a16:creationId xmlns:a16="http://schemas.microsoft.com/office/drawing/2014/main" id="{BE28263A-AA79-5D62-950D-406CE18E2C02}"/>
                </a:ext>
              </a:extLst>
            </p:cNvPr>
            <p:cNvGrpSpPr/>
            <p:nvPr/>
          </p:nvGrpSpPr>
          <p:grpSpPr>
            <a:xfrm>
              <a:off x="-1664753" y="2712298"/>
              <a:ext cx="3239722" cy="2000377"/>
              <a:chOff x="-931330" y="2662208"/>
              <a:chExt cx="2389544" cy="1754132"/>
            </a:xfrm>
          </p:grpSpPr>
          <p:pic>
            <p:nvPicPr>
              <p:cNvPr id="46" name="Picture 4" descr="Cardiac cycle of the heart - ventricular ejection phase">
                <a:extLst>
                  <a:ext uri="{FF2B5EF4-FFF2-40B4-BE49-F238E27FC236}">
                    <a16:creationId xmlns:a16="http://schemas.microsoft.com/office/drawing/2014/main" id="{9646596D-4226-8498-E4B7-9DED5659F6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822" y="2662208"/>
                <a:ext cx="1154392" cy="1754132"/>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37079AFA-C482-4FE5-A3B2-B2262DFB2F04}"/>
                  </a:ext>
                </a:extLst>
              </p:cNvPr>
              <p:cNvSpPr txBox="1"/>
              <p:nvPr/>
            </p:nvSpPr>
            <p:spPr>
              <a:xfrm>
                <a:off x="-931330" y="3060185"/>
                <a:ext cx="1205441" cy="988336"/>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V</a:t>
                </a:r>
                <a:r>
                  <a:rPr lang="en-US" altLang="zh-CN" sz="3600">
                    <a:latin typeface="Times New Roman" panose="02020603050405020304" pitchFamily="18" charset="0"/>
                    <a:cs typeface="Times New Roman" panose="02020603050405020304" pitchFamily="18" charset="0"/>
                  </a:rPr>
                  <a:t>S</a:t>
                </a:r>
                <a:endParaRPr lang="en-US" sz="3600">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1174F71E-A84D-A178-F30B-E2B4D3F2FF00}"/>
                </a:ext>
              </a:extLst>
            </p:cNvPr>
            <p:cNvGrpSpPr/>
            <p:nvPr/>
          </p:nvGrpSpPr>
          <p:grpSpPr>
            <a:xfrm>
              <a:off x="687982" y="356210"/>
              <a:ext cx="1996299" cy="2510540"/>
              <a:chOff x="1050467" y="26633"/>
              <a:chExt cx="1694001" cy="2645957"/>
            </a:xfrm>
          </p:grpSpPr>
          <p:pic>
            <p:nvPicPr>
              <p:cNvPr id="44" name="Picture 2" descr="Cardiac cycle of the heart - atrial systole phase">
                <a:extLst>
                  <a:ext uri="{FF2B5EF4-FFF2-40B4-BE49-F238E27FC236}">
                    <a16:creationId xmlns:a16="http://schemas.microsoft.com/office/drawing/2014/main" id="{28F21BED-0236-BA08-339A-DF6A6DC534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6358" y="564315"/>
                <a:ext cx="1328110" cy="2108275"/>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E2F2B8BB-BB4B-416E-1429-C4FC1A739E1E}"/>
                  </a:ext>
                </a:extLst>
              </p:cNvPr>
              <p:cNvSpPr txBox="1"/>
              <p:nvPr/>
            </p:nvSpPr>
            <p:spPr>
              <a:xfrm>
                <a:off x="1050467" y="26633"/>
                <a:ext cx="553944" cy="1187872"/>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D</a:t>
                </a:r>
              </a:p>
            </p:txBody>
          </p:sp>
        </p:grpSp>
        <p:grpSp>
          <p:nvGrpSpPr>
            <p:cNvPr id="38" name="Group 37">
              <a:extLst>
                <a:ext uri="{FF2B5EF4-FFF2-40B4-BE49-F238E27FC236}">
                  <a16:creationId xmlns:a16="http://schemas.microsoft.com/office/drawing/2014/main" id="{85CBC754-99F7-E9C5-E763-698451B6C185}"/>
                </a:ext>
              </a:extLst>
            </p:cNvPr>
            <p:cNvGrpSpPr/>
            <p:nvPr/>
          </p:nvGrpSpPr>
          <p:grpSpPr>
            <a:xfrm>
              <a:off x="2512491" y="2746692"/>
              <a:ext cx="2951475" cy="1965985"/>
              <a:chOff x="2611797" y="2742476"/>
              <a:chExt cx="2176942" cy="1674726"/>
            </a:xfrm>
          </p:grpSpPr>
          <p:pic>
            <p:nvPicPr>
              <p:cNvPr id="42" name="Picture 2" descr="Cardiac cycle of the heart - atrial systole phase">
                <a:extLst>
                  <a:ext uri="{FF2B5EF4-FFF2-40B4-BE49-F238E27FC236}">
                    <a16:creationId xmlns:a16="http://schemas.microsoft.com/office/drawing/2014/main" id="{19702B4F-1B8D-E82D-8F53-DE468005B0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1797" y="2742476"/>
                <a:ext cx="1154393" cy="1674726"/>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113E6B09-0AE9-22C1-C334-7817AD370CB7}"/>
                  </a:ext>
                </a:extLst>
              </p:cNvPr>
              <p:cNvSpPr txBox="1"/>
              <p:nvPr/>
            </p:nvSpPr>
            <p:spPr>
              <a:xfrm>
                <a:off x="3666658" y="3099786"/>
                <a:ext cx="1122081" cy="960103"/>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AS</a:t>
                </a:r>
              </a:p>
            </p:txBody>
          </p:sp>
        </p:grpSp>
        <p:sp>
          <p:nvSpPr>
            <p:cNvPr id="39" name="Arc 38">
              <a:extLst>
                <a:ext uri="{FF2B5EF4-FFF2-40B4-BE49-F238E27FC236}">
                  <a16:creationId xmlns:a16="http://schemas.microsoft.com/office/drawing/2014/main" id="{0C7D8920-B084-643E-7897-C07CE8D76EE1}"/>
                </a:ext>
              </a:extLst>
            </p:cNvPr>
            <p:cNvSpPr/>
            <p:nvPr/>
          </p:nvSpPr>
          <p:spPr>
            <a:xfrm>
              <a:off x="2140496" y="1528321"/>
              <a:ext cx="1296768" cy="1735204"/>
            </a:xfrm>
            <a:prstGeom prst="arc">
              <a:avLst>
                <a:gd name="adj1" fmla="val 15690711"/>
                <a:gd name="adj2" fmla="val 0"/>
              </a:avLst>
            </a:prstGeom>
            <a:ln w="107950">
              <a:solidFill>
                <a:srgbClr val="4682B4"/>
              </a:solidFill>
              <a:tailEnd type="triangle"/>
            </a:ln>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3600">
                <a:latin typeface="Times New Roman" panose="02020603050405020304" pitchFamily="18" charset="0"/>
                <a:cs typeface="Times New Roman" panose="02020603050405020304" pitchFamily="18" charset="0"/>
              </a:endParaRPr>
            </a:p>
          </p:txBody>
        </p:sp>
        <p:sp>
          <p:nvSpPr>
            <p:cNvPr id="40" name="Arc 39">
              <a:extLst>
                <a:ext uri="{FF2B5EF4-FFF2-40B4-BE49-F238E27FC236}">
                  <a16:creationId xmlns:a16="http://schemas.microsoft.com/office/drawing/2014/main" id="{1E99DFE8-4232-74B4-12B6-C44A92DFBC03}"/>
                </a:ext>
              </a:extLst>
            </p:cNvPr>
            <p:cNvSpPr/>
            <p:nvPr/>
          </p:nvSpPr>
          <p:spPr>
            <a:xfrm rot="8018826">
              <a:off x="1169691" y="2984187"/>
              <a:ext cx="1301403" cy="1729024"/>
            </a:xfrm>
            <a:prstGeom prst="arc">
              <a:avLst>
                <a:gd name="adj1" fmla="val 16040708"/>
                <a:gd name="adj2" fmla="val 0"/>
              </a:avLst>
            </a:prstGeom>
            <a:ln w="107950">
              <a:solidFill>
                <a:srgbClr val="4682B4"/>
              </a:solidFill>
              <a:tailEnd type="triangle"/>
            </a:ln>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3600">
                <a:latin typeface="Times New Roman" panose="02020603050405020304" pitchFamily="18" charset="0"/>
                <a:cs typeface="Times New Roman" panose="02020603050405020304" pitchFamily="18" charset="0"/>
              </a:endParaRPr>
            </a:p>
          </p:txBody>
        </p:sp>
        <p:sp>
          <p:nvSpPr>
            <p:cNvPr id="41" name="Arc 40">
              <a:extLst>
                <a:ext uri="{FF2B5EF4-FFF2-40B4-BE49-F238E27FC236}">
                  <a16:creationId xmlns:a16="http://schemas.microsoft.com/office/drawing/2014/main" id="{F2A2768F-6F84-AB13-141D-B94034262C41}"/>
                </a:ext>
              </a:extLst>
            </p:cNvPr>
            <p:cNvSpPr/>
            <p:nvPr/>
          </p:nvSpPr>
          <p:spPr>
            <a:xfrm rot="15100482">
              <a:off x="622447" y="1335040"/>
              <a:ext cx="1301403" cy="1729024"/>
            </a:xfrm>
            <a:prstGeom prst="arc">
              <a:avLst>
                <a:gd name="adj1" fmla="val 16040708"/>
                <a:gd name="adj2" fmla="val 0"/>
              </a:avLst>
            </a:prstGeom>
            <a:ln w="107950">
              <a:solidFill>
                <a:srgbClr val="4682B4"/>
              </a:solidFill>
              <a:tailEnd type="triangle"/>
            </a:ln>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3600">
                <a:latin typeface="Times New Roman" panose="02020603050405020304" pitchFamily="18" charset="0"/>
                <a:cs typeface="Times New Roman" panose="02020603050405020304" pitchFamily="18" charset="0"/>
              </a:endParaRPr>
            </a:p>
          </p:txBody>
        </p:sp>
      </p:grpSp>
      <p:pic>
        <p:nvPicPr>
          <p:cNvPr id="23" name="Picture 22" descr="A graph with a line&#10;&#10;AI-generated content may be incorrect.">
            <a:extLst>
              <a:ext uri="{FF2B5EF4-FFF2-40B4-BE49-F238E27FC236}">
                <a16:creationId xmlns:a16="http://schemas.microsoft.com/office/drawing/2014/main" id="{FA35E28A-9E22-50D4-0450-E67C25C9BE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47508" y="3987454"/>
            <a:ext cx="3353381" cy="2245239"/>
          </a:xfrm>
          <a:prstGeom prst="rect">
            <a:avLst/>
          </a:prstGeom>
        </p:spPr>
      </p:pic>
      <p:cxnSp>
        <p:nvCxnSpPr>
          <p:cNvPr id="24" name="Straight Connector 23">
            <a:extLst>
              <a:ext uri="{FF2B5EF4-FFF2-40B4-BE49-F238E27FC236}">
                <a16:creationId xmlns:a16="http://schemas.microsoft.com/office/drawing/2014/main" id="{841C105E-63BE-19CA-BAE8-4BA99E0E6D47}"/>
              </a:ext>
            </a:extLst>
          </p:cNvPr>
          <p:cNvCxnSpPr>
            <a:cxnSpLocks/>
          </p:cNvCxnSpPr>
          <p:nvPr/>
        </p:nvCxnSpPr>
        <p:spPr>
          <a:xfrm>
            <a:off x="7724300" y="3826967"/>
            <a:ext cx="0" cy="2223744"/>
          </a:xfrm>
          <a:prstGeom prst="line">
            <a:avLst/>
          </a:prstGeom>
          <a:ln w="2857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D7A07129-E201-F913-589F-4469CA55DBFD}"/>
              </a:ext>
            </a:extLst>
          </p:cNvPr>
          <p:cNvCxnSpPr>
            <a:cxnSpLocks/>
          </p:cNvCxnSpPr>
          <p:nvPr/>
        </p:nvCxnSpPr>
        <p:spPr>
          <a:xfrm>
            <a:off x="9032742" y="3826967"/>
            <a:ext cx="27451" cy="2117059"/>
          </a:xfrm>
          <a:prstGeom prst="line">
            <a:avLst/>
          </a:prstGeom>
          <a:ln w="28575"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Arrow: Right 23">
            <a:extLst>
              <a:ext uri="{FF2B5EF4-FFF2-40B4-BE49-F238E27FC236}">
                <a16:creationId xmlns:a16="http://schemas.microsoft.com/office/drawing/2014/main" id="{D4CAB341-B3BC-E162-9972-8E322CD8F96C}"/>
              </a:ext>
            </a:extLst>
          </p:cNvPr>
          <p:cNvSpPr/>
          <p:nvPr/>
        </p:nvSpPr>
        <p:spPr>
          <a:xfrm>
            <a:off x="7537288" y="3914520"/>
            <a:ext cx="177215" cy="9146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sp>
        <p:nvSpPr>
          <p:cNvPr id="27" name="Arrow: Right 24">
            <a:extLst>
              <a:ext uri="{FF2B5EF4-FFF2-40B4-BE49-F238E27FC236}">
                <a16:creationId xmlns:a16="http://schemas.microsoft.com/office/drawing/2014/main" id="{7B4541C1-34FA-3196-2DA6-04651DE7079B}"/>
              </a:ext>
            </a:extLst>
          </p:cNvPr>
          <p:cNvSpPr/>
          <p:nvPr/>
        </p:nvSpPr>
        <p:spPr>
          <a:xfrm>
            <a:off x="8844255" y="3914520"/>
            <a:ext cx="177215" cy="9146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sp>
        <p:nvSpPr>
          <p:cNvPr id="28" name="Arrow: Right 25">
            <a:extLst>
              <a:ext uri="{FF2B5EF4-FFF2-40B4-BE49-F238E27FC236}">
                <a16:creationId xmlns:a16="http://schemas.microsoft.com/office/drawing/2014/main" id="{7979AF38-B564-0201-CCCC-080CE36E5991}"/>
              </a:ext>
            </a:extLst>
          </p:cNvPr>
          <p:cNvSpPr/>
          <p:nvPr/>
        </p:nvSpPr>
        <p:spPr>
          <a:xfrm>
            <a:off x="9833137" y="3914514"/>
            <a:ext cx="177215" cy="9146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sp>
        <p:nvSpPr>
          <p:cNvPr id="29" name="Arrow: Right 26">
            <a:extLst>
              <a:ext uri="{FF2B5EF4-FFF2-40B4-BE49-F238E27FC236}">
                <a16:creationId xmlns:a16="http://schemas.microsoft.com/office/drawing/2014/main" id="{39C16482-488C-1BBE-0BBF-51CE8A685201}"/>
              </a:ext>
            </a:extLst>
          </p:cNvPr>
          <p:cNvSpPr/>
          <p:nvPr/>
        </p:nvSpPr>
        <p:spPr>
          <a:xfrm flipH="1">
            <a:off x="7727915" y="3914513"/>
            <a:ext cx="178090" cy="9146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A93B642-9EBA-2786-527F-24C9FF2C950F}"/>
              </a:ext>
            </a:extLst>
          </p:cNvPr>
          <p:cNvSpPr txBox="1"/>
          <p:nvPr/>
        </p:nvSpPr>
        <p:spPr>
          <a:xfrm>
            <a:off x="7188803" y="3581815"/>
            <a:ext cx="154906" cy="646331"/>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D</a:t>
            </a:r>
          </a:p>
        </p:txBody>
      </p:sp>
      <p:sp>
        <p:nvSpPr>
          <p:cNvPr id="31" name="TextBox 30">
            <a:extLst>
              <a:ext uri="{FF2B5EF4-FFF2-40B4-BE49-F238E27FC236}">
                <a16:creationId xmlns:a16="http://schemas.microsoft.com/office/drawing/2014/main" id="{F420F9D8-8EEF-BC03-12A2-ADEEF115C50D}"/>
              </a:ext>
            </a:extLst>
          </p:cNvPr>
          <p:cNvSpPr txBox="1"/>
          <p:nvPr/>
        </p:nvSpPr>
        <p:spPr>
          <a:xfrm>
            <a:off x="7917879" y="3548292"/>
            <a:ext cx="885570" cy="646331"/>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AS</a:t>
            </a:r>
          </a:p>
        </p:txBody>
      </p:sp>
      <p:sp>
        <p:nvSpPr>
          <p:cNvPr id="32" name="TextBox 31">
            <a:extLst>
              <a:ext uri="{FF2B5EF4-FFF2-40B4-BE49-F238E27FC236}">
                <a16:creationId xmlns:a16="http://schemas.microsoft.com/office/drawing/2014/main" id="{21418E0E-BE5B-6FFC-3032-F6B7AEBB8EAA}"/>
              </a:ext>
            </a:extLst>
          </p:cNvPr>
          <p:cNvSpPr txBox="1"/>
          <p:nvPr/>
        </p:nvSpPr>
        <p:spPr>
          <a:xfrm>
            <a:off x="9021470" y="3548292"/>
            <a:ext cx="940645" cy="646331"/>
          </a:xfrm>
          <a:prstGeom prst="rect">
            <a:avLst/>
          </a:prstGeom>
          <a:noFill/>
        </p:spPr>
        <p:txBody>
          <a:bodyPr wrap="square" rtlCol="0">
            <a:spAutoFit/>
          </a:bodyPr>
          <a:lstStyle/>
          <a:p>
            <a:pPr algn="ctr"/>
            <a:r>
              <a:rPr lang="en-US" sz="3600">
                <a:latin typeface="Times New Roman" panose="02020603050405020304" pitchFamily="18" charset="0"/>
                <a:cs typeface="Times New Roman" panose="02020603050405020304" pitchFamily="18" charset="0"/>
              </a:rPr>
              <a:t>VS</a:t>
            </a:r>
          </a:p>
        </p:txBody>
      </p:sp>
      <p:sp>
        <p:nvSpPr>
          <p:cNvPr id="33" name="Arrow: Right 31">
            <a:extLst>
              <a:ext uri="{FF2B5EF4-FFF2-40B4-BE49-F238E27FC236}">
                <a16:creationId xmlns:a16="http://schemas.microsoft.com/office/drawing/2014/main" id="{241BFD61-3BB7-A681-A814-6D9D534B78FD}"/>
              </a:ext>
            </a:extLst>
          </p:cNvPr>
          <p:cNvSpPr/>
          <p:nvPr/>
        </p:nvSpPr>
        <p:spPr>
          <a:xfrm flipH="1">
            <a:off x="9049730" y="3914513"/>
            <a:ext cx="178090" cy="9146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sp>
        <p:nvSpPr>
          <p:cNvPr id="34" name="文本框 80">
            <a:extLst>
              <a:ext uri="{FF2B5EF4-FFF2-40B4-BE49-F238E27FC236}">
                <a16:creationId xmlns:a16="http://schemas.microsoft.com/office/drawing/2014/main" id="{D27B2485-6207-DD3A-4FF5-30462134F4F9}"/>
              </a:ext>
            </a:extLst>
          </p:cNvPr>
          <p:cNvSpPr txBox="1"/>
          <p:nvPr/>
        </p:nvSpPr>
        <p:spPr>
          <a:xfrm>
            <a:off x="6679474" y="6031574"/>
            <a:ext cx="348307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Time (s)</a:t>
            </a:r>
            <a:endParaRPr lang="zh-CN" altLang="en-US" sz="3600">
              <a:latin typeface="Times New Roman" panose="02020603050405020304" pitchFamily="18" charset="0"/>
              <a:cs typeface="Times New Roman" panose="02020603050405020304" pitchFamily="18" charset="0"/>
            </a:endParaRPr>
          </a:p>
        </p:txBody>
      </p:sp>
      <p:sp>
        <p:nvSpPr>
          <p:cNvPr id="35" name="文本框 80">
            <a:extLst>
              <a:ext uri="{FF2B5EF4-FFF2-40B4-BE49-F238E27FC236}">
                <a16:creationId xmlns:a16="http://schemas.microsoft.com/office/drawing/2014/main" id="{603CA426-3228-2FB2-D846-29F43ADA95D2}"/>
              </a:ext>
            </a:extLst>
          </p:cNvPr>
          <p:cNvSpPr txBox="1"/>
          <p:nvPr/>
        </p:nvSpPr>
        <p:spPr>
          <a:xfrm>
            <a:off x="4776725" y="4661147"/>
            <a:ext cx="3483073" cy="646331"/>
          </a:xfrm>
          <a:prstGeom prst="rect">
            <a:avLst/>
          </a:prstGeom>
          <a:noFill/>
        </p:spPr>
        <p:txBody>
          <a:bodyPr wrap="square" rtlCol="0">
            <a:spAutoFit/>
          </a:bodyPr>
          <a:lstStyle/>
          <a:p>
            <a:pPr algn="ctr"/>
            <a:r>
              <a:rPr lang="en-US" altLang="zh-CN" sz="3600">
                <a:latin typeface="Times New Roman" panose="02020603050405020304" pitchFamily="18" charset="0"/>
                <a:cs typeface="Times New Roman" panose="02020603050405020304" pitchFamily="18" charset="0"/>
              </a:rPr>
              <a:t>Gain</a:t>
            </a:r>
            <a:endParaRPr lang="zh-CN" altLang="en-US" sz="360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906FB99A-385C-D949-9778-798B5CECB1A5}"/>
              </a:ext>
            </a:extLst>
          </p:cNvPr>
          <p:cNvSpPr txBox="1"/>
          <p:nvPr/>
        </p:nvSpPr>
        <p:spPr>
          <a:xfrm>
            <a:off x="5959662" y="3083275"/>
            <a:ext cx="4994443"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Validated Heartbeat Cycle</a:t>
            </a:r>
          </a:p>
        </p:txBody>
      </p:sp>
      <p:sp>
        <p:nvSpPr>
          <p:cNvPr id="57" name="TextBox 56">
            <a:extLst>
              <a:ext uri="{FF2B5EF4-FFF2-40B4-BE49-F238E27FC236}">
                <a16:creationId xmlns:a16="http://schemas.microsoft.com/office/drawing/2014/main" id="{A0E3FA55-AF95-7E8A-ED1E-DDBD5F196BFF}"/>
              </a:ext>
            </a:extLst>
          </p:cNvPr>
          <p:cNvSpPr txBox="1"/>
          <p:nvPr/>
        </p:nvSpPr>
        <p:spPr>
          <a:xfrm>
            <a:off x="71897" y="1269401"/>
            <a:ext cx="12120103" cy="1754326"/>
          </a:xfrm>
          <a:prstGeom prst="rect">
            <a:avLst/>
          </a:prstGeom>
          <a:noFill/>
        </p:spPr>
        <p:txBody>
          <a:bodyPr wrap="square" rtlCol="0">
            <a:spAutoFit/>
          </a:bodyPr>
          <a:lstStyle/>
          <a:p>
            <a:pPr marL="571500" indent="-571500">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Inhalation, heartbeat interval shorter</a:t>
            </a:r>
          </a:p>
          <a:p>
            <a:pPr marL="571500" indent="-571500">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Exhalation, heartbeat interval longer</a:t>
            </a:r>
          </a:p>
          <a:p>
            <a:pPr marL="571500" indent="-571500">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Heartbeat signal is valid if it matches the RSA pattern</a:t>
            </a:r>
          </a:p>
        </p:txBody>
      </p:sp>
      <p:sp>
        <p:nvSpPr>
          <p:cNvPr id="77" name="TextBox 76">
            <a:extLst>
              <a:ext uri="{FF2B5EF4-FFF2-40B4-BE49-F238E27FC236}">
                <a16:creationId xmlns:a16="http://schemas.microsoft.com/office/drawing/2014/main" id="{B1C50A59-C116-C937-62D3-63165898E8CF}"/>
              </a:ext>
            </a:extLst>
          </p:cNvPr>
          <p:cNvSpPr txBox="1"/>
          <p:nvPr/>
        </p:nvSpPr>
        <p:spPr>
          <a:xfrm>
            <a:off x="1077861" y="3083274"/>
            <a:ext cx="4718925" cy="646331"/>
          </a:xfrm>
          <a:prstGeom prst="rect">
            <a:avLst/>
          </a:prstGeom>
          <a:noFill/>
        </p:spPr>
        <p:txBody>
          <a:bodyPr wrap="square" rtlCol="0">
            <a:spAutoFit/>
          </a:bodyPr>
          <a:lstStyle/>
          <a:p>
            <a:r>
              <a:rPr lang="en-US" sz="3600">
                <a:latin typeface="Times New Roman" panose="02020603050405020304" pitchFamily="18" charset="0"/>
                <a:cs typeface="Times New Roman" panose="02020603050405020304" pitchFamily="18" charset="0"/>
              </a:rPr>
              <a:t>Heartbeat Motion Cycle</a:t>
            </a:r>
          </a:p>
        </p:txBody>
      </p:sp>
      <p:sp>
        <p:nvSpPr>
          <p:cNvPr id="81" name="Slide Number Placeholder 3">
            <a:extLst>
              <a:ext uri="{FF2B5EF4-FFF2-40B4-BE49-F238E27FC236}">
                <a16:creationId xmlns:a16="http://schemas.microsoft.com/office/drawing/2014/main" id="{622339E8-B869-E627-290F-FEE9CB8F64DC}"/>
              </a:ext>
            </a:extLst>
          </p:cNvPr>
          <p:cNvSpPr>
            <a:spLocks noGrp="1"/>
          </p:cNvSpPr>
          <p:nvPr>
            <p:ph type="sldNum" sz="quarter" idx="12"/>
          </p:nvPr>
        </p:nvSpPr>
        <p:spPr>
          <a:xfrm>
            <a:off x="4795514"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6</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cxnSp>
        <p:nvCxnSpPr>
          <p:cNvPr id="13" name="Straight Connector 12">
            <a:extLst>
              <a:ext uri="{FF2B5EF4-FFF2-40B4-BE49-F238E27FC236}">
                <a16:creationId xmlns:a16="http://schemas.microsoft.com/office/drawing/2014/main" id="{A3502703-2EA8-D37A-ECF5-7D45BDC6BB4E}"/>
              </a:ext>
            </a:extLst>
          </p:cNvPr>
          <p:cNvCxnSpPr>
            <a:cxnSpLocks/>
          </p:cNvCxnSpPr>
          <p:nvPr/>
        </p:nvCxnSpPr>
        <p:spPr>
          <a:xfrm>
            <a:off x="7023825" y="4044712"/>
            <a:ext cx="0" cy="2005999"/>
          </a:xfrm>
          <a:prstGeom prst="line">
            <a:avLst/>
          </a:prstGeom>
          <a:ln w="28575" cap="flat" cmpd="sng" algn="ctr">
            <a:solidFill>
              <a:srgbClr val="CEB888"/>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A17B832B-2196-D643-4545-DE4FA1A363B6}"/>
              </a:ext>
            </a:extLst>
          </p:cNvPr>
          <p:cNvCxnSpPr>
            <a:cxnSpLocks/>
          </p:cNvCxnSpPr>
          <p:nvPr/>
        </p:nvCxnSpPr>
        <p:spPr>
          <a:xfrm>
            <a:off x="10031811" y="4011688"/>
            <a:ext cx="0" cy="2039023"/>
          </a:xfrm>
          <a:prstGeom prst="line">
            <a:avLst/>
          </a:prstGeom>
          <a:ln w="28575" cap="flat" cmpd="sng" algn="ctr">
            <a:solidFill>
              <a:srgbClr val="CEB888"/>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5068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par>
                                <p:cTn id="8" presetID="22" presetClass="entr" presetSubtype="1"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up)">
                                      <p:cBhvr>
                                        <p:cTn id="10" dur="500"/>
                                        <p:tgtEl>
                                          <p:spTgt spid="23"/>
                                        </p:tgtEl>
                                      </p:cBhvr>
                                    </p:animEffect>
                                  </p:childTnLst>
                                </p:cTn>
                              </p:par>
                              <p:par>
                                <p:cTn id="11" presetID="22" presetClass="entr" presetSubtype="1"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up)">
                                      <p:cBhvr>
                                        <p:cTn id="13" dur="500"/>
                                        <p:tgtEl>
                                          <p:spTgt spid="24"/>
                                        </p:tgtEl>
                                      </p:cBhvr>
                                    </p:animEffect>
                                  </p:childTnLst>
                                </p:cTn>
                              </p:par>
                              <p:par>
                                <p:cTn id="14" presetID="22" presetClass="entr" presetSubtype="1"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up)">
                                      <p:cBhvr>
                                        <p:cTn id="16" dur="500"/>
                                        <p:tgtEl>
                                          <p:spTgt spid="25"/>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up)">
                                      <p:cBhvr>
                                        <p:cTn id="19" dur="500"/>
                                        <p:tgtEl>
                                          <p:spTgt spid="2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up)">
                                      <p:cBhvr>
                                        <p:cTn id="25" dur="500"/>
                                        <p:tgtEl>
                                          <p:spTgt spid="28"/>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up)">
                                      <p:cBhvr>
                                        <p:cTn id="28" dur="500"/>
                                        <p:tgtEl>
                                          <p:spTgt spid="29"/>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up)">
                                      <p:cBhvr>
                                        <p:cTn id="31" dur="500"/>
                                        <p:tgtEl>
                                          <p:spTgt spid="30"/>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up)">
                                      <p:cBhvr>
                                        <p:cTn id="34" dur="500"/>
                                        <p:tgtEl>
                                          <p:spTgt spid="31"/>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up)">
                                      <p:cBhvr>
                                        <p:cTn id="37" dur="500"/>
                                        <p:tgtEl>
                                          <p:spTgt spid="32"/>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up)">
                                      <p:cBhvr>
                                        <p:cTn id="40" dur="500"/>
                                        <p:tgtEl>
                                          <p:spTgt spid="33"/>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wipe(up)">
                                      <p:cBhvr>
                                        <p:cTn id="43" dur="500"/>
                                        <p:tgtEl>
                                          <p:spTgt spid="34"/>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wipe(up)">
                                      <p:cBhvr>
                                        <p:cTn id="46" dur="500"/>
                                        <p:tgtEl>
                                          <p:spTgt spid="35"/>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wipe(up)">
                                      <p:cBhvr>
                                        <p:cTn id="49" dur="500"/>
                                        <p:tgtEl>
                                          <p:spTgt spid="48"/>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wipe(up)">
                                      <p:cBhvr>
                                        <p:cTn id="52" dur="500"/>
                                        <p:tgtEl>
                                          <p:spTgt spid="77"/>
                                        </p:tgtEl>
                                      </p:cBhvr>
                                    </p:animEffect>
                                  </p:childTnLst>
                                </p:cTn>
                              </p:par>
                              <p:par>
                                <p:cTn id="53" presetID="22" presetClass="entr" presetSubtype="1"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up)">
                                      <p:cBhvr>
                                        <p:cTn id="55" dur="500"/>
                                        <p:tgtEl>
                                          <p:spTgt spid="13"/>
                                        </p:tgtEl>
                                      </p:cBhvr>
                                    </p:animEffect>
                                  </p:childTnLst>
                                </p:cTn>
                              </p:par>
                              <p:par>
                                <p:cTn id="56" presetID="22" presetClass="entr" presetSubtype="1"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up)">
                                      <p:cBhvr>
                                        <p:cTn id="5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p:bldP spid="31" grpId="0"/>
      <p:bldP spid="32" grpId="0"/>
      <p:bldP spid="33" grpId="0" animBg="1"/>
      <p:bldP spid="34" grpId="0"/>
      <p:bldP spid="35" grpId="0"/>
      <p:bldP spid="48" grpId="0"/>
      <p:bldP spid="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8C1F4-DBCB-F89A-57EB-BAB55AE864C7}"/>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B3BA93F2-7425-ED55-3051-0B945A9A36A9}"/>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7</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Rounded Rectangle 101">
            <a:extLst>
              <a:ext uri="{FF2B5EF4-FFF2-40B4-BE49-F238E27FC236}">
                <a16:creationId xmlns:a16="http://schemas.microsoft.com/office/drawing/2014/main" id="{732365A6-DB25-B621-2513-4CA5B88C5BEE}"/>
              </a:ext>
            </a:extLst>
          </p:cNvPr>
          <p:cNvSpPr/>
          <p:nvPr/>
        </p:nvSpPr>
        <p:spPr>
          <a:xfrm>
            <a:off x="1841174" y="1797345"/>
            <a:ext cx="2643598" cy="590721"/>
          </a:xfrm>
          <a:prstGeom prst="roundRect">
            <a:avLst/>
          </a:prstGeom>
          <a:solidFill>
            <a:schemeClr val="accent1">
              <a:lumMod val="40000"/>
              <a:lumOff val="60000"/>
              <a:alpha val="24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Inputs</a:t>
            </a:r>
          </a:p>
        </p:txBody>
      </p:sp>
      <p:sp>
        <p:nvSpPr>
          <p:cNvPr id="4" name="Rounded Rectangle 101">
            <a:extLst>
              <a:ext uri="{FF2B5EF4-FFF2-40B4-BE49-F238E27FC236}">
                <a16:creationId xmlns:a16="http://schemas.microsoft.com/office/drawing/2014/main" id="{2002706F-71AF-AE9A-AE4E-7E02B06B2AFA}"/>
              </a:ext>
            </a:extLst>
          </p:cNvPr>
          <p:cNvSpPr/>
          <p:nvPr/>
        </p:nvSpPr>
        <p:spPr>
          <a:xfrm>
            <a:off x="4656519" y="1797345"/>
            <a:ext cx="2643598" cy="590721"/>
          </a:xfrm>
          <a:prstGeom prst="roundRect">
            <a:avLst/>
          </a:prstGeom>
          <a:solidFill>
            <a:schemeClr val="accent1">
              <a:lumMod val="40000"/>
              <a:lumOff val="60000"/>
              <a:alpha val="24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Embedding</a:t>
            </a:r>
          </a:p>
        </p:txBody>
      </p:sp>
      <p:sp>
        <p:nvSpPr>
          <p:cNvPr id="5" name="Rounded Rectangle 101">
            <a:extLst>
              <a:ext uri="{FF2B5EF4-FFF2-40B4-BE49-F238E27FC236}">
                <a16:creationId xmlns:a16="http://schemas.microsoft.com/office/drawing/2014/main" id="{97960738-12DC-12D5-FB62-A2F7EEB2D0FA}"/>
              </a:ext>
            </a:extLst>
          </p:cNvPr>
          <p:cNvSpPr/>
          <p:nvPr/>
        </p:nvSpPr>
        <p:spPr>
          <a:xfrm>
            <a:off x="7562143" y="1797345"/>
            <a:ext cx="2643598" cy="590721"/>
          </a:xfrm>
          <a:prstGeom prst="roundRect">
            <a:avLst/>
          </a:prstGeom>
          <a:solidFill>
            <a:schemeClr val="accent1">
              <a:lumMod val="40000"/>
              <a:lumOff val="60000"/>
              <a:alpha val="24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Features</a:t>
            </a:r>
          </a:p>
        </p:txBody>
      </p:sp>
      <p:pic>
        <p:nvPicPr>
          <p:cNvPr id="8" name="Picture 7">
            <a:extLst>
              <a:ext uri="{FF2B5EF4-FFF2-40B4-BE49-F238E27FC236}">
                <a16:creationId xmlns:a16="http://schemas.microsoft.com/office/drawing/2014/main" id="{DA0A47DD-01B9-CFBB-9BCC-506AE812A1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6817" y="2565805"/>
            <a:ext cx="1637966" cy="761324"/>
          </a:xfrm>
          <a:prstGeom prst="rect">
            <a:avLst/>
          </a:prstGeom>
        </p:spPr>
      </p:pic>
      <p:pic>
        <p:nvPicPr>
          <p:cNvPr id="9" name="Picture 8">
            <a:extLst>
              <a:ext uri="{FF2B5EF4-FFF2-40B4-BE49-F238E27FC236}">
                <a16:creationId xmlns:a16="http://schemas.microsoft.com/office/drawing/2014/main" id="{BD3E76DA-701C-83E5-C5DC-68287CCDB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323" y="3745916"/>
            <a:ext cx="1637966" cy="761324"/>
          </a:xfrm>
          <a:prstGeom prst="rect">
            <a:avLst/>
          </a:prstGeom>
        </p:spPr>
      </p:pic>
      <p:sp>
        <p:nvSpPr>
          <p:cNvPr id="10" name="Rectangle 9">
            <a:extLst>
              <a:ext uri="{FF2B5EF4-FFF2-40B4-BE49-F238E27FC236}">
                <a16:creationId xmlns:a16="http://schemas.microsoft.com/office/drawing/2014/main" id="{1D0FBDCF-69B1-CB15-6B13-BDF93F95C890}"/>
              </a:ext>
            </a:extLst>
          </p:cNvPr>
          <p:cNvSpPr>
            <a:spLocks/>
          </p:cNvSpPr>
          <p:nvPr/>
        </p:nvSpPr>
        <p:spPr>
          <a:xfrm>
            <a:off x="8787854" y="2464040"/>
            <a:ext cx="271904" cy="952299"/>
          </a:xfrm>
          <a:prstGeom prst="rect">
            <a:avLst/>
          </a:prstGeom>
          <a:solidFill>
            <a:srgbClr val="00B05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7C0AB57C-2C26-AE0E-20D7-BA87198D0FF9}"/>
              </a:ext>
            </a:extLst>
          </p:cNvPr>
          <p:cNvSpPr>
            <a:spLocks/>
          </p:cNvSpPr>
          <p:nvPr/>
        </p:nvSpPr>
        <p:spPr>
          <a:xfrm>
            <a:off x="8787854" y="3660098"/>
            <a:ext cx="271904" cy="952299"/>
          </a:xfrm>
          <a:prstGeom prst="rect">
            <a:avLst/>
          </a:prstGeom>
          <a:solidFill>
            <a:srgbClr val="00B0F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7B92B1C4-6F05-0EEA-5615-7D4FE53655E7}"/>
              </a:ext>
            </a:extLst>
          </p:cNvPr>
          <p:cNvCxnSpPr>
            <a:cxnSpLocks/>
            <a:stCxn id="8" idx="3"/>
            <a:endCxn id="10" idx="1"/>
          </p:cNvCxnSpPr>
          <p:nvPr/>
        </p:nvCxnSpPr>
        <p:spPr>
          <a:xfrm flipV="1">
            <a:off x="6844782" y="2940190"/>
            <a:ext cx="1943068" cy="6272"/>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D72B82A-F833-77B4-5A2E-243B52C34939}"/>
              </a:ext>
            </a:extLst>
          </p:cNvPr>
          <p:cNvCxnSpPr>
            <a:cxnSpLocks/>
            <a:stCxn id="9" idx="3"/>
            <a:endCxn id="11" idx="1"/>
          </p:cNvCxnSpPr>
          <p:nvPr/>
        </p:nvCxnSpPr>
        <p:spPr>
          <a:xfrm>
            <a:off x="6833294" y="4126580"/>
            <a:ext cx="1954561" cy="9673"/>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7682DBD-E5C4-3E94-CF45-DD722D384329}"/>
              </a:ext>
            </a:extLst>
          </p:cNvPr>
          <p:cNvCxnSpPr>
            <a:cxnSpLocks/>
            <a:stCxn id="10" idx="3"/>
            <a:endCxn id="22" idx="1"/>
          </p:cNvCxnSpPr>
          <p:nvPr/>
        </p:nvCxnSpPr>
        <p:spPr>
          <a:xfrm>
            <a:off x="9059758" y="2940190"/>
            <a:ext cx="1282773" cy="1229347"/>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27C3163-D3D4-8E3B-5CA1-AC65B8D12219}"/>
              </a:ext>
            </a:extLst>
          </p:cNvPr>
          <p:cNvCxnSpPr>
            <a:cxnSpLocks/>
            <a:stCxn id="20" idx="3"/>
            <a:endCxn id="22" idx="1"/>
          </p:cNvCxnSpPr>
          <p:nvPr/>
        </p:nvCxnSpPr>
        <p:spPr>
          <a:xfrm flipV="1">
            <a:off x="9059758" y="4169537"/>
            <a:ext cx="1282773" cy="1181428"/>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EF911E7-8371-3FD5-4EAD-BF8A0FFF6FF1}"/>
              </a:ext>
            </a:extLst>
          </p:cNvPr>
          <p:cNvCxnSpPr>
            <a:cxnSpLocks/>
            <a:stCxn id="11" idx="3"/>
          </p:cNvCxnSpPr>
          <p:nvPr/>
        </p:nvCxnSpPr>
        <p:spPr>
          <a:xfrm>
            <a:off x="9059755" y="4136252"/>
            <a:ext cx="1290555" cy="18660"/>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2727312E-883A-AF76-644F-E4498BF53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6817" y="4970310"/>
            <a:ext cx="1637966" cy="761324"/>
          </a:xfrm>
          <a:prstGeom prst="rect">
            <a:avLst/>
          </a:prstGeom>
        </p:spPr>
      </p:pic>
      <p:sp>
        <p:nvSpPr>
          <p:cNvPr id="19" name="Alternate Process 172">
            <a:extLst>
              <a:ext uri="{FF2B5EF4-FFF2-40B4-BE49-F238E27FC236}">
                <a16:creationId xmlns:a16="http://schemas.microsoft.com/office/drawing/2014/main" id="{BF53BCDD-B3BC-DDE3-F70C-65DC3963FA34}"/>
              </a:ext>
            </a:extLst>
          </p:cNvPr>
          <p:cNvSpPr/>
          <p:nvPr/>
        </p:nvSpPr>
        <p:spPr>
          <a:xfrm>
            <a:off x="5076634" y="2468017"/>
            <a:ext cx="1830389" cy="3359096"/>
          </a:xfrm>
          <a:prstGeom prst="flowChartAlternateProcess">
            <a:avLst/>
          </a:prstGeom>
          <a:noFill/>
          <a:ln>
            <a:solidFill>
              <a:schemeClr val="accent1">
                <a:shade val="15000"/>
                <a:alpha val="23641"/>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20" name="Rectangle 19">
            <a:extLst>
              <a:ext uri="{FF2B5EF4-FFF2-40B4-BE49-F238E27FC236}">
                <a16:creationId xmlns:a16="http://schemas.microsoft.com/office/drawing/2014/main" id="{9F431382-2F6A-B07C-A671-7B7B142E26AD}"/>
              </a:ext>
            </a:extLst>
          </p:cNvPr>
          <p:cNvSpPr>
            <a:spLocks/>
          </p:cNvSpPr>
          <p:nvPr/>
        </p:nvSpPr>
        <p:spPr>
          <a:xfrm>
            <a:off x="8787854" y="4874815"/>
            <a:ext cx="271904" cy="952299"/>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anose="02020603050405020304" pitchFamily="18" charset="0"/>
              <a:cs typeface="Times New Roman" panose="02020603050405020304" pitchFamily="18" charset="0"/>
            </a:endParaRPr>
          </a:p>
        </p:txBody>
      </p:sp>
      <p:cxnSp>
        <p:nvCxnSpPr>
          <p:cNvPr id="21" name="Straight Arrow Connector 20">
            <a:extLst>
              <a:ext uri="{FF2B5EF4-FFF2-40B4-BE49-F238E27FC236}">
                <a16:creationId xmlns:a16="http://schemas.microsoft.com/office/drawing/2014/main" id="{4BA8FCF9-178A-5A3F-6603-B41E2057C66B}"/>
              </a:ext>
            </a:extLst>
          </p:cNvPr>
          <p:cNvCxnSpPr>
            <a:cxnSpLocks/>
          </p:cNvCxnSpPr>
          <p:nvPr/>
        </p:nvCxnSpPr>
        <p:spPr>
          <a:xfrm flipV="1">
            <a:off x="6889079" y="5345434"/>
            <a:ext cx="1898773" cy="1393"/>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sp>
        <p:nvSpPr>
          <p:cNvPr id="22" name="Flowchart: Terminator 21">
            <a:extLst>
              <a:ext uri="{FF2B5EF4-FFF2-40B4-BE49-F238E27FC236}">
                <a16:creationId xmlns:a16="http://schemas.microsoft.com/office/drawing/2014/main" id="{C778764B-90F2-22F7-1451-56348EFAEE3C}"/>
              </a:ext>
            </a:extLst>
          </p:cNvPr>
          <p:cNvSpPr/>
          <p:nvPr/>
        </p:nvSpPr>
        <p:spPr>
          <a:xfrm>
            <a:off x="10342531" y="3550506"/>
            <a:ext cx="1765162" cy="1238061"/>
          </a:xfrm>
          <a:prstGeom prst="flowChartTerminator">
            <a:avLst/>
          </a:prstGeom>
          <a:solidFill>
            <a:schemeClr val="accent1">
              <a:lumMod val="40000"/>
              <a:lumOff val="60000"/>
              <a:alpha val="24080"/>
            </a:schemeClr>
          </a:solidFill>
          <a:ln>
            <a:solidFill>
              <a:schemeClr val="accent1">
                <a:shade val="15000"/>
                <a:alpha val="1503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Triplet </a:t>
            </a:r>
          </a:p>
          <a:p>
            <a:pPr algn="ctr"/>
            <a:r>
              <a:rPr lang="en-US" sz="3600">
                <a:solidFill>
                  <a:schemeClr val="tx1"/>
                </a:solidFill>
                <a:latin typeface="Times New Roman" panose="02020603050405020304" pitchFamily="18" charset="0"/>
                <a:cs typeface="Times New Roman" panose="02020603050405020304" pitchFamily="18" charset="0"/>
              </a:rPr>
              <a:t>Loss</a:t>
            </a:r>
          </a:p>
        </p:txBody>
      </p:sp>
      <p:cxnSp>
        <p:nvCxnSpPr>
          <p:cNvPr id="24" name="Straight Arrow Connector 23">
            <a:extLst>
              <a:ext uri="{FF2B5EF4-FFF2-40B4-BE49-F238E27FC236}">
                <a16:creationId xmlns:a16="http://schemas.microsoft.com/office/drawing/2014/main" id="{50E742C8-D371-14A8-96A3-B9BB47094BBB}"/>
              </a:ext>
            </a:extLst>
          </p:cNvPr>
          <p:cNvCxnSpPr>
            <a:cxnSpLocks/>
          </p:cNvCxnSpPr>
          <p:nvPr/>
        </p:nvCxnSpPr>
        <p:spPr>
          <a:xfrm>
            <a:off x="4371219" y="2946400"/>
            <a:ext cx="918884" cy="134"/>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DF83832-4C3C-EF47-166B-B4872A268F1B}"/>
              </a:ext>
            </a:extLst>
          </p:cNvPr>
          <p:cNvCxnSpPr>
            <a:cxnSpLocks/>
          </p:cNvCxnSpPr>
          <p:nvPr/>
        </p:nvCxnSpPr>
        <p:spPr>
          <a:xfrm>
            <a:off x="4359724" y="4126511"/>
            <a:ext cx="918884" cy="134"/>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8D68072-FF03-4E0F-71C8-6D68C45073E5}"/>
              </a:ext>
            </a:extLst>
          </p:cNvPr>
          <p:cNvCxnSpPr>
            <a:cxnSpLocks/>
          </p:cNvCxnSpPr>
          <p:nvPr/>
        </p:nvCxnSpPr>
        <p:spPr>
          <a:xfrm>
            <a:off x="4371219" y="5350905"/>
            <a:ext cx="918884" cy="134"/>
          </a:xfrm>
          <a:prstGeom prst="straightConnector1">
            <a:avLst/>
          </a:prstGeom>
          <a:ln w="57150">
            <a:solidFill>
              <a:srgbClr val="ACDCF1"/>
            </a:solidFill>
            <a:tailEnd type="triangle"/>
          </a:ln>
        </p:spPr>
        <p:style>
          <a:lnRef idx="1">
            <a:schemeClr val="accent1"/>
          </a:lnRef>
          <a:fillRef idx="0">
            <a:schemeClr val="accent1"/>
          </a:fillRef>
          <a:effectRef idx="0">
            <a:schemeClr val="accent1"/>
          </a:effectRef>
          <a:fontRef idx="minor">
            <a:schemeClr val="tx1"/>
          </a:fontRef>
        </p:style>
      </p:cxnSp>
      <p:sp>
        <p:nvSpPr>
          <p:cNvPr id="30" name="Rounded Rectangle 101">
            <a:extLst>
              <a:ext uri="{FF2B5EF4-FFF2-40B4-BE49-F238E27FC236}">
                <a16:creationId xmlns:a16="http://schemas.microsoft.com/office/drawing/2014/main" id="{E9C2719D-55B4-7214-4744-21DD892D273B}"/>
              </a:ext>
            </a:extLst>
          </p:cNvPr>
          <p:cNvSpPr/>
          <p:nvPr/>
        </p:nvSpPr>
        <p:spPr>
          <a:xfrm>
            <a:off x="372478" y="3903554"/>
            <a:ext cx="2117910" cy="538031"/>
          </a:xfrm>
          <a:prstGeom prst="roundRect">
            <a:avLst>
              <a:gd name="adj" fmla="val 50000"/>
            </a:avLst>
          </a:prstGeom>
          <a:solidFill>
            <a:srgbClr val="1D76B4">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Positive</a:t>
            </a:r>
          </a:p>
        </p:txBody>
      </p:sp>
      <p:sp>
        <p:nvSpPr>
          <p:cNvPr id="31" name="Rounded Rectangle 101">
            <a:extLst>
              <a:ext uri="{FF2B5EF4-FFF2-40B4-BE49-F238E27FC236}">
                <a16:creationId xmlns:a16="http://schemas.microsoft.com/office/drawing/2014/main" id="{2CD39E5E-2DC3-BA3D-34BD-76B5A887BC44}"/>
              </a:ext>
            </a:extLst>
          </p:cNvPr>
          <p:cNvSpPr/>
          <p:nvPr/>
        </p:nvSpPr>
        <p:spPr>
          <a:xfrm>
            <a:off x="340341" y="2728090"/>
            <a:ext cx="2117910" cy="538031"/>
          </a:xfrm>
          <a:prstGeom prst="roundRect">
            <a:avLst>
              <a:gd name="adj" fmla="val 50000"/>
            </a:avLst>
          </a:prstGeom>
          <a:solidFill>
            <a:srgbClr val="0CB255">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Anchor</a:t>
            </a:r>
          </a:p>
        </p:txBody>
      </p:sp>
      <p:sp>
        <p:nvSpPr>
          <p:cNvPr id="32" name="Rounded Rectangle 101">
            <a:extLst>
              <a:ext uri="{FF2B5EF4-FFF2-40B4-BE49-F238E27FC236}">
                <a16:creationId xmlns:a16="http://schemas.microsoft.com/office/drawing/2014/main" id="{822BD187-7EB7-297C-07C2-D76093438238}"/>
              </a:ext>
            </a:extLst>
          </p:cNvPr>
          <p:cNvSpPr/>
          <p:nvPr/>
        </p:nvSpPr>
        <p:spPr>
          <a:xfrm>
            <a:off x="372478" y="5079018"/>
            <a:ext cx="2117910" cy="538031"/>
          </a:xfrm>
          <a:prstGeom prst="roundRect">
            <a:avLst>
              <a:gd name="adj" fmla="val 50000"/>
            </a:avLst>
          </a:prstGeom>
          <a:solidFill>
            <a:srgbClr val="DC133B">
              <a:alpha val="5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Negative</a:t>
            </a:r>
          </a:p>
        </p:txBody>
      </p:sp>
      <p:sp>
        <p:nvSpPr>
          <p:cNvPr id="33" name="Rounded Rectangle 101">
            <a:extLst>
              <a:ext uri="{FF2B5EF4-FFF2-40B4-BE49-F238E27FC236}">
                <a16:creationId xmlns:a16="http://schemas.microsoft.com/office/drawing/2014/main" id="{F926FCAA-BCEC-D711-6B6D-EC28FEEA2AE9}"/>
              </a:ext>
            </a:extLst>
          </p:cNvPr>
          <p:cNvSpPr/>
          <p:nvPr/>
        </p:nvSpPr>
        <p:spPr>
          <a:xfrm>
            <a:off x="5143272" y="3394796"/>
            <a:ext cx="1745807" cy="354640"/>
          </a:xfrm>
          <a:prstGeom prst="roundRect">
            <a:avLst/>
          </a:prstGeom>
          <a:solidFill>
            <a:schemeClr val="accent1">
              <a:lumMod val="40000"/>
              <a:lumOff val="60000"/>
              <a:alpha val="24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Shared</a:t>
            </a:r>
          </a:p>
        </p:txBody>
      </p:sp>
      <p:sp>
        <p:nvSpPr>
          <p:cNvPr id="35" name="Rounded Rectangle 101">
            <a:extLst>
              <a:ext uri="{FF2B5EF4-FFF2-40B4-BE49-F238E27FC236}">
                <a16:creationId xmlns:a16="http://schemas.microsoft.com/office/drawing/2014/main" id="{5DD50674-0B2D-7BDD-59D3-FA69CB91EFBC}"/>
              </a:ext>
            </a:extLst>
          </p:cNvPr>
          <p:cNvSpPr/>
          <p:nvPr/>
        </p:nvSpPr>
        <p:spPr>
          <a:xfrm>
            <a:off x="5149882" y="4581064"/>
            <a:ext cx="1745807" cy="354640"/>
          </a:xfrm>
          <a:prstGeom prst="roundRect">
            <a:avLst/>
          </a:prstGeom>
          <a:solidFill>
            <a:schemeClr val="accent1">
              <a:lumMod val="40000"/>
              <a:lumOff val="60000"/>
              <a:alpha val="2408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chemeClr val="tx1"/>
                </a:solidFill>
                <a:latin typeface="Times New Roman" panose="02020603050405020304" pitchFamily="18" charset="0"/>
                <a:cs typeface="Times New Roman" panose="02020603050405020304" pitchFamily="18" charset="0"/>
              </a:rPr>
              <a:t>Weights</a:t>
            </a:r>
          </a:p>
        </p:txBody>
      </p:sp>
      <p:sp>
        <p:nvSpPr>
          <p:cNvPr id="43" name="TextBox 42">
            <a:extLst>
              <a:ext uri="{FF2B5EF4-FFF2-40B4-BE49-F238E27FC236}">
                <a16:creationId xmlns:a16="http://schemas.microsoft.com/office/drawing/2014/main" id="{93994EDC-23D0-49F4-F7D4-F2A19A9BB8F2}"/>
              </a:ext>
            </a:extLst>
          </p:cNvPr>
          <p:cNvSpPr txBox="1"/>
          <p:nvPr/>
        </p:nvSpPr>
        <p:spPr>
          <a:xfrm>
            <a:off x="0" y="0"/>
            <a:ext cx="12192000" cy="674370"/>
          </a:xfrm>
          <a:prstGeom prst="rect">
            <a:avLst/>
          </a:prstGeom>
          <a:solidFill>
            <a:srgbClr val="6C2334"/>
          </a:solidFill>
        </p:spPr>
        <p:txBody>
          <a:bodyPr wrap="square" rtlCol="0">
            <a:spAutoFit/>
          </a:bodyPr>
          <a:lstStyle/>
          <a:p>
            <a:endParaRPr lang="en-US"/>
          </a:p>
        </p:txBody>
      </p:sp>
      <p:sp>
        <p:nvSpPr>
          <p:cNvPr id="44" name="TextBox 43">
            <a:extLst>
              <a:ext uri="{FF2B5EF4-FFF2-40B4-BE49-F238E27FC236}">
                <a16:creationId xmlns:a16="http://schemas.microsoft.com/office/drawing/2014/main" id="{51B1B425-0CE7-3B94-8A13-604E1AAE0ED3}"/>
              </a:ext>
            </a:extLst>
          </p:cNvPr>
          <p:cNvSpPr txBox="1"/>
          <p:nvPr/>
        </p:nvSpPr>
        <p:spPr>
          <a:xfrm>
            <a:off x="247864" y="0"/>
            <a:ext cx="10637850" cy="646331"/>
          </a:xfrm>
          <a:prstGeom prst="rect">
            <a:avLst/>
          </a:prstGeom>
          <a:noFill/>
        </p:spPr>
        <p:txBody>
          <a:bodyPr wrap="square">
            <a:spAutoFit/>
          </a:bodyPr>
          <a:lstStyle/>
          <a:p>
            <a:r>
              <a:rPr lang="en-US" sz="3600" b="1">
                <a:solidFill>
                  <a:srgbClr val="CEB888"/>
                </a:solidFill>
                <a:latin typeface="Arial" panose="020B0604020202020204" pitchFamily="34" charset="0"/>
                <a:cs typeface="Arial" panose="020B0604020202020204" pitchFamily="34" charset="0"/>
              </a:rPr>
              <a:t>Dual-Factor Authentication Model</a:t>
            </a:r>
            <a:endParaRPr lang="en-US" sz="3600" b="1">
              <a:solidFill>
                <a:srgbClr val="CEB888"/>
              </a:solidFill>
              <a:highlight>
                <a:srgbClr val="6C2334"/>
              </a:highlight>
              <a:latin typeface="Arial" panose="020B0604020202020204" pitchFamily="34" charset="0"/>
              <a:cs typeface="Arial" panose="020B0604020202020204" pitchFamily="34" charset="0"/>
            </a:endParaRPr>
          </a:p>
        </p:txBody>
      </p:sp>
      <p:pic>
        <p:nvPicPr>
          <p:cNvPr id="46" name="Picture 45">
            <a:extLst>
              <a:ext uri="{FF2B5EF4-FFF2-40B4-BE49-F238E27FC236}">
                <a16:creationId xmlns:a16="http://schemas.microsoft.com/office/drawing/2014/main" id="{D8718193-1A09-0A92-DEA8-6DC0B5153D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7913" y="2526716"/>
            <a:ext cx="1019195" cy="1219200"/>
          </a:xfrm>
          <a:prstGeom prst="rect">
            <a:avLst/>
          </a:prstGeom>
        </p:spPr>
      </p:pic>
      <p:pic>
        <p:nvPicPr>
          <p:cNvPr id="58" name="Picture 57">
            <a:extLst>
              <a:ext uri="{FF2B5EF4-FFF2-40B4-BE49-F238E27FC236}">
                <a16:creationId xmlns:a16="http://schemas.microsoft.com/office/drawing/2014/main" id="{B47A68E4-26AC-2737-A58C-DAAC60F0C6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1395" y="3692457"/>
            <a:ext cx="1019195" cy="1219200"/>
          </a:xfrm>
          <a:prstGeom prst="rect">
            <a:avLst/>
          </a:prstGeom>
        </p:spPr>
      </p:pic>
      <p:pic>
        <p:nvPicPr>
          <p:cNvPr id="62" name="Picture 61">
            <a:extLst>
              <a:ext uri="{FF2B5EF4-FFF2-40B4-BE49-F238E27FC236}">
                <a16:creationId xmlns:a16="http://schemas.microsoft.com/office/drawing/2014/main" id="{6247C74F-1D57-DF29-C937-9D3D07D053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47913" y="4788567"/>
            <a:ext cx="1019195" cy="1219200"/>
          </a:xfrm>
          <a:prstGeom prst="rect">
            <a:avLst/>
          </a:prstGeom>
        </p:spPr>
      </p:pic>
      <p:sp>
        <p:nvSpPr>
          <p:cNvPr id="39" name="TextBox 38">
            <a:extLst>
              <a:ext uri="{FF2B5EF4-FFF2-40B4-BE49-F238E27FC236}">
                <a16:creationId xmlns:a16="http://schemas.microsoft.com/office/drawing/2014/main" id="{7A39FD93-98B9-F226-F41F-2D8E77413868}"/>
              </a:ext>
            </a:extLst>
          </p:cNvPr>
          <p:cNvSpPr txBox="1"/>
          <p:nvPr/>
        </p:nvSpPr>
        <p:spPr>
          <a:xfrm>
            <a:off x="340341" y="659453"/>
            <a:ext cx="8719414" cy="646331"/>
          </a:xfrm>
          <a:prstGeom prst="rect">
            <a:avLst/>
          </a:prstGeom>
          <a:noFill/>
        </p:spPr>
        <p:txBody>
          <a:bodyPr wrap="square">
            <a:spAutoFit/>
          </a:bodyPr>
          <a:lstStyle/>
          <a:p>
            <a:r>
              <a:rPr lang="en-US" sz="3600">
                <a:solidFill>
                  <a:srgbClr val="333333"/>
                </a:solidFill>
                <a:latin typeface="Times New Roman" panose="02020603050405020304" pitchFamily="18" charset="0"/>
                <a:cs typeface="Times New Roman" panose="02020603050405020304" pitchFamily="18" charset="0"/>
              </a:rPr>
              <a:t>Siamese neural network model architecture</a:t>
            </a:r>
            <a:endParaRPr lang="en-US" sz="3600"/>
          </a:p>
        </p:txBody>
      </p:sp>
    </p:spTree>
    <p:extLst>
      <p:ext uri="{BB962C8B-B14F-4D97-AF65-F5344CB8AC3E}">
        <p14:creationId xmlns:p14="http://schemas.microsoft.com/office/powerpoint/2010/main" val="339737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up)">
                                      <p:cBhvr>
                                        <p:cTn id="13" dur="500"/>
                                        <p:tgtEl>
                                          <p:spTgt spid="1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500"/>
                                        <p:tgtEl>
                                          <p:spTgt spid="19"/>
                                        </p:tgtEl>
                                      </p:cBhvr>
                                    </p:animEffect>
                                  </p:childTnLst>
                                </p:cTn>
                              </p:par>
                              <p:par>
                                <p:cTn id="17" presetID="22" presetClass="entr" presetSubtype="1"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500"/>
                                        <p:tgtEl>
                                          <p:spTgt spid="24"/>
                                        </p:tgtEl>
                                      </p:cBhvr>
                                    </p:animEffect>
                                  </p:childTnLst>
                                </p:cTn>
                              </p:par>
                              <p:par>
                                <p:cTn id="20" presetID="22" presetClass="entr" presetSubtype="1"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par>
                                <p:cTn id="23" presetID="22" presetClass="entr" presetSubtype="1"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up)">
                                      <p:cBhvr>
                                        <p:cTn id="25" dur="500"/>
                                        <p:tgtEl>
                                          <p:spTgt spid="26"/>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up)">
                                      <p:cBhvr>
                                        <p:cTn id="31" dur="500"/>
                                        <p:tgtEl>
                                          <p:spTgt spid="35"/>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up)">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par>
                                <p:cTn id="40" presetID="22" presetClass="entr" presetSubtype="4"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par>
                                <p:cTn id="43" presetID="22" presetClass="entr" presetSubtype="4"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up)">
                                      <p:cBhvr>
                                        <p:cTn id="48" dur="500"/>
                                        <p:tgtEl>
                                          <p:spTgt spid="20"/>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up)">
                                      <p:cBhvr>
                                        <p:cTn id="51" dur="500"/>
                                        <p:tgtEl>
                                          <p:spTgt spid="11"/>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up)">
                                      <p:cBhvr>
                                        <p:cTn id="54" dur="500"/>
                                        <p:tgtEl>
                                          <p:spTgt spid="10"/>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up)">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up)">
                                      <p:cBhvr>
                                        <p:cTn id="62" dur="500"/>
                                        <p:tgtEl>
                                          <p:spTgt spid="15"/>
                                        </p:tgtEl>
                                      </p:cBhvr>
                                    </p:animEffect>
                                  </p:childTnLst>
                                </p:cTn>
                              </p:par>
                              <p:par>
                                <p:cTn id="63" presetID="22" presetClass="entr" presetSubtype="1"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wipe(up)">
                                      <p:cBhvr>
                                        <p:cTn id="65" dur="500"/>
                                        <p:tgtEl>
                                          <p:spTgt spid="16"/>
                                        </p:tgtEl>
                                      </p:cBhvr>
                                    </p:animEffect>
                                  </p:childTnLst>
                                </p:cTn>
                              </p:par>
                              <p:par>
                                <p:cTn id="66" presetID="22" presetClass="entr" presetSubtype="1" fill="hold"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wipe(up)">
                                      <p:cBhvr>
                                        <p:cTn id="68" dur="500"/>
                                        <p:tgtEl>
                                          <p:spTgt spid="14"/>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up)">
                                      <p:cBhvr>
                                        <p:cTn id="7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1" grpId="0" animBg="1"/>
      <p:bldP spid="19" grpId="0" animBg="1"/>
      <p:bldP spid="20" grpId="0" animBg="1"/>
      <p:bldP spid="22" grpId="0" animBg="1"/>
      <p:bldP spid="33"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22F8D-EF8A-4222-7F00-8E8B54E38C4F}"/>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6FB888AF-7E0C-24D2-700E-0E681DC38776}"/>
              </a:ext>
            </a:extLst>
          </p:cNvPr>
          <p:cNvSpPr>
            <a:spLocks noGrp="1"/>
          </p:cNvSpPr>
          <p:nvPr>
            <p:ph type="sldNum" sz="quarter" idx="12"/>
          </p:nvPr>
        </p:nvSpPr>
        <p:spPr>
          <a:xfrm>
            <a:off x="1141887" y="670139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tint val="75000"/>
                  </a:prstClr>
                </a:solidFill>
                <a:effectLst/>
                <a:uLnTx/>
                <a:uFillTx/>
                <a:latin typeface="Times New Roman" panose="02020603050405020304" pitchFamily="18" charset="0"/>
                <a:cs typeface="Times New Roman" panose="02020603050405020304" pitchFamily="18" charset="0"/>
              </a:rPr>
              <a:t>7</a:t>
            </a:r>
          </a:p>
        </p:txBody>
      </p:sp>
      <p:pic>
        <p:nvPicPr>
          <p:cNvPr id="2" name="Picture 2">
            <a:extLst>
              <a:ext uri="{FF2B5EF4-FFF2-40B4-BE49-F238E27FC236}">
                <a16:creationId xmlns:a16="http://schemas.microsoft.com/office/drawing/2014/main" id="{DC263F4A-A32C-281A-AB8E-FC71C3963A78}"/>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1910" y="763385"/>
            <a:ext cx="27432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4B455F3-3349-F0C6-9FE0-450FDD2DBD07}"/>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4767" y="763385"/>
            <a:ext cx="27432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CB072E88-4C0A-7D48-0BBE-580C5DCE129F}"/>
              </a:ext>
            </a:extLst>
          </p:cNvPr>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624" y="763385"/>
            <a:ext cx="2743200" cy="1828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8D74FFF-8942-6F26-DFE1-D31FCC5AA72D}"/>
              </a:ext>
            </a:extLst>
          </p:cNvPr>
          <p:cNvSpPr txBox="1"/>
          <p:nvPr/>
        </p:nvSpPr>
        <p:spPr>
          <a:xfrm>
            <a:off x="607458" y="2528535"/>
            <a:ext cx="2016528" cy="646331"/>
          </a:xfrm>
          <a:prstGeom prst="rect">
            <a:avLst/>
          </a:prstGeom>
          <a:noFill/>
          <a:ln>
            <a:noFill/>
          </a:ln>
        </p:spPr>
        <p:txBody>
          <a:bodyPr wrap="square" rtlCol="0">
            <a:spAutoFit/>
          </a:bodyPr>
          <a:lstStyle/>
          <a:p>
            <a:r>
              <a:rPr lang="en-US" sz="3600">
                <a:latin typeface="Times New Roman" panose="02020603050405020304" pitchFamily="18" charset="0"/>
                <a:cs typeface="Times New Roman" panose="02020603050405020304" pitchFamily="18" charset="0"/>
              </a:rPr>
              <a:t>A</a:t>
            </a:r>
            <a:r>
              <a:rPr lang="en-US" altLang="zh-CN" sz="3600">
                <a:latin typeface="Times New Roman" panose="02020603050405020304" pitchFamily="18" charset="0"/>
                <a:cs typeface="Times New Roman" panose="02020603050405020304" pitchFamily="18" charset="0"/>
              </a:rPr>
              <a:t>ntenna</a:t>
            </a:r>
            <a:endParaRPr lang="en-US" sz="36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A0B00E2-FC23-79B6-69C3-1BB8B4E6B7F2}"/>
              </a:ext>
            </a:extLst>
          </p:cNvPr>
          <p:cNvSpPr txBox="1"/>
          <p:nvPr/>
        </p:nvSpPr>
        <p:spPr>
          <a:xfrm>
            <a:off x="3965344" y="2528535"/>
            <a:ext cx="3187209" cy="646331"/>
          </a:xfrm>
          <a:prstGeom prst="rect">
            <a:avLst/>
          </a:prstGeom>
          <a:noFill/>
          <a:ln>
            <a:noFill/>
          </a:ln>
        </p:spPr>
        <p:txBody>
          <a:bodyPr wrap="square" rtlCol="0">
            <a:spAutoFit/>
          </a:bodyPr>
          <a:lstStyle/>
          <a:p>
            <a:pPr algn="r"/>
            <a:r>
              <a:rPr lang="en-US" sz="3600">
                <a:latin typeface="Times New Roman" panose="02020603050405020304" pitchFamily="18" charset="0"/>
                <a:cs typeface="Times New Roman" panose="02020603050405020304" pitchFamily="18" charset="0"/>
              </a:rPr>
              <a:t>A</a:t>
            </a:r>
            <a:r>
              <a:rPr lang="en-US" altLang="zh-CN" sz="3600">
                <a:latin typeface="Times New Roman" panose="02020603050405020304" pitchFamily="18" charset="0"/>
                <a:cs typeface="Times New Roman" panose="02020603050405020304" pitchFamily="18" charset="0"/>
              </a:rPr>
              <a:t>ntenna </a:t>
            </a:r>
            <a:r>
              <a:rPr lang="en-US" sz="3600">
                <a:latin typeface="Times New Roman" panose="02020603050405020304" pitchFamily="18" charset="0"/>
                <a:cs typeface="Times New Roman" panose="02020603050405020304" pitchFamily="18" charset="0"/>
              </a:rPr>
              <a:t>Array</a:t>
            </a:r>
          </a:p>
        </p:txBody>
      </p:sp>
      <p:sp>
        <p:nvSpPr>
          <p:cNvPr id="11" name="TextBox 10">
            <a:extLst>
              <a:ext uri="{FF2B5EF4-FFF2-40B4-BE49-F238E27FC236}">
                <a16:creationId xmlns:a16="http://schemas.microsoft.com/office/drawing/2014/main" id="{AB75CE16-A9A5-6F42-BC4B-0E5A81662005}"/>
              </a:ext>
            </a:extLst>
          </p:cNvPr>
          <p:cNvSpPr txBox="1"/>
          <p:nvPr/>
        </p:nvSpPr>
        <p:spPr>
          <a:xfrm>
            <a:off x="8277173" y="2528535"/>
            <a:ext cx="3784983" cy="646331"/>
          </a:xfrm>
          <a:prstGeom prst="rect">
            <a:avLst/>
          </a:prstGeom>
          <a:noFill/>
          <a:ln>
            <a:noFill/>
          </a:ln>
        </p:spPr>
        <p:txBody>
          <a:bodyPr wrap="square" rtlCol="0">
            <a:spAutoFit/>
          </a:bodyPr>
          <a:lstStyle/>
          <a:p>
            <a:r>
              <a:rPr lang="en-US" sz="3600">
                <a:latin typeface="Times New Roman" panose="02020603050405020304" pitchFamily="18" charset="0"/>
                <a:cs typeface="Times New Roman" panose="02020603050405020304" pitchFamily="18" charset="0"/>
              </a:rPr>
              <a:t>Commodity NIC</a:t>
            </a:r>
          </a:p>
        </p:txBody>
      </p:sp>
      <p:pic>
        <p:nvPicPr>
          <p:cNvPr id="13" name="Picture 12">
            <a:extLst>
              <a:ext uri="{FF2B5EF4-FFF2-40B4-BE49-F238E27FC236}">
                <a16:creationId xmlns:a16="http://schemas.microsoft.com/office/drawing/2014/main" id="{80B79E18-D139-9E2A-0EBA-879BB1DB9B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V="1">
            <a:off x="7717252" y="3679422"/>
            <a:ext cx="4312517" cy="2395062"/>
          </a:xfrm>
          <a:prstGeom prst="rect">
            <a:avLst/>
          </a:prstGeom>
        </p:spPr>
      </p:pic>
      <p:grpSp>
        <p:nvGrpSpPr>
          <p:cNvPr id="14" name="Group 13">
            <a:extLst>
              <a:ext uri="{FF2B5EF4-FFF2-40B4-BE49-F238E27FC236}">
                <a16:creationId xmlns:a16="http://schemas.microsoft.com/office/drawing/2014/main" id="{810A266D-8B5C-3085-A474-C03BEAD7DD09}"/>
              </a:ext>
            </a:extLst>
          </p:cNvPr>
          <p:cNvGrpSpPr>
            <a:grpSpLocks noChangeAspect="1"/>
          </p:cNvGrpSpPr>
          <p:nvPr/>
        </p:nvGrpSpPr>
        <p:grpSpPr>
          <a:xfrm>
            <a:off x="2980409" y="3688251"/>
            <a:ext cx="2148778" cy="2425716"/>
            <a:chOff x="121920" y="274320"/>
            <a:chExt cx="3795369" cy="5532120"/>
          </a:xfrm>
        </p:grpSpPr>
        <p:pic>
          <p:nvPicPr>
            <p:cNvPr id="15" name="Picture 14" descr="A black and white rectangular frame&#10;&#10;AI-generated content may be incorrect.">
              <a:extLst>
                <a:ext uri="{FF2B5EF4-FFF2-40B4-BE49-F238E27FC236}">
                  <a16:creationId xmlns:a16="http://schemas.microsoft.com/office/drawing/2014/main" id="{A28E3408-2ECA-A8CC-55C0-26B3CC0217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920" y="274320"/>
              <a:ext cx="3795369" cy="5532120"/>
            </a:xfrm>
            <a:prstGeom prst="rect">
              <a:avLst/>
            </a:prstGeom>
          </p:spPr>
        </p:pic>
        <p:pic>
          <p:nvPicPr>
            <p:cNvPr id="16" name="Picture 6" descr="Business, chair, meeting room, office, table icon - Download on Iconfinder">
              <a:extLst>
                <a:ext uri="{FF2B5EF4-FFF2-40B4-BE49-F238E27FC236}">
                  <a16:creationId xmlns:a16="http://schemas.microsoft.com/office/drawing/2014/main" id="{FC0D9441-F344-13F4-6C3B-CAEDBBA9EE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279400" y="723900"/>
              <a:ext cx="2051050" cy="205105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Business, chair, meeting room, office, table icon - Download on Iconfinder">
              <a:extLst>
                <a:ext uri="{FF2B5EF4-FFF2-40B4-BE49-F238E27FC236}">
                  <a16:creationId xmlns:a16="http://schemas.microsoft.com/office/drawing/2014/main" id="{A457230A-DC18-B606-7AF6-435C708C7F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1634134" y="723900"/>
              <a:ext cx="2051050" cy="205105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Podium Icons - Free SVG &amp; PNG Podium Images - Noun Project">
              <a:extLst>
                <a:ext uri="{FF2B5EF4-FFF2-40B4-BE49-F238E27FC236}">
                  <a16:creationId xmlns:a16="http://schemas.microsoft.com/office/drawing/2014/main" id="{F08A0AC7-8B72-08FC-A11C-7492B59AC3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920" y="4531358"/>
              <a:ext cx="1016001" cy="1016001"/>
            </a:xfrm>
            <a:prstGeom prst="rect">
              <a:avLst/>
            </a:prstGeom>
            <a:noFill/>
            <a:extLst>
              <a:ext uri="{909E8E84-426E-40DD-AFC4-6F175D3DCCD1}">
                <a14:hiddenFill xmlns:a14="http://schemas.microsoft.com/office/drawing/2010/main">
                  <a:solidFill>
                    <a:srgbClr val="FFFFFF"/>
                  </a:solidFill>
                </a14:hiddenFill>
              </a:ext>
            </a:extLst>
          </p:spPr>
        </p:pic>
        <p:sp>
          <p:nvSpPr>
            <p:cNvPr id="20" name="Flowchart: Connector 19">
              <a:extLst>
                <a:ext uri="{FF2B5EF4-FFF2-40B4-BE49-F238E27FC236}">
                  <a16:creationId xmlns:a16="http://schemas.microsoft.com/office/drawing/2014/main" id="{37FA3A43-A160-C976-C1E6-F388B774369F}"/>
                </a:ext>
              </a:extLst>
            </p:cNvPr>
            <p:cNvSpPr/>
            <p:nvPr/>
          </p:nvSpPr>
          <p:spPr>
            <a:xfrm>
              <a:off x="1522690" y="4932202"/>
              <a:ext cx="222885" cy="214312"/>
            </a:xfrm>
            <a:prstGeom prst="flowChartConnector">
              <a:avLst/>
            </a:prstGeom>
            <a:solidFill>
              <a:srgbClr val="FF000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1" name="Star: 5 Points 20">
              <a:extLst>
                <a:ext uri="{FF2B5EF4-FFF2-40B4-BE49-F238E27FC236}">
                  <a16:creationId xmlns:a16="http://schemas.microsoft.com/office/drawing/2014/main" id="{BC2D524B-045C-5034-B63C-1CEE4FC7E0DA}"/>
                </a:ext>
              </a:extLst>
            </p:cNvPr>
            <p:cNvSpPr/>
            <p:nvPr/>
          </p:nvSpPr>
          <p:spPr>
            <a:xfrm>
              <a:off x="2666332" y="4884784"/>
              <a:ext cx="330200" cy="309147"/>
            </a:xfrm>
            <a:prstGeom prst="star5">
              <a:avLst/>
            </a:prstGeom>
            <a:solidFill>
              <a:srgbClr val="00B05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2" name="Flowchart: Process 21">
              <a:extLst>
                <a:ext uri="{FF2B5EF4-FFF2-40B4-BE49-F238E27FC236}">
                  <a16:creationId xmlns:a16="http://schemas.microsoft.com/office/drawing/2014/main" id="{E5A291F4-9D13-D012-1BB0-11C7F89F6A09}"/>
                </a:ext>
              </a:extLst>
            </p:cNvPr>
            <p:cNvSpPr/>
            <p:nvPr/>
          </p:nvSpPr>
          <p:spPr>
            <a:xfrm>
              <a:off x="1611272" y="4534405"/>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Flowchart: Process 22">
              <a:extLst>
                <a:ext uri="{FF2B5EF4-FFF2-40B4-BE49-F238E27FC236}">
                  <a16:creationId xmlns:a16="http://schemas.microsoft.com/office/drawing/2014/main" id="{4F77D624-C139-3E85-5DBA-EFE5234404A0}"/>
                </a:ext>
              </a:extLst>
            </p:cNvPr>
            <p:cNvSpPr/>
            <p:nvPr/>
          </p:nvSpPr>
          <p:spPr>
            <a:xfrm>
              <a:off x="2245210" y="4522212"/>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4" name="Flowchart: Process 23">
              <a:extLst>
                <a:ext uri="{FF2B5EF4-FFF2-40B4-BE49-F238E27FC236}">
                  <a16:creationId xmlns:a16="http://schemas.microsoft.com/office/drawing/2014/main" id="{E60A124C-81D4-0083-821C-AA663D8A37FA}"/>
                </a:ext>
              </a:extLst>
            </p:cNvPr>
            <p:cNvSpPr/>
            <p:nvPr/>
          </p:nvSpPr>
          <p:spPr>
            <a:xfrm>
              <a:off x="2241399" y="5014462"/>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5" name="Flowchart: Process 24">
              <a:extLst>
                <a:ext uri="{FF2B5EF4-FFF2-40B4-BE49-F238E27FC236}">
                  <a16:creationId xmlns:a16="http://schemas.microsoft.com/office/drawing/2014/main" id="{403B3C2B-E84A-084B-5C9B-3437BAD3FA39}"/>
                </a:ext>
              </a:extLst>
            </p:cNvPr>
            <p:cNvSpPr/>
            <p:nvPr/>
          </p:nvSpPr>
          <p:spPr>
            <a:xfrm>
              <a:off x="2873050" y="4522212"/>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6" name="Flowchart: Process 25">
              <a:extLst>
                <a:ext uri="{FF2B5EF4-FFF2-40B4-BE49-F238E27FC236}">
                  <a16:creationId xmlns:a16="http://schemas.microsoft.com/office/drawing/2014/main" id="{557394B3-C461-4036-79DD-F796EACD5072}"/>
                </a:ext>
              </a:extLst>
            </p:cNvPr>
            <p:cNvSpPr/>
            <p:nvPr/>
          </p:nvSpPr>
          <p:spPr>
            <a:xfrm>
              <a:off x="3500890" y="4522211"/>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1" name="Flowchart: Process 30">
              <a:extLst>
                <a:ext uri="{FF2B5EF4-FFF2-40B4-BE49-F238E27FC236}">
                  <a16:creationId xmlns:a16="http://schemas.microsoft.com/office/drawing/2014/main" id="{934E072B-BBFE-BA30-591C-5FEE81E3362C}"/>
                </a:ext>
              </a:extLst>
            </p:cNvPr>
            <p:cNvSpPr/>
            <p:nvPr/>
          </p:nvSpPr>
          <p:spPr>
            <a:xfrm>
              <a:off x="2245208" y="4010839"/>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2" name="Flowchart: Process 31">
              <a:extLst>
                <a:ext uri="{FF2B5EF4-FFF2-40B4-BE49-F238E27FC236}">
                  <a16:creationId xmlns:a16="http://schemas.microsoft.com/office/drawing/2014/main" id="{1D87C1CF-7C8C-42FC-BFD5-5E77C28551C3}"/>
                </a:ext>
              </a:extLst>
            </p:cNvPr>
            <p:cNvSpPr/>
            <p:nvPr/>
          </p:nvSpPr>
          <p:spPr>
            <a:xfrm>
              <a:off x="2873050" y="4010838"/>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3" name="Flowchart: Process 32">
              <a:extLst>
                <a:ext uri="{FF2B5EF4-FFF2-40B4-BE49-F238E27FC236}">
                  <a16:creationId xmlns:a16="http://schemas.microsoft.com/office/drawing/2014/main" id="{12472846-8B8F-5C43-C6D4-10A758BF3C98}"/>
                </a:ext>
              </a:extLst>
            </p:cNvPr>
            <p:cNvSpPr/>
            <p:nvPr/>
          </p:nvSpPr>
          <p:spPr>
            <a:xfrm>
              <a:off x="2245208" y="3499466"/>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4" name="Star: 5 Points 33">
              <a:extLst>
                <a:ext uri="{FF2B5EF4-FFF2-40B4-BE49-F238E27FC236}">
                  <a16:creationId xmlns:a16="http://schemas.microsoft.com/office/drawing/2014/main" id="{3C8649CE-40DE-B723-9ABD-1BFEAF464167}"/>
                </a:ext>
              </a:extLst>
            </p:cNvPr>
            <p:cNvSpPr/>
            <p:nvPr/>
          </p:nvSpPr>
          <p:spPr>
            <a:xfrm>
              <a:off x="1486941" y="3874220"/>
              <a:ext cx="330200" cy="309147"/>
            </a:xfrm>
            <a:prstGeom prst="star5">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5" name="Group 34">
            <a:extLst>
              <a:ext uri="{FF2B5EF4-FFF2-40B4-BE49-F238E27FC236}">
                <a16:creationId xmlns:a16="http://schemas.microsoft.com/office/drawing/2014/main" id="{75F53806-7C31-288A-1397-82C26ECD2F3C}"/>
              </a:ext>
            </a:extLst>
          </p:cNvPr>
          <p:cNvGrpSpPr>
            <a:grpSpLocks noChangeAspect="1"/>
          </p:cNvGrpSpPr>
          <p:nvPr/>
        </p:nvGrpSpPr>
        <p:grpSpPr>
          <a:xfrm>
            <a:off x="5719081" y="4167909"/>
            <a:ext cx="1343734" cy="1488355"/>
            <a:chOff x="8717274" y="2209800"/>
            <a:chExt cx="2447414" cy="3528060"/>
          </a:xfrm>
        </p:grpSpPr>
        <p:pic>
          <p:nvPicPr>
            <p:cNvPr id="36" name="Picture 35" descr="A black and white rectangular frame&#10;&#10;AI-generated content may be incorrect.">
              <a:extLst>
                <a:ext uri="{FF2B5EF4-FFF2-40B4-BE49-F238E27FC236}">
                  <a16:creationId xmlns:a16="http://schemas.microsoft.com/office/drawing/2014/main" id="{FD37E7F0-CE46-A596-4792-ECDB3F961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17274" y="2209800"/>
              <a:ext cx="2447414" cy="3528060"/>
            </a:xfrm>
            <a:prstGeom prst="rect">
              <a:avLst/>
            </a:prstGeom>
          </p:spPr>
        </p:pic>
        <p:pic>
          <p:nvPicPr>
            <p:cNvPr id="37" name="Picture 26" descr="Desk chair - Free furniture and household icons">
              <a:extLst>
                <a:ext uri="{FF2B5EF4-FFF2-40B4-BE49-F238E27FC236}">
                  <a16:creationId xmlns:a16="http://schemas.microsoft.com/office/drawing/2014/main" id="{369104CF-32AB-5DB8-A07C-BD48D1A9A37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44625" y="4968121"/>
              <a:ext cx="290948" cy="290948"/>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Rounded Corners 37">
              <a:extLst>
                <a:ext uri="{FF2B5EF4-FFF2-40B4-BE49-F238E27FC236}">
                  <a16:creationId xmlns:a16="http://schemas.microsoft.com/office/drawing/2014/main" id="{4182BB48-FC38-41CF-344E-B89820BAE6BC}"/>
                </a:ext>
              </a:extLst>
            </p:cNvPr>
            <p:cNvSpPr/>
            <p:nvPr/>
          </p:nvSpPr>
          <p:spPr>
            <a:xfrm>
              <a:off x="9401946" y="5288280"/>
              <a:ext cx="1078070" cy="25907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39" name="Picture 26" descr="Desk chair - Free furniture and household icons">
              <a:extLst>
                <a:ext uri="{FF2B5EF4-FFF2-40B4-BE49-F238E27FC236}">
                  <a16:creationId xmlns:a16="http://schemas.microsoft.com/office/drawing/2014/main" id="{980627F8-91CB-7C4A-DD80-325792F0D8F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02833" y="4968121"/>
              <a:ext cx="290948" cy="290948"/>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Rounded Corners 39">
              <a:extLst>
                <a:ext uri="{FF2B5EF4-FFF2-40B4-BE49-F238E27FC236}">
                  <a16:creationId xmlns:a16="http://schemas.microsoft.com/office/drawing/2014/main" id="{69299D2F-7181-2CE2-6A58-801736AD6BB2}"/>
                </a:ext>
              </a:extLst>
            </p:cNvPr>
            <p:cNvSpPr/>
            <p:nvPr/>
          </p:nvSpPr>
          <p:spPr>
            <a:xfrm rot="16200000">
              <a:off x="8693020" y="3464769"/>
              <a:ext cx="650660" cy="25907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41" name="Picture 26" descr="Desk chair - Free furniture and household icons">
              <a:extLst>
                <a:ext uri="{FF2B5EF4-FFF2-40B4-BE49-F238E27FC236}">
                  <a16:creationId xmlns:a16="http://schemas.microsoft.com/office/drawing/2014/main" id="{2BAE3D7C-F68A-41A4-905E-AE8187AA5AF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5400000">
              <a:off x="9175866" y="3447199"/>
              <a:ext cx="290948" cy="290948"/>
            </a:xfrm>
            <a:prstGeom prst="rect">
              <a:avLst/>
            </a:prstGeom>
            <a:noFill/>
            <a:extLst>
              <a:ext uri="{909E8E84-426E-40DD-AFC4-6F175D3DCCD1}">
                <a14:hiddenFill xmlns:a14="http://schemas.microsoft.com/office/drawing/2010/main">
                  <a:solidFill>
                    <a:srgbClr val="FFFFFF"/>
                  </a:solidFill>
                </a14:hiddenFill>
              </a:ext>
            </a:extLst>
          </p:spPr>
        </p:pic>
        <p:sp>
          <p:nvSpPr>
            <p:cNvPr id="42" name="Flowchart: Connector 41">
              <a:extLst>
                <a:ext uri="{FF2B5EF4-FFF2-40B4-BE49-F238E27FC236}">
                  <a16:creationId xmlns:a16="http://schemas.microsoft.com/office/drawing/2014/main" id="{FAAE142D-AF7C-3FC7-4313-8F349E069FC7}"/>
                </a:ext>
              </a:extLst>
            </p:cNvPr>
            <p:cNvSpPr/>
            <p:nvPr/>
          </p:nvSpPr>
          <p:spPr>
            <a:xfrm>
              <a:off x="9648307" y="2933224"/>
              <a:ext cx="222885" cy="214312"/>
            </a:xfrm>
            <a:prstGeom prst="flowChartConnector">
              <a:avLst/>
            </a:prstGeom>
            <a:solidFill>
              <a:srgbClr val="FF000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3" name="Star: 5 Points 42">
              <a:extLst>
                <a:ext uri="{FF2B5EF4-FFF2-40B4-BE49-F238E27FC236}">
                  <a16:creationId xmlns:a16="http://schemas.microsoft.com/office/drawing/2014/main" id="{124E71DD-4E3C-633C-1035-FEF8F6B01116}"/>
                </a:ext>
              </a:extLst>
            </p:cNvPr>
            <p:cNvSpPr/>
            <p:nvPr/>
          </p:nvSpPr>
          <p:spPr>
            <a:xfrm>
              <a:off x="9594649" y="3901985"/>
              <a:ext cx="330200" cy="309147"/>
            </a:xfrm>
            <a:prstGeom prst="star5">
              <a:avLst/>
            </a:prstGeom>
            <a:solidFill>
              <a:srgbClr val="00B05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4" name="Flowchart: Process 43">
              <a:extLst>
                <a:ext uri="{FF2B5EF4-FFF2-40B4-BE49-F238E27FC236}">
                  <a16:creationId xmlns:a16="http://schemas.microsoft.com/office/drawing/2014/main" id="{C32AD2B5-4C20-3EA0-2870-98E6444D2DD6}"/>
                </a:ext>
              </a:extLst>
            </p:cNvPr>
            <p:cNvSpPr/>
            <p:nvPr/>
          </p:nvSpPr>
          <p:spPr>
            <a:xfrm>
              <a:off x="9994496" y="4660718"/>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5" name="Flowchart: Process 44">
              <a:extLst>
                <a:ext uri="{FF2B5EF4-FFF2-40B4-BE49-F238E27FC236}">
                  <a16:creationId xmlns:a16="http://schemas.microsoft.com/office/drawing/2014/main" id="{13178FF1-14DC-719D-FB6E-895343BD41C0}"/>
                </a:ext>
              </a:extLst>
            </p:cNvPr>
            <p:cNvSpPr/>
            <p:nvPr/>
          </p:nvSpPr>
          <p:spPr>
            <a:xfrm>
              <a:off x="10305557" y="466275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Flowchart: Process 45">
              <a:extLst>
                <a:ext uri="{FF2B5EF4-FFF2-40B4-BE49-F238E27FC236}">
                  <a16:creationId xmlns:a16="http://schemas.microsoft.com/office/drawing/2014/main" id="{28BCE47E-50A0-3739-8798-F4EBA4799E6E}"/>
                </a:ext>
              </a:extLst>
            </p:cNvPr>
            <p:cNvSpPr/>
            <p:nvPr/>
          </p:nvSpPr>
          <p:spPr>
            <a:xfrm>
              <a:off x="10616618" y="4660718"/>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7" name="Flowchart: Process 46">
              <a:extLst>
                <a:ext uri="{FF2B5EF4-FFF2-40B4-BE49-F238E27FC236}">
                  <a16:creationId xmlns:a16="http://schemas.microsoft.com/office/drawing/2014/main" id="{01DC653E-0AB0-3AEF-5746-D87A75710499}"/>
                </a:ext>
              </a:extLst>
            </p:cNvPr>
            <p:cNvSpPr/>
            <p:nvPr/>
          </p:nvSpPr>
          <p:spPr>
            <a:xfrm>
              <a:off x="10891706" y="4657995"/>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8" name="Flowchart: Process 47">
              <a:extLst>
                <a:ext uri="{FF2B5EF4-FFF2-40B4-BE49-F238E27FC236}">
                  <a16:creationId xmlns:a16="http://schemas.microsoft.com/office/drawing/2014/main" id="{C0601F7E-7129-D285-2608-B042FCCB34C3}"/>
                </a:ext>
              </a:extLst>
            </p:cNvPr>
            <p:cNvSpPr/>
            <p:nvPr/>
          </p:nvSpPr>
          <p:spPr>
            <a:xfrm>
              <a:off x="10886203" y="4404993"/>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9" name="Flowchart: Process 48">
              <a:extLst>
                <a:ext uri="{FF2B5EF4-FFF2-40B4-BE49-F238E27FC236}">
                  <a16:creationId xmlns:a16="http://schemas.microsoft.com/office/drawing/2014/main" id="{E7E3B0DB-9AAA-8FFD-47D0-A32CA6149555}"/>
                </a:ext>
              </a:extLst>
            </p:cNvPr>
            <p:cNvSpPr/>
            <p:nvPr/>
          </p:nvSpPr>
          <p:spPr>
            <a:xfrm>
              <a:off x="10886203" y="4146363"/>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0" name="Flowchart: Process 49">
              <a:extLst>
                <a:ext uri="{FF2B5EF4-FFF2-40B4-BE49-F238E27FC236}">
                  <a16:creationId xmlns:a16="http://schemas.microsoft.com/office/drawing/2014/main" id="{BB2ABB0C-81C6-75D3-A7AA-DFCFE2161352}"/>
                </a:ext>
              </a:extLst>
            </p:cNvPr>
            <p:cNvSpPr/>
            <p:nvPr/>
          </p:nvSpPr>
          <p:spPr>
            <a:xfrm>
              <a:off x="10886203" y="389054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1" name="Flowchart: Process 50">
              <a:extLst>
                <a:ext uri="{FF2B5EF4-FFF2-40B4-BE49-F238E27FC236}">
                  <a16:creationId xmlns:a16="http://schemas.microsoft.com/office/drawing/2014/main" id="{53B4BB59-D1F5-6F67-CE13-8D5557ADAD82}"/>
                </a:ext>
              </a:extLst>
            </p:cNvPr>
            <p:cNvSpPr/>
            <p:nvPr/>
          </p:nvSpPr>
          <p:spPr>
            <a:xfrm>
              <a:off x="10886203" y="364086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2" name="Flowchart: Process 51">
              <a:extLst>
                <a:ext uri="{FF2B5EF4-FFF2-40B4-BE49-F238E27FC236}">
                  <a16:creationId xmlns:a16="http://schemas.microsoft.com/office/drawing/2014/main" id="{5C99E7E1-A54E-FA27-CE4C-CF7234DBB085}"/>
                </a:ext>
              </a:extLst>
            </p:cNvPr>
            <p:cNvSpPr/>
            <p:nvPr/>
          </p:nvSpPr>
          <p:spPr>
            <a:xfrm>
              <a:off x="10886203" y="339118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3" name="Flowchart: Process 52">
              <a:extLst>
                <a:ext uri="{FF2B5EF4-FFF2-40B4-BE49-F238E27FC236}">
                  <a16:creationId xmlns:a16="http://schemas.microsoft.com/office/drawing/2014/main" id="{02951881-0334-3601-BE3A-6C869BE403E7}"/>
                </a:ext>
              </a:extLst>
            </p:cNvPr>
            <p:cNvSpPr/>
            <p:nvPr/>
          </p:nvSpPr>
          <p:spPr>
            <a:xfrm>
              <a:off x="10616617" y="4404993"/>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4" name="Flowchart: Process 53">
              <a:extLst>
                <a:ext uri="{FF2B5EF4-FFF2-40B4-BE49-F238E27FC236}">
                  <a16:creationId xmlns:a16="http://schemas.microsoft.com/office/drawing/2014/main" id="{6FB119A4-3E4A-0DA5-1416-D904F64B0D2C}"/>
                </a:ext>
              </a:extLst>
            </p:cNvPr>
            <p:cNvSpPr/>
            <p:nvPr/>
          </p:nvSpPr>
          <p:spPr>
            <a:xfrm>
              <a:off x="10305556" y="4402428"/>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5" name="Flowchart: Process 54">
              <a:extLst>
                <a:ext uri="{FF2B5EF4-FFF2-40B4-BE49-F238E27FC236}">
                  <a16:creationId xmlns:a16="http://schemas.microsoft.com/office/drawing/2014/main" id="{F7E7CFD7-4621-5F23-62E2-407FA51239CE}"/>
                </a:ext>
              </a:extLst>
            </p:cNvPr>
            <p:cNvSpPr/>
            <p:nvPr/>
          </p:nvSpPr>
          <p:spPr>
            <a:xfrm>
              <a:off x="9994496" y="4402428"/>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6" name="Flowchart: Process 55">
              <a:extLst>
                <a:ext uri="{FF2B5EF4-FFF2-40B4-BE49-F238E27FC236}">
                  <a16:creationId xmlns:a16="http://schemas.microsoft.com/office/drawing/2014/main" id="{DDF8467A-F5A9-F4F6-6D53-2BA18BEA1023}"/>
                </a:ext>
              </a:extLst>
            </p:cNvPr>
            <p:cNvSpPr/>
            <p:nvPr/>
          </p:nvSpPr>
          <p:spPr>
            <a:xfrm>
              <a:off x="10616616" y="4142709"/>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7" name="Flowchart: Process 56">
              <a:extLst>
                <a:ext uri="{FF2B5EF4-FFF2-40B4-BE49-F238E27FC236}">
                  <a16:creationId xmlns:a16="http://schemas.microsoft.com/office/drawing/2014/main" id="{8E5BCCE4-3153-3F50-31D0-CEF8A3DC2DDA}"/>
                </a:ext>
              </a:extLst>
            </p:cNvPr>
            <p:cNvSpPr/>
            <p:nvPr/>
          </p:nvSpPr>
          <p:spPr>
            <a:xfrm>
              <a:off x="10300056" y="4142099"/>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8" name="Flowchart: Process 57">
              <a:extLst>
                <a:ext uri="{FF2B5EF4-FFF2-40B4-BE49-F238E27FC236}">
                  <a16:creationId xmlns:a16="http://schemas.microsoft.com/office/drawing/2014/main" id="{77764C3E-945D-01A4-0536-F9E3AE336F9E}"/>
                </a:ext>
              </a:extLst>
            </p:cNvPr>
            <p:cNvSpPr/>
            <p:nvPr/>
          </p:nvSpPr>
          <p:spPr>
            <a:xfrm>
              <a:off x="9991063" y="4137679"/>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9" name="Flowchart: Process 58">
              <a:extLst>
                <a:ext uri="{FF2B5EF4-FFF2-40B4-BE49-F238E27FC236}">
                  <a16:creationId xmlns:a16="http://schemas.microsoft.com/office/drawing/2014/main" id="{C2A0ED39-886F-49AB-DFD1-01064AED6CD0}"/>
                </a:ext>
              </a:extLst>
            </p:cNvPr>
            <p:cNvSpPr/>
            <p:nvPr/>
          </p:nvSpPr>
          <p:spPr>
            <a:xfrm>
              <a:off x="10616615" y="389054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0" name="Flowchart: Process 59">
              <a:extLst>
                <a:ext uri="{FF2B5EF4-FFF2-40B4-BE49-F238E27FC236}">
                  <a16:creationId xmlns:a16="http://schemas.microsoft.com/office/drawing/2014/main" id="{38796478-5DE6-2C11-BB4C-598DC0B21A0C}"/>
                </a:ext>
              </a:extLst>
            </p:cNvPr>
            <p:cNvSpPr/>
            <p:nvPr/>
          </p:nvSpPr>
          <p:spPr>
            <a:xfrm>
              <a:off x="10300055" y="389054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1" name="Flowchart: Process 60">
              <a:extLst>
                <a:ext uri="{FF2B5EF4-FFF2-40B4-BE49-F238E27FC236}">
                  <a16:creationId xmlns:a16="http://schemas.microsoft.com/office/drawing/2014/main" id="{DC32199B-CDC5-0502-EB03-094C564C2750}"/>
                </a:ext>
              </a:extLst>
            </p:cNvPr>
            <p:cNvSpPr/>
            <p:nvPr/>
          </p:nvSpPr>
          <p:spPr>
            <a:xfrm>
              <a:off x="9988643" y="389054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2" name="Flowchart: Process 61">
              <a:extLst>
                <a:ext uri="{FF2B5EF4-FFF2-40B4-BE49-F238E27FC236}">
                  <a16:creationId xmlns:a16="http://schemas.microsoft.com/office/drawing/2014/main" id="{8BF36AB0-F379-81B3-A333-7E7A95EEEF91}"/>
                </a:ext>
              </a:extLst>
            </p:cNvPr>
            <p:cNvSpPr/>
            <p:nvPr/>
          </p:nvSpPr>
          <p:spPr>
            <a:xfrm>
              <a:off x="10612190" y="3644946"/>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3" name="Flowchart: Process 62">
              <a:extLst>
                <a:ext uri="{FF2B5EF4-FFF2-40B4-BE49-F238E27FC236}">
                  <a16:creationId xmlns:a16="http://schemas.microsoft.com/office/drawing/2014/main" id="{3B504813-9C88-B41D-BFE1-13BE0F10B10C}"/>
                </a:ext>
              </a:extLst>
            </p:cNvPr>
            <p:cNvSpPr/>
            <p:nvPr/>
          </p:nvSpPr>
          <p:spPr>
            <a:xfrm>
              <a:off x="10300054" y="3646681"/>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4" name="Flowchart: Process 63">
              <a:extLst>
                <a:ext uri="{FF2B5EF4-FFF2-40B4-BE49-F238E27FC236}">
                  <a16:creationId xmlns:a16="http://schemas.microsoft.com/office/drawing/2014/main" id="{C3E82420-CBB5-76D4-F457-3D3F10FA2248}"/>
                </a:ext>
              </a:extLst>
            </p:cNvPr>
            <p:cNvSpPr/>
            <p:nvPr/>
          </p:nvSpPr>
          <p:spPr>
            <a:xfrm>
              <a:off x="9991062" y="3644945"/>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5" name="Flowchart: Process 64">
              <a:extLst>
                <a:ext uri="{FF2B5EF4-FFF2-40B4-BE49-F238E27FC236}">
                  <a16:creationId xmlns:a16="http://schemas.microsoft.com/office/drawing/2014/main" id="{F4E01CA5-00DA-C435-E034-A01FCF3DEDFB}"/>
                </a:ext>
              </a:extLst>
            </p:cNvPr>
            <p:cNvSpPr/>
            <p:nvPr/>
          </p:nvSpPr>
          <p:spPr>
            <a:xfrm>
              <a:off x="10616615" y="3391187"/>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6" name="Flowchart: Process 65">
              <a:extLst>
                <a:ext uri="{FF2B5EF4-FFF2-40B4-BE49-F238E27FC236}">
                  <a16:creationId xmlns:a16="http://schemas.microsoft.com/office/drawing/2014/main" id="{6518DDA8-CD06-3A77-1AE3-40F0574F8068}"/>
                </a:ext>
              </a:extLst>
            </p:cNvPr>
            <p:cNvSpPr/>
            <p:nvPr/>
          </p:nvSpPr>
          <p:spPr>
            <a:xfrm>
              <a:off x="10305556" y="3386352"/>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7" name="Flowchart: Process 66">
              <a:extLst>
                <a:ext uri="{FF2B5EF4-FFF2-40B4-BE49-F238E27FC236}">
                  <a16:creationId xmlns:a16="http://schemas.microsoft.com/office/drawing/2014/main" id="{10297EDA-81C7-A1D2-59F9-B8F17B9F413C}"/>
                </a:ext>
              </a:extLst>
            </p:cNvPr>
            <p:cNvSpPr/>
            <p:nvPr/>
          </p:nvSpPr>
          <p:spPr>
            <a:xfrm>
              <a:off x="9988643" y="3387461"/>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8" name="Star: 5 Points 67">
              <a:extLst>
                <a:ext uri="{FF2B5EF4-FFF2-40B4-BE49-F238E27FC236}">
                  <a16:creationId xmlns:a16="http://schemas.microsoft.com/office/drawing/2014/main" id="{5995AD4B-3798-A34A-4DDD-8A62B38A5B1B}"/>
                </a:ext>
              </a:extLst>
            </p:cNvPr>
            <p:cNvSpPr/>
            <p:nvPr/>
          </p:nvSpPr>
          <p:spPr>
            <a:xfrm>
              <a:off x="10594015" y="2890685"/>
              <a:ext cx="330200" cy="309147"/>
            </a:xfrm>
            <a:prstGeom prst="star5">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69" name="TextBox 68">
            <a:extLst>
              <a:ext uri="{FF2B5EF4-FFF2-40B4-BE49-F238E27FC236}">
                <a16:creationId xmlns:a16="http://schemas.microsoft.com/office/drawing/2014/main" id="{F503F54A-5169-553F-4200-BFA0B3BCCA30}"/>
              </a:ext>
            </a:extLst>
          </p:cNvPr>
          <p:cNvSpPr txBox="1"/>
          <p:nvPr/>
        </p:nvSpPr>
        <p:spPr>
          <a:xfrm>
            <a:off x="2493193" y="6133544"/>
            <a:ext cx="3082895" cy="646331"/>
          </a:xfrm>
          <a:prstGeom prst="rect">
            <a:avLst/>
          </a:prstGeom>
          <a:noFill/>
        </p:spPr>
        <p:txBody>
          <a:bodyPr wrap="none" rtlCol="0">
            <a:spAutoFit/>
          </a:bodyPr>
          <a:lstStyle/>
          <a:p>
            <a:pPr algn="ctr"/>
            <a:r>
              <a:rPr lang="en-US" sz="3600">
                <a:latin typeface="Times New Roman" panose="02020603050405020304" pitchFamily="18" charset="0"/>
                <a:cs typeface="Times New Roman" panose="02020603050405020304" pitchFamily="18" charset="0"/>
              </a:rPr>
              <a:t> Meeting Room</a:t>
            </a:r>
          </a:p>
        </p:txBody>
      </p:sp>
      <p:sp>
        <p:nvSpPr>
          <p:cNvPr id="70" name="TextBox 69">
            <a:extLst>
              <a:ext uri="{FF2B5EF4-FFF2-40B4-BE49-F238E27FC236}">
                <a16:creationId xmlns:a16="http://schemas.microsoft.com/office/drawing/2014/main" id="{228211FE-6834-9492-F1E6-E27325086CF9}"/>
              </a:ext>
            </a:extLst>
          </p:cNvPr>
          <p:cNvSpPr txBox="1"/>
          <p:nvPr/>
        </p:nvSpPr>
        <p:spPr>
          <a:xfrm>
            <a:off x="5297723" y="6133544"/>
            <a:ext cx="2351926" cy="646331"/>
          </a:xfrm>
          <a:prstGeom prst="rect">
            <a:avLst/>
          </a:prstGeom>
          <a:noFill/>
        </p:spPr>
        <p:txBody>
          <a:bodyPr wrap="none" rtlCol="0">
            <a:spAutoFit/>
          </a:bodyPr>
          <a:lstStyle/>
          <a:p>
            <a:pPr algn="ctr"/>
            <a:r>
              <a:rPr lang="en-US" sz="3600">
                <a:latin typeface="Times New Roman" panose="02020603050405020304" pitchFamily="18" charset="0"/>
                <a:cs typeface="Times New Roman" panose="02020603050405020304" pitchFamily="18" charset="0"/>
              </a:rPr>
              <a:t> Laboratory</a:t>
            </a:r>
          </a:p>
        </p:txBody>
      </p:sp>
      <p:grpSp>
        <p:nvGrpSpPr>
          <p:cNvPr id="71" name="Group 70">
            <a:extLst>
              <a:ext uri="{FF2B5EF4-FFF2-40B4-BE49-F238E27FC236}">
                <a16:creationId xmlns:a16="http://schemas.microsoft.com/office/drawing/2014/main" id="{BF8814A3-7058-0065-BA46-86674C1EB4BA}"/>
              </a:ext>
            </a:extLst>
          </p:cNvPr>
          <p:cNvGrpSpPr/>
          <p:nvPr/>
        </p:nvGrpSpPr>
        <p:grpSpPr>
          <a:xfrm>
            <a:off x="98310" y="3673344"/>
            <a:ext cx="2353509" cy="2440623"/>
            <a:chOff x="59927" y="95015"/>
            <a:chExt cx="3795369" cy="5576194"/>
          </a:xfrm>
        </p:grpSpPr>
        <p:grpSp>
          <p:nvGrpSpPr>
            <p:cNvPr id="72" name="Group 71">
              <a:extLst>
                <a:ext uri="{FF2B5EF4-FFF2-40B4-BE49-F238E27FC236}">
                  <a16:creationId xmlns:a16="http://schemas.microsoft.com/office/drawing/2014/main" id="{2AFBB337-C949-F3A4-6C89-ED87B7E40A65}"/>
                </a:ext>
              </a:extLst>
            </p:cNvPr>
            <p:cNvGrpSpPr/>
            <p:nvPr/>
          </p:nvGrpSpPr>
          <p:grpSpPr>
            <a:xfrm>
              <a:off x="59927" y="95015"/>
              <a:ext cx="3795369" cy="5576194"/>
              <a:chOff x="59927" y="95015"/>
              <a:chExt cx="3795369" cy="5576194"/>
            </a:xfrm>
          </p:grpSpPr>
          <p:grpSp>
            <p:nvGrpSpPr>
              <p:cNvPr id="84" name="Group 83">
                <a:extLst>
                  <a:ext uri="{FF2B5EF4-FFF2-40B4-BE49-F238E27FC236}">
                    <a16:creationId xmlns:a16="http://schemas.microsoft.com/office/drawing/2014/main" id="{6EEBF572-3B20-8DF9-E7C1-EC3B26406E26}"/>
                  </a:ext>
                </a:extLst>
              </p:cNvPr>
              <p:cNvGrpSpPr>
                <a:grpSpLocks noChangeAspect="1"/>
              </p:cNvGrpSpPr>
              <p:nvPr/>
            </p:nvGrpSpPr>
            <p:grpSpPr>
              <a:xfrm>
                <a:off x="59927" y="95015"/>
                <a:ext cx="3795369" cy="5576194"/>
                <a:chOff x="4419597" y="274320"/>
                <a:chExt cx="3795369" cy="5532121"/>
              </a:xfrm>
            </p:grpSpPr>
            <p:pic>
              <p:nvPicPr>
                <p:cNvPr id="86" name="Picture 85" descr="A black and white rectangular frame&#10;&#10;AI-generated content may be incorrect.">
                  <a:extLst>
                    <a:ext uri="{FF2B5EF4-FFF2-40B4-BE49-F238E27FC236}">
                      <a16:creationId xmlns:a16="http://schemas.microsoft.com/office/drawing/2014/main" id="{A9372398-BBE6-4B37-C1FE-69CD732645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19597" y="274320"/>
                  <a:ext cx="3795369" cy="5532121"/>
                </a:xfrm>
                <a:prstGeom prst="rect">
                  <a:avLst/>
                </a:prstGeom>
              </p:spPr>
            </p:pic>
            <p:grpSp>
              <p:nvGrpSpPr>
                <p:cNvPr id="87" name="Group 86">
                  <a:extLst>
                    <a:ext uri="{FF2B5EF4-FFF2-40B4-BE49-F238E27FC236}">
                      <a16:creationId xmlns:a16="http://schemas.microsoft.com/office/drawing/2014/main" id="{B04354F5-F1CC-B5D8-B9DA-90C936B9458D}"/>
                    </a:ext>
                  </a:extLst>
                </p:cNvPr>
                <p:cNvGrpSpPr/>
                <p:nvPr/>
              </p:nvGrpSpPr>
              <p:grpSpPr>
                <a:xfrm>
                  <a:off x="5163473" y="847056"/>
                  <a:ext cx="2392744" cy="1916418"/>
                  <a:chOff x="5163473" y="847056"/>
                  <a:chExt cx="2392744" cy="1916418"/>
                </a:xfrm>
              </p:grpSpPr>
              <p:pic>
                <p:nvPicPr>
                  <p:cNvPr id="88" name="Picture 10" descr="Office chair - Free furniture and household icons">
                    <a:extLst>
                      <a:ext uri="{FF2B5EF4-FFF2-40B4-BE49-F238E27FC236}">
                        <a16:creationId xmlns:a16="http://schemas.microsoft.com/office/drawing/2014/main" id="{29E8C8BD-F06A-364F-A99C-3D2CC7859E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3473" y="847061"/>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10" descr="Office chair - Free furniture and household icons">
                    <a:extLst>
                      <a:ext uri="{FF2B5EF4-FFF2-40B4-BE49-F238E27FC236}">
                        <a16:creationId xmlns:a16="http://schemas.microsoft.com/office/drawing/2014/main" id="{7B915325-D01C-24CB-6FB7-2937FABD20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39135" y="847056"/>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10" descr="Office chair - Free furniture and household icons">
                    <a:extLst>
                      <a:ext uri="{FF2B5EF4-FFF2-40B4-BE49-F238E27FC236}">
                        <a16:creationId xmlns:a16="http://schemas.microsoft.com/office/drawing/2014/main" id="{87FB067F-3E17-DDD7-791D-58722C3172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14796" y="847057"/>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10" descr="Office chair - Free furniture and household icons">
                    <a:extLst>
                      <a:ext uri="{FF2B5EF4-FFF2-40B4-BE49-F238E27FC236}">
                        <a16:creationId xmlns:a16="http://schemas.microsoft.com/office/drawing/2014/main" id="{891EB40D-E031-4442-AF08-E315B54F69B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90457" y="847056"/>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10" descr="Office chair - Free furniture and household icons">
                    <a:extLst>
                      <a:ext uri="{FF2B5EF4-FFF2-40B4-BE49-F238E27FC236}">
                        <a16:creationId xmlns:a16="http://schemas.microsoft.com/office/drawing/2014/main" id="{E23228D5-C854-36E6-6558-D689D7471E3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3473" y="1609058"/>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10" descr="Office chair - Free furniture and household icons">
                    <a:extLst>
                      <a:ext uri="{FF2B5EF4-FFF2-40B4-BE49-F238E27FC236}">
                        <a16:creationId xmlns:a16="http://schemas.microsoft.com/office/drawing/2014/main" id="{9F956411-8844-BE9B-131E-93C048906E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39135" y="1609053"/>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10" descr="Office chair - Free furniture and household icons">
                    <a:extLst>
                      <a:ext uri="{FF2B5EF4-FFF2-40B4-BE49-F238E27FC236}">
                        <a16:creationId xmlns:a16="http://schemas.microsoft.com/office/drawing/2014/main" id="{CBD3A259-FDD2-05CE-9B05-848083E8E4F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14796" y="1609054"/>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descr="Office chair - Free furniture and household icons">
                    <a:extLst>
                      <a:ext uri="{FF2B5EF4-FFF2-40B4-BE49-F238E27FC236}">
                        <a16:creationId xmlns:a16="http://schemas.microsoft.com/office/drawing/2014/main" id="{B8D9682A-F1FE-E618-2AD2-C4B685D6EE9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90457" y="1609053"/>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10" descr="Office chair - Free furniture and household icons">
                    <a:extLst>
                      <a:ext uri="{FF2B5EF4-FFF2-40B4-BE49-F238E27FC236}">
                        <a16:creationId xmlns:a16="http://schemas.microsoft.com/office/drawing/2014/main" id="{B613CC76-6C34-6604-95FA-2E6CB6A8EDC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3473" y="2397714"/>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10" descr="Office chair - Free furniture and household icons">
                    <a:extLst>
                      <a:ext uri="{FF2B5EF4-FFF2-40B4-BE49-F238E27FC236}">
                        <a16:creationId xmlns:a16="http://schemas.microsoft.com/office/drawing/2014/main" id="{BF48284A-099E-630F-9159-395BEAAA26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39135" y="2397709"/>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10" descr="Office chair - Free furniture and household icons">
                    <a:extLst>
                      <a:ext uri="{FF2B5EF4-FFF2-40B4-BE49-F238E27FC236}">
                        <a16:creationId xmlns:a16="http://schemas.microsoft.com/office/drawing/2014/main" id="{79FC6CD9-2DF0-0741-1E3A-BD8D1F99931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14796" y="2397710"/>
                    <a:ext cx="365760" cy="365760"/>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10" descr="Office chair - Free furniture and household icons">
                    <a:extLst>
                      <a:ext uri="{FF2B5EF4-FFF2-40B4-BE49-F238E27FC236}">
                        <a16:creationId xmlns:a16="http://schemas.microsoft.com/office/drawing/2014/main" id="{A5C5E54C-19FA-C8F6-C0FA-17005E0ACCD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90457" y="2397709"/>
                    <a:ext cx="365760" cy="36576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85" name="Rectangle: Rounded Corners 84">
                <a:extLst>
                  <a:ext uri="{FF2B5EF4-FFF2-40B4-BE49-F238E27FC236}">
                    <a16:creationId xmlns:a16="http://schemas.microsoft.com/office/drawing/2014/main" id="{96DC7817-A607-4274-1330-02331145C1D4}"/>
                  </a:ext>
                </a:extLst>
              </p:cNvPr>
              <p:cNvSpPr/>
              <p:nvPr/>
            </p:nvSpPr>
            <p:spPr>
              <a:xfrm>
                <a:off x="1306924" y="5033664"/>
                <a:ext cx="1324179" cy="37846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73" name="Flowchart: Connector 72">
              <a:extLst>
                <a:ext uri="{FF2B5EF4-FFF2-40B4-BE49-F238E27FC236}">
                  <a16:creationId xmlns:a16="http://schemas.microsoft.com/office/drawing/2014/main" id="{468549B3-E0CD-17C1-8B49-13AE753FBDA7}"/>
                </a:ext>
              </a:extLst>
            </p:cNvPr>
            <p:cNvSpPr/>
            <p:nvPr/>
          </p:nvSpPr>
          <p:spPr>
            <a:xfrm>
              <a:off x="912353" y="4552176"/>
              <a:ext cx="222885" cy="214312"/>
            </a:xfrm>
            <a:prstGeom prst="flowChartConnector">
              <a:avLst/>
            </a:prstGeom>
            <a:solidFill>
              <a:srgbClr val="FF000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4" name="Star: 5 Points 73">
              <a:extLst>
                <a:ext uri="{FF2B5EF4-FFF2-40B4-BE49-F238E27FC236}">
                  <a16:creationId xmlns:a16="http://schemas.microsoft.com/office/drawing/2014/main" id="{AEF372F6-AD39-D700-63D0-6C420A081AC1}"/>
                </a:ext>
              </a:extLst>
            </p:cNvPr>
            <p:cNvSpPr/>
            <p:nvPr/>
          </p:nvSpPr>
          <p:spPr>
            <a:xfrm>
              <a:off x="2098572" y="4504760"/>
              <a:ext cx="330200" cy="309147"/>
            </a:xfrm>
            <a:prstGeom prst="star5">
              <a:avLst/>
            </a:prstGeom>
            <a:solidFill>
              <a:srgbClr val="00B05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5" name="Flowchart: Process 74">
              <a:extLst>
                <a:ext uri="{FF2B5EF4-FFF2-40B4-BE49-F238E27FC236}">
                  <a16:creationId xmlns:a16="http://schemas.microsoft.com/office/drawing/2014/main" id="{C60AFC4F-4164-FE43-CA1A-5CB5D44E9E50}"/>
                </a:ext>
              </a:extLst>
            </p:cNvPr>
            <p:cNvSpPr/>
            <p:nvPr/>
          </p:nvSpPr>
          <p:spPr>
            <a:xfrm>
              <a:off x="1594317" y="4613614"/>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6" name="Flowchart: Process 75">
              <a:extLst>
                <a:ext uri="{FF2B5EF4-FFF2-40B4-BE49-F238E27FC236}">
                  <a16:creationId xmlns:a16="http://schemas.microsoft.com/office/drawing/2014/main" id="{15B101A6-EC7B-1170-006B-9FFD6FF6381B}"/>
                </a:ext>
              </a:extLst>
            </p:cNvPr>
            <p:cNvSpPr/>
            <p:nvPr/>
          </p:nvSpPr>
          <p:spPr>
            <a:xfrm>
              <a:off x="1594317" y="4075903"/>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7" name="Flowchart: Process 76">
              <a:extLst>
                <a:ext uri="{FF2B5EF4-FFF2-40B4-BE49-F238E27FC236}">
                  <a16:creationId xmlns:a16="http://schemas.microsoft.com/office/drawing/2014/main" id="{8C0D3769-7D0C-61BC-CF17-A0BB36D13F47}"/>
                </a:ext>
              </a:extLst>
            </p:cNvPr>
            <p:cNvSpPr/>
            <p:nvPr/>
          </p:nvSpPr>
          <p:spPr>
            <a:xfrm>
              <a:off x="1000935" y="4075902"/>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8" name="Flowchart: Process 77">
              <a:extLst>
                <a:ext uri="{FF2B5EF4-FFF2-40B4-BE49-F238E27FC236}">
                  <a16:creationId xmlns:a16="http://schemas.microsoft.com/office/drawing/2014/main" id="{F93AECB4-59D4-CE01-11D4-420E50A20EF4}"/>
                </a:ext>
              </a:extLst>
            </p:cNvPr>
            <p:cNvSpPr/>
            <p:nvPr/>
          </p:nvSpPr>
          <p:spPr>
            <a:xfrm>
              <a:off x="2191377" y="4078949"/>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9" name="Flowchart: Process 78">
              <a:extLst>
                <a:ext uri="{FF2B5EF4-FFF2-40B4-BE49-F238E27FC236}">
                  <a16:creationId xmlns:a16="http://schemas.microsoft.com/office/drawing/2014/main" id="{5411B287-88AC-DC5A-37B7-3871E3FB273E}"/>
                </a:ext>
              </a:extLst>
            </p:cNvPr>
            <p:cNvSpPr/>
            <p:nvPr/>
          </p:nvSpPr>
          <p:spPr>
            <a:xfrm>
              <a:off x="2785069" y="4075901"/>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0" name="Flowchart: Process 79">
              <a:extLst>
                <a:ext uri="{FF2B5EF4-FFF2-40B4-BE49-F238E27FC236}">
                  <a16:creationId xmlns:a16="http://schemas.microsoft.com/office/drawing/2014/main" id="{40A9E086-1B70-1CBF-3637-316D8CEBC07A}"/>
                </a:ext>
              </a:extLst>
            </p:cNvPr>
            <p:cNvSpPr/>
            <p:nvPr/>
          </p:nvSpPr>
          <p:spPr>
            <a:xfrm>
              <a:off x="2785379" y="3541950"/>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1" name="Flowchart: Process 80">
              <a:extLst>
                <a:ext uri="{FF2B5EF4-FFF2-40B4-BE49-F238E27FC236}">
                  <a16:creationId xmlns:a16="http://schemas.microsoft.com/office/drawing/2014/main" id="{3734DE1A-7295-2C1A-8179-4612EB7552B4}"/>
                </a:ext>
              </a:extLst>
            </p:cNvPr>
            <p:cNvSpPr/>
            <p:nvPr/>
          </p:nvSpPr>
          <p:spPr>
            <a:xfrm>
              <a:off x="2214236" y="3541949"/>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2" name="Flowchart: Process 81">
              <a:extLst>
                <a:ext uri="{FF2B5EF4-FFF2-40B4-BE49-F238E27FC236}">
                  <a16:creationId xmlns:a16="http://schemas.microsoft.com/office/drawing/2014/main" id="{F8C42A28-124E-10E3-E18D-41E650360777}"/>
                </a:ext>
              </a:extLst>
            </p:cNvPr>
            <p:cNvSpPr/>
            <p:nvPr/>
          </p:nvSpPr>
          <p:spPr>
            <a:xfrm>
              <a:off x="1594316" y="3541948"/>
              <a:ext cx="45719" cy="4571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3" name="Star: 5 Points 82">
              <a:extLst>
                <a:ext uri="{FF2B5EF4-FFF2-40B4-BE49-F238E27FC236}">
                  <a16:creationId xmlns:a16="http://schemas.microsoft.com/office/drawing/2014/main" id="{AE505E13-D303-AEC6-02D4-6ADA547347F1}"/>
                </a:ext>
              </a:extLst>
            </p:cNvPr>
            <p:cNvSpPr/>
            <p:nvPr/>
          </p:nvSpPr>
          <p:spPr>
            <a:xfrm>
              <a:off x="859833" y="3401764"/>
              <a:ext cx="330200" cy="309147"/>
            </a:xfrm>
            <a:prstGeom prst="star5">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100" name="TextBox 99">
            <a:extLst>
              <a:ext uri="{FF2B5EF4-FFF2-40B4-BE49-F238E27FC236}">
                <a16:creationId xmlns:a16="http://schemas.microsoft.com/office/drawing/2014/main" id="{4E5CCFC9-60AA-5E9F-601C-79624C4BD7C3}"/>
              </a:ext>
            </a:extLst>
          </p:cNvPr>
          <p:cNvSpPr txBox="1"/>
          <p:nvPr/>
        </p:nvSpPr>
        <p:spPr>
          <a:xfrm>
            <a:off x="-195193" y="6133544"/>
            <a:ext cx="2954655" cy="646331"/>
          </a:xfrm>
          <a:prstGeom prst="rect">
            <a:avLst/>
          </a:prstGeom>
          <a:noFill/>
        </p:spPr>
        <p:txBody>
          <a:bodyPr wrap="none" rtlCol="0">
            <a:spAutoFit/>
          </a:bodyPr>
          <a:lstStyle/>
          <a:p>
            <a:pPr algn="ctr"/>
            <a:r>
              <a:rPr lang="en-US" sz="3600">
                <a:latin typeface="Times New Roman" panose="02020603050405020304" pitchFamily="18" charset="0"/>
                <a:cs typeface="Times New Roman" panose="02020603050405020304" pitchFamily="18" charset="0"/>
              </a:rPr>
              <a:t> Lecture Room</a:t>
            </a:r>
          </a:p>
        </p:txBody>
      </p:sp>
      <p:sp>
        <p:nvSpPr>
          <p:cNvPr id="101" name="TextBox 100">
            <a:extLst>
              <a:ext uri="{FF2B5EF4-FFF2-40B4-BE49-F238E27FC236}">
                <a16:creationId xmlns:a16="http://schemas.microsoft.com/office/drawing/2014/main" id="{35AA9444-B4D0-FEC3-5186-1A107F962AD3}"/>
              </a:ext>
            </a:extLst>
          </p:cNvPr>
          <p:cNvSpPr txBox="1"/>
          <p:nvPr/>
        </p:nvSpPr>
        <p:spPr>
          <a:xfrm>
            <a:off x="5531394" y="3044998"/>
            <a:ext cx="1056700" cy="646331"/>
          </a:xfrm>
          <a:prstGeom prst="rect">
            <a:avLst/>
          </a:prstGeom>
          <a:noFill/>
        </p:spPr>
        <p:txBody>
          <a:bodyPr wrap="none" rtlCol="0">
            <a:spAutoFit/>
          </a:bodyPr>
          <a:lstStyle/>
          <a:p>
            <a:pPr algn="r"/>
            <a:r>
              <a:rPr lang="en-US" sz="3600">
                <a:latin typeface="Times New Roman" panose="02020603050405020304" pitchFamily="18" charset="0"/>
                <a:cs typeface="Times New Roman" panose="02020603050405020304" pitchFamily="18" charset="0"/>
              </a:rPr>
              <a:t>User</a:t>
            </a:r>
          </a:p>
        </p:txBody>
      </p:sp>
      <p:sp>
        <p:nvSpPr>
          <p:cNvPr id="102" name="Flowchart: Connector 101">
            <a:extLst>
              <a:ext uri="{FF2B5EF4-FFF2-40B4-BE49-F238E27FC236}">
                <a16:creationId xmlns:a16="http://schemas.microsoft.com/office/drawing/2014/main" id="{2009E2C2-2B01-6E4B-EB06-07C7870D01E9}"/>
              </a:ext>
            </a:extLst>
          </p:cNvPr>
          <p:cNvSpPr/>
          <p:nvPr/>
        </p:nvSpPr>
        <p:spPr>
          <a:xfrm>
            <a:off x="2759462" y="3316794"/>
            <a:ext cx="139060" cy="102739"/>
          </a:xfrm>
          <a:prstGeom prst="flowChartConnector">
            <a:avLst/>
          </a:prstGeom>
          <a:solidFill>
            <a:srgbClr val="FF000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3" name="Star: 5 Points 102">
            <a:extLst>
              <a:ext uri="{FF2B5EF4-FFF2-40B4-BE49-F238E27FC236}">
                <a16:creationId xmlns:a16="http://schemas.microsoft.com/office/drawing/2014/main" id="{EB118437-A723-C4C1-212B-0248FAD0945D}"/>
              </a:ext>
            </a:extLst>
          </p:cNvPr>
          <p:cNvSpPr/>
          <p:nvPr/>
        </p:nvSpPr>
        <p:spPr>
          <a:xfrm>
            <a:off x="5189746" y="3294062"/>
            <a:ext cx="206016" cy="148202"/>
          </a:xfrm>
          <a:prstGeom prst="star5">
            <a:avLst/>
          </a:prstGeom>
          <a:solidFill>
            <a:srgbClr val="00B050"/>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4" name="Flowchart: Process 103">
            <a:extLst>
              <a:ext uri="{FF2B5EF4-FFF2-40B4-BE49-F238E27FC236}">
                <a16:creationId xmlns:a16="http://schemas.microsoft.com/office/drawing/2014/main" id="{50A6DF4E-6A0B-6709-C987-890384CE5FD5}"/>
              </a:ext>
            </a:extLst>
          </p:cNvPr>
          <p:cNvSpPr/>
          <p:nvPr/>
        </p:nvSpPr>
        <p:spPr>
          <a:xfrm>
            <a:off x="6695201" y="3357205"/>
            <a:ext cx="28525" cy="2191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127E7152-1F0E-E96A-0BA5-A5D13EFAC56A}"/>
              </a:ext>
            </a:extLst>
          </p:cNvPr>
          <p:cNvSpPr txBox="1"/>
          <p:nvPr/>
        </p:nvSpPr>
        <p:spPr>
          <a:xfrm>
            <a:off x="0" y="0"/>
            <a:ext cx="12192000" cy="674370"/>
          </a:xfrm>
          <a:prstGeom prst="rect">
            <a:avLst/>
          </a:prstGeom>
          <a:solidFill>
            <a:srgbClr val="6C2334"/>
          </a:solidFill>
        </p:spPr>
        <p:txBody>
          <a:bodyPr wrap="square" rtlCol="0">
            <a:spAutoFit/>
          </a:bodyPr>
          <a:lstStyle/>
          <a:p>
            <a:endParaRPr lang="en-US"/>
          </a:p>
        </p:txBody>
      </p:sp>
      <p:sp>
        <p:nvSpPr>
          <p:cNvPr id="107" name="TextBox 106">
            <a:extLst>
              <a:ext uri="{FF2B5EF4-FFF2-40B4-BE49-F238E27FC236}">
                <a16:creationId xmlns:a16="http://schemas.microsoft.com/office/drawing/2014/main" id="{5656A53C-0A81-22E3-E090-59E81F78FD23}"/>
              </a:ext>
            </a:extLst>
          </p:cNvPr>
          <p:cNvSpPr txBox="1"/>
          <p:nvPr/>
        </p:nvSpPr>
        <p:spPr>
          <a:xfrm>
            <a:off x="247864" y="0"/>
            <a:ext cx="10637850" cy="646331"/>
          </a:xfrm>
          <a:prstGeom prst="rect">
            <a:avLst/>
          </a:prstGeom>
          <a:noFill/>
        </p:spPr>
        <p:txBody>
          <a:bodyPr wrap="square">
            <a:spAutoFit/>
          </a:bodyPr>
          <a:lstStyle/>
          <a:p>
            <a:r>
              <a:rPr lang="en-US" sz="3600" b="1">
                <a:solidFill>
                  <a:srgbClr val="CEB888"/>
                </a:solidFill>
                <a:latin typeface="Arial" panose="020B0604020202020204" pitchFamily="34" charset="0"/>
                <a:cs typeface="Arial" panose="020B0604020202020204" pitchFamily="34" charset="0"/>
              </a:rPr>
              <a:t>Implementation</a:t>
            </a:r>
            <a:endParaRPr lang="en-US" sz="3600" b="1">
              <a:solidFill>
                <a:srgbClr val="CEB888"/>
              </a:solidFill>
              <a:highlight>
                <a:srgbClr val="6C2334"/>
              </a:highlight>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7B6AE5D1-443E-A2A6-BB28-56467F9486D8}"/>
              </a:ext>
            </a:extLst>
          </p:cNvPr>
          <p:cNvSpPr txBox="1"/>
          <p:nvPr/>
        </p:nvSpPr>
        <p:spPr>
          <a:xfrm>
            <a:off x="301107" y="3044998"/>
            <a:ext cx="2322879" cy="646331"/>
          </a:xfrm>
          <a:prstGeom prst="rect">
            <a:avLst/>
          </a:prstGeom>
          <a:noFill/>
        </p:spPr>
        <p:txBody>
          <a:bodyPr wrap="none" rtlCol="0">
            <a:spAutoFit/>
          </a:bodyPr>
          <a:lstStyle/>
          <a:p>
            <a:pPr algn="r"/>
            <a:r>
              <a:rPr lang="en-US" sz="3600">
                <a:latin typeface="Times New Roman" panose="02020603050405020304" pitchFamily="18" charset="0"/>
                <a:cs typeface="Times New Roman" panose="02020603050405020304" pitchFamily="18" charset="0"/>
              </a:rPr>
              <a:t>Transmitter</a:t>
            </a:r>
          </a:p>
        </p:txBody>
      </p:sp>
      <p:sp>
        <p:nvSpPr>
          <p:cNvPr id="109" name="TextBox 108">
            <a:extLst>
              <a:ext uri="{FF2B5EF4-FFF2-40B4-BE49-F238E27FC236}">
                <a16:creationId xmlns:a16="http://schemas.microsoft.com/office/drawing/2014/main" id="{43F6362F-B0C9-D46D-76F4-AB3B07E2101D}"/>
              </a:ext>
            </a:extLst>
          </p:cNvPr>
          <p:cNvSpPr txBox="1"/>
          <p:nvPr/>
        </p:nvSpPr>
        <p:spPr>
          <a:xfrm>
            <a:off x="3246039" y="3044998"/>
            <a:ext cx="1826141" cy="646331"/>
          </a:xfrm>
          <a:prstGeom prst="rect">
            <a:avLst/>
          </a:prstGeom>
          <a:noFill/>
        </p:spPr>
        <p:txBody>
          <a:bodyPr wrap="square" rtlCol="0">
            <a:spAutoFit/>
          </a:bodyPr>
          <a:lstStyle/>
          <a:p>
            <a:pPr algn="r"/>
            <a:r>
              <a:rPr lang="en-US" sz="3600">
                <a:latin typeface="Times New Roman" panose="02020603050405020304" pitchFamily="18" charset="0"/>
                <a:cs typeface="Times New Roman" panose="02020603050405020304" pitchFamily="18" charset="0"/>
              </a:rPr>
              <a:t>Receiver</a:t>
            </a:r>
          </a:p>
        </p:txBody>
      </p:sp>
      <p:sp>
        <p:nvSpPr>
          <p:cNvPr id="111" name="TextBox 110">
            <a:extLst>
              <a:ext uri="{FF2B5EF4-FFF2-40B4-BE49-F238E27FC236}">
                <a16:creationId xmlns:a16="http://schemas.microsoft.com/office/drawing/2014/main" id="{94E5239F-8093-CE1F-2F31-4632A431CC49}"/>
              </a:ext>
            </a:extLst>
          </p:cNvPr>
          <p:cNvSpPr txBox="1"/>
          <p:nvPr/>
        </p:nvSpPr>
        <p:spPr>
          <a:xfrm>
            <a:off x="8006752" y="6133544"/>
            <a:ext cx="3888693" cy="646331"/>
          </a:xfrm>
          <a:prstGeom prst="rect">
            <a:avLst/>
          </a:prstGeom>
          <a:noFill/>
        </p:spPr>
        <p:txBody>
          <a:bodyPr wrap="none" rtlCol="0">
            <a:spAutoFit/>
          </a:bodyPr>
          <a:lstStyle/>
          <a:p>
            <a:pPr algn="ctr"/>
            <a:r>
              <a:rPr lang="en-US" sz="3600">
                <a:latin typeface="Times New Roman" panose="02020603050405020304" pitchFamily="18" charset="0"/>
                <a:cs typeface="Times New Roman" panose="02020603050405020304" pitchFamily="18" charset="0"/>
              </a:rPr>
              <a:t> Two-User Example</a:t>
            </a:r>
          </a:p>
        </p:txBody>
      </p:sp>
      <p:cxnSp>
        <p:nvCxnSpPr>
          <p:cNvPr id="113" name="Straight Connector 112">
            <a:extLst>
              <a:ext uri="{FF2B5EF4-FFF2-40B4-BE49-F238E27FC236}">
                <a16:creationId xmlns:a16="http://schemas.microsoft.com/office/drawing/2014/main" id="{2BAA2A06-7DCC-434D-5A3C-2C13C8779531}"/>
              </a:ext>
            </a:extLst>
          </p:cNvPr>
          <p:cNvCxnSpPr/>
          <p:nvPr/>
        </p:nvCxnSpPr>
        <p:spPr>
          <a:xfrm>
            <a:off x="301107" y="3174866"/>
            <a:ext cx="11361437" cy="0"/>
          </a:xfrm>
          <a:prstGeom prst="line">
            <a:avLst/>
          </a:prstGeom>
          <a:ln w="12700">
            <a:solidFill>
              <a:srgbClr val="CEB888"/>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E022DF55-F92F-8F7B-8437-E6FDD17F599A}"/>
              </a:ext>
            </a:extLst>
          </p:cNvPr>
          <p:cNvCxnSpPr>
            <a:cxnSpLocks/>
          </p:cNvCxnSpPr>
          <p:nvPr/>
        </p:nvCxnSpPr>
        <p:spPr>
          <a:xfrm>
            <a:off x="7572705" y="3419533"/>
            <a:ext cx="0" cy="3178578"/>
          </a:xfrm>
          <a:prstGeom prst="line">
            <a:avLst/>
          </a:prstGeom>
          <a:ln w="12700">
            <a:solidFill>
              <a:srgbClr val="CEB888"/>
            </a:solidFill>
            <a:prstDash val="dash"/>
          </a:ln>
        </p:spPr>
        <p:style>
          <a:lnRef idx="1">
            <a:schemeClr val="accent1"/>
          </a:lnRef>
          <a:fillRef idx="0">
            <a:schemeClr val="accent1"/>
          </a:fillRef>
          <a:effectRef idx="0">
            <a:schemeClr val="accent1"/>
          </a:effectRef>
          <a:fontRef idx="minor">
            <a:schemeClr val="tx1"/>
          </a:fontRef>
        </p:style>
      </p:cxnSp>
      <p:sp>
        <p:nvSpPr>
          <p:cNvPr id="118" name="Slide Number Placeholder 3">
            <a:extLst>
              <a:ext uri="{FF2B5EF4-FFF2-40B4-BE49-F238E27FC236}">
                <a16:creationId xmlns:a16="http://schemas.microsoft.com/office/drawing/2014/main" id="{3E75C6C8-9EB3-7958-59EC-2338C38E6145}"/>
              </a:ext>
            </a:extLst>
          </p:cNvPr>
          <p:cNvSpPr txBox="1">
            <a:spLocks/>
          </p:cNvSpPr>
          <p:nvPr/>
        </p:nvSpPr>
        <p:spPr>
          <a:xfrm>
            <a:off x="4365240" y="6499329"/>
            <a:ext cx="2640245" cy="35867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solidFill>
                  <a:prstClr val="black">
                    <a:tint val="75000"/>
                  </a:prstClr>
                </a:solidFill>
                <a:latin typeface="Calibri"/>
              </a:rPr>
              <a:t>8</a:t>
            </a:r>
          </a:p>
        </p:txBody>
      </p:sp>
    </p:spTree>
    <p:extLst>
      <p:ext uri="{BB962C8B-B14F-4D97-AF65-F5344CB8AC3E}">
        <p14:creationId xmlns:p14="http://schemas.microsoft.com/office/powerpoint/2010/main" val="138333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par>
                                <p:cTn id="8" presetID="22" presetClass="entr" presetSubtype="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up)">
                                      <p:cBhvr>
                                        <p:cTn id="10" dur="500"/>
                                        <p:tgtEl>
                                          <p:spTgt spid="13"/>
                                        </p:tgtEl>
                                      </p:cBhvr>
                                    </p:animEffect>
                                  </p:childTnLst>
                                </p:cTn>
                              </p:par>
                              <p:par>
                                <p:cTn id="11" presetID="22" presetClass="entr" presetSubtype="1"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up)">
                                      <p:cBhvr>
                                        <p:cTn id="13" dur="500"/>
                                        <p:tgtEl>
                                          <p:spTgt spid="14"/>
                                        </p:tgtEl>
                                      </p:cBhvr>
                                    </p:animEffect>
                                  </p:childTnLst>
                                </p:cTn>
                              </p:par>
                              <p:par>
                                <p:cTn id="14" presetID="22" presetClass="entr" presetSubtype="1"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up)">
                                      <p:cBhvr>
                                        <p:cTn id="16" dur="500"/>
                                        <p:tgtEl>
                                          <p:spTgt spid="35"/>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wipe(up)">
                                      <p:cBhvr>
                                        <p:cTn id="19" dur="500"/>
                                        <p:tgtEl>
                                          <p:spTgt spid="69"/>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up)">
                                      <p:cBhvr>
                                        <p:cTn id="22" dur="500"/>
                                        <p:tgtEl>
                                          <p:spTgt spid="70"/>
                                        </p:tgtEl>
                                      </p:cBhvr>
                                    </p:animEffect>
                                  </p:childTnLst>
                                </p:cTn>
                              </p:par>
                              <p:par>
                                <p:cTn id="23" presetID="22" presetClass="entr" presetSubtype="1" fill="hold" nodeType="with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wipe(up)">
                                      <p:cBhvr>
                                        <p:cTn id="25" dur="500"/>
                                        <p:tgtEl>
                                          <p:spTgt spid="71"/>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00"/>
                                        </p:tgtEl>
                                        <p:attrNameLst>
                                          <p:attrName>style.visibility</p:attrName>
                                        </p:attrNameLst>
                                      </p:cBhvr>
                                      <p:to>
                                        <p:strVal val="visible"/>
                                      </p:to>
                                    </p:set>
                                    <p:animEffect transition="in" filter="wipe(up)">
                                      <p:cBhvr>
                                        <p:cTn id="28" dur="500"/>
                                        <p:tgtEl>
                                          <p:spTgt spid="100"/>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animEffect transition="in" filter="wipe(up)">
                                      <p:cBhvr>
                                        <p:cTn id="31" dur="500"/>
                                        <p:tgtEl>
                                          <p:spTgt spid="101"/>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02"/>
                                        </p:tgtEl>
                                        <p:attrNameLst>
                                          <p:attrName>style.visibility</p:attrName>
                                        </p:attrNameLst>
                                      </p:cBhvr>
                                      <p:to>
                                        <p:strVal val="visible"/>
                                      </p:to>
                                    </p:set>
                                    <p:animEffect transition="in" filter="wipe(up)">
                                      <p:cBhvr>
                                        <p:cTn id="34" dur="500"/>
                                        <p:tgtEl>
                                          <p:spTgt spid="102"/>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03"/>
                                        </p:tgtEl>
                                        <p:attrNameLst>
                                          <p:attrName>style.visibility</p:attrName>
                                        </p:attrNameLst>
                                      </p:cBhvr>
                                      <p:to>
                                        <p:strVal val="visible"/>
                                      </p:to>
                                    </p:set>
                                    <p:animEffect transition="in" filter="wipe(up)">
                                      <p:cBhvr>
                                        <p:cTn id="37" dur="500"/>
                                        <p:tgtEl>
                                          <p:spTgt spid="103"/>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04"/>
                                        </p:tgtEl>
                                        <p:attrNameLst>
                                          <p:attrName>style.visibility</p:attrName>
                                        </p:attrNameLst>
                                      </p:cBhvr>
                                      <p:to>
                                        <p:strVal val="visible"/>
                                      </p:to>
                                    </p:set>
                                    <p:animEffect transition="in" filter="wipe(up)">
                                      <p:cBhvr>
                                        <p:cTn id="40" dur="500"/>
                                        <p:tgtEl>
                                          <p:spTgt spid="104"/>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08"/>
                                        </p:tgtEl>
                                        <p:attrNameLst>
                                          <p:attrName>style.visibility</p:attrName>
                                        </p:attrNameLst>
                                      </p:cBhvr>
                                      <p:to>
                                        <p:strVal val="visible"/>
                                      </p:to>
                                    </p:set>
                                    <p:animEffect transition="in" filter="wipe(up)">
                                      <p:cBhvr>
                                        <p:cTn id="43" dur="500"/>
                                        <p:tgtEl>
                                          <p:spTgt spid="108"/>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09"/>
                                        </p:tgtEl>
                                        <p:attrNameLst>
                                          <p:attrName>style.visibility</p:attrName>
                                        </p:attrNameLst>
                                      </p:cBhvr>
                                      <p:to>
                                        <p:strVal val="visible"/>
                                      </p:to>
                                    </p:set>
                                    <p:animEffect transition="in" filter="wipe(up)">
                                      <p:cBhvr>
                                        <p:cTn id="46" dur="500"/>
                                        <p:tgtEl>
                                          <p:spTgt spid="109"/>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11"/>
                                        </p:tgtEl>
                                        <p:attrNameLst>
                                          <p:attrName>style.visibility</p:attrName>
                                        </p:attrNameLst>
                                      </p:cBhvr>
                                      <p:to>
                                        <p:strVal val="visible"/>
                                      </p:to>
                                    </p:set>
                                    <p:animEffect transition="in" filter="wipe(up)">
                                      <p:cBhvr>
                                        <p:cTn id="49" dur="500"/>
                                        <p:tgtEl>
                                          <p:spTgt spid="111"/>
                                        </p:tgtEl>
                                      </p:cBhvr>
                                    </p:animEffect>
                                  </p:childTnLst>
                                </p:cTn>
                              </p:par>
                              <p:par>
                                <p:cTn id="50" presetID="22" presetClass="entr" presetSubtype="1" fill="hold" nodeType="withEffect">
                                  <p:stCondLst>
                                    <p:cond delay="0"/>
                                  </p:stCondLst>
                                  <p:childTnLst>
                                    <p:set>
                                      <p:cBhvr>
                                        <p:cTn id="51" dur="1" fill="hold">
                                          <p:stCondLst>
                                            <p:cond delay="0"/>
                                          </p:stCondLst>
                                        </p:cTn>
                                        <p:tgtEl>
                                          <p:spTgt spid="113"/>
                                        </p:tgtEl>
                                        <p:attrNameLst>
                                          <p:attrName>style.visibility</p:attrName>
                                        </p:attrNameLst>
                                      </p:cBhvr>
                                      <p:to>
                                        <p:strVal val="visible"/>
                                      </p:to>
                                    </p:set>
                                    <p:animEffect transition="in" filter="wipe(up)">
                                      <p:cBhvr>
                                        <p:cTn id="52" dur="500"/>
                                        <p:tgtEl>
                                          <p:spTgt spid="113"/>
                                        </p:tgtEl>
                                      </p:cBhvr>
                                    </p:animEffect>
                                  </p:childTnLst>
                                </p:cTn>
                              </p:par>
                              <p:par>
                                <p:cTn id="53" presetID="22" presetClass="entr" presetSubtype="1" fill="hold" nodeType="withEffect">
                                  <p:stCondLst>
                                    <p:cond delay="0"/>
                                  </p:stCondLst>
                                  <p:childTnLst>
                                    <p:set>
                                      <p:cBhvr>
                                        <p:cTn id="54" dur="1" fill="hold">
                                          <p:stCondLst>
                                            <p:cond delay="0"/>
                                          </p:stCondLst>
                                        </p:cTn>
                                        <p:tgtEl>
                                          <p:spTgt spid="114"/>
                                        </p:tgtEl>
                                        <p:attrNameLst>
                                          <p:attrName>style.visibility</p:attrName>
                                        </p:attrNameLst>
                                      </p:cBhvr>
                                      <p:to>
                                        <p:strVal val="visible"/>
                                      </p:to>
                                    </p:set>
                                    <p:animEffect transition="in" filter="wipe(up)">
                                      <p:cBhvr>
                                        <p:cTn id="55"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9" grpId="0"/>
      <p:bldP spid="70" grpId="0"/>
      <p:bldP spid="100" grpId="0"/>
      <p:bldP spid="101" grpId="0"/>
      <p:bldP spid="102" grpId="0" animBg="1"/>
      <p:bldP spid="103" grpId="0" animBg="1"/>
      <p:bldP spid="104" grpId="0" animBg="1"/>
      <p:bldP spid="108" grpId="0"/>
      <p:bldP spid="109" grpId="0"/>
      <p:bldP spid="1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9E3F5-2460-D848-FE0C-C29EE537DA70}"/>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BCF87C02-433F-9A72-A720-75148E7C59A7}"/>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9</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TextBox 2">
            <a:extLst>
              <a:ext uri="{FF2B5EF4-FFF2-40B4-BE49-F238E27FC236}">
                <a16:creationId xmlns:a16="http://schemas.microsoft.com/office/drawing/2014/main" id="{E45BF36A-BFB6-2A08-6CA7-5E2FC6DF2563}"/>
              </a:ext>
            </a:extLst>
          </p:cNvPr>
          <p:cNvSpPr txBox="1"/>
          <p:nvPr/>
        </p:nvSpPr>
        <p:spPr>
          <a:xfrm>
            <a:off x="0" y="0"/>
            <a:ext cx="12192000" cy="674370"/>
          </a:xfrm>
          <a:prstGeom prst="rect">
            <a:avLst/>
          </a:prstGeom>
          <a:solidFill>
            <a:srgbClr val="6C2334"/>
          </a:solidFill>
        </p:spPr>
        <p:txBody>
          <a:bodyPr wrap="square" rtlCol="0">
            <a:spAutoFit/>
          </a:bodyPr>
          <a:lstStyle/>
          <a:p>
            <a:endParaRPr lang="en-US"/>
          </a:p>
        </p:txBody>
      </p:sp>
      <p:sp>
        <p:nvSpPr>
          <p:cNvPr id="5" name="TextBox 4">
            <a:extLst>
              <a:ext uri="{FF2B5EF4-FFF2-40B4-BE49-F238E27FC236}">
                <a16:creationId xmlns:a16="http://schemas.microsoft.com/office/drawing/2014/main" id="{48A3C123-99B8-0A26-148E-567B93032A33}"/>
              </a:ext>
            </a:extLst>
          </p:cNvPr>
          <p:cNvSpPr txBox="1"/>
          <p:nvPr/>
        </p:nvSpPr>
        <p:spPr>
          <a:xfrm>
            <a:off x="247864" y="0"/>
            <a:ext cx="10637850" cy="646331"/>
          </a:xfrm>
          <a:prstGeom prst="rect">
            <a:avLst/>
          </a:prstGeom>
          <a:noFill/>
        </p:spPr>
        <p:txBody>
          <a:bodyPr wrap="square">
            <a:spAutoFit/>
          </a:bodyPr>
          <a:lstStyle/>
          <a:p>
            <a:r>
              <a:rPr lang="en-US" sz="3600" b="1">
                <a:solidFill>
                  <a:srgbClr val="CEB888"/>
                </a:solidFill>
                <a:latin typeface="Arial" panose="020B0604020202020204" pitchFamily="34" charset="0"/>
                <a:cs typeface="Arial" panose="020B0604020202020204" pitchFamily="34" charset="0"/>
              </a:rPr>
              <a:t>Evaluation Under Multi-User</a:t>
            </a:r>
            <a:endParaRPr lang="en-US" sz="3600" b="1">
              <a:solidFill>
                <a:srgbClr val="CEB888"/>
              </a:solidFill>
              <a:highlight>
                <a:srgbClr val="6C2334"/>
              </a:highligh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46276B3-A49A-F22A-1CAD-C4DA313473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863" y="1813545"/>
            <a:ext cx="8920661" cy="3486954"/>
          </a:xfrm>
          <a:prstGeom prst="rect">
            <a:avLst/>
          </a:prstGeom>
        </p:spPr>
      </p:pic>
      <p:sp>
        <p:nvSpPr>
          <p:cNvPr id="6" name="TextBox 5">
            <a:extLst>
              <a:ext uri="{FF2B5EF4-FFF2-40B4-BE49-F238E27FC236}">
                <a16:creationId xmlns:a16="http://schemas.microsoft.com/office/drawing/2014/main" id="{B01FDF63-D7F1-8391-73F7-7F43E65573D6}"/>
              </a:ext>
            </a:extLst>
          </p:cNvPr>
          <p:cNvSpPr txBox="1"/>
          <p:nvPr/>
        </p:nvSpPr>
        <p:spPr>
          <a:xfrm>
            <a:off x="332838" y="700294"/>
            <a:ext cx="8107074" cy="646331"/>
          </a:xfrm>
          <a:prstGeom prst="rect">
            <a:avLst/>
          </a:prstGeom>
          <a:noFill/>
        </p:spPr>
        <p:txBody>
          <a:bodyPr wrap="square">
            <a:spAutoFit/>
          </a:bodyPr>
          <a:lstStyle/>
          <a:p>
            <a:r>
              <a:rPr lang="en-US" sz="3600">
                <a:solidFill>
                  <a:srgbClr val="333333"/>
                </a:solidFill>
                <a:latin typeface="Times New Roman" panose="02020603050405020304" pitchFamily="18" charset="0"/>
                <a:cs typeface="Times New Roman" panose="02020603050405020304" pitchFamily="18" charset="0"/>
              </a:rPr>
              <a:t>Multiple legitimate users in a shared room</a:t>
            </a:r>
            <a:endParaRPr lang="en-US" sz="3600"/>
          </a:p>
        </p:txBody>
      </p:sp>
      <p:pic>
        <p:nvPicPr>
          <p:cNvPr id="27" name="Graphic 26" descr="Heart lock with solid fill">
            <a:extLst>
              <a:ext uri="{FF2B5EF4-FFF2-40B4-BE49-F238E27FC236}">
                <a16:creationId xmlns:a16="http://schemas.microsoft.com/office/drawing/2014/main" id="{28E67A8D-4536-1C66-4735-CBAE4C7D86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66412" y="1593853"/>
            <a:ext cx="1828800" cy="1828800"/>
          </a:xfrm>
          <a:prstGeom prst="rect">
            <a:avLst/>
          </a:prstGeom>
        </p:spPr>
      </p:pic>
      <p:sp>
        <p:nvSpPr>
          <p:cNvPr id="28" name="Text 11">
            <a:extLst>
              <a:ext uri="{FF2B5EF4-FFF2-40B4-BE49-F238E27FC236}">
                <a16:creationId xmlns:a16="http://schemas.microsoft.com/office/drawing/2014/main" id="{69E2C210-BF0B-FBA7-A171-D235874BEE56}"/>
              </a:ext>
            </a:extLst>
          </p:cNvPr>
          <p:cNvSpPr/>
          <p:nvPr/>
        </p:nvSpPr>
        <p:spPr>
          <a:xfrm>
            <a:off x="9040076" y="3339196"/>
            <a:ext cx="3314924" cy="933427"/>
          </a:xfrm>
          <a:prstGeom prst="rect">
            <a:avLst/>
          </a:prstGeom>
          <a:noFill/>
          <a:ln/>
        </p:spPr>
        <p:txBody>
          <a:bodyPr wrap="square" lIns="381" tIns="381" rIns="381" bIns="381"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b="1">
                <a:solidFill>
                  <a:srgbClr val="8B0025"/>
                </a:solidFill>
                <a:ea typeface="Arial" pitchFamily="34" charset="-122"/>
                <a:cs typeface="Times New Roman" panose="02020603050405020304" pitchFamily="18" charset="0"/>
              </a:rPr>
              <a:t>&gt; 89%</a:t>
            </a:r>
          </a:p>
          <a:p>
            <a:pPr algn="ctr"/>
            <a:endParaRPr lang="en-US" sz="6000" b="1">
              <a:solidFill>
                <a:srgbClr val="8B0025"/>
              </a:solidFill>
              <a:ea typeface="Arial" pitchFamily="34" charset="-122"/>
              <a:cs typeface="Times New Roman" panose="02020603050405020304" pitchFamily="18" charset="0"/>
            </a:endParaRPr>
          </a:p>
        </p:txBody>
      </p:sp>
      <p:sp>
        <p:nvSpPr>
          <p:cNvPr id="29" name="Text 11">
            <a:extLst>
              <a:ext uri="{FF2B5EF4-FFF2-40B4-BE49-F238E27FC236}">
                <a16:creationId xmlns:a16="http://schemas.microsoft.com/office/drawing/2014/main" id="{D5D3D601-190A-C054-D2CC-6766BFD32D0C}"/>
              </a:ext>
            </a:extLst>
          </p:cNvPr>
          <p:cNvSpPr/>
          <p:nvPr/>
        </p:nvSpPr>
        <p:spPr>
          <a:xfrm>
            <a:off x="8933362" y="4221446"/>
            <a:ext cx="3528351" cy="685800"/>
          </a:xfrm>
          <a:prstGeom prst="rect">
            <a:avLst/>
          </a:prstGeom>
          <a:noFill/>
          <a:ln/>
        </p:spPr>
        <p:txBody>
          <a:bodyPr wrap="square" lIns="381" tIns="381" rIns="381" bIns="381"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a:solidFill>
                  <a:srgbClr val="333333"/>
                </a:solidFill>
                <a:latin typeface="Times New Roman" panose="02020603050405020304" pitchFamily="18" charset="0"/>
                <a:ea typeface="Arial" pitchFamily="34" charset="-122"/>
                <a:cs typeface="Times New Roman" panose="02020603050405020304" pitchFamily="18" charset="0"/>
              </a:rPr>
              <a:t>Authentication </a:t>
            </a:r>
          </a:p>
          <a:p>
            <a:pPr algn="ctr"/>
            <a:r>
              <a:rPr lang="en-US" sz="3600">
                <a:solidFill>
                  <a:srgbClr val="333333"/>
                </a:solidFill>
                <a:latin typeface="Times New Roman" panose="02020603050405020304" pitchFamily="18" charset="0"/>
                <a:ea typeface="Arial" pitchFamily="34" charset="-122"/>
                <a:cs typeface="Times New Roman" panose="02020603050405020304" pitchFamily="18" charset="0"/>
              </a:rPr>
              <a:t>F1 score</a:t>
            </a:r>
          </a:p>
        </p:txBody>
      </p:sp>
      <p:sp>
        <p:nvSpPr>
          <p:cNvPr id="30" name="TextBox 29">
            <a:extLst>
              <a:ext uri="{FF2B5EF4-FFF2-40B4-BE49-F238E27FC236}">
                <a16:creationId xmlns:a16="http://schemas.microsoft.com/office/drawing/2014/main" id="{BD96ED7C-09E7-2294-8B11-17F589162029}"/>
              </a:ext>
            </a:extLst>
          </p:cNvPr>
          <p:cNvSpPr txBox="1"/>
          <p:nvPr/>
        </p:nvSpPr>
        <p:spPr>
          <a:xfrm>
            <a:off x="0" y="5767420"/>
            <a:ext cx="12070080" cy="646331"/>
          </a:xfrm>
          <a:prstGeom prst="rect">
            <a:avLst/>
          </a:prstGeom>
          <a:noFill/>
        </p:spPr>
        <p:txBody>
          <a:bodyPr wrap="square">
            <a:spAutoFit/>
          </a:bodyPr>
          <a:lstStyle/>
          <a:p>
            <a:r>
              <a:rPr lang="en-US" sz="3600">
                <a:solidFill>
                  <a:srgbClr val="333333"/>
                </a:solidFill>
                <a:latin typeface="Times New Roman" panose="02020603050405020304" pitchFamily="18" charset="0"/>
                <a:cs typeface="Times New Roman" panose="02020603050405020304" pitchFamily="18" charset="0"/>
              </a:rPr>
              <a:t>2FiA physically identifies which user each signal belongs to.</a:t>
            </a:r>
          </a:p>
        </p:txBody>
      </p:sp>
    </p:spTree>
    <p:extLst>
      <p:ext uri="{BB962C8B-B14F-4D97-AF65-F5344CB8AC3E}">
        <p14:creationId xmlns:p14="http://schemas.microsoft.com/office/powerpoint/2010/main" val="173829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up)">
                                      <p:cBhvr>
                                        <p:cTn id="10" dur="500"/>
                                        <p:tgtEl>
                                          <p:spTgt spid="2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up)">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up)">
                                      <p:cBhvr>
                                        <p:cTn id="1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E344-5889-5C7D-7CC5-79E2DB668A96}"/>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F750EDFA-BBE6-33FB-5365-E8A49E0FB5CB}"/>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10</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1857E602-5237-92C4-F44B-76F7BCB81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998" y="1721656"/>
            <a:ext cx="8123747" cy="3410407"/>
          </a:xfrm>
          <a:prstGeom prst="rect">
            <a:avLst/>
          </a:prstGeom>
        </p:spPr>
      </p:pic>
      <p:sp>
        <p:nvSpPr>
          <p:cNvPr id="3" name="TextBox 2">
            <a:extLst>
              <a:ext uri="{FF2B5EF4-FFF2-40B4-BE49-F238E27FC236}">
                <a16:creationId xmlns:a16="http://schemas.microsoft.com/office/drawing/2014/main" id="{BE478F8E-E54C-31DA-B6B2-4AA8CB25E40F}"/>
              </a:ext>
            </a:extLst>
          </p:cNvPr>
          <p:cNvSpPr txBox="1"/>
          <p:nvPr/>
        </p:nvSpPr>
        <p:spPr>
          <a:xfrm>
            <a:off x="0" y="-1538"/>
            <a:ext cx="12192000" cy="674370"/>
          </a:xfrm>
          <a:prstGeom prst="rect">
            <a:avLst/>
          </a:prstGeom>
          <a:solidFill>
            <a:srgbClr val="6C2334"/>
          </a:solidFill>
        </p:spPr>
        <p:txBody>
          <a:bodyPr wrap="square" rtlCol="0">
            <a:spAutoFit/>
          </a:bodyPr>
          <a:lstStyle/>
          <a:p>
            <a:endParaRPr lang="en-US"/>
          </a:p>
        </p:txBody>
      </p:sp>
      <p:sp>
        <p:nvSpPr>
          <p:cNvPr id="5" name="TextBox 4">
            <a:extLst>
              <a:ext uri="{FF2B5EF4-FFF2-40B4-BE49-F238E27FC236}">
                <a16:creationId xmlns:a16="http://schemas.microsoft.com/office/drawing/2014/main" id="{654CCABB-1F50-64FC-5F50-BFC8B547D941}"/>
              </a:ext>
            </a:extLst>
          </p:cNvPr>
          <p:cNvSpPr txBox="1"/>
          <p:nvPr/>
        </p:nvSpPr>
        <p:spPr>
          <a:xfrm>
            <a:off x="247864" y="-1538"/>
            <a:ext cx="12123968" cy="646331"/>
          </a:xfrm>
          <a:prstGeom prst="rect">
            <a:avLst/>
          </a:prstGeom>
          <a:noFill/>
        </p:spPr>
        <p:txBody>
          <a:bodyPr wrap="square">
            <a:spAutoFit/>
          </a:bodyPr>
          <a:lstStyle/>
          <a:p>
            <a:r>
              <a:rPr lang="en-US" sz="3600" b="1">
                <a:solidFill>
                  <a:srgbClr val="CEB888"/>
                </a:solidFill>
                <a:latin typeface="Arial" panose="020B0604020202020204" pitchFamily="34" charset="0"/>
                <a:cs typeface="Arial" panose="020B0604020202020204" pitchFamily="34" charset="0"/>
              </a:rPr>
              <a:t>Evaluation Under Attacks </a:t>
            </a:r>
          </a:p>
        </p:txBody>
      </p:sp>
      <p:sp>
        <p:nvSpPr>
          <p:cNvPr id="4" name="TextBox 3">
            <a:extLst>
              <a:ext uri="{FF2B5EF4-FFF2-40B4-BE49-F238E27FC236}">
                <a16:creationId xmlns:a16="http://schemas.microsoft.com/office/drawing/2014/main" id="{740ADFAA-5E4F-F33D-9FAF-A30325E3B106}"/>
              </a:ext>
            </a:extLst>
          </p:cNvPr>
          <p:cNvSpPr txBox="1"/>
          <p:nvPr/>
        </p:nvSpPr>
        <p:spPr>
          <a:xfrm>
            <a:off x="460998" y="682880"/>
            <a:ext cx="8225802" cy="646331"/>
          </a:xfrm>
          <a:prstGeom prst="rect">
            <a:avLst/>
          </a:prstGeom>
          <a:noFill/>
        </p:spPr>
        <p:txBody>
          <a:bodyPr wrap="square">
            <a:spAutoFit/>
          </a:bodyPr>
          <a:lstStyle/>
          <a:p>
            <a:r>
              <a:rPr lang="en-US" sz="3600">
                <a:solidFill>
                  <a:srgbClr val="333333"/>
                </a:solidFill>
                <a:latin typeface="Times New Roman" panose="02020603050405020304" pitchFamily="18" charset="0"/>
                <a:cs typeface="Times New Roman" panose="02020603050405020304" pitchFamily="18" charset="0"/>
              </a:rPr>
              <a:t>Under random and impersonation attacks</a:t>
            </a:r>
            <a:endParaRPr lang="en-US" sz="3600"/>
          </a:p>
        </p:txBody>
      </p:sp>
      <p:pic>
        <p:nvPicPr>
          <p:cNvPr id="11" name="Graphic 10" descr="Shield Tick with solid fill">
            <a:extLst>
              <a:ext uri="{FF2B5EF4-FFF2-40B4-BE49-F238E27FC236}">
                <a16:creationId xmlns:a16="http://schemas.microsoft.com/office/drawing/2014/main" id="{99A676AD-9F27-B2D6-CDE0-6D0B1DC334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27688" y="1721656"/>
            <a:ext cx="1828800" cy="1828800"/>
          </a:xfrm>
          <a:prstGeom prst="rect">
            <a:avLst/>
          </a:prstGeom>
        </p:spPr>
      </p:pic>
      <p:sp>
        <p:nvSpPr>
          <p:cNvPr id="12" name="Text 11">
            <a:extLst>
              <a:ext uri="{FF2B5EF4-FFF2-40B4-BE49-F238E27FC236}">
                <a16:creationId xmlns:a16="http://schemas.microsoft.com/office/drawing/2014/main" id="{93E45AF3-530A-7872-5373-F895641D4A11}"/>
              </a:ext>
            </a:extLst>
          </p:cNvPr>
          <p:cNvSpPr/>
          <p:nvPr/>
        </p:nvSpPr>
        <p:spPr>
          <a:xfrm>
            <a:off x="7786046" y="3426859"/>
            <a:ext cx="5315283" cy="685800"/>
          </a:xfrm>
          <a:prstGeom prst="rect">
            <a:avLst/>
          </a:prstGeom>
          <a:noFill/>
          <a:ln/>
        </p:spPr>
        <p:txBody>
          <a:bodyPr wrap="square" lIns="381" tIns="381" rIns="381" bIns="381"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a:solidFill>
                  <a:srgbClr val="333333"/>
                </a:solidFill>
                <a:latin typeface="Times New Roman" panose="02020603050405020304" pitchFamily="18" charset="0"/>
                <a:cs typeface="Times New Roman" panose="02020603050405020304" pitchFamily="18" charset="0"/>
              </a:rPr>
              <a:t>Defense against</a:t>
            </a:r>
          </a:p>
          <a:p>
            <a:pPr algn="ctr"/>
            <a:r>
              <a:rPr lang="en-US" sz="3600">
                <a:solidFill>
                  <a:srgbClr val="333333"/>
                </a:solidFill>
                <a:latin typeface="Times New Roman" panose="02020603050405020304" pitchFamily="18" charset="0"/>
                <a:cs typeface="Times New Roman" panose="02020603050405020304" pitchFamily="18" charset="0"/>
              </a:rPr>
              <a:t>two attack types</a:t>
            </a:r>
          </a:p>
        </p:txBody>
      </p:sp>
      <p:sp>
        <p:nvSpPr>
          <p:cNvPr id="13" name="TextBox 12">
            <a:extLst>
              <a:ext uri="{FF2B5EF4-FFF2-40B4-BE49-F238E27FC236}">
                <a16:creationId xmlns:a16="http://schemas.microsoft.com/office/drawing/2014/main" id="{3AE9F86C-CF2C-9A8A-9A70-21BDD1CD44BB}"/>
              </a:ext>
            </a:extLst>
          </p:cNvPr>
          <p:cNvSpPr txBox="1"/>
          <p:nvPr/>
        </p:nvSpPr>
        <p:spPr>
          <a:xfrm>
            <a:off x="247864" y="5432514"/>
            <a:ext cx="12123968" cy="1200329"/>
          </a:xfrm>
          <a:prstGeom prst="rect">
            <a:avLst/>
          </a:prstGeom>
          <a:noFill/>
        </p:spPr>
        <p:txBody>
          <a:bodyPr wrap="square">
            <a:spAutoFit/>
          </a:bodyPr>
          <a:lstStyle/>
          <a:p>
            <a:r>
              <a:rPr lang="en-US" sz="3600">
                <a:solidFill>
                  <a:srgbClr val="333333"/>
                </a:solidFill>
                <a:latin typeface="Times New Roman" panose="02020603050405020304" pitchFamily="18" charset="0"/>
                <a:cs typeface="Times New Roman" panose="02020603050405020304" pitchFamily="18" charset="0"/>
              </a:rPr>
              <a:t>By combining semi-involuntary respiration and involuntary heartbeat, 2FiA becomes resistant to impersonation attacks.</a:t>
            </a:r>
          </a:p>
        </p:txBody>
      </p:sp>
    </p:spTree>
    <p:extLst>
      <p:ext uri="{BB962C8B-B14F-4D97-AF65-F5344CB8AC3E}">
        <p14:creationId xmlns:p14="http://schemas.microsoft.com/office/powerpoint/2010/main" val="350513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C8649-F9A2-4332-9BC1-CB04B6EE15E9}"/>
            </a:ext>
          </a:extLst>
        </p:cNvPr>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4011F7FB-F0A0-4F2C-D67C-017DDFDC2C8C}"/>
              </a:ext>
            </a:extLst>
          </p:cNvPr>
          <p:cNvSpPr>
            <a:spLocks noGrp="1"/>
          </p:cNvSpPr>
          <p:nvPr>
            <p:ph type="sldNum" sz="quarter" idx="12"/>
          </p:nvPr>
        </p:nvSpPr>
        <p:spPr>
          <a:xfrm>
            <a:off x="4365240" y="6499329"/>
            <a:ext cx="2640245" cy="35867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11</a:t>
            </a: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TextBox 2">
            <a:extLst>
              <a:ext uri="{FF2B5EF4-FFF2-40B4-BE49-F238E27FC236}">
                <a16:creationId xmlns:a16="http://schemas.microsoft.com/office/drawing/2014/main" id="{F52DF51C-396F-505F-BB15-5EB9B98B8F14}"/>
              </a:ext>
            </a:extLst>
          </p:cNvPr>
          <p:cNvSpPr txBox="1"/>
          <p:nvPr/>
        </p:nvSpPr>
        <p:spPr>
          <a:xfrm>
            <a:off x="203200" y="674851"/>
            <a:ext cx="11711149" cy="3970318"/>
          </a:xfrm>
          <a:prstGeom prst="rect">
            <a:avLst/>
          </a:prstGeom>
          <a:noFill/>
        </p:spPr>
        <p:txBody>
          <a:bodyPr wrap="square" rtlCol="0">
            <a:spAutoFit/>
          </a:bodyPr>
          <a:lstStyle/>
          <a:p>
            <a:pPr marL="571500" indent="-571500" algn="just">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2FiA integrates semi-voluntary respiration and </a:t>
            </a:r>
            <a:r>
              <a:rPr lang="en-US" sz="3600">
                <a:solidFill>
                  <a:srgbClr val="CEB888"/>
                </a:solidFill>
                <a:latin typeface="Times New Roman" panose="02020603050405020304" pitchFamily="18" charset="0"/>
                <a:cs typeface="Times New Roman" panose="02020603050405020304" pitchFamily="18" charset="0"/>
              </a:rPr>
              <a:t>involuntary heartbeat</a:t>
            </a:r>
            <a:r>
              <a:rPr lang="en-US" sz="3600">
                <a:latin typeface="Times New Roman" panose="02020603050405020304" pitchFamily="18" charset="0"/>
                <a:cs typeface="Times New Roman" panose="02020603050405020304" pitchFamily="18" charset="0"/>
              </a:rPr>
              <a:t>, enabling contact-free human authentication.</a:t>
            </a:r>
          </a:p>
          <a:p>
            <a:pPr marL="571500" indent="-571500" algn="just">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2FiA develops a novel explainable </a:t>
            </a:r>
            <a:r>
              <a:rPr lang="en-US" sz="3600" err="1">
                <a:solidFill>
                  <a:srgbClr val="CEB888"/>
                </a:solidFill>
                <a:latin typeface="Times New Roman" panose="02020603050405020304" pitchFamily="18" charset="0"/>
                <a:cs typeface="Times New Roman" panose="02020603050405020304" pitchFamily="18" charset="0"/>
              </a:rPr>
              <a:t>spatio</a:t>
            </a:r>
            <a:r>
              <a:rPr lang="en-US" sz="3600">
                <a:solidFill>
                  <a:srgbClr val="CEB888"/>
                </a:solidFill>
                <a:latin typeface="Times New Roman" panose="02020603050405020304" pitchFamily="18" charset="0"/>
                <a:cs typeface="Times New Roman" panose="02020603050405020304" pitchFamily="18" charset="0"/>
              </a:rPr>
              <a:t>-temporal</a:t>
            </a:r>
            <a:r>
              <a:rPr lang="en-US" sz="3600">
                <a:latin typeface="Times New Roman" panose="02020603050405020304" pitchFamily="18" charset="0"/>
                <a:cs typeface="Times New Roman" panose="02020603050405020304" pitchFamily="18" charset="0"/>
              </a:rPr>
              <a:t> signal processing pipeline, which may benefit broader Wi-Fi sensing applications beyond authentication.</a:t>
            </a:r>
          </a:p>
          <a:p>
            <a:pPr marL="571500" indent="-571500" algn="just">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2FiA remains robust in multi-user and </a:t>
            </a:r>
            <a:r>
              <a:rPr lang="en-US" sz="3600">
                <a:solidFill>
                  <a:srgbClr val="CEB888"/>
                </a:solidFill>
                <a:latin typeface="Times New Roman" panose="02020603050405020304" pitchFamily="18" charset="0"/>
                <a:cs typeface="Times New Roman" panose="02020603050405020304" pitchFamily="18" charset="0"/>
              </a:rPr>
              <a:t>impersonation</a:t>
            </a:r>
            <a:r>
              <a:rPr lang="en-US" sz="3600">
                <a:latin typeface="Times New Roman" panose="02020603050405020304" pitchFamily="18" charset="0"/>
                <a:cs typeface="Times New Roman" panose="02020603050405020304" pitchFamily="18" charset="0"/>
              </a:rPr>
              <a:t> attack scenarios. </a:t>
            </a:r>
          </a:p>
        </p:txBody>
      </p:sp>
      <p:sp>
        <p:nvSpPr>
          <p:cNvPr id="4" name="TextBox 3">
            <a:extLst>
              <a:ext uri="{FF2B5EF4-FFF2-40B4-BE49-F238E27FC236}">
                <a16:creationId xmlns:a16="http://schemas.microsoft.com/office/drawing/2014/main" id="{22745025-4173-024F-996B-D2884A5ED2CA}"/>
              </a:ext>
            </a:extLst>
          </p:cNvPr>
          <p:cNvSpPr txBox="1"/>
          <p:nvPr/>
        </p:nvSpPr>
        <p:spPr>
          <a:xfrm>
            <a:off x="0" y="-29501"/>
            <a:ext cx="12192000" cy="674370"/>
          </a:xfrm>
          <a:prstGeom prst="rect">
            <a:avLst/>
          </a:prstGeom>
          <a:solidFill>
            <a:srgbClr val="6C2334"/>
          </a:solidFill>
        </p:spPr>
        <p:txBody>
          <a:bodyPr wrap="square" rtlCol="0">
            <a:spAutoFit/>
          </a:bodyPr>
          <a:lstStyle/>
          <a:p>
            <a:endParaRPr lang="en-US"/>
          </a:p>
        </p:txBody>
      </p:sp>
      <p:sp>
        <p:nvSpPr>
          <p:cNvPr id="5" name="TextBox 4">
            <a:extLst>
              <a:ext uri="{FF2B5EF4-FFF2-40B4-BE49-F238E27FC236}">
                <a16:creationId xmlns:a16="http://schemas.microsoft.com/office/drawing/2014/main" id="{4176C9A9-BE5C-90D4-C0CE-69FCF10174EC}"/>
              </a:ext>
            </a:extLst>
          </p:cNvPr>
          <p:cNvSpPr txBox="1"/>
          <p:nvPr/>
        </p:nvSpPr>
        <p:spPr>
          <a:xfrm>
            <a:off x="0" y="-46679"/>
            <a:ext cx="3657600" cy="646331"/>
          </a:xfrm>
          <a:prstGeom prst="rect">
            <a:avLst/>
          </a:prstGeom>
          <a:noFill/>
        </p:spPr>
        <p:txBody>
          <a:bodyPr wrap="square">
            <a:spAutoFit/>
          </a:bodyPr>
          <a:lstStyle/>
          <a:p>
            <a:pPr lvl="0" algn="ctr">
              <a:defRPr/>
            </a:pPr>
            <a:r>
              <a:rPr lang="en-US" altLang="zh-CN" sz="3600" b="1">
                <a:solidFill>
                  <a:srgbClr val="CEB888"/>
                </a:solidFill>
                <a:highlight>
                  <a:srgbClr val="6C2334"/>
                </a:highlight>
                <a:latin typeface="Arial" panose="020B0604020202020204" pitchFamily="34" charset="0"/>
                <a:cs typeface="Arial" panose="020B0604020202020204" pitchFamily="34" charset="0"/>
              </a:rPr>
              <a:t>Conclusion</a:t>
            </a:r>
            <a:r>
              <a:rPr lang="en-US" sz="3600" b="1">
                <a:solidFill>
                  <a:srgbClr val="CEB888"/>
                </a:solidFill>
                <a:highlight>
                  <a:srgbClr val="6C2334"/>
                </a:highlight>
                <a:latin typeface="Arial" panose="020B0604020202020204" pitchFamily="34" charset="0"/>
                <a:cs typeface="Arial" panose="020B0604020202020204" pitchFamily="34" charset="0"/>
              </a:rPr>
              <a:t>                                                      </a:t>
            </a:r>
          </a:p>
        </p:txBody>
      </p:sp>
      <p:sp>
        <p:nvSpPr>
          <p:cNvPr id="2" name="Title 1">
            <a:extLst>
              <a:ext uri="{FF2B5EF4-FFF2-40B4-BE49-F238E27FC236}">
                <a16:creationId xmlns:a16="http://schemas.microsoft.com/office/drawing/2014/main" id="{25AE6C54-3C32-972C-68BC-0311A47BFCF4}"/>
              </a:ext>
            </a:extLst>
          </p:cNvPr>
          <p:cNvSpPr>
            <a:spLocks noGrp="1"/>
          </p:cNvSpPr>
          <p:nvPr>
            <p:ph type="title"/>
          </p:nvPr>
        </p:nvSpPr>
        <p:spPr>
          <a:xfrm>
            <a:off x="3231087" y="5365854"/>
            <a:ext cx="4908550" cy="1133475"/>
          </a:xfrm>
        </p:spPr>
        <p:txBody>
          <a:bodyPr>
            <a:normAutofit/>
          </a:bodyPr>
          <a:lstStyle/>
          <a:p>
            <a:r>
              <a:rPr lang="en-US" sz="7000" b="1">
                <a:solidFill>
                  <a:srgbClr val="CEB888"/>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24351231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BA923A57909E4CB40D6AC1B4906618" ma:contentTypeVersion="13" ma:contentTypeDescription="Create a new document." ma:contentTypeScope="" ma:versionID="9ddfc108b332f7e867a09c215eea522e">
  <xsd:schema xmlns:xsd="http://www.w3.org/2001/XMLSchema" xmlns:xs="http://www.w3.org/2001/XMLSchema" xmlns:p="http://schemas.microsoft.com/office/2006/metadata/properties" xmlns:ns3="34d3ed2d-1328-4696-87ba-0093d160fcfa" targetNamespace="http://schemas.microsoft.com/office/2006/metadata/properties" ma:root="true" ma:fieldsID="2d4db0fbb0393f9efae09fd0feda8776" ns3:_="">
    <xsd:import namespace="34d3ed2d-1328-4696-87ba-0093d160fcfa"/>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d3ed2d-1328-4696-87ba-0093d160fcf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4d3ed2d-1328-4696-87ba-0093d160fcfa" xsi:nil="true"/>
  </documentManagement>
</p:properties>
</file>

<file path=customXml/itemProps1.xml><?xml version="1.0" encoding="utf-8"?>
<ds:datastoreItem xmlns:ds="http://schemas.openxmlformats.org/officeDocument/2006/customXml" ds:itemID="{0C56A106-3E43-4D65-9A1C-05FFE661952D}">
  <ds:schemaRefs>
    <ds:schemaRef ds:uri="http://schemas.microsoft.com/sharepoint/v3/contenttype/forms"/>
  </ds:schemaRefs>
</ds:datastoreItem>
</file>

<file path=customXml/itemProps2.xml><?xml version="1.0" encoding="utf-8"?>
<ds:datastoreItem xmlns:ds="http://schemas.openxmlformats.org/officeDocument/2006/customXml" ds:itemID="{E33F0658-BFA7-4689-AD36-8C57D4F80EAD}">
  <ds:schemaRefs>
    <ds:schemaRef ds:uri="34d3ed2d-1328-4696-87ba-0093d160fc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F0BADA5-04E0-4666-AFAE-8B8FD7708487}">
  <ds:schemaRefs>
    <ds:schemaRef ds:uri="http://purl.org/dc/dcmitype/"/>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34d3ed2d-1328-4696-87ba-0093d160fcfa"/>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a36450eb-db06-42a7-8d1b-026719f701e3}" enabled="0" method="" siteId="{a36450eb-db06-42a7-8d1b-026719f701e3}" removed="1"/>
</clbl:labelList>
</file>

<file path=docProps/app.xml><?xml version="1.0" encoding="utf-8"?>
<Properties xmlns="http://schemas.openxmlformats.org/officeDocument/2006/extended-properties" xmlns:vt="http://schemas.openxmlformats.org/officeDocument/2006/docPropsVTypes">
  <TotalTime>778</TotalTime>
  <Words>2069</Words>
  <Application>Microsoft Macintosh PowerPoint</Application>
  <PresentationFormat>Widescreen</PresentationFormat>
  <Paragraphs>327</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等线</vt:lpstr>
      <vt:lpstr>LinLibertineO-Identity-H</vt:lpstr>
      <vt:lpstr>Aptos</vt:lpstr>
      <vt:lpstr>Arial</vt:lpstr>
      <vt:lpstr>Calibri</vt:lpstr>
      <vt:lpstr>Calibri Light</vt:lpstr>
      <vt:lpstr>Cambria Math</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Healthy and Secure Living Through Ubiquitous WiFi Technology</dc:title>
  <dc:creator>Bofan Li</dc:creator>
  <cp:lastModifiedBy>Bofan Li</cp:lastModifiedBy>
  <cp:revision>1</cp:revision>
  <dcterms:created xsi:type="dcterms:W3CDTF">2025-10-31T15:14:10Z</dcterms:created>
  <dcterms:modified xsi:type="dcterms:W3CDTF">2026-05-19T17:28:16Z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0x010100D8BA923A57909E4CB40D6AC1B4906618</vt:lpwstr>
  </property>
</Properties>
</file>