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" dt="2026-09-14T17:32:53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9C083-2DD9-4582-AC11-927A570F1534}" type="datetimeFigureOut"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005DC-6E9E-4203-A42D-9FCCA7D99A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6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 am going to tell the story of the paper rather than walk through the rubric directly. The flow is: what changed with vRAN, why software updates become necessary, why updating vRAN is difficult, what SwapRAN changes, whether it works, and what that enables.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because the class already knows RAN. The important setup is that the RAN functions are now software artifacts on general-purpose servers. That makes updates attractive in the same way updates are attractive in cloud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 implicitly answer why researchers are interested. vRAN creates an opportunity for software-style evolution, but that benefit only matters if live networks can absorb updates with little disruption.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conceptual point is that “live update” is not one problem. The DU is constrained by real-time CPU scheduling. The CU is constrained by stateful, many-to-one relationships. SwapRAN needs a different mechanism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the research landscape. The paper argues that planned stop-and-replace causes tens of seconds of disruption, while Atlas-style approaches need additional infrastructure. SwapRAN instead targets an in-place update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contribution slide. Say the conceptual idea first, then tell the audience there are two implementations: one for the DU and one for the CU. The phrase “controlled handoff of responsibility” is a useful mental model, but SwapRAN explicitly avoids radio-layer handover as the update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separation between initialization and real-time service. SwapRAN lets the new DU do non-RT work while the old DU still serves users, then transfers RT execution. The embedded switch handles fronthaul steering because kernel-bypass networking prevents ordinary kernel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proxy is the CU contribution’s central idea. It breaks the direct dependency between the DU’s F1 connection and a particular CU process. That lets the new CU become ready before individual DUs are moved. F1AP RESET provides the standardized control operation used to migrate them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deeper architectural point, not just an implementation detail. The paper says network-initiated handovers belong to the E2/RIC radio-control domain, while software lifecycle changes are initiated through O2/Kubernetes. At the time of the paper there was no standardized bridge between those domains, and handover itself carries many radio-specific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with the DU numbers. The measured total UE downtime is about 600 ms in the evaluation, while the RT-to-ready/blackout component is under 200 ms, with RT-to-ready reduced to roughly 160 ms. The general paper target is 1–2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explicitly frames vRAN as a path toward CI/CD-like updates. The three items at the bottom are broader implications: faster iteration, automation, and safer rollout/rollback. Present these as opportunities enabled or suggested by the work, not as features fully implemented by SwapRAN.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directly demonstrates a live-update mechanism. These four are broader research directions that naturally follow from the result. Make clear which parts are your interpretation rather than claims that SwapRAN implemented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30–45 seconds before Q&amp;A: vRAN creates the need, the architecture creates the difficulty, SwapRAN provides a two-part solution, and the larger implication is a path toward software-native RAN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D9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96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SwapRAN • How to Update Your 5G vRAN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6519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practicum draft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143000"/>
            <a:ext cx="1325880" cy="68580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732520" y="1143000"/>
            <a:ext cx="0" cy="164592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0058400" y="1828800"/>
            <a:ext cx="0" cy="96012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058400" y="1828800"/>
            <a:ext cx="320040" cy="141732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0" y="2788920"/>
            <a:ext cx="0" cy="100584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0" y="2788920"/>
            <a:ext cx="777240" cy="178308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378440" y="3246120"/>
            <a:ext cx="0" cy="132588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46720" y="3794760"/>
            <a:ext cx="1417320" cy="77724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64040" y="4572000"/>
            <a:ext cx="1508760" cy="320040"/>
          </a:xfrm>
          <a:prstGeom prst="line">
            <a:avLst/>
          </a:prstGeom>
          <a:noFill/>
          <a:ln w="17780">
            <a:solidFill>
              <a:srgbClr val="5A769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50224" y="106070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76104" y="174650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04504" y="2706624"/>
            <a:ext cx="164592" cy="164592"/>
          </a:xfrm>
          <a:prstGeom prst="ellipse">
            <a:avLst/>
          </a:prstGeom>
          <a:solidFill>
            <a:srgbClr val="0F8B8D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96144" y="316382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64424" y="371246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1744" y="448970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0504" y="4809744"/>
            <a:ext cx="164592" cy="164592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960120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How to Update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Your 5G vRAN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749808" y="2606040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1900" dirty="0">
                <a:solidFill>
                  <a:srgbClr val="DCE6F3"/>
                </a:solidFill>
              </a:rPr>
              <a:t>Why live software updates are hard in vRAN — and how </a:t>
            </a:r>
            <a:r>
              <a:rPr lang="en-US" sz="1900" dirty="0" err="1">
                <a:solidFill>
                  <a:srgbClr val="DCE6F3"/>
                </a:solidFill>
              </a:rPr>
              <a:t>SwapRAN</a:t>
            </a:r>
            <a:r>
              <a:rPr lang="en-US" sz="1900" dirty="0">
                <a:solidFill>
                  <a:srgbClr val="DCE6F3"/>
                </a:solidFill>
              </a:rPr>
              <a:t> approaches them</a:t>
            </a:r>
            <a:endParaRPr lang="en-US" sz="19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900" dirty="0">
              <a:solidFill>
                <a:srgbClr val="DCE6F3"/>
              </a:solidFill>
            </a:endParaRPr>
          </a:p>
          <a:p>
            <a:r>
              <a:rPr lang="en-US" sz="1900" dirty="0">
                <a:solidFill>
                  <a:srgbClr val="DCE6F3"/>
                </a:solidFill>
              </a:rPr>
              <a:t>Rodney Carey</a:t>
            </a:r>
          </a:p>
        </p:txBody>
      </p:sp>
      <p:sp>
        <p:nvSpPr>
          <p:cNvPr id="21" name="Shape 19"/>
          <p:cNvSpPr/>
          <p:nvPr/>
        </p:nvSpPr>
        <p:spPr>
          <a:xfrm>
            <a:off x="749808" y="3685032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7444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DU + CU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3685032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7444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IN-PLACE UPDATE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3685032"/>
            <a:ext cx="1600200" cy="310896"/>
          </a:xfrm>
          <a:prstGeom prst="roundRect">
            <a:avLst>
              <a:gd name="adj" fmla="val 47059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37444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CI/CD VISION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6035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AFC1D5"/>
              </a:solidFill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1 • FOUNDATION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The RAN becomes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The key shift is not just “new hardware” — it is moving RAN functions into software running on general-purpose infrastructure.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240280"/>
            <a:ext cx="17465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</a:rPr>
              <a:t>Radio Unit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</a:rPr>
              <a:t>(RU)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54680" y="21488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64408" y="2240280"/>
            <a:ext cx="17465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</a:rPr>
              <a:t>Baseband /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</a:rPr>
              <a:t>BBU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532120" y="214884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41848" y="2240280"/>
            <a:ext cx="17465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</a:rPr>
              <a:t>Core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743200" y="26060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26060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17922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Traditional RAN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508760"/>
            <a:ext cx="0" cy="384048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4884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240280"/>
            <a:ext cx="1243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</a:rPr>
              <a:t>RU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04120" y="18288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1920240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B"/>
                </a:solidFill>
              </a:rPr>
              <a:t>vDU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04120" y="269748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3848" y="2788920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B"/>
                </a:solidFill>
              </a:rPr>
              <a:t>vCU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848088" y="260604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817352" y="2514600"/>
            <a:ext cx="292608" cy="20116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817352" y="3355848"/>
            <a:ext cx="292608" cy="25603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66760" y="4114800"/>
            <a:ext cx="3154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6488" y="4206240"/>
            <a:ext cx="2935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</a:rPr>
              <a:t>General-purpose 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</a:rPr>
              <a:t>+ Kubernetes / CNFs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78240" y="17922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B8D"/>
                </a:solidFill>
              </a:rPr>
              <a:t>vRAN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4864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B"/>
                </a:solidFill>
              </a:rPr>
              <a:t>The consequence: RAN behavior is now software behavior — which creates a software lifecycle problem.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§2 “5G RAN and vRAN”</a:t>
            </a:r>
            <a:endParaRPr lang="en-US" sz="7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2 •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Once the RAN is software, updates become part of the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Bug fixes, security patches, performance improvements, and new features are useful only if operators can deploy them without taking service down.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514600"/>
            <a:ext cx="1655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Code change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16352" y="2706624"/>
            <a:ext cx="49377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246120"/>
            <a:ext cx="1655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Build / test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16352" y="3438144"/>
            <a:ext cx="49377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38862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977640"/>
            <a:ext cx="1655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Deploy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16352" y="4169664"/>
            <a:ext cx="49377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461772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4233B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709160"/>
            <a:ext cx="1655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RAN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15000" y="2011680"/>
            <a:ext cx="0" cy="342900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331720"/>
            <a:ext cx="4480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423160"/>
            <a:ext cx="4261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</a:rPr>
              <a:t>Cloud software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</a:rPr>
              <a:t>update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3246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Often designed around replacement, restart, or rolling deployment.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3886200"/>
            <a:ext cx="4480560" cy="1051560"/>
          </a:xfrm>
          <a:prstGeom prst="roundRect">
            <a:avLst>
              <a:gd name="adj" fmla="val 5217"/>
            </a:avLst>
          </a:prstGeom>
          <a:solidFill>
            <a:srgbClr val="FFF4DA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977640"/>
            <a:ext cx="426110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vRAN update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5257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8B8D"/>
                </a:solidFill>
              </a:rPr>
              <a:t>The paper’s motivating tension: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76072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“RAN should be software-like” ≠ “RAN can be updated like a normal app.”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intro; CI/CD motivation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3 •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But vRAN has two very different update bottlenecks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33B"/>
                </a:solidFill>
              </a:rPr>
              <a:t>DU — real-time pressure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1463040" cy="310896"/>
          </a:xfrm>
          <a:prstGeom prst="roundRect">
            <a:avLst>
              <a:gd name="adj" fmla="val 47059"/>
            </a:avLst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454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PHY / MAC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8608" y="2286000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3454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4C4C"/>
                </a:solidFill>
              </a:rPr>
              <a:t>REAL-TIME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The DU has time-sensitive processing.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Starting a second DU on the same server can compete for CPU.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39776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069080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Old DU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serving users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29000" y="39776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4069080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New DU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initializing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CPU contention → missed deadlines / crash risk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4233B"/>
                </a:solidFill>
              </a:rPr>
              <a:t>CU — connection/state pressure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46520" y="2286000"/>
            <a:ext cx="1188720" cy="310896"/>
          </a:xfrm>
          <a:prstGeom prst="roundRect">
            <a:avLst>
              <a:gd name="adj" fmla="val 4705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34543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F1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90688" y="2286000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23454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4C4C"/>
                </a:solidFill>
              </a:rPr>
              <a:t>STATEFUL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948672" y="2286000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8672" y="234543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SCALE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2834640"/>
            <a:ext cx="4617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One CU can aggregate hundreds of DUs and many UEs.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Restarting it disconnects many peers at once.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7960" y="3931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4023360"/>
            <a:ext cx="493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06640" y="3931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4023360"/>
            <a:ext cx="493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75320" y="3931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5048" y="4023360"/>
            <a:ext cx="493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0" y="3931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53728" y="4023360"/>
            <a:ext cx="493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12680" y="3931920"/>
            <a:ext cx="713232" cy="50292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22408" y="4023360"/>
            <a:ext cx="4937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C4C"/>
                </a:solidFill>
              </a:rPr>
              <a:t>all reset together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92240" y="5074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→ signaling storm / network-wide disruption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§§2–3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4 •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Existing approaches leave a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91640"/>
            <a:ext cx="3072384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33B"/>
                </a:solidFill>
              </a:rPr>
              <a:t>STOP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4233B"/>
                </a:solidFill>
              </a:rPr>
              <a:t>↓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4233B"/>
                </a:solidFill>
              </a:rPr>
              <a:t>REPLACE</a:t>
            </a:r>
            <a:endParaRPr lang="en-US" sz="2500" dirty="0"/>
          </a:p>
          <a:p>
            <a:pPr marL="0" indent="0" algn="ctr">
              <a:buNone/>
            </a:pP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4233B"/>
                </a:solidFill>
              </a:rPr>
              <a:t>Simple deployment model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4233B"/>
                </a:solidFill>
              </a:rPr>
              <a:t>but long outage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4C4C"/>
                </a:solidFill>
              </a:rPr>
              <a:t>Baseline in evaluation: ~24 s for DU / ~7 s for CU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691640"/>
            <a:ext cx="3072384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ATLAS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Old server 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programmable switch 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new server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Faster, but extra infrastructure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791F"/>
                </a:solidFill>
              </a:rPr>
              <a:t>Does not fit the common single-server DRAN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291840" cy="3246120"/>
          </a:xfrm>
          <a:prstGeom prst="roundRect">
            <a:avLst>
              <a:gd name="adj" fmla="val 1690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1691640"/>
            <a:ext cx="3072384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DESIRED</a:t>
            </a:r>
            <a:endParaRPr lang="en-US" sz="2100" dirty="0"/>
          </a:p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In-place update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+ no spare server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+ minimal disruption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+ works with the RAN architecture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66760" y="5074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8B8D"/>
                </a:solidFill>
              </a:rPr>
              <a:t>This gap is where SwapRAN sits.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33288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4155"/>
                </a:solidFill>
              </a:rPr>
              <a:t>The paper is not trying to make updates literally zero-cost; it targets roughly normal cellular hiccup scale: about 1–2 seconds.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§§3–4; Atlas comparison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5 • CONTRIBUTION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SwapRAN: prepare the replacement while the old version still serves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The core design idea is to treat an update like a controlled handoff of responsibility — but using platform-level mechanisms rather than radio handovers.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331720"/>
            <a:ext cx="17922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OLD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RAN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94760" y="224028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4488" y="2331720"/>
            <a:ext cx="17922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NEW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RAN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66560" y="224028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4DA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2331720"/>
            <a:ext cx="17922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SWAP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POINT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281160" y="224028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14233B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0888" y="2331720"/>
            <a:ext cx="17922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LIVE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RAN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80360" y="2606040"/>
            <a:ext cx="8686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2606040"/>
            <a:ext cx="8686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23960" y="2606040"/>
            <a:ext cx="4114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6916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B8D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Keep old version serving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B8D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Initialize new version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B8D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Transfer responsibility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B8D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7152" y="3657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Retire old version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4617720"/>
            <a:ext cx="1037844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4892040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9514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DU → CPU + eSwitch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489204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49514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CU → F1AP proxy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4892040"/>
            <a:ext cx="2377440" cy="310896"/>
          </a:xfrm>
          <a:prstGeom prst="roundRect">
            <a:avLst>
              <a:gd name="adj" fmla="val 47059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9514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No extra server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08592" y="489204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08592" y="49514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4C4C"/>
                </a:solidFill>
              </a:rPr>
              <a:t>~1–2 s goal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§§4–5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6 • MECHANISM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DU update: initialize first, transfer real-time ownership second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Time 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91640" y="1517904"/>
            <a:ext cx="91440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41248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Old DU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856232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99339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Serving users / RT processing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856232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FCE8E8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933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RT demotion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New DU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2770632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DCEE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29077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Non-RT init: memory, interfaces, CU handshake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77063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9077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RT starts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94192" y="2770632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FFF4DA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907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Traffic → new DU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94192" y="3767328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9227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8B8D"/>
                </a:solidFill>
              </a:rPr>
              <a:t>NIC eSwitch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8B8D"/>
                </a:solidFill>
              </a:rPr>
              <a:t>steers fronthaul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72600" y="3291840"/>
            <a:ext cx="0" cy="429768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" y="3767328"/>
            <a:ext cx="6903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858768"/>
            <a:ext cx="66842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33B"/>
                </a:solidFill>
              </a:rPr>
              <a:t>Key insight: most DU startup work is non-real-time initialization, so do that while the old DU is still serving.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96112" y="5230368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DDF5F0"/>
          </a:solidFill>
          <a:ln w="12700">
            <a:solidFill>
              <a:srgbClr val="DDF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2898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RT-to-ready ≈ 160 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5230368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52898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Blackout &lt; 200 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13248" y="5230368"/>
            <a:ext cx="2194560" cy="310896"/>
          </a:xfrm>
          <a:prstGeom prst="roundRect">
            <a:avLst>
              <a:gd name="adj" fmla="val 47059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52898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233B"/>
                </a:solidFill>
              </a:rPr>
              <a:t>Measured UE downtime ≈ 600 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83880" y="49834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Why not simply run both DUs at once? Because RT CPU competition can break the old DU.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§5.1 and §7.1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7 • MECHANISM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CU update: decouple the connections, then migrate DUs gradually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4748B"/>
                </a:solidFill>
              </a:rPr>
              <a:t>Without a proxy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CE8E8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12893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</a:rPr>
              <a:t>Old CU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0" y="16459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737360"/>
            <a:ext cx="1060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1448" y="2194560"/>
            <a:ext cx="274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23317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2423160"/>
            <a:ext cx="1060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1448" y="2880360"/>
            <a:ext cx="274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30175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3108960"/>
            <a:ext cx="1060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41448" y="3566160"/>
            <a:ext cx="274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370332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52928" y="3794760"/>
            <a:ext cx="10607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</a:rPr>
              <a:t>DU4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41448" y="4251960"/>
            <a:ext cx="2743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22960" y="46634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4C4C"/>
                </a:solidFill>
              </a:rPr>
              <a:t>Restart CU → all F1 associations break at once → signaling storm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8B8D"/>
                </a:solidFill>
              </a:rPr>
              <a:t>With SwapRAN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1847088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CE8E8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1938528"/>
            <a:ext cx="110642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Old CU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92640" y="1847088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1938528"/>
            <a:ext cx="110642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New CU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36992" y="2487168"/>
            <a:ext cx="1572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578608"/>
            <a:ext cx="13533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33B"/>
                </a:solidFill>
              </a:rPr>
              <a:t>F1AP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4233B"/>
                </a:solidFill>
              </a:rPr>
              <a:t>Proxy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15200" y="365760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3749040"/>
            <a:ext cx="676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DU1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11312" y="38221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0" y="416052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4251960"/>
            <a:ext cx="676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DU2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11312" y="432511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0" y="466344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4754880"/>
            <a:ext cx="676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DU3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11312" y="482803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0" y="516636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4928" y="5257800"/>
            <a:ext cx="67665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DU4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11312" y="533095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26680" y="2148840"/>
            <a:ext cx="201168" cy="548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518904" y="2834640"/>
            <a:ext cx="15544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6537960" y="5650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Reset one DU → switch association → repeat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53796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F1AP RESET is used to soft-reset DUs and control the migration pace.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§5.2</a:t>
            </a:r>
            <a:endParaRPr lang="en-US" sz="7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8 • ARCHITECTURAL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Why not just use a handover?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Because “move a UE” and “replace the software hosting the RAN” are different architectural operations.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4663440" cy="1874520"/>
          </a:xfrm>
          <a:prstGeom prst="roundRect">
            <a:avLst>
              <a:gd name="adj" fmla="val 2927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057400"/>
            <a:ext cx="4443984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RADIO CONTROL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E2 / RIC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→ handover commands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→ radio-specific state &amp; parameters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629400" y="1965960"/>
            <a:ext cx="4663440" cy="1874520"/>
          </a:xfrm>
          <a:prstGeom prst="roundRect">
            <a:avLst>
              <a:gd name="adj" fmla="val 2927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9128" y="2057400"/>
            <a:ext cx="4443984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PLATFORM / ORCHESTRATION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O2 / SMO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→ Kubernetes API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4233B"/>
                </a:solidFill>
              </a:rPr>
              <a:t>→ CNF lifecycle / software update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806440" y="2148840"/>
            <a:ext cx="0" cy="1508760"/>
          </a:xfrm>
          <a:prstGeom prst="line">
            <a:avLst/>
          </a:prstGeom>
          <a:noFill/>
          <a:ln w="25400">
            <a:solidFill>
              <a:srgbClr val="C94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388620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No standardized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bridge at the 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of the paper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4983480"/>
            <a:ext cx="9646920" cy="6400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157216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SwapRAN keeps the update at the platform layer and uses F1AP control to move DUs instead of invoking radio-level handover logic.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§5.2 “Why not handovers?”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9 •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The evaluation turns the architectural idea into measurable disruption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SwapRAN is evaluated on real 5G testbeds, including a commercial-grade DU setup and an open-source OAI CU setup.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33B"/>
                </a:solidFill>
              </a:rPr>
              <a:t>DU update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CE8E8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60320"/>
            <a:ext cx="16550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4C4C"/>
                </a:solidFill>
              </a:rPr>
              <a:t>~24 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C94C4C"/>
                </a:solidFill>
              </a:rPr>
              <a:t>K8s baseline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816352" y="3044952"/>
            <a:ext cx="49377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560320"/>
            <a:ext cx="16550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~600 ms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SwapRAN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8B8D"/>
                </a:solidFill>
              </a:rPr>
              <a:t>RT-to-ready ≈ 160 ms; blackout under 200 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33B"/>
                </a:solidFill>
              </a:rPr>
              <a:t>CU update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FCE8E8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560320"/>
            <a:ext cx="16550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94C4C"/>
                </a:solidFill>
              </a:rPr>
              <a:t>~7 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C94C4C"/>
                </a:solidFill>
              </a:rPr>
              <a:t>K8s baseline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394192" y="3044952"/>
            <a:ext cx="49377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2468880"/>
            <a:ext cx="1874520" cy="1143000"/>
          </a:xfrm>
          <a:prstGeom prst="roundRect">
            <a:avLst>
              <a:gd name="adj" fmla="val 4800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2560320"/>
            <a:ext cx="16550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~1.2 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4233B"/>
                </a:solidFill>
              </a:rPr>
              <a:t>SwapRAN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00800" y="38587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8B8D"/>
                </a:solidFill>
              </a:rPr>
              <a:t>Takeaway: update time is pushed into the “normal hiccup” range.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663440"/>
            <a:ext cx="1037844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5029200"/>
            <a:ext cx="9144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7048" y="5120640"/>
            <a:ext cx="89245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The goal is not zero downtime; the goal is disruption small enough that an update behaves like an ordinary cellular hiccup.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§7 Evaluation and Results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10 • SIGNIFICANCE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If live updates work, the next step is a software-native RAN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SwapRAN is bigger than “a faster restart.” It makes the paper’s original CI/CD vision more plausible.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1472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Developer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change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50008" y="2688336"/>
            <a:ext cx="43891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224028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2331720"/>
            <a:ext cx="1472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CI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build + test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44568" y="2688336"/>
            <a:ext cx="43891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224028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2331720"/>
            <a:ext cx="1472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Orchestrator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roll out update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39128" y="2688336"/>
            <a:ext cx="43891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224028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DDF5F0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2331720"/>
            <a:ext cx="1472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SwapRAN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migrate live RAN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3688" y="2688336"/>
            <a:ext cx="39319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240280"/>
            <a:ext cx="16916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2328" y="2331720"/>
            <a:ext cx="1472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Network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serve users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3794760"/>
            <a:ext cx="10378440" cy="0"/>
          </a:xfrm>
          <a:prstGeom prst="line">
            <a:avLst/>
          </a:prstGeom>
          <a:noFill/>
          <a:ln w="12700">
            <a:solidFill>
              <a:srgbClr val="D9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6052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251960"/>
            <a:ext cx="284378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Faster iteration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→ patches and features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44568" y="416052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4251960"/>
            <a:ext cx="284378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Operational automation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→ repeatable rollout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11312" y="416052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FF4D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251960"/>
            <a:ext cx="284378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Safer deployment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233B"/>
                </a:solidFill>
              </a:rPr>
              <a:t>→ monitor + rollback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56235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33B"/>
                </a:solidFill>
              </a:rPr>
              <a:t>This is where vRAN starts to look more like cloud infrastructure — without pretending the RAN has cloud-like timing constraints.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62544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Source: paper introduction / CI/CD vision; implications beyond implementation</a:t>
            </a:r>
            <a:endParaRPr lang="en-US" sz="7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11 • OPPORTUNITIES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The paper also exposes a broader research 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074920" cy="1627632"/>
          </a:xfrm>
          <a:prstGeom prst="roundRect">
            <a:avLst>
              <a:gd name="adj" fmla="val 4494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556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3B"/>
                </a:solidFill>
              </a:rPr>
              <a:t>Large-scale rollout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76272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How do we coordinate updates across thousands of sites without creating regional signaling spikes?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074920" cy="1627632"/>
          </a:xfrm>
          <a:prstGeom prst="roundRect">
            <a:avLst>
              <a:gd name="adj" fmla="val 4494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556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3B"/>
                </a:solidFill>
              </a:rPr>
              <a:t>Failure-aware updates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176272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What happens if the new DU/CU fails halfway through the swap? Can rollback be automatic?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5074920" cy="1627632"/>
          </a:xfrm>
          <a:prstGeom prst="roundRect">
            <a:avLst>
              <a:gd name="adj" fmla="val 4494"/>
            </a:avLst>
          </a:prstGeom>
          <a:solidFill>
            <a:srgbClr val="FFF4D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130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3B"/>
                </a:solidFill>
              </a:rPr>
              <a:t>End-to-end CI/CD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233672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How do testing, policy, observability, deployment, and rollback fit around live RAN updates?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611880"/>
            <a:ext cx="5074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8130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33B"/>
                </a:solidFill>
              </a:rPr>
              <a:t>Architecture evolution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4233672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As RAN becomes more distributed and software-defined, where else can live migration replace maintenance windows?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56875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33B"/>
                </a:solidFill>
              </a:rPr>
              <a:t>The important shift in perspective: live updates become a systems problem spanning networking, operating systems, orchestration, and RAN control.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F8B8D"/>
                </a:solidFill>
              </a:rPr>
              <a:t>12 •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4233B"/>
                </a:solidFill>
              </a:rPr>
              <a:t>The story in four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81328" y="1417320"/>
            <a:ext cx="9601200" cy="713232"/>
          </a:xfrm>
          <a:prstGeom prst="roundRect">
            <a:avLst>
              <a:gd name="adj" fmla="val 6410"/>
            </a:avLst>
          </a:prstGeom>
          <a:solidFill>
            <a:srgbClr val="DCEE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9928" y="15727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33B"/>
                </a:solidFill>
              </a:rPr>
              <a:t>vRAN changes the RAN from specialized hardware into software that needs an update lifecycle.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596896"/>
            <a:ext cx="502920" cy="502920"/>
          </a:xfrm>
          <a:prstGeom prst="ellipse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974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81328" y="2532888"/>
            <a:ext cx="9601200" cy="713232"/>
          </a:xfrm>
          <a:prstGeom prst="roundRect">
            <a:avLst>
              <a:gd name="adj" fmla="val 6410"/>
            </a:avLst>
          </a:prstGeom>
          <a:solidFill>
            <a:srgbClr val="DDF5F0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268833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33B"/>
                </a:solidFill>
              </a:rPr>
              <a:t>Live updates are difficult because the DU is real-time and the CU is stateful + highly connected.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712464"/>
            <a:ext cx="502920" cy="502920"/>
          </a:xfrm>
          <a:prstGeom prst="ellipse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13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81328" y="3648456"/>
            <a:ext cx="9601200" cy="713232"/>
          </a:xfrm>
          <a:prstGeom prst="roundRect">
            <a:avLst>
              <a:gd name="adj" fmla="val 6410"/>
            </a:avLst>
          </a:prstGeom>
          <a:solidFill>
            <a:srgbClr val="FFF4D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380390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33B"/>
                </a:solidFill>
              </a:rPr>
              <a:t>SwapRAN updates both in place: CPU-aware DU startup/steering and proxy-based CU migration.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4828032"/>
            <a:ext cx="502920" cy="502920"/>
          </a:xfrm>
          <a:prstGeom prst="ellipse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286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81328" y="4764024"/>
            <a:ext cx="96012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9928" y="49194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233B"/>
                </a:solidFill>
              </a:rPr>
              <a:t>That pushes update disruption toward normal cellular hiccup scale and opens the door to CI/CD-style RAN operations.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9618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Core thesis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5852160"/>
            <a:ext cx="923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SwapRAN shows that vRAN software can be updated with minimal disruption by treating DU/CU replacement as an infrastructure migration problem — not a radio-control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Update Your 5G vRAN — SwapRAN</dc:title>
  <dc:subject>Paper practicum filler slides for How to Update Your 5G vRAN</dc:subject>
  <dc:creator>OpenAI</dc:creator>
  <cp:lastModifiedBy>OpenAI</cp:lastModifiedBy>
  <cp:revision>8</cp:revision>
  <dcterms:created xsi:type="dcterms:W3CDTF">2026-09-14T15:09:49Z</dcterms:created>
  <dcterms:modified xsi:type="dcterms:W3CDTF">2026-10-01T02:16:36Z</dcterms:modified>
</cp:coreProperties>
</file>