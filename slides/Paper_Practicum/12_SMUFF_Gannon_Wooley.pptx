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476" autoAdjust="0"/>
  </p:normalViewPr>
  <p:slideViewPr>
    <p:cSldViewPr snapToGrid="0">
      <p:cViewPr varScale="1">
        <p:scale>
          <a:sx n="60" d="100"/>
          <a:sy n="60" d="100"/>
        </p:scale>
        <p:origin x="1522"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presentation covers SMUFF. Its full title is Towards Line Rate Wi-Fi Direct Transport with Orchestrated On-device Buffer Management. The everyday problem </a:t>
            </a:r>
            <a:r>
              <a:rPr lang="en-US" dirty="0"/>
              <a:t>that this team wanted to solve </a:t>
            </a:r>
            <a:r>
              <a:rPr dirty="0"/>
              <a:t>is simple: two nearby phones may have a fast wireless connection, but a file still transfers more slowly than the connection should allow. SMUFF asks how software inside the devices can better use that capacity. We</a:t>
            </a:r>
            <a:r>
              <a:rPr lang="en-US" dirty="0"/>
              <a:t>’re going to </a:t>
            </a:r>
            <a:r>
              <a:rPr dirty="0"/>
              <a:t>focus on where the system fits, the assumptions it changes, the evidence, and the broader research opportunities.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Imagine transferring a large video or game asset between two nearby devices. The radio is only one part of the process. In one pilot measurement in this paper, the practical wireless line rate was 655 megabits per second, but TCP CUBIC averaged 442. Line rate here means the practical link capacity used as the paper’s benchmark, after wireless overhead, rather than the advertised physical radio rate. Throughput means the useful delivery rate achieved by the transfer. These numbers describe one setting, not every Wi-Fi connection. The gap motivates research into the transport software. Faster completion also matters for battery-powered devices and local sharing that avoids a cloud transfer.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Wi-Fi Direct lets nearby devices establish a direct wireless connection without an external access point forwarding the data. It supplies the wireless link, but applications still need a way to transfer files reliably. This figure shows the path through the sender and receiver. Data moves through applications, operating-system queues, wireless hardware, and storage. A buffer is temporary storage for data waiting for the next stage. SMUFF is a file-transfer system service on the devices. It uses UDP </a:t>
            </a:r>
            <a:r>
              <a:rPr lang="en-US" dirty="0"/>
              <a:t>(User Datagram Protocol which sends packets without guaranteeing that they even arrive or arrive in the correct order) </a:t>
            </a:r>
            <a:r>
              <a:rPr dirty="0"/>
              <a:t>and adds its own reliability and sending-rate control.</a:t>
            </a:r>
            <a:r>
              <a:rPr lang="en-US" dirty="0"/>
              <a:t> </a:t>
            </a:r>
            <a:r>
              <a:rPr dirty="0"/>
              <a:t>It does not replace the Wi-Fi radio. Its opportunity is coordinating the software above that existing link.</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paper identifies three related problems. First, reliable delivery has a cost. Acknowledgments tell the sender what arrived, but too many of them compete with data traffic on the wireless channel. Packet processing also uses CPU time. Second, general transport algorithms probe capacity and react to loss. Those choices make sense on many Internet paths, but can underuse this short direct link. Third, looking at only the transport buffer misses other queues that may fill or run empty. This does</a:t>
            </a:r>
            <a:r>
              <a:rPr lang="en-US" dirty="0"/>
              <a:t>n’t </a:t>
            </a:r>
            <a:r>
              <a:rPr dirty="0"/>
              <a:t>mean TCP or QUIC are universally bad</a:t>
            </a:r>
            <a:r>
              <a:rPr lang="en-US" dirty="0"/>
              <a:t>,</a:t>
            </a:r>
            <a:r>
              <a:rPr dirty="0"/>
              <a:t> </a:t>
            </a:r>
            <a:r>
              <a:rPr lang="en-US" dirty="0"/>
              <a:t>i</a:t>
            </a:r>
            <a:r>
              <a:rPr dirty="0"/>
              <a:t>t</a:t>
            </a:r>
            <a:r>
              <a:rPr lang="en-US" dirty="0"/>
              <a:t> just</a:t>
            </a:r>
            <a:r>
              <a:rPr dirty="0"/>
              <a:t> means </a:t>
            </a:r>
            <a:r>
              <a:rPr lang="en-US" dirty="0"/>
              <a:t>that </a:t>
            </a:r>
            <a:r>
              <a:rPr dirty="0"/>
              <a:t>this particular environment offers information and control that a more specialized design can </a:t>
            </a:r>
            <a:r>
              <a:rPr lang="en-US" dirty="0"/>
              <a:t>utilize more efficiently</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On a long Internet path, a sender usually cannot inspect all the intermediate routers. It estimates what is happening from delay, loss, and acknowledgments. Here the data path is inside two cooperating devices connected by one wireless hop. SMUFF </a:t>
            </a:r>
            <a:r>
              <a:rPr lang="en-US" dirty="0"/>
              <a:t>is able to</a:t>
            </a:r>
            <a:r>
              <a:rPr dirty="0"/>
              <a:t> collect information about the critical on-device queues and use it to decide how fast to send. A</a:t>
            </a:r>
            <a:r>
              <a:rPr lang="en-US" dirty="0"/>
              <a:t> good</a:t>
            </a:r>
            <a:r>
              <a:rPr dirty="0"/>
              <a:t> analogy </a:t>
            </a:r>
            <a:r>
              <a:rPr lang="en-US" dirty="0"/>
              <a:t>to better explain </a:t>
            </a:r>
            <a:r>
              <a:rPr dirty="0"/>
              <a:t>is a production line whose workstations report how much work is waiting. That lets the first workstation avoid sending too little or overwhelming the next one. </a:t>
            </a:r>
            <a:r>
              <a:rPr lang="en-US" dirty="0"/>
              <a:t>Obviously t</a:t>
            </a:r>
            <a:r>
              <a:rPr dirty="0"/>
              <a:t>here are still wireless fluctuations and hardware limitations</a:t>
            </a:r>
            <a:r>
              <a:rPr lang="en-US" dirty="0"/>
              <a:t>, but</a:t>
            </a:r>
            <a:r>
              <a:rPr dirty="0"/>
              <a:t> </a:t>
            </a:r>
            <a:r>
              <a:rPr lang="en-US" dirty="0"/>
              <a:t>t</a:t>
            </a:r>
            <a:r>
              <a:rPr dirty="0"/>
              <a:t>he opportunity </a:t>
            </a:r>
            <a:r>
              <a:rPr lang="en-US" dirty="0"/>
              <a:t>gained </a:t>
            </a:r>
            <a:r>
              <a:rPr dirty="0"/>
              <a:t>is better visibility of the relevant queues, not perfect knowledge of every hidden hardware buffer.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keep the analogy going, think</a:t>
            </a:r>
            <a:r>
              <a:rPr dirty="0"/>
              <a:t> of a buffer as a waiting area before the slowest workstation. If the waiting area is empty, that workstation may sit idle and capacity goes unused. If it is completely full, new arrivals can be dropped. SMUFF tries to keep the bottleneck buffer within a safe range: enough data to keep it busy, with enough room to absorb changes. This figure is the paper’s single-buffer illustration. We can ignore its equations and symbols for this overview. The safe range also accounts for feedback delay, because a reported queue state may already be outdated when the sender acts on it. SMUFF extends this reasoning across multiple buffers.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original SMUFF overview. </a:t>
            </a:r>
            <a:r>
              <a:rPr lang="en-US" dirty="0"/>
              <a:t>We’re just going to focus</a:t>
            </a:r>
            <a:r>
              <a:rPr dirty="0"/>
              <a:t> on two components. The buffer orchestrator collects queue information and calculates the sending rate. The transport manager ensures that the file arrives reliably and recovers missing data. Applications submit file-transfer tasks to the service, which schedules them. The receiver </a:t>
            </a:r>
            <a:r>
              <a:rPr lang="en-US" dirty="0"/>
              <a:t>is going to </a:t>
            </a:r>
            <a:r>
              <a:rPr dirty="0"/>
              <a:t>report</a:t>
            </a:r>
            <a:r>
              <a:rPr lang="en-US" dirty="0"/>
              <a:t> </a:t>
            </a:r>
            <a:r>
              <a:rPr dirty="0"/>
              <a:t>its state periodically. SMUFF reduces routine acknowledgment frequency but can ask for retransmission </a:t>
            </a:r>
            <a:r>
              <a:rPr lang="en-US" dirty="0"/>
              <a:t>quickly</a:t>
            </a:r>
            <a:r>
              <a:rPr dirty="0"/>
              <a:t> when it detects a loss. It also gives foreground traffic higher priority to reduce interference with other activities. These features work together: rate control prevents unnecessary loss, while recovery handles loss that still occurs over wireless.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Figure 11 from the paper. </a:t>
            </a:r>
            <a:r>
              <a:rPr lang="en-US" dirty="0"/>
              <a:t>The graph is showing a comparison between multiple types of data transfer protocols. </a:t>
            </a:r>
            <a:r>
              <a:rPr dirty="0"/>
              <a:t>The horizontal axis </a:t>
            </a:r>
            <a:r>
              <a:rPr lang="en-US" dirty="0"/>
              <a:t>represents</a:t>
            </a:r>
            <a:r>
              <a:rPr dirty="0"/>
              <a:t> signal strength: more negative values mean</a:t>
            </a:r>
            <a:r>
              <a:rPr lang="en-US" dirty="0"/>
              <a:t>ing</a:t>
            </a:r>
            <a:r>
              <a:rPr dirty="0"/>
              <a:t> a weaker signal. The vertical axis is throughput in megabits per second, so higher</a:t>
            </a:r>
            <a:r>
              <a:rPr lang="en-US" dirty="0"/>
              <a:t> megabits per second, the </a:t>
            </a:r>
            <a:r>
              <a:rPr dirty="0"/>
              <a:t>better. Focus on the blue SMUFF bars and compare them with the other methods in each group. In the reported good-signal settings, the text reports a 17.8 to 18.2 percent improvement over TACK, a TCP variant designed for wireless networks. At the weakest signal, the methods become much closer. UDP appears as a baseline, but it does not provide reliable delivery, so it is not equivalent to a reliable file-transfer service. These tests transfer a one-gigabyte file.</a:t>
            </a:r>
            <a:r>
              <a:rPr lang="en-US" dirty="0"/>
              <a:t> As you can see, </a:t>
            </a:r>
            <a:r>
              <a:rPr lang="en-US" dirty="0" err="1"/>
              <a:t>Smuff</a:t>
            </a:r>
            <a:r>
              <a:rPr lang="en-US" dirty="0"/>
              <a:t> is consistently outperforming the other data transfer protocols, with better signal strength resulting in a larger gap.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original graph compares SMUFF with TACK and TCP CUBIC on four phone models. Link utilization means achieved throughput divided by the practical line rate. The figure uses fractions: 1.0 means 100 percent. SMUFF achieves up to 94.7 percent in this experiment. That is a best observed result, not the average across every condition. The study changes the sender model while using a Pixel 4 as the receiver. This supports portability across the tested devices, but does not prove the same outcome on every phone. Most experiments elsewhere use two Pixel 4 devices, and the researchers repeat each test 30 times.</a:t>
            </a:r>
            <a:r>
              <a:rPr lang="en-US" dirty="0"/>
              <a:t> Like the previous graph, we’re seeing </a:t>
            </a:r>
            <a:r>
              <a:rPr lang="en-US" dirty="0" err="1"/>
              <a:t>Smuff</a:t>
            </a:r>
            <a:r>
              <a:rPr lang="en-US" dirty="0"/>
              <a:t> outperform the other options by pretty good margins, CUBIC being the biggest difference.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implementation is a </a:t>
            </a:r>
            <a:r>
              <a:rPr dirty="0" err="1"/>
              <a:t>userspace</a:t>
            </a:r>
            <a:r>
              <a:rPr dirty="0"/>
              <a:t> Android system service. The authors report that it uses standard APIs and needs no proprietary hardware or kernel modification for SMUFF itself. This is a deployment strength, but </a:t>
            </a:r>
            <a:r>
              <a:rPr dirty="0" err="1"/>
              <a:t>userspace</a:t>
            </a:r>
            <a:r>
              <a:rPr dirty="0"/>
              <a:t> system service should not be confused with a guarantee that any ordinary phone app can install it without platform integration. There are tradeoffs. Keeping data queued can add latency or compete with other traffic. Prioritization helps, but the paper reports that it cannot fully remove the impact because firmware buffers do not provide the same</a:t>
            </a:r>
            <a:r>
              <a:rPr lang="en-US" dirty="0"/>
              <a:t> control. Packet aggregation also saves processing, but makes loss more costly, so SMUFF goes ahead and disables it above a loss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related-work section shows several research directions around transport. Queue-based approaches use information from queues to improve rate decisions, often relying on feedback from network devices. Wireless transport designs address distinctive wireless problems, such as losses and competition between acknowledgments and data. Other systems estimate changing wireless capacity from observations like arrivals and delay. SMUFF fits into this landscape by exploiting direct access to critical queues on cooperating endpoints. The broader theme is that a network architecture gives researchers several things to redesign: what to measure, where to measure it, how to communicate feedback, and what objective the controller should optimize.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paper discusses extending the approach to other one-hop networks and applications such as video streaming. Those are possible extensions, rather than broadly validated results in this evaluation. We can build further questions from that idea. How should the controller balance throughput against latency for interactive traffic? Could more visibility into hardware queues improve coexistence with other flows? Would the design still work well when several devices or transfers share resources? The last question changes the assumptions, so it needs new evaluation and likely new control policies. These opportunities connect the work to future edge and device-to-device systems without claiming that SMUFF already solves general 5G transport.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lesson is that a faster radio does not automatically produce a faster application. SMUFF improves reliable file transfer by coordinating the buffers and rates throughout the on-device path. The direct-link architecture makes useful queue information available to the controller. The results show high utilization in the tested scenarios, while the limitations remind us that bulk-transfer speed is only one goal. For discussion, consider this: if a file transfer finishes sooner but another app becomes less responsive, has the system improved? The answer depends on the application’s needs, which is exactly why architecture remains a research platform rather than a finished system to memorize.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722"/>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p:blipFill>
        <p:spPr>
          <a:xfrm>
            <a:off x="3239" y="0"/>
            <a:ext cx="12185522" cy="6858000"/>
          </a:xfrm>
          <a:prstGeom prst="rect">
            <a:avLst/>
          </a:prstGeom>
        </p:spPr>
      </p:pic>
      <p:sp>
        <p:nvSpPr>
          <p:cNvPr id="2" name="Rectangle 1">
            <a:extLst>
              <a:ext uri="{FF2B5EF4-FFF2-40B4-BE49-F238E27FC236}">
                <a16:creationId xmlns:a16="http://schemas.microsoft.com/office/drawing/2014/main" id="{E0DF89E0-8223-4E39-8FB5-6AE328AC7028}"/>
              </a:ext>
            </a:extLst>
          </p:cNvPr>
          <p:cNvSpPr>
            <a:spLocks noGrp="1"/>
          </p:cNvSpPr>
          <p:nvPr/>
        </p:nvSpPr>
        <p:spPr>
          <a:xfrm>
            <a:off x="628650" y="1323975"/>
            <a:ext cx="7524750" cy="1190625"/>
          </a:xfrm>
          <a:prstGeom prst="rect">
            <a:avLst/>
          </a:prstGeom>
          <a:noFill/>
          <a:ln w="0">
            <a:noFill/>
          </a:ln>
        </p:spPr>
        <p:txBody>
          <a:bodyPr>
            <a:noAutofit/>
          </a:bodyPr>
          <a:lstStyle/>
          <a:p>
            <a:pPr>
              <a:defRPr sz="7350" b="1">
                <a:solidFill>
                  <a:srgbClr val="67D9C7"/>
                </a:solidFill>
                <a:latin typeface="DejaVu Sans"/>
                <a:ea typeface="DejaVu Sans"/>
                <a:cs typeface="DejaVu Sans"/>
              </a:defRPr>
            </a:pPr>
            <a:r>
              <a:rPr sz="7350" b="1">
                <a:solidFill>
                  <a:srgbClr val="67D9C7"/>
                </a:solidFill>
                <a:latin typeface="DejaVu Sans"/>
                <a:ea typeface="DejaVu Sans"/>
                <a:cs typeface="DejaVu Sans"/>
              </a:rPr>
              <a:t>SMUFF</a:t>
            </a:r>
          </a:p>
        </p:txBody>
      </p:sp>
      <p:sp>
        <p:nvSpPr>
          <p:cNvPr id="3" name="Rectangle 2">
            <a:extLst>
              <a:ext uri="{FF2B5EF4-FFF2-40B4-BE49-F238E27FC236}">
                <a16:creationId xmlns:a16="http://schemas.microsoft.com/office/drawing/2014/main" id="{54D9A706-3A34-455C-B384-AF95CAB9E049}"/>
              </a:ext>
            </a:extLst>
          </p:cNvPr>
          <p:cNvSpPr>
            <a:spLocks noGrp="1"/>
          </p:cNvSpPr>
          <p:nvPr/>
        </p:nvSpPr>
        <p:spPr>
          <a:xfrm>
            <a:off x="685800" y="2781300"/>
            <a:ext cx="6953250" cy="1381125"/>
          </a:xfrm>
          <a:prstGeom prst="rect">
            <a:avLst/>
          </a:prstGeom>
          <a:noFill/>
          <a:ln w="0">
            <a:noFill/>
          </a:ln>
        </p:spPr>
        <p:txBody>
          <a:bodyPr>
            <a:noAutofit/>
          </a:bodyPr>
          <a:lstStyle/>
          <a:p>
            <a:pPr>
              <a:defRPr sz="3450" b="1">
                <a:solidFill>
                  <a:srgbClr val="F5F4EF"/>
                </a:solidFill>
                <a:latin typeface="DejaVu Sans"/>
                <a:ea typeface="DejaVu Sans"/>
                <a:cs typeface="DejaVu Sans"/>
              </a:defRPr>
            </a:pPr>
            <a:r>
              <a:rPr sz="3450" b="1">
                <a:solidFill>
                  <a:srgbClr val="F5F4EF"/>
                </a:solidFill>
                <a:latin typeface="DejaVu Sans"/>
                <a:ea typeface="DejaVu Sans"/>
                <a:cs typeface="DejaVu Sans"/>
              </a:rPr>
              <a:t>Faster file transfers</a:t>
            </a:r>
          </a:p>
          <a:p>
            <a:pPr>
              <a:defRPr sz="3450" b="1">
                <a:solidFill>
                  <a:srgbClr val="F5F4EF"/>
                </a:solidFill>
                <a:latin typeface="DejaVu Sans"/>
                <a:ea typeface="DejaVu Sans"/>
                <a:cs typeface="DejaVu Sans"/>
              </a:defRPr>
            </a:pPr>
            <a:r>
              <a:rPr sz="3450" b="1">
                <a:solidFill>
                  <a:srgbClr val="F5F4EF"/>
                </a:solidFill>
                <a:latin typeface="DejaVu Sans"/>
                <a:ea typeface="DejaVu Sans"/>
                <a:cs typeface="DejaVu Sans"/>
              </a:rPr>
              <a:t>between nearby devices</a:t>
            </a:r>
          </a:p>
        </p:txBody>
      </p:sp>
      <p:sp>
        <p:nvSpPr>
          <p:cNvPr id="4" name="Rectangle 3">
            <a:extLst>
              <a:ext uri="{FF2B5EF4-FFF2-40B4-BE49-F238E27FC236}">
                <a16:creationId xmlns:a16="http://schemas.microsoft.com/office/drawing/2014/main" id="{F792AA59-CBF5-4578-BF92-F9F5C5970D0C}"/>
              </a:ext>
            </a:extLst>
          </p:cNvPr>
          <p:cNvSpPr>
            <a:spLocks noGrp="1"/>
          </p:cNvSpPr>
          <p:nvPr/>
        </p:nvSpPr>
        <p:spPr>
          <a:xfrm>
            <a:off x="685800" y="5391150"/>
            <a:ext cx="7620000" cy="762000"/>
          </a:xfrm>
          <a:prstGeom prst="rect">
            <a:avLst/>
          </a:prstGeom>
          <a:noFill/>
          <a:ln w="0">
            <a:noFill/>
          </a:ln>
        </p:spPr>
        <p:txBody>
          <a:bodyPr>
            <a:noAutofit/>
          </a:bodyPr>
          <a:lstStyle/>
          <a:p>
            <a:pPr>
              <a:defRPr sz="1800" b="0">
                <a:solidFill>
                  <a:srgbClr val="A9B7C4"/>
                </a:solidFill>
                <a:latin typeface="DejaVu Sans"/>
                <a:ea typeface="DejaVu Sans"/>
                <a:cs typeface="DejaVu Sans"/>
              </a:defRPr>
            </a:pPr>
            <a:r>
              <a:rPr sz="1800" b="0">
                <a:solidFill>
                  <a:srgbClr val="A9B7C4"/>
                </a:solidFill>
                <a:latin typeface="DejaVu Sans"/>
                <a:ea typeface="DejaVu Sans"/>
                <a:cs typeface="DejaVu Sans"/>
              </a:rPr>
              <a:t>Gannon Wooley</a:t>
            </a:r>
          </a:p>
          <a:p>
            <a:pPr>
              <a:defRPr sz="1800" b="0">
                <a:solidFill>
                  <a:srgbClr val="A9B7C4"/>
                </a:solidFill>
                <a:latin typeface="DejaVu Sans"/>
                <a:ea typeface="DejaVu Sans"/>
                <a:cs typeface="DejaVu Sans"/>
              </a:defRPr>
            </a:pPr>
            <a:r>
              <a:rPr sz="1800" b="0">
                <a:solidFill>
                  <a:srgbClr val="A9B7C4"/>
                </a:solidFill>
                <a:latin typeface="DejaVu Sans"/>
                <a:ea typeface="DejaVu Sans"/>
                <a:cs typeface="DejaVu Sans"/>
              </a:rPr>
              <a:t>CIS5930 · Future Edge Technology</a:t>
            </a:r>
          </a:p>
        </p:txBody>
      </p:sp>
    </p:spTree>
    <p:extLst>
      <p:ext uri="{BB962C8B-B14F-4D97-AF65-F5344CB8AC3E}">
        <p14:creationId xmlns:p14="http://schemas.microsoft.com/office/powerpoint/2010/main" val="5949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72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FD4EDFA-44FB-47A6-8298-ADD623E501CF}"/>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F5F4EF"/>
                </a:solidFill>
                <a:latin typeface="DejaVu Sans"/>
                <a:ea typeface="DejaVu Sans"/>
                <a:cs typeface="DejaVu Sans"/>
              </a:defRPr>
            </a:pPr>
            <a:r>
              <a:rPr sz="3300" b="1">
                <a:solidFill>
                  <a:srgbClr val="F5F4EF"/>
                </a:solidFill>
                <a:latin typeface="DejaVu Sans"/>
                <a:ea typeface="DejaVu Sans"/>
                <a:cs typeface="DejaVu Sans"/>
              </a:rPr>
              <a:t>A fast wireless link can still transfer files slowly</a:t>
            </a:r>
          </a:p>
        </p:txBody>
      </p:sp>
      <p:sp>
        <p:nvSpPr>
          <p:cNvPr id="2" name="Rectangle 1">
            <a:extLst>
              <a:ext uri="{FF2B5EF4-FFF2-40B4-BE49-F238E27FC236}">
                <a16:creationId xmlns:a16="http://schemas.microsoft.com/office/drawing/2014/main" id="{8369C135-8F3C-46BA-90CD-E5CF1CFD9C70}"/>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A9B7C4"/>
                </a:solidFill>
                <a:latin typeface="DejaVu Sans"/>
                <a:ea typeface="DejaVu Sans"/>
                <a:cs typeface="DejaVu Sans"/>
              </a:defRPr>
            </a:pPr>
            <a:r>
              <a:rPr sz="1200" b="0">
                <a:solidFill>
                  <a:srgbClr val="A9B7C4"/>
                </a:solidFill>
                <a:latin typeface="DejaVu Sans"/>
                <a:ea typeface="DejaVu Sans"/>
                <a:cs typeface="DejaVu Sans"/>
              </a:rPr>
              <a:t>02</a:t>
            </a:r>
          </a:p>
        </p:txBody>
      </p:sp>
      <p:sp>
        <p:nvSpPr>
          <p:cNvPr id="3" name="Rectangle 2">
            <a:extLst>
              <a:ext uri="{FF2B5EF4-FFF2-40B4-BE49-F238E27FC236}">
                <a16:creationId xmlns:a16="http://schemas.microsoft.com/office/drawing/2014/main" id="{880F303B-8F74-4494-BA35-2C7A74252C59}"/>
              </a:ext>
            </a:extLst>
          </p:cNvPr>
          <p:cNvSpPr>
            <a:spLocks noGrp="1"/>
          </p:cNvSpPr>
          <p:nvPr/>
        </p:nvSpPr>
        <p:spPr>
          <a:xfrm>
            <a:off x="628650" y="1828800"/>
            <a:ext cx="6191250" cy="1171575"/>
          </a:xfrm>
          <a:prstGeom prst="rect">
            <a:avLst/>
          </a:prstGeom>
          <a:noFill/>
          <a:ln w="0">
            <a:noFill/>
          </a:ln>
        </p:spPr>
        <p:txBody>
          <a:bodyPr>
            <a:noAutofit/>
          </a:bodyPr>
          <a:lstStyle/>
          <a:p>
            <a:pPr>
              <a:defRPr sz="6225" b="1">
                <a:solidFill>
                  <a:srgbClr val="67D9C7"/>
                </a:solidFill>
                <a:latin typeface="DejaVu Sans"/>
                <a:ea typeface="DejaVu Sans"/>
                <a:cs typeface="DejaVu Sans"/>
              </a:defRPr>
            </a:pPr>
            <a:r>
              <a:rPr sz="6225" b="1">
                <a:solidFill>
                  <a:srgbClr val="67D9C7"/>
                </a:solidFill>
                <a:latin typeface="DejaVu Sans"/>
                <a:ea typeface="DejaVu Sans"/>
                <a:cs typeface="DejaVu Sans"/>
              </a:rPr>
              <a:t>655 Mbps</a:t>
            </a:r>
          </a:p>
        </p:txBody>
      </p:sp>
      <p:sp>
        <p:nvSpPr>
          <p:cNvPr id="4" name="Rectangle 3">
            <a:extLst>
              <a:ext uri="{FF2B5EF4-FFF2-40B4-BE49-F238E27FC236}">
                <a16:creationId xmlns:a16="http://schemas.microsoft.com/office/drawing/2014/main" id="{59DE6918-7901-4BA5-82A4-FA1D7EE0B587}"/>
              </a:ext>
            </a:extLst>
          </p:cNvPr>
          <p:cNvSpPr>
            <a:spLocks noGrp="1"/>
          </p:cNvSpPr>
          <p:nvPr/>
        </p:nvSpPr>
        <p:spPr>
          <a:xfrm>
            <a:off x="704850" y="3019425"/>
            <a:ext cx="6572250" cy="571500"/>
          </a:xfrm>
          <a:prstGeom prst="rect">
            <a:avLst/>
          </a:prstGeom>
          <a:noFill/>
          <a:ln w="0">
            <a:noFill/>
          </a:ln>
        </p:spPr>
        <p:txBody>
          <a:bodyPr>
            <a:noAutofit/>
          </a:bodyPr>
          <a:lstStyle/>
          <a:p>
            <a:pPr>
              <a:defRPr sz="2100" b="0">
                <a:solidFill>
                  <a:srgbClr val="F5F4EF"/>
                </a:solidFill>
                <a:latin typeface="DejaVu Sans"/>
                <a:ea typeface="DejaVu Sans"/>
                <a:cs typeface="DejaVu Sans"/>
              </a:defRPr>
            </a:pPr>
            <a:r>
              <a:rPr sz="2100" b="0">
                <a:solidFill>
                  <a:srgbClr val="F5F4EF"/>
                </a:solidFill>
                <a:latin typeface="DejaVu Sans"/>
                <a:ea typeface="DejaVu Sans"/>
                <a:cs typeface="DejaVu Sans"/>
              </a:rPr>
              <a:t>Practical line-rate benchmark</a:t>
            </a:r>
          </a:p>
        </p:txBody>
      </p:sp>
      <p:sp>
        <p:nvSpPr>
          <p:cNvPr id="5" name="Rectangle 4">
            <a:extLst>
              <a:ext uri="{FF2B5EF4-FFF2-40B4-BE49-F238E27FC236}">
                <a16:creationId xmlns:a16="http://schemas.microsoft.com/office/drawing/2014/main" id="{FE71B4CF-FF64-4DB4-8850-9A29D0CFC651}"/>
              </a:ext>
            </a:extLst>
          </p:cNvPr>
          <p:cNvSpPr>
            <a:spLocks noGrp="1"/>
          </p:cNvSpPr>
          <p:nvPr/>
        </p:nvSpPr>
        <p:spPr>
          <a:xfrm>
            <a:off x="628650" y="4010025"/>
            <a:ext cx="6191250" cy="1143000"/>
          </a:xfrm>
          <a:prstGeom prst="rect">
            <a:avLst/>
          </a:prstGeom>
          <a:noFill/>
          <a:ln w="0">
            <a:noFill/>
          </a:ln>
        </p:spPr>
        <p:txBody>
          <a:bodyPr>
            <a:noAutofit/>
          </a:bodyPr>
          <a:lstStyle/>
          <a:p>
            <a:pPr>
              <a:defRPr sz="6225" b="1">
                <a:solidFill>
                  <a:srgbClr val="F4AE7B"/>
                </a:solidFill>
                <a:latin typeface="DejaVu Sans"/>
                <a:ea typeface="DejaVu Sans"/>
                <a:cs typeface="DejaVu Sans"/>
              </a:defRPr>
            </a:pPr>
            <a:r>
              <a:rPr sz="6225" b="1">
                <a:solidFill>
                  <a:srgbClr val="F4AE7B"/>
                </a:solidFill>
                <a:latin typeface="DejaVu Sans"/>
                <a:ea typeface="DejaVu Sans"/>
                <a:cs typeface="DejaVu Sans"/>
              </a:rPr>
              <a:t>442 Mbps</a:t>
            </a:r>
          </a:p>
        </p:txBody>
      </p:sp>
      <p:sp>
        <p:nvSpPr>
          <p:cNvPr id="6" name="Rectangle 5">
            <a:extLst>
              <a:ext uri="{FF2B5EF4-FFF2-40B4-BE49-F238E27FC236}">
                <a16:creationId xmlns:a16="http://schemas.microsoft.com/office/drawing/2014/main" id="{4C8A7723-0815-4C50-A8FF-587F5AF2BB46}"/>
              </a:ext>
            </a:extLst>
          </p:cNvPr>
          <p:cNvSpPr>
            <a:spLocks noGrp="1"/>
          </p:cNvSpPr>
          <p:nvPr/>
        </p:nvSpPr>
        <p:spPr>
          <a:xfrm>
            <a:off x="704850" y="5162550"/>
            <a:ext cx="6572250" cy="619125"/>
          </a:xfrm>
          <a:prstGeom prst="rect">
            <a:avLst/>
          </a:prstGeom>
          <a:noFill/>
          <a:ln w="0">
            <a:noFill/>
          </a:ln>
        </p:spPr>
        <p:txBody>
          <a:bodyPr>
            <a:noAutofit/>
          </a:bodyPr>
          <a:lstStyle/>
          <a:p>
            <a:pPr>
              <a:defRPr sz="2100" b="0">
                <a:solidFill>
                  <a:srgbClr val="F5F4EF"/>
                </a:solidFill>
                <a:latin typeface="DejaVu Sans"/>
                <a:ea typeface="DejaVu Sans"/>
                <a:cs typeface="DejaVu Sans"/>
              </a:defRPr>
            </a:pPr>
            <a:r>
              <a:rPr sz="2100" b="0">
                <a:solidFill>
                  <a:srgbClr val="F5F4EF"/>
                </a:solidFill>
                <a:latin typeface="DejaVu Sans"/>
                <a:ea typeface="DejaVu Sans"/>
                <a:cs typeface="DejaVu Sans"/>
              </a:rPr>
              <a:t>TCP CUBIC average throughput</a:t>
            </a:r>
          </a:p>
        </p:txBody>
      </p:sp>
      <p:sp>
        <p:nvSpPr>
          <p:cNvPr id="7" name="Rectangle 6">
            <a:extLst>
              <a:ext uri="{FF2B5EF4-FFF2-40B4-BE49-F238E27FC236}">
                <a16:creationId xmlns:a16="http://schemas.microsoft.com/office/drawing/2014/main" id="{CA6E233A-BDF9-4F31-A5AC-F990B503AB5A}"/>
              </a:ext>
            </a:extLst>
          </p:cNvPr>
          <p:cNvSpPr>
            <a:spLocks noGrp="1"/>
          </p:cNvSpPr>
          <p:nvPr/>
        </p:nvSpPr>
        <p:spPr>
          <a:xfrm>
            <a:off x="7810500" y="2095500"/>
            <a:ext cx="3571875" cy="590550"/>
          </a:xfrm>
          <a:prstGeom prst="rect">
            <a:avLst/>
          </a:prstGeom>
          <a:noFill/>
          <a:ln w="0">
            <a:noFill/>
          </a:ln>
        </p:spPr>
        <p:txBody>
          <a:bodyPr>
            <a:noAutofit/>
          </a:bodyPr>
          <a:lstStyle/>
          <a:p>
            <a:pPr>
              <a:defRPr sz="2250" b="1">
                <a:solidFill>
                  <a:srgbClr val="67D9C7"/>
                </a:solidFill>
                <a:latin typeface="DejaVu Sans"/>
                <a:ea typeface="DejaVu Sans"/>
                <a:cs typeface="DejaVu Sans"/>
              </a:defRPr>
            </a:pPr>
            <a:r>
              <a:rPr sz="2250" b="1">
                <a:solidFill>
                  <a:srgbClr val="67D9C7"/>
                </a:solidFill>
                <a:latin typeface="DejaVu Sans"/>
                <a:ea typeface="DejaVu Sans"/>
                <a:cs typeface="DejaVu Sans"/>
              </a:rPr>
              <a:t>The opportunity</a:t>
            </a:r>
          </a:p>
        </p:txBody>
      </p:sp>
      <p:sp>
        <p:nvSpPr>
          <p:cNvPr id="8" name="Rectangle 7">
            <a:extLst>
              <a:ext uri="{FF2B5EF4-FFF2-40B4-BE49-F238E27FC236}">
                <a16:creationId xmlns:a16="http://schemas.microsoft.com/office/drawing/2014/main" id="{2DF35B74-490D-4592-8EF9-EDFC1927C379}"/>
              </a:ext>
            </a:extLst>
          </p:cNvPr>
          <p:cNvSpPr>
            <a:spLocks noGrp="1"/>
          </p:cNvSpPr>
          <p:nvPr/>
        </p:nvSpPr>
        <p:spPr>
          <a:xfrm>
            <a:off x="7810500" y="2838450"/>
            <a:ext cx="3571875" cy="2238375"/>
          </a:xfrm>
          <a:prstGeom prst="rect">
            <a:avLst/>
          </a:prstGeom>
          <a:noFill/>
          <a:ln w="0">
            <a:noFill/>
          </a:ln>
        </p:spPr>
        <p:txBody>
          <a:bodyPr>
            <a:noAutofit/>
          </a:bodyPr>
          <a:lstStyle/>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Improve the software path so the transfer uses more of the available wireless capacity.</a:t>
            </a:r>
          </a:p>
        </p:txBody>
      </p:sp>
      <p:sp>
        <p:nvSpPr>
          <p:cNvPr id="9" name="Rectangle 8">
            <a:extLst>
              <a:ext uri="{FF2B5EF4-FFF2-40B4-BE49-F238E27FC236}">
                <a16:creationId xmlns:a16="http://schemas.microsoft.com/office/drawing/2014/main" id="{E08F54E7-5C3A-4557-95AC-2EE34C46D603}"/>
              </a:ext>
            </a:extLst>
          </p:cNvPr>
          <p:cNvSpPr>
            <a:spLocks noGrp="1"/>
          </p:cNvSpPr>
          <p:nvPr/>
        </p:nvSpPr>
        <p:spPr>
          <a:xfrm>
            <a:off x="628650" y="6162675"/>
            <a:ext cx="10287000" cy="276225"/>
          </a:xfrm>
          <a:prstGeom prst="rect">
            <a:avLst/>
          </a:prstGeom>
          <a:noFill/>
          <a:ln w="0">
            <a:noFill/>
          </a:ln>
        </p:spPr>
        <p:txBody>
          <a:bodyPr>
            <a:noAutofit/>
          </a:bodyPr>
          <a:lstStyle/>
          <a:p>
            <a:pPr>
              <a:defRPr sz="1275" b="0">
                <a:solidFill>
                  <a:srgbClr val="A9B7C4"/>
                </a:solidFill>
                <a:latin typeface="DejaVu Sans"/>
                <a:ea typeface="DejaVu Sans"/>
                <a:cs typeface="DejaVu Sans"/>
              </a:defRPr>
            </a:pPr>
            <a:r>
              <a:rPr sz="1275" b="0">
                <a:solidFill>
                  <a:srgbClr val="A9B7C4"/>
                </a:solidFill>
                <a:latin typeface="DejaVu Sans"/>
                <a:ea typeface="DejaVu Sans"/>
                <a:cs typeface="DejaVu Sans"/>
              </a:rPr>
              <a:t>One pilot setting in §2.3, not a universal Wi-Fi speed.</a:t>
            </a:r>
          </a:p>
        </p:txBody>
      </p:sp>
    </p:spTree>
    <p:extLst>
      <p:ext uri="{BB962C8B-B14F-4D97-AF65-F5344CB8AC3E}">
        <p14:creationId xmlns:p14="http://schemas.microsoft.com/office/powerpoint/2010/main" val="1140390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81DCE5-B8CC-4EC4-8ECE-D9B5080DD410}"/>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Where SMUFF fits</a:t>
            </a:r>
          </a:p>
        </p:txBody>
      </p:sp>
      <p:sp>
        <p:nvSpPr>
          <p:cNvPr id="2" name="Rectangle 1">
            <a:extLst>
              <a:ext uri="{FF2B5EF4-FFF2-40B4-BE49-F238E27FC236}">
                <a16:creationId xmlns:a16="http://schemas.microsoft.com/office/drawing/2014/main" id="{C4286AE3-258E-4D4C-A8E6-AAB51C1B4F7A}"/>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03</a:t>
            </a:r>
          </a:p>
        </p:txBody>
      </p:sp>
      <p:pic>
        <p:nvPicPr>
          <p:cNvPr id="11" name="Picture 10"/>
          <p:cNvPicPr>
            <a:picLocks noChangeAspect="1"/>
          </p:cNvPicPr>
          <p:nvPr/>
        </p:nvPicPr>
        <p:blipFill>
          <a:blip r:embed="rId3"/>
          <a:stretch/>
        </p:blipFill>
        <p:spPr>
          <a:xfrm>
            <a:off x="1206991" y="1724025"/>
            <a:ext cx="5186968" cy="4248150"/>
          </a:xfrm>
          <a:prstGeom prst="rect">
            <a:avLst/>
          </a:prstGeom>
        </p:spPr>
      </p:pic>
      <p:sp>
        <p:nvSpPr>
          <p:cNvPr id="4" name="Rectangle 3">
            <a:extLst>
              <a:ext uri="{FF2B5EF4-FFF2-40B4-BE49-F238E27FC236}">
                <a16:creationId xmlns:a16="http://schemas.microsoft.com/office/drawing/2014/main" id="{12AEA404-5F60-42AB-B4F7-498BC152E23E}"/>
              </a:ext>
            </a:extLst>
          </p:cNvPr>
          <p:cNvSpPr>
            <a:spLocks noGrp="1"/>
          </p:cNvSpPr>
          <p:nvPr/>
        </p:nvSpPr>
        <p:spPr>
          <a:xfrm>
            <a:off x="7534275" y="1809750"/>
            <a:ext cx="4019550" cy="590550"/>
          </a:xfrm>
          <a:prstGeom prst="rect">
            <a:avLst/>
          </a:prstGeom>
          <a:noFill/>
          <a:ln w="0">
            <a:noFill/>
          </a:ln>
        </p:spPr>
        <p:txBody>
          <a:bodyPr>
            <a:noAutofit/>
          </a:bodyPr>
          <a:lstStyle/>
          <a:p>
            <a:pPr>
              <a:defRPr sz="2250" b="1">
                <a:solidFill>
                  <a:srgbClr val="087F74"/>
                </a:solidFill>
                <a:latin typeface="DejaVu Sans"/>
                <a:ea typeface="DejaVu Sans"/>
                <a:cs typeface="DejaVu Sans"/>
              </a:defRPr>
            </a:pPr>
            <a:r>
              <a:rPr sz="2250" b="1">
                <a:solidFill>
                  <a:srgbClr val="087F74"/>
                </a:solidFill>
                <a:latin typeface="DejaVu Sans"/>
                <a:ea typeface="DejaVu Sans"/>
                <a:cs typeface="DejaVu Sans"/>
              </a:rPr>
              <a:t>Buffer</a:t>
            </a:r>
          </a:p>
        </p:txBody>
      </p:sp>
      <p:sp>
        <p:nvSpPr>
          <p:cNvPr id="5" name="Rectangle 4">
            <a:extLst>
              <a:ext uri="{FF2B5EF4-FFF2-40B4-BE49-F238E27FC236}">
                <a16:creationId xmlns:a16="http://schemas.microsoft.com/office/drawing/2014/main" id="{85080CDA-4DE8-4FD9-B9CB-2308D5512DF4}"/>
              </a:ext>
            </a:extLst>
          </p:cNvPr>
          <p:cNvSpPr>
            <a:spLocks noGrp="1"/>
          </p:cNvSpPr>
          <p:nvPr/>
        </p:nvSpPr>
        <p:spPr>
          <a:xfrm>
            <a:off x="7534275" y="2552700"/>
            <a:ext cx="4019550" cy="2238375"/>
          </a:xfrm>
          <a:prstGeom prst="rect">
            <a:avLst/>
          </a:prstGeom>
          <a:noFill/>
          <a:ln w="0">
            <a:noFill/>
          </a:ln>
        </p:spPr>
        <p:txBody>
          <a:bodyPr>
            <a:noAutofit/>
          </a:bodyPr>
          <a:lstStyle/>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Temporary storage for data waiting to be processed or transmitted.</a:t>
            </a:r>
          </a:p>
        </p:txBody>
      </p:sp>
      <p:sp>
        <p:nvSpPr>
          <p:cNvPr id="6" name="Rectangle 5">
            <a:extLst>
              <a:ext uri="{FF2B5EF4-FFF2-40B4-BE49-F238E27FC236}">
                <a16:creationId xmlns:a16="http://schemas.microsoft.com/office/drawing/2014/main" id="{615EF13A-8DD6-4276-B692-BD255473A8A2}"/>
              </a:ext>
            </a:extLst>
          </p:cNvPr>
          <p:cNvSpPr>
            <a:spLocks noGrp="1"/>
          </p:cNvSpPr>
          <p:nvPr/>
        </p:nvSpPr>
        <p:spPr>
          <a:xfrm>
            <a:off x="7534275" y="3790950"/>
            <a:ext cx="4019550" cy="590550"/>
          </a:xfrm>
          <a:prstGeom prst="rect">
            <a:avLst/>
          </a:prstGeom>
          <a:noFill/>
          <a:ln w="0">
            <a:noFill/>
          </a:ln>
        </p:spPr>
        <p:txBody>
          <a:bodyPr>
            <a:noAutofit/>
          </a:bodyPr>
          <a:lstStyle/>
          <a:p>
            <a:pPr>
              <a:defRPr sz="2250" b="1">
                <a:solidFill>
                  <a:srgbClr val="087F74"/>
                </a:solidFill>
                <a:latin typeface="DejaVu Sans"/>
                <a:ea typeface="DejaVu Sans"/>
                <a:cs typeface="DejaVu Sans"/>
              </a:defRPr>
            </a:pPr>
            <a:r>
              <a:rPr sz="2250" b="1">
                <a:solidFill>
                  <a:srgbClr val="087F74"/>
                </a:solidFill>
                <a:latin typeface="DejaVu Sans"/>
                <a:ea typeface="DejaVu Sans"/>
                <a:cs typeface="DejaVu Sans"/>
              </a:rPr>
              <a:t>SMUFF’s role</a:t>
            </a:r>
          </a:p>
        </p:txBody>
      </p:sp>
      <p:sp>
        <p:nvSpPr>
          <p:cNvPr id="7" name="Rectangle 6">
            <a:extLst>
              <a:ext uri="{FF2B5EF4-FFF2-40B4-BE49-F238E27FC236}">
                <a16:creationId xmlns:a16="http://schemas.microsoft.com/office/drawing/2014/main" id="{B89E2B9D-BA0C-49A6-99E1-108337DE513A}"/>
              </a:ext>
            </a:extLst>
          </p:cNvPr>
          <p:cNvSpPr>
            <a:spLocks noGrp="1"/>
          </p:cNvSpPr>
          <p:nvPr/>
        </p:nvSpPr>
        <p:spPr>
          <a:xfrm>
            <a:off x="7534275" y="4533900"/>
            <a:ext cx="4019550" cy="2238375"/>
          </a:xfrm>
          <a:prstGeom prst="rect">
            <a:avLst/>
          </a:prstGeom>
          <a:noFill/>
          <a:ln w="0">
            <a:noFill/>
          </a:ln>
        </p:spPr>
        <p:txBody>
          <a:bodyPr>
            <a:noAutofit/>
          </a:bodyPr>
          <a:lstStyle/>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Coordinate the on-device data path over an existing Wi-Fi Direct link.</a:t>
            </a:r>
          </a:p>
        </p:txBody>
      </p:sp>
      <p:sp>
        <p:nvSpPr>
          <p:cNvPr id="8" name="Rectangle 7">
            <a:extLst>
              <a:ext uri="{FF2B5EF4-FFF2-40B4-BE49-F238E27FC236}">
                <a16:creationId xmlns:a16="http://schemas.microsoft.com/office/drawing/2014/main" id="{1F02B183-60A7-4BE8-BBDC-266643F8948A}"/>
              </a:ext>
            </a:extLst>
          </p:cNvPr>
          <p:cNvSpPr>
            <a:spLocks noGrp="1"/>
          </p:cNvSpPr>
          <p:nvPr/>
        </p:nvSpPr>
        <p:spPr>
          <a:xfrm>
            <a:off x="628650" y="6124575"/>
            <a:ext cx="10477500" cy="266700"/>
          </a:xfrm>
          <a:prstGeom prst="rect">
            <a:avLst/>
          </a:prstGeom>
          <a:noFill/>
          <a:ln w="0">
            <a:noFill/>
          </a:ln>
        </p:spPr>
        <p:txBody>
          <a:bodyPr>
            <a:noAutofit/>
          </a:bodyPr>
          <a:lstStyle/>
          <a:p>
            <a:pPr>
              <a:defRPr sz="1275" b="0">
                <a:solidFill>
                  <a:srgbClr val="60727D"/>
                </a:solidFill>
                <a:latin typeface="DejaVu Sans"/>
                <a:ea typeface="DejaVu Sans"/>
                <a:cs typeface="DejaVu Sans"/>
              </a:defRPr>
            </a:pPr>
            <a:r>
              <a:rPr sz="1275" b="0">
                <a:solidFill>
                  <a:srgbClr val="60727D"/>
                </a:solidFill>
                <a:latin typeface="DejaVu Sans"/>
                <a:ea typeface="DejaVu Sans"/>
                <a:cs typeface="DejaVu Sans"/>
              </a:rPr>
              <a:t>Original Figure 1, p. 1370. Blue queues are vulnerable to overflow.</a:t>
            </a:r>
          </a:p>
        </p:txBody>
      </p:sp>
    </p:spTree>
    <p:extLst>
      <p:ext uri="{BB962C8B-B14F-4D97-AF65-F5344CB8AC3E}">
        <p14:creationId xmlns:p14="http://schemas.microsoft.com/office/powerpoint/2010/main" val="523769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CF72D45-3FE2-4D17-B626-A8DFA6DE1F08}"/>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Why existing transport leaves capacity unused</a:t>
            </a:r>
          </a:p>
        </p:txBody>
      </p:sp>
      <p:sp>
        <p:nvSpPr>
          <p:cNvPr id="2" name="Rectangle 1">
            <a:extLst>
              <a:ext uri="{FF2B5EF4-FFF2-40B4-BE49-F238E27FC236}">
                <a16:creationId xmlns:a16="http://schemas.microsoft.com/office/drawing/2014/main" id="{8D8A9072-62A4-4F21-B92A-DE5BB4C0B3FD}"/>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04</a:t>
            </a:r>
          </a:p>
        </p:txBody>
      </p:sp>
      <p:graphicFrame>
        <p:nvGraphicFramePr>
          <p:cNvPr id="7" name="Table 6"/>
          <p:cNvGraphicFramePr/>
          <p:nvPr/>
        </p:nvGraphicFramePr>
        <p:xfrm>
          <a:off x="628650" y="1762125"/>
          <a:ext cx="10934700" cy="3486152"/>
        </p:xfrm>
        <a:graphic>
          <a:graphicData uri="http://schemas.openxmlformats.org/drawingml/2006/table">
            <a:tbl>
              <a:tblPr/>
              <a:tblGrid>
                <a:gridCol w="3381375">
                  <a:extLst>
                    <a:ext uri="{9D8B030D-6E8A-4147-A177-3AD203B41FA5}">
                      <a16:colId xmlns:a16="http://schemas.microsoft.com/office/drawing/2014/main" val="20000"/>
                    </a:ext>
                  </a:extLst>
                </a:gridCol>
                <a:gridCol w="7553325">
                  <a:extLst>
                    <a:ext uri="{9D8B030D-6E8A-4147-A177-3AD203B41FA5}">
                      <a16:colId xmlns:a16="http://schemas.microsoft.com/office/drawing/2014/main" val="20001"/>
                    </a:ext>
                  </a:extLst>
                </a:gridCol>
              </a:tblGrid>
              <a:tr h="871538">
                <a:tc>
                  <a:txBody>
                    <a:bodyPr/>
                    <a:lstStyle/>
                    <a:p>
                      <a:r>
                        <a:rPr sz="1650" b="1">
                          <a:solidFill>
                            <a:srgbClr val="F5F4EF"/>
                          </a:solidFill>
                          <a:latin typeface="DejaVu Sans"/>
                          <a:ea typeface="DejaVu Sans"/>
                          <a:cs typeface="DejaVu Sans"/>
                        </a:rPr>
                        <a:t>Issue</a:t>
                      </a:r>
                    </a:p>
                  </a:txBody>
                  <a:tcPr>
                    <a:solidFill>
                      <a:srgbClr val="172331"/>
                    </a:solidFill>
                  </a:tcPr>
                </a:tc>
                <a:tc>
                  <a:txBody>
                    <a:bodyPr/>
                    <a:lstStyle/>
                    <a:p>
                      <a:r>
                        <a:rPr sz="1650" b="1">
                          <a:solidFill>
                            <a:srgbClr val="F5F4EF"/>
                          </a:solidFill>
                          <a:latin typeface="DejaVu Sans"/>
                          <a:ea typeface="DejaVu Sans"/>
                          <a:cs typeface="DejaVu Sans"/>
                        </a:rPr>
                        <a:t>Why it matters here</a:t>
                      </a:r>
                    </a:p>
                  </a:txBody>
                  <a:tcPr>
                    <a:solidFill>
                      <a:srgbClr val="172331"/>
                    </a:solidFill>
                  </a:tcPr>
                </a:tc>
                <a:extLst>
                  <a:ext uri="{0D108BD9-81ED-4DB2-BD59-A6C34878D82A}">
                    <a16:rowId xmlns:a16="http://schemas.microsoft.com/office/drawing/2014/main" val="10000"/>
                  </a:ext>
                </a:extLst>
              </a:tr>
              <a:tr h="871538">
                <a:tc>
                  <a:txBody>
                    <a:bodyPr/>
                    <a:lstStyle/>
                    <a:p>
                      <a:r>
                        <a:rPr sz="1800" b="0">
                          <a:solidFill>
                            <a:srgbClr val="172331"/>
                          </a:solidFill>
                          <a:latin typeface="DejaVu Sans"/>
                          <a:ea typeface="DejaVu Sans"/>
                          <a:cs typeface="DejaVu Sans"/>
                        </a:rPr>
                        <a:t>Cost of reliable delivery</a:t>
                      </a:r>
                    </a:p>
                  </a:txBody>
                  <a:tcPr>
                    <a:solidFill>
                      <a:srgbClr val="F5F4EF"/>
                    </a:solidFill>
                  </a:tcPr>
                </a:tc>
                <a:tc>
                  <a:txBody>
                    <a:bodyPr/>
                    <a:lstStyle/>
                    <a:p>
                      <a:r>
                        <a:rPr sz="1800" b="0">
                          <a:solidFill>
                            <a:srgbClr val="172331"/>
                          </a:solidFill>
                          <a:latin typeface="DejaVu Sans"/>
                          <a:ea typeface="DejaVu Sans"/>
                          <a:cs typeface="DejaVu Sans"/>
                        </a:rPr>
                        <a:t>Frequent acknowledgments consume airtime and processing</a:t>
                      </a:r>
                    </a:p>
                  </a:txBody>
                  <a:tcPr>
                    <a:solidFill>
                      <a:srgbClr val="F5F4EF"/>
                    </a:solidFill>
                  </a:tcPr>
                </a:tc>
                <a:extLst>
                  <a:ext uri="{0D108BD9-81ED-4DB2-BD59-A6C34878D82A}">
                    <a16:rowId xmlns:a16="http://schemas.microsoft.com/office/drawing/2014/main" val="10001"/>
                  </a:ext>
                </a:extLst>
              </a:tr>
              <a:tr h="871538">
                <a:tc>
                  <a:txBody>
                    <a:bodyPr/>
                    <a:lstStyle/>
                    <a:p>
                      <a:r>
                        <a:rPr sz="1800" b="0">
                          <a:solidFill>
                            <a:srgbClr val="172331"/>
                          </a:solidFill>
                          <a:latin typeface="DejaVu Sans"/>
                          <a:ea typeface="DejaVu Sans"/>
                          <a:cs typeface="DejaVu Sans"/>
                        </a:rPr>
                        <a:t>Conservative rate control</a:t>
                      </a:r>
                    </a:p>
                  </a:txBody>
                  <a:tcPr>
                    <a:solidFill>
                      <a:srgbClr val="F5F4EF"/>
                    </a:solidFill>
                  </a:tcPr>
                </a:tc>
                <a:tc>
                  <a:txBody>
                    <a:bodyPr/>
                    <a:lstStyle/>
                    <a:p>
                      <a:r>
                        <a:rPr sz="1800" b="0">
                          <a:solidFill>
                            <a:srgbClr val="172331"/>
                          </a:solidFill>
                          <a:latin typeface="DejaVu Sans"/>
                          <a:ea typeface="DejaVu Sans"/>
                          <a:cs typeface="DejaVu Sans"/>
                        </a:rPr>
                        <a:t>Startup and reactions to wireless loss can reduce throughput</a:t>
                      </a:r>
                    </a:p>
                  </a:txBody>
                  <a:tcPr>
                    <a:solidFill>
                      <a:srgbClr val="F5F4EF"/>
                    </a:solidFill>
                  </a:tcPr>
                </a:tc>
                <a:extLst>
                  <a:ext uri="{0D108BD9-81ED-4DB2-BD59-A6C34878D82A}">
                    <a16:rowId xmlns:a16="http://schemas.microsoft.com/office/drawing/2014/main" val="10002"/>
                  </a:ext>
                </a:extLst>
              </a:tr>
              <a:tr h="871538">
                <a:tc>
                  <a:txBody>
                    <a:bodyPr/>
                    <a:lstStyle/>
                    <a:p>
                      <a:r>
                        <a:rPr sz="1800" b="0">
                          <a:solidFill>
                            <a:srgbClr val="172331"/>
                          </a:solidFill>
                          <a:latin typeface="DejaVu Sans"/>
                          <a:ea typeface="DejaVu Sans"/>
                          <a:cs typeface="DejaVu Sans"/>
                        </a:rPr>
                        <a:t>Incomplete buffer visibility</a:t>
                      </a:r>
                    </a:p>
                  </a:txBody>
                  <a:tcPr>
                    <a:solidFill>
                      <a:srgbClr val="F5F4EF"/>
                    </a:solidFill>
                  </a:tcPr>
                </a:tc>
                <a:tc>
                  <a:txBody>
                    <a:bodyPr/>
                    <a:lstStyle/>
                    <a:p>
                      <a:r>
                        <a:rPr sz="1800" b="0">
                          <a:solidFill>
                            <a:srgbClr val="172331"/>
                          </a:solidFill>
                          <a:latin typeface="DejaVu Sans"/>
                          <a:ea typeface="DejaVu Sans"/>
                          <a:cs typeface="DejaVu Sans"/>
                        </a:rPr>
                        <a:t>Other queues may overflow or run empty</a:t>
                      </a:r>
                    </a:p>
                  </a:txBody>
                  <a:tcPr>
                    <a:solidFill>
                      <a:srgbClr val="F5F4E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1EDB8E7-DB16-48BA-828A-FEFFE38B79B1}"/>
              </a:ext>
            </a:extLst>
          </p:cNvPr>
          <p:cNvSpPr>
            <a:spLocks noGrp="1"/>
          </p:cNvSpPr>
          <p:nvPr/>
        </p:nvSpPr>
        <p:spPr>
          <a:xfrm>
            <a:off x="628650" y="5676900"/>
            <a:ext cx="10668000" cy="714375"/>
          </a:xfrm>
          <a:prstGeom prst="rect">
            <a:avLst/>
          </a:prstGeom>
          <a:noFill/>
          <a:ln w="0">
            <a:noFill/>
          </a:ln>
        </p:spPr>
        <p:txBody>
          <a:bodyPr>
            <a:noAutofit/>
          </a:bodyPr>
          <a:lstStyle/>
          <a:p>
            <a:pPr>
              <a:defRPr sz="2175" b="1">
                <a:solidFill>
                  <a:srgbClr val="087F74"/>
                </a:solidFill>
                <a:latin typeface="DejaVu Sans"/>
                <a:ea typeface="DejaVu Sans"/>
                <a:cs typeface="DejaVu Sans"/>
              </a:defRPr>
            </a:pPr>
            <a:r>
              <a:rPr sz="2175" b="1">
                <a:solidFill>
                  <a:srgbClr val="087F74"/>
                </a:solidFill>
                <a:latin typeface="DejaVu Sans"/>
                <a:ea typeface="DejaVu Sans"/>
                <a:cs typeface="DejaVu Sans"/>
              </a:rPr>
              <a:t>The design assumptions of a long Internet path may be inefficient on a direct link.</a:t>
            </a:r>
          </a:p>
        </p:txBody>
      </p:sp>
    </p:spTree>
    <p:extLst>
      <p:ext uri="{BB962C8B-B14F-4D97-AF65-F5344CB8AC3E}">
        <p14:creationId xmlns:p14="http://schemas.microsoft.com/office/powerpoint/2010/main" val="1098045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72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BAACB-6416-4F7D-BB2B-A99FD69460A4}"/>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F5F4EF"/>
                </a:solidFill>
                <a:latin typeface="DejaVu Sans"/>
                <a:ea typeface="DejaVu Sans"/>
                <a:cs typeface="DejaVu Sans"/>
              </a:defRPr>
            </a:pPr>
            <a:r>
              <a:rPr sz="3300" b="1">
                <a:solidFill>
                  <a:srgbClr val="F5F4EF"/>
                </a:solidFill>
                <a:latin typeface="DejaVu Sans"/>
                <a:ea typeface="DejaVu Sans"/>
                <a:cs typeface="DejaVu Sans"/>
              </a:rPr>
              <a:t>The opportunity: both endpoints can expose state</a:t>
            </a:r>
          </a:p>
        </p:txBody>
      </p:sp>
      <p:sp>
        <p:nvSpPr>
          <p:cNvPr id="2" name="Rectangle 1">
            <a:extLst>
              <a:ext uri="{FF2B5EF4-FFF2-40B4-BE49-F238E27FC236}">
                <a16:creationId xmlns:a16="http://schemas.microsoft.com/office/drawing/2014/main" id="{0171046A-4E2C-49DF-B799-19E847D1626B}"/>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A9B7C4"/>
                </a:solidFill>
                <a:latin typeface="DejaVu Sans"/>
                <a:ea typeface="DejaVu Sans"/>
                <a:cs typeface="DejaVu Sans"/>
              </a:defRPr>
            </a:pPr>
            <a:r>
              <a:rPr sz="1200" b="0">
                <a:solidFill>
                  <a:srgbClr val="A9B7C4"/>
                </a:solidFill>
                <a:latin typeface="DejaVu Sans"/>
                <a:ea typeface="DejaVu Sans"/>
                <a:cs typeface="DejaVu Sans"/>
              </a:rPr>
              <a:t>05</a:t>
            </a:r>
          </a:p>
        </p:txBody>
      </p:sp>
      <p:sp>
        <p:nvSpPr>
          <p:cNvPr id="3" name="Rectangle 2">
            <a:extLst>
              <a:ext uri="{FF2B5EF4-FFF2-40B4-BE49-F238E27FC236}">
                <a16:creationId xmlns:a16="http://schemas.microsoft.com/office/drawing/2014/main" id="{F032F46D-1C7D-4A12-AF86-1690E90334DE}"/>
              </a:ext>
            </a:extLst>
          </p:cNvPr>
          <p:cNvSpPr>
            <a:spLocks noGrp="1"/>
          </p:cNvSpPr>
          <p:nvPr/>
        </p:nvSpPr>
        <p:spPr>
          <a:xfrm>
            <a:off x="628650" y="1933575"/>
            <a:ext cx="4905375" cy="590550"/>
          </a:xfrm>
          <a:prstGeom prst="rect">
            <a:avLst/>
          </a:prstGeom>
          <a:noFill/>
          <a:ln w="0">
            <a:noFill/>
          </a:ln>
        </p:spPr>
        <p:txBody>
          <a:bodyPr>
            <a:noAutofit/>
          </a:bodyPr>
          <a:lstStyle/>
          <a:p>
            <a:pPr>
              <a:defRPr sz="2250" b="1">
                <a:solidFill>
                  <a:srgbClr val="67D9C7"/>
                </a:solidFill>
                <a:latin typeface="DejaVu Sans"/>
                <a:ea typeface="DejaVu Sans"/>
                <a:cs typeface="DejaVu Sans"/>
              </a:defRPr>
            </a:pPr>
            <a:r>
              <a:rPr sz="2250" b="1">
                <a:solidFill>
                  <a:srgbClr val="67D9C7"/>
                </a:solidFill>
                <a:latin typeface="DejaVu Sans"/>
                <a:ea typeface="DejaVu Sans"/>
                <a:cs typeface="DejaVu Sans"/>
              </a:rPr>
              <a:t>General Internet transport</a:t>
            </a:r>
          </a:p>
        </p:txBody>
      </p:sp>
      <p:sp>
        <p:nvSpPr>
          <p:cNvPr id="4" name="Rectangle 3">
            <a:extLst>
              <a:ext uri="{FF2B5EF4-FFF2-40B4-BE49-F238E27FC236}">
                <a16:creationId xmlns:a16="http://schemas.microsoft.com/office/drawing/2014/main" id="{C1D70B73-0A2D-450B-B8FD-260950F134D1}"/>
              </a:ext>
            </a:extLst>
          </p:cNvPr>
          <p:cNvSpPr>
            <a:spLocks noGrp="1"/>
          </p:cNvSpPr>
          <p:nvPr/>
        </p:nvSpPr>
        <p:spPr>
          <a:xfrm>
            <a:off x="628650" y="2676525"/>
            <a:ext cx="4905375" cy="2238375"/>
          </a:xfrm>
          <a:prstGeom prst="rect">
            <a:avLst/>
          </a:prstGeom>
          <a:noFill/>
          <a:ln w="0">
            <a:noFill/>
          </a:ln>
        </p:spPr>
        <p:txBody>
          <a:bodyPr>
            <a:noAutofit/>
          </a:bodyPr>
          <a:lstStyle/>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Infer conditions along a path with intermediate devices.</a:t>
            </a:r>
          </a:p>
        </p:txBody>
      </p:sp>
      <p:sp>
        <p:nvSpPr>
          <p:cNvPr id="5" name="Rectangle 4">
            <a:extLst>
              <a:ext uri="{FF2B5EF4-FFF2-40B4-BE49-F238E27FC236}">
                <a16:creationId xmlns:a16="http://schemas.microsoft.com/office/drawing/2014/main" id="{1DC19C8D-4FE3-4784-8CFF-43E6E8CF8C06}"/>
              </a:ext>
            </a:extLst>
          </p:cNvPr>
          <p:cNvSpPr>
            <a:spLocks noGrp="1"/>
          </p:cNvSpPr>
          <p:nvPr/>
        </p:nvSpPr>
        <p:spPr>
          <a:xfrm>
            <a:off x="6648450" y="1933575"/>
            <a:ext cx="4905375" cy="590550"/>
          </a:xfrm>
          <a:prstGeom prst="rect">
            <a:avLst/>
          </a:prstGeom>
          <a:noFill/>
          <a:ln w="0">
            <a:noFill/>
          </a:ln>
        </p:spPr>
        <p:txBody>
          <a:bodyPr>
            <a:noAutofit/>
          </a:bodyPr>
          <a:lstStyle/>
          <a:p>
            <a:pPr>
              <a:defRPr sz="2250" b="1">
                <a:solidFill>
                  <a:srgbClr val="67D9C7"/>
                </a:solidFill>
                <a:latin typeface="DejaVu Sans"/>
                <a:ea typeface="DejaVu Sans"/>
                <a:cs typeface="DejaVu Sans"/>
              </a:defRPr>
            </a:pPr>
            <a:r>
              <a:rPr sz="2250" b="1">
                <a:solidFill>
                  <a:srgbClr val="67D9C7"/>
                </a:solidFill>
                <a:latin typeface="DejaVu Sans"/>
                <a:ea typeface="DejaVu Sans"/>
                <a:cs typeface="DejaVu Sans"/>
              </a:rPr>
              <a:t>Direct device-to-device transport</a:t>
            </a:r>
          </a:p>
        </p:txBody>
      </p:sp>
      <p:sp>
        <p:nvSpPr>
          <p:cNvPr id="6" name="Rectangle 5">
            <a:extLst>
              <a:ext uri="{FF2B5EF4-FFF2-40B4-BE49-F238E27FC236}">
                <a16:creationId xmlns:a16="http://schemas.microsoft.com/office/drawing/2014/main" id="{EC5235AF-1A38-4610-AAD8-CA0B2A58E5DB}"/>
              </a:ext>
            </a:extLst>
          </p:cNvPr>
          <p:cNvSpPr>
            <a:spLocks noGrp="1"/>
          </p:cNvSpPr>
          <p:nvPr/>
        </p:nvSpPr>
        <p:spPr>
          <a:xfrm>
            <a:off x="6648450" y="2676525"/>
            <a:ext cx="4905375" cy="2238375"/>
          </a:xfrm>
          <a:prstGeom prst="rect">
            <a:avLst/>
          </a:prstGeom>
          <a:noFill/>
          <a:ln w="0">
            <a:noFill/>
          </a:ln>
        </p:spPr>
        <p:txBody>
          <a:bodyPr>
            <a:noAutofit/>
          </a:bodyPr>
          <a:lstStyle/>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Use reported queue state from the cooperating endpoints.</a:t>
            </a:r>
          </a:p>
        </p:txBody>
      </p:sp>
      <p:sp>
        <p:nvSpPr>
          <p:cNvPr id="7" name="Rectangle 6">
            <a:extLst>
              <a:ext uri="{FF2B5EF4-FFF2-40B4-BE49-F238E27FC236}">
                <a16:creationId xmlns:a16="http://schemas.microsoft.com/office/drawing/2014/main" id="{5793CF89-C8CC-4C57-8CA1-C2814ED1D2F7}"/>
              </a:ext>
            </a:extLst>
          </p:cNvPr>
          <p:cNvSpPr>
            <a:spLocks noGrp="1"/>
          </p:cNvSpPr>
          <p:nvPr/>
        </p:nvSpPr>
        <p:spPr>
          <a:xfrm>
            <a:off x="628650" y="5105400"/>
            <a:ext cx="10715625" cy="1028700"/>
          </a:xfrm>
          <a:prstGeom prst="rect">
            <a:avLst/>
          </a:prstGeom>
          <a:noFill/>
          <a:ln w="0">
            <a:noFill/>
          </a:ln>
        </p:spPr>
        <p:txBody>
          <a:bodyPr>
            <a:noAutofit/>
          </a:bodyPr>
          <a:lstStyle/>
          <a:p>
            <a:pPr>
              <a:defRPr sz="3225" b="1">
                <a:solidFill>
                  <a:srgbClr val="67D9C7"/>
                </a:solidFill>
                <a:latin typeface="DejaVu Sans"/>
                <a:ea typeface="DejaVu Sans"/>
                <a:cs typeface="DejaVu Sans"/>
              </a:defRPr>
            </a:pPr>
            <a:r>
              <a:rPr sz="3225" b="1">
                <a:solidFill>
                  <a:srgbClr val="67D9C7"/>
                </a:solidFill>
                <a:latin typeface="DejaVu Sans"/>
                <a:ea typeface="DejaVu Sans"/>
                <a:cs typeface="DejaVu Sans"/>
              </a:rPr>
              <a:t>Sending rate should follow the bottleneck in the entire data path.</a:t>
            </a:r>
          </a:p>
        </p:txBody>
      </p:sp>
    </p:spTree>
    <p:extLst>
      <p:ext uri="{BB962C8B-B14F-4D97-AF65-F5344CB8AC3E}">
        <p14:creationId xmlns:p14="http://schemas.microsoft.com/office/powerpoint/2010/main" val="134276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E64376D-B1B1-4A7D-9E90-A6626B66F791}"/>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The key idea: a safe buffer range</a:t>
            </a:r>
          </a:p>
        </p:txBody>
      </p:sp>
      <p:sp>
        <p:nvSpPr>
          <p:cNvPr id="2" name="Rectangle 1">
            <a:extLst>
              <a:ext uri="{FF2B5EF4-FFF2-40B4-BE49-F238E27FC236}">
                <a16:creationId xmlns:a16="http://schemas.microsoft.com/office/drawing/2014/main" id="{14B30575-6E92-4042-B294-2A98774741DD}"/>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06</a:t>
            </a:r>
          </a:p>
        </p:txBody>
      </p:sp>
      <p:pic>
        <p:nvPicPr>
          <p:cNvPr id="11" name="Picture 10"/>
          <p:cNvPicPr>
            <a:picLocks noChangeAspect="1"/>
          </p:cNvPicPr>
          <p:nvPr/>
        </p:nvPicPr>
        <p:blipFill>
          <a:blip r:embed="rId3"/>
          <a:stretch/>
        </p:blipFill>
        <p:spPr>
          <a:xfrm>
            <a:off x="1496136" y="1752600"/>
            <a:ext cx="9180678" cy="2686050"/>
          </a:xfrm>
          <a:prstGeom prst="rect">
            <a:avLst/>
          </a:prstGeom>
        </p:spPr>
      </p:pic>
      <p:sp>
        <p:nvSpPr>
          <p:cNvPr id="4" name="Rectangle 3">
            <a:extLst>
              <a:ext uri="{FF2B5EF4-FFF2-40B4-BE49-F238E27FC236}">
                <a16:creationId xmlns:a16="http://schemas.microsoft.com/office/drawing/2014/main" id="{8B80409E-3C5E-4F80-814B-737DE6CB5D6E}"/>
              </a:ext>
            </a:extLst>
          </p:cNvPr>
          <p:cNvSpPr>
            <a:spLocks noGrp="1"/>
          </p:cNvSpPr>
          <p:nvPr/>
        </p:nvSpPr>
        <p:spPr>
          <a:xfrm>
            <a:off x="628650" y="4514850"/>
            <a:ext cx="4953000" cy="590550"/>
          </a:xfrm>
          <a:prstGeom prst="rect">
            <a:avLst/>
          </a:prstGeom>
          <a:noFill/>
          <a:ln w="0">
            <a:noFill/>
          </a:ln>
        </p:spPr>
        <p:txBody>
          <a:bodyPr>
            <a:noAutofit/>
          </a:bodyPr>
          <a:lstStyle/>
          <a:p>
            <a:pPr>
              <a:defRPr sz="2250" b="1">
                <a:solidFill>
                  <a:srgbClr val="087F74"/>
                </a:solidFill>
                <a:latin typeface="DejaVu Sans"/>
                <a:ea typeface="DejaVu Sans"/>
                <a:cs typeface="DejaVu Sans"/>
              </a:defRPr>
            </a:pPr>
            <a:r>
              <a:rPr sz="2250" b="1">
                <a:solidFill>
                  <a:srgbClr val="087F74"/>
                </a:solidFill>
                <a:latin typeface="DejaVu Sans"/>
                <a:ea typeface="DejaVu Sans"/>
                <a:cs typeface="DejaVu Sans"/>
              </a:rPr>
              <a:t>Too much queued</a:t>
            </a:r>
          </a:p>
        </p:txBody>
      </p:sp>
      <p:sp>
        <p:nvSpPr>
          <p:cNvPr id="5" name="Rectangle 4">
            <a:extLst>
              <a:ext uri="{FF2B5EF4-FFF2-40B4-BE49-F238E27FC236}">
                <a16:creationId xmlns:a16="http://schemas.microsoft.com/office/drawing/2014/main" id="{A3F8FDDB-EE81-413A-8221-ADF90EF9A906}"/>
              </a:ext>
            </a:extLst>
          </p:cNvPr>
          <p:cNvSpPr>
            <a:spLocks noGrp="1"/>
          </p:cNvSpPr>
          <p:nvPr/>
        </p:nvSpPr>
        <p:spPr>
          <a:xfrm>
            <a:off x="628650" y="5257800"/>
            <a:ext cx="4953000" cy="2238375"/>
          </a:xfrm>
          <a:prstGeom prst="rect">
            <a:avLst/>
          </a:prstGeom>
          <a:noFill/>
          <a:ln w="0">
            <a:noFill/>
          </a:ln>
        </p:spPr>
        <p:txBody>
          <a:bodyPr>
            <a:noAutofit/>
          </a:bodyPr>
          <a:lstStyle/>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The queue can overflow and drop data.</a:t>
            </a:r>
          </a:p>
        </p:txBody>
      </p:sp>
      <p:sp>
        <p:nvSpPr>
          <p:cNvPr id="6" name="Rectangle 5">
            <a:extLst>
              <a:ext uri="{FF2B5EF4-FFF2-40B4-BE49-F238E27FC236}">
                <a16:creationId xmlns:a16="http://schemas.microsoft.com/office/drawing/2014/main" id="{5CA820E7-FEBB-4FDD-9E92-C673173E87E5}"/>
              </a:ext>
            </a:extLst>
          </p:cNvPr>
          <p:cNvSpPr>
            <a:spLocks noGrp="1"/>
          </p:cNvSpPr>
          <p:nvPr/>
        </p:nvSpPr>
        <p:spPr>
          <a:xfrm>
            <a:off x="6648450" y="4514850"/>
            <a:ext cx="4895850" cy="590550"/>
          </a:xfrm>
          <a:prstGeom prst="rect">
            <a:avLst/>
          </a:prstGeom>
          <a:noFill/>
          <a:ln w="0">
            <a:noFill/>
          </a:ln>
        </p:spPr>
        <p:txBody>
          <a:bodyPr>
            <a:noAutofit/>
          </a:bodyPr>
          <a:lstStyle/>
          <a:p>
            <a:pPr>
              <a:defRPr sz="2250" b="1">
                <a:solidFill>
                  <a:srgbClr val="087F74"/>
                </a:solidFill>
                <a:latin typeface="DejaVu Sans"/>
                <a:ea typeface="DejaVu Sans"/>
                <a:cs typeface="DejaVu Sans"/>
              </a:defRPr>
            </a:pPr>
            <a:r>
              <a:rPr sz="2250" b="1">
                <a:solidFill>
                  <a:srgbClr val="087F74"/>
                </a:solidFill>
                <a:latin typeface="DejaVu Sans"/>
                <a:ea typeface="DejaVu Sans"/>
                <a:cs typeface="DejaVu Sans"/>
              </a:rPr>
              <a:t>Too little queued</a:t>
            </a:r>
          </a:p>
        </p:txBody>
      </p:sp>
      <p:sp>
        <p:nvSpPr>
          <p:cNvPr id="7" name="Rectangle 6">
            <a:extLst>
              <a:ext uri="{FF2B5EF4-FFF2-40B4-BE49-F238E27FC236}">
                <a16:creationId xmlns:a16="http://schemas.microsoft.com/office/drawing/2014/main" id="{17947064-88C7-4C3B-86DF-1F46D17D8812}"/>
              </a:ext>
            </a:extLst>
          </p:cNvPr>
          <p:cNvSpPr>
            <a:spLocks noGrp="1"/>
          </p:cNvSpPr>
          <p:nvPr/>
        </p:nvSpPr>
        <p:spPr>
          <a:xfrm>
            <a:off x="6648450" y="5257800"/>
            <a:ext cx="4895850" cy="2238375"/>
          </a:xfrm>
          <a:prstGeom prst="rect">
            <a:avLst/>
          </a:prstGeom>
          <a:noFill/>
          <a:ln w="0">
            <a:noFill/>
          </a:ln>
        </p:spPr>
        <p:txBody>
          <a:bodyPr>
            <a:noAutofit/>
          </a:bodyPr>
          <a:lstStyle/>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The bottleneck can run out of work.</a:t>
            </a:r>
          </a:p>
        </p:txBody>
      </p:sp>
      <p:sp>
        <p:nvSpPr>
          <p:cNvPr id="8" name="Rectangle 7">
            <a:extLst>
              <a:ext uri="{FF2B5EF4-FFF2-40B4-BE49-F238E27FC236}">
                <a16:creationId xmlns:a16="http://schemas.microsoft.com/office/drawing/2014/main" id="{15DBEC06-220F-4B84-854B-06A98137ED44}"/>
              </a:ext>
            </a:extLst>
          </p:cNvPr>
          <p:cNvSpPr>
            <a:spLocks noGrp="1"/>
          </p:cNvSpPr>
          <p:nvPr/>
        </p:nvSpPr>
        <p:spPr>
          <a:xfrm>
            <a:off x="628650" y="6162675"/>
            <a:ext cx="10429875" cy="266700"/>
          </a:xfrm>
          <a:prstGeom prst="rect">
            <a:avLst/>
          </a:prstGeom>
          <a:noFill/>
          <a:ln w="0">
            <a:noFill/>
          </a:ln>
        </p:spPr>
        <p:txBody>
          <a:bodyPr>
            <a:noAutofit/>
          </a:bodyPr>
          <a:lstStyle/>
          <a:p>
            <a:pPr>
              <a:defRPr sz="1275" b="0">
                <a:solidFill>
                  <a:srgbClr val="60727D"/>
                </a:solidFill>
                <a:latin typeface="DejaVu Sans"/>
                <a:ea typeface="DejaVu Sans"/>
                <a:cs typeface="DejaVu Sans"/>
              </a:defRPr>
            </a:pPr>
            <a:r>
              <a:rPr sz="1275" b="0">
                <a:solidFill>
                  <a:srgbClr val="60727D"/>
                </a:solidFill>
                <a:latin typeface="DejaVu Sans"/>
                <a:ea typeface="DejaVu Sans"/>
                <a:cs typeface="DejaVu Sans"/>
              </a:rPr>
              <a:t>Original Figure 7, p. 1374. The safe range accounts for control delay.</a:t>
            </a:r>
          </a:p>
        </p:txBody>
      </p:sp>
    </p:spTree>
    <p:extLst>
      <p:ext uri="{BB962C8B-B14F-4D97-AF65-F5344CB8AC3E}">
        <p14:creationId xmlns:p14="http://schemas.microsoft.com/office/powerpoint/2010/main" val="66950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559F25-8BC0-407D-A8FC-B9F9536F0862}"/>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SMUFF’s system architecture</a:t>
            </a:r>
          </a:p>
        </p:txBody>
      </p:sp>
      <p:sp>
        <p:nvSpPr>
          <p:cNvPr id="2" name="Rectangle 1">
            <a:extLst>
              <a:ext uri="{FF2B5EF4-FFF2-40B4-BE49-F238E27FC236}">
                <a16:creationId xmlns:a16="http://schemas.microsoft.com/office/drawing/2014/main" id="{F602E5F0-38E5-4667-AAF5-E8B96D31916B}"/>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07</a:t>
            </a:r>
          </a:p>
        </p:txBody>
      </p:sp>
      <p:pic>
        <p:nvPicPr>
          <p:cNvPr id="11" name="Picture 10"/>
          <p:cNvPicPr>
            <a:picLocks noChangeAspect="1"/>
          </p:cNvPicPr>
          <p:nvPr/>
        </p:nvPicPr>
        <p:blipFill>
          <a:blip r:embed="rId3"/>
          <a:stretch/>
        </p:blipFill>
        <p:spPr>
          <a:xfrm>
            <a:off x="859886" y="1743075"/>
            <a:ext cx="6366952" cy="4295775"/>
          </a:xfrm>
          <a:prstGeom prst="rect">
            <a:avLst/>
          </a:prstGeom>
        </p:spPr>
      </p:pic>
      <p:sp>
        <p:nvSpPr>
          <p:cNvPr id="4" name="Rectangle 3">
            <a:extLst>
              <a:ext uri="{FF2B5EF4-FFF2-40B4-BE49-F238E27FC236}">
                <a16:creationId xmlns:a16="http://schemas.microsoft.com/office/drawing/2014/main" id="{7B6800E8-EEDA-4750-84C1-746E7F92E75D}"/>
              </a:ext>
            </a:extLst>
          </p:cNvPr>
          <p:cNvSpPr>
            <a:spLocks noGrp="1"/>
          </p:cNvSpPr>
          <p:nvPr/>
        </p:nvSpPr>
        <p:spPr>
          <a:xfrm>
            <a:off x="7972425" y="1914525"/>
            <a:ext cx="3571875" cy="590550"/>
          </a:xfrm>
          <a:prstGeom prst="rect">
            <a:avLst/>
          </a:prstGeom>
          <a:noFill/>
          <a:ln w="0">
            <a:noFill/>
          </a:ln>
        </p:spPr>
        <p:txBody>
          <a:bodyPr>
            <a:noAutofit/>
          </a:bodyPr>
          <a:lstStyle/>
          <a:p>
            <a:pPr>
              <a:defRPr sz="2250" b="1">
                <a:solidFill>
                  <a:srgbClr val="087F74"/>
                </a:solidFill>
                <a:latin typeface="DejaVu Sans"/>
                <a:ea typeface="DejaVu Sans"/>
                <a:cs typeface="DejaVu Sans"/>
              </a:defRPr>
            </a:pPr>
            <a:r>
              <a:rPr sz="2250" b="1">
                <a:solidFill>
                  <a:srgbClr val="087F74"/>
                </a:solidFill>
                <a:latin typeface="DejaVu Sans"/>
                <a:ea typeface="DejaVu Sans"/>
                <a:cs typeface="DejaVu Sans"/>
              </a:rPr>
              <a:t>Buffer orchestrator</a:t>
            </a:r>
          </a:p>
        </p:txBody>
      </p:sp>
      <p:sp>
        <p:nvSpPr>
          <p:cNvPr id="5" name="Rectangle 4">
            <a:extLst>
              <a:ext uri="{FF2B5EF4-FFF2-40B4-BE49-F238E27FC236}">
                <a16:creationId xmlns:a16="http://schemas.microsoft.com/office/drawing/2014/main" id="{5363C438-3FB8-4E1D-B7EE-FE848C36E856}"/>
              </a:ext>
            </a:extLst>
          </p:cNvPr>
          <p:cNvSpPr>
            <a:spLocks noGrp="1"/>
          </p:cNvSpPr>
          <p:nvPr/>
        </p:nvSpPr>
        <p:spPr>
          <a:xfrm>
            <a:off x="7972425" y="2657475"/>
            <a:ext cx="3571875" cy="2238375"/>
          </a:xfrm>
          <a:prstGeom prst="rect">
            <a:avLst/>
          </a:prstGeom>
          <a:noFill/>
          <a:ln w="0">
            <a:noFill/>
          </a:ln>
        </p:spPr>
        <p:txBody>
          <a:bodyPr>
            <a:noAutofit/>
          </a:bodyPr>
          <a:lstStyle/>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Observe queues and choose the sending rate.</a:t>
            </a:r>
          </a:p>
        </p:txBody>
      </p:sp>
      <p:sp>
        <p:nvSpPr>
          <p:cNvPr id="6" name="Rectangle 5">
            <a:extLst>
              <a:ext uri="{FF2B5EF4-FFF2-40B4-BE49-F238E27FC236}">
                <a16:creationId xmlns:a16="http://schemas.microsoft.com/office/drawing/2014/main" id="{46AC1AD3-D3DA-4FD5-A151-823F0BB924D1}"/>
              </a:ext>
            </a:extLst>
          </p:cNvPr>
          <p:cNvSpPr>
            <a:spLocks noGrp="1"/>
          </p:cNvSpPr>
          <p:nvPr/>
        </p:nvSpPr>
        <p:spPr>
          <a:xfrm>
            <a:off x="7972425" y="3933825"/>
            <a:ext cx="3571875" cy="590550"/>
          </a:xfrm>
          <a:prstGeom prst="rect">
            <a:avLst/>
          </a:prstGeom>
          <a:noFill/>
          <a:ln w="0">
            <a:noFill/>
          </a:ln>
        </p:spPr>
        <p:txBody>
          <a:bodyPr>
            <a:noAutofit/>
          </a:bodyPr>
          <a:lstStyle/>
          <a:p>
            <a:pPr>
              <a:defRPr sz="2250" b="1">
                <a:solidFill>
                  <a:srgbClr val="087F74"/>
                </a:solidFill>
                <a:latin typeface="DejaVu Sans"/>
                <a:ea typeface="DejaVu Sans"/>
                <a:cs typeface="DejaVu Sans"/>
              </a:defRPr>
            </a:pPr>
            <a:r>
              <a:rPr sz="2250" b="1">
                <a:solidFill>
                  <a:srgbClr val="087F74"/>
                </a:solidFill>
                <a:latin typeface="DejaVu Sans"/>
                <a:ea typeface="DejaVu Sans"/>
                <a:cs typeface="DejaVu Sans"/>
              </a:rPr>
              <a:t>Transport manager</a:t>
            </a:r>
          </a:p>
        </p:txBody>
      </p:sp>
      <p:sp>
        <p:nvSpPr>
          <p:cNvPr id="7" name="Rectangle 6">
            <a:extLst>
              <a:ext uri="{FF2B5EF4-FFF2-40B4-BE49-F238E27FC236}">
                <a16:creationId xmlns:a16="http://schemas.microsoft.com/office/drawing/2014/main" id="{90A8EE3D-2E15-4696-BE2B-3F581841D6B1}"/>
              </a:ext>
            </a:extLst>
          </p:cNvPr>
          <p:cNvSpPr>
            <a:spLocks noGrp="1"/>
          </p:cNvSpPr>
          <p:nvPr/>
        </p:nvSpPr>
        <p:spPr>
          <a:xfrm>
            <a:off x="7972425" y="4676775"/>
            <a:ext cx="3571875" cy="2238375"/>
          </a:xfrm>
          <a:prstGeom prst="rect">
            <a:avLst/>
          </a:prstGeom>
          <a:noFill/>
          <a:ln w="0">
            <a:noFill/>
          </a:ln>
        </p:spPr>
        <p:txBody>
          <a:bodyPr>
            <a:noAutofit/>
          </a:bodyPr>
          <a:lstStyle/>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Deliver the file reliably and recover missing data.</a:t>
            </a:r>
          </a:p>
        </p:txBody>
      </p:sp>
      <p:sp>
        <p:nvSpPr>
          <p:cNvPr id="8" name="Rectangle 7">
            <a:extLst>
              <a:ext uri="{FF2B5EF4-FFF2-40B4-BE49-F238E27FC236}">
                <a16:creationId xmlns:a16="http://schemas.microsoft.com/office/drawing/2014/main" id="{100F34B6-38AF-4575-866D-E78010C584D7}"/>
              </a:ext>
            </a:extLst>
          </p:cNvPr>
          <p:cNvSpPr>
            <a:spLocks noGrp="1"/>
          </p:cNvSpPr>
          <p:nvPr/>
        </p:nvSpPr>
        <p:spPr>
          <a:xfrm>
            <a:off x="628650" y="6143625"/>
            <a:ext cx="10477500" cy="276225"/>
          </a:xfrm>
          <a:prstGeom prst="rect">
            <a:avLst/>
          </a:prstGeom>
          <a:noFill/>
          <a:ln w="0">
            <a:noFill/>
          </a:ln>
        </p:spPr>
        <p:txBody>
          <a:bodyPr>
            <a:noAutofit/>
          </a:bodyPr>
          <a:lstStyle/>
          <a:p>
            <a:pPr>
              <a:defRPr sz="1275" b="0">
                <a:solidFill>
                  <a:srgbClr val="60727D"/>
                </a:solidFill>
                <a:latin typeface="DejaVu Sans"/>
                <a:ea typeface="DejaVu Sans"/>
                <a:cs typeface="DejaVu Sans"/>
              </a:defRPr>
            </a:pPr>
            <a:r>
              <a:rPr sz="1275" b="0">
                <a:solidFill>
                  <a:srgbClr val="60727D"/>
                </a:solidFill>
                <a:latin typeface="DejaVu Sans"/>
                <a:ea typeface="DejaVu Sans"/>
                <a:cs typeface="DejaVu Sans"/>
              </a:rPr>
              <a:t>Original Figure 6, p. 1373. The service runs on the communicating devices.</a:t>
            </a:r>
          </a:p>
        </p:txBody>
      </p:sp>
    </p:spTree>
    <p:extLst>
      <p:ext uri="{BB962C8B-B14F-4D97-AF65-F5344CB8AC3E}">
        <p14:creationId xmlns:p14="http://schemas.microsoft.com/office/powerpoint/2010/main" val="204662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0403073-05F7-484D-BF1F-931901B73A89}"/>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Results across signal conditions</a:t>
            </a:r>
          </a:p>
        </p:txBody>
      </p:sp>
      <p:sp>
        <p:nvSpPr>
          <p:cNvPr id="2" name="Rectangle 1">
            <a:extLst>
              <a:ext uri="{FF2B5EF4-FFF2-40B4-BE49-F238E27FC236}">
                <a16:creationId xmlns:a16="http://schemas.microsoft.com/office/drawing/2014/main" id="{D377C091-4AB4-4951-AB61-070FCE572023}"/>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08</a:t>
            </a:r>
          </a:p>
        </p:txBody>
      </p:sp>
      <p:pic>
        <p:nvPicPr>
          <p:cNvPr id="10" name="Picture 9"/>
          <p:cNvPicPr>
            <a:picLocks noChangeAspect="1"/>
          </p:cNvPicPr>
          <p:nvPr/>
        </p:nvPicPr>
        <p:blipFill>
          <a:blip r:embed="rId3"/>
          <a:stretch/>
        </p:blipFill>
        <p:spPr>
          <a:xfrm>
            <a:off x="628650" y="2094574"/>
            <a:ext cx="8239125" cy="3202251"/>
          </a:xfrm>
          <a:prstGeom prst="rect">
            <a:avLst/>
          </a:prstGeom>
        </p:spPr>
      </p:pic>
      <p:sp>
        <p:nvSpPr>
          <p:cNvPr id="4" name="Rectangle 3">
            <a:extLst>
              <a:ext uri="{FF2B5EF4-FFF2-40B4-BE49-F238E27FC236}">
                <a16:creationId xmlns:a16="http://schemas.microsoft.com/office/drawing/2014/main" id="{E5494B96-E907-4258-AF4D-8EAE34CBEB62}"/>
              </a:ext>
            </a:extLst>
          </p:cNvPr>
          <p:cNvSpPr>
            <a:spLocks noGrp="1"/>
          </p:cNvSpPr>
          <p:nvPr/>
        </p:nvSpPr>
        <p:spPr>
          <a:xfrm>
            <a:off x="9229725" y="1905000"/>
            <a:ext cx="2362200" cy="590550"/>
          </a:xfrm>
          <a:prstGeom prst="rect">
            <a:avLst/>
          </a:prstGeom>
          <a:noFill/>
          <a:ln w="0">
            <a:noFill/>
          </a:ln>
        </p:spPr>
        <p:txBody>
          <a:bodyPr>
            <a:noAutofit/>
          </a:bodyPr>
          <a:lstStyle/>
          <a:p>
            <a:pPr>
              <a:defRPr sz="2250" b="1">
                <a:solidFill>
                  <a:srgbClr val="087F74"/>
                </a:solidFill>
                <a:latin typeface="DejaVu Sans"/>
                <a:ea typeface="DejaVu Sans"/>
                <a:cs typeface="DejaVu Sans"/>
              </a:defRPr>
            </a:pPr>
            <a:r>
              <a:rPr sz="2250" b="1">
                <a:solidFill>
                  <a:srgbClr val="087F74"/>
                </a:solidFill>
                <a:latin typeface="DejaVu Sans"/>
                <a:ea typeface="DejaVu Sans"/>
                <a:cs typeface="DejaVu Sans"/>
              </a:rPr>
              <a:t>Reading it</a:t>
            </a:r>
          </a:p>
        </p:txBody>
      </p:sp>
      <p:sp>
        <p:nvSpPr>
          <p:cNvPr id="5" name="Rectangle 4">
            <a:extLst>
              <a:ext uri="{FF2B5EF4-FFF2-40B4-BE49-F238E27FC236}">
                <a16:creationId xmlns:a16="http://schemas.microsoft.com/office/drawing/2014/main" id="{34376807-D331-4FFF-83AF-D1D60C97FD85}"/>
              </a:ext>
            </a:extLst>
          </p:cNvPr>
          <p:cNvSpPr>
            <a:spLocks noGrp="1"/>
          </p:cNvSpPr>
          <p:nvPr/>
        </p:nvSpPr>
        <p:spPr>
          <a:xfrm>
            <a:off x="9229725" y="2647950"/>
            <a:ext cx="2362200" cy="2238375"/>
          </a:xfrm>
          <a:prstGeom prst="rect">
            <a:avLst/>
          </a:prstGeom>
          <a:noFill/>
          <a:ln w="0">
            <a:noFill/>
          </a:ln>
        </p:spPr>
        <p:txBody>
          <a:bodyPr>
            <a:noAutofit/>
          </a:bodyPr>
          <a:lstStyle/>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Higher bars are better.</a:t>
            </a:r>
          </a:p>
          <a:p>
            <a:endParaRPr sz="2025" b="0">
              <a:solidFill>
                <a:srgbClr val="172331"/>
              </a:solidFill>
              <a:latin typeface="DejaVu Sans"/>
              <a:ea typeface="DejaVu Sans"/>
              <a:cs typeface="DejaVu Sans"/>
            </a:endParaRPr>
          </a:p>
          <a:p>
            <a:pPr>
              <a:defRPr sz="2025" b="0">
                <a:solidFill>
                  <a:srgbClr val="172331"/>
                </a:solidFill>
                <a:latin typeface="DejaVu Sans"/>
                <a:ea typeface="DejaVu Sans"/>
                <a:cs typeface="DejaVu Sans"/>
              </a:defRPr>
            </a:pPr>
            <a:r>
              <a:rPr sz="2025" b="0">
                <a:solidFill>
                  <a:srgbClr val="172331"/>
                </a:solidFill>
                <a:latin typeface="DejaVu Sans"/>
                <a:ea typeface="DejaVu Sans"/>
                <a:cs typeface="DejaVu Sans"/>
              </a:rPr>
              <a:t>More negative dBm means a weaker signal.</a:t>
            </a:r>
          </a:p>
        </p:txBody>
      </p:sp>
      <p:sp>
        <p:nvSpPr>
          <p:cNvPr id="6" name="Rectangle 5">
            <a:extLst>
              <a:ext uri="{FF2B5EF4-FFF2-40B4-BE49-F238E27FC236}">
                <a16:creationId xmlns:a16="http://schemas.microsoft.com/office/drawing/2014/main" id="{CCC91C06-B663-40BA-9C4B-617A15EA941D}"/>
              </a:ext>
            </a:extLst>
          </p:cNvPr>
          <p:cNvSpPr>
            <a:spLocks noGrp="1"/>
          </p:cNvSpPr>
          <p:nvPr/>
        </p:nvSpPr>
        <p:spPr>
          <a:xfrm>
            <a:off x="628650" y="5591175"/>
            <a:ext cx="10715625" cy="733425"/>
          </a:xfrm>
          <a:prstGeom prst="rect">
            <a:avLst/>
          </a:prstGeom>
          <a:noFill/>
          <a:ln w="0">
            <a:noFill/>
          </a:ln>
        </p:spPr>
        <p:txBody>
          <a:bodyPr>
            <a:noAutofit/>
          </a:bodyPr>
          <a:lstStyle/>
          <a:p>
            <a:pPr>
              <a:defRPr sz="2325" b="1">
                <a:solidFill>
                  <a:srgbClr val="087F74"/>
                </a:solidFill>
                <a:latin typeface="DejaVu Sans"/>
                <a:ea typeface="DejaVu Sans"/>
                <a:cs typeface="DejaVu Sans"/>
              </a:defRPr>
            </a:pPr>
            <a:r>
              <a:rPr sz="2325" b="1">
                <a:solidFill>
                  <a:srgbClr val="087F74"/>
                </a:solidFill>
                <a:latin typeface="DejaVu Sans"/>
                <a:ea typeface="DejaVu Sans"/>
                <a:cs typeface="DejaVu Sans"/>
              </a:rPr>
              <a:t>The gain narrows at very weak signal strength.</a:t>
            </a:r>
          </a:p>
        </p:txBody>
      </p:sp>
      <p:sp>
        <p:nvSpPr>
          <p:cNvPr id="7" name="Rectangle 6">
            <a:extLst>
              <a:ext uri="{FF2B5EF4-FFF2-40B4-BE49-F238E27FC236}">
                <a16:creationId xmlns:a16="http://schemas.microsoft.com/office/drawing/2014/main" id="{7FD2E9CF-B186-4972-8899-78C32A87A693}"/>
              </a:ext>
            </a:extLst>
          </p:cNvPr>
          <p:cNvSpPr>
            <a:spLocks noGrp="1"/>
          </p:cNvSpPr>
          <p:nvPr/>
        </p:nvSpPr>
        <p:spPr>
          <a:xfrm>
            <a:off x="628650" y="6229350"/>
            <a:ext cx="10477500" cy="266700"/>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Original Figure 11, p. 1378. 1 GB transfer. UDP does not guarantee delivery.</a:t>
            </a:r>
          </a:p>
        </p:txBody>
      </p:sp>
    </p:spTree>
    <p:extLst>
      <p:ext uri="{BB962C8B-B14F-4D97-AF65-F5344CB8AC3E}">
        <p14:creationId xmlns:p14="http://schemas.microsoft.com/office/powerpoint/2010/main" val="938644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22A2572-078C-4346-9A53-1B46266A7B36}"/>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Results across four phone models</a:t>
            </a:r>
          </a:p>
        </p:txBody>
      </p:sp>
      <p:sp>
        <p:nvSpPr>
          <p:cNvPr id="2" name="Rectangle 1">
            <a:extLst>
              <a:ext uri="{FF2B5EF4-FFF2-40B4-BE49-F238E27FC236}">
                <a16:creationId xmlns:a16="http://schemas.microsoft.com/office/drawing/2014/main" id="{DCA03BF9-30BC-4F53-9EA2-56267B686E18}"/>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09</a:t>
            </a:r>
          </a:p>
        </p:txBody>
      </p:sp>
      <p:pic>
        <p:nvPicPr>
          <p:cNvPr id="10" name="Picture 9"/>
          <p:cNvPicPr>
            <a:picLocks noChangeAspect="1"/>
          </p:cNvPicPr>
          <p:nvPr/>
        </p:nvPicPr>
        <p:blipFill>
          <a:blip r:embed="rId3"/>
          <a:stretch/>
        </p:blipFill>
        <p:spPr>
          <a:xfrm>
            <a:off x="1006971" y="1885950"/>
            <a:ext cx="5606058" cy="4171950"/>
          </a:xfrm>
          <a:prstGeom prst="rect">
            <a:avLst/>
          </a:prstGeom>
        </p:spPr>
      </p:pic>
      <p:sp>
        <p:nvSpPr>
          <p:cNvPr id="4" name="Rectangle 3">
            <a:extLst>
              <a:ext uri="{FF2B5EF4-FFF2-40B4-BE49-F238E27FC236}">
                <a16:creationId xmlns:a16="http://schemas.microsoft.com/office/drawing/2014/main" id="{7DB80427-16A8-4F1E-A84E-CBECFA7A80B7}"/>
              </a:ext>
            </a:extLst>
          </p:cNvPr>
          <p:cNvSpPr>
            <a:spLocks noGrp="1"/>
          </p:cNvSpPr>
          <p:nvPr/>
        </p:nvSpPr>
        <p:spPr>
          <a:xfrm>
            <a:off x="7686675" y="2095500"/>
            <a:ext cx="4000500" cy="1285875"/>
          </a:xfrm>
          <a:prstGeom prst="rect">
            <a:avLst/>
          </a:prstGeom>
          <a:noFill/>
          <a:ln w="0">
            <a:noFill/>
          </a:ln>
        </p:spPr>
        <p:txBody>
          <a:bodyPr>
            <a:noAutofit/>
          </a:bodyPr>
          <a:lstStyle/>
          <a:p>
            <a:pPr>
              <a:defRPr sz="6300" b="1">
                <a:solidFill>
                  <a:srgbClr val="087F74"/>
                </a:solidFill>
                <a:latin typeface="DejaVu Sans"/>
                <a:ea typeface="DejaVu Sans"/>
                <a:cs typeface="DejaVu Sans"/>
              </a:defRPr>
            </a:pPr>
            <a:r>
              <a:rPr sz="6300" b="1">
                <a:solidFill>
                  <a:srgbClr val="087F74"/>
                </a:solidFill>
                <a:latin typeface="DejaVu Sans"/>
                <a:ea typeface="DejaVu Sans"/>
                <a:cs typeface="DejaVu Sans"/>
              </a:rPr>
              <a:t>94.7%</a:t>
            </a:r>
          </a:p>
        </p:txBody>
      </p:sp>
      <p:sp>
        <p:nvSpPr>
          <p:cNvPr id="5" name="Rectangle 4">
            <a:extLst>
              <a:ext uri="{FF2B5EF4-FFF2-40B4-BE49-F238E27FC236}">
                <a16:creationId xmlns:a16="http://schemas.microsoft.com/office/drawing/2014/main" id="{C83F7B55-669F-4FFE-9597-3CF8F9FE7A0A}"/>
              </a:ext>
            </a:extLst>
          </p:cNvPr>
          <p:cNvSpPr>
            <a:spLocks noGrp="1"/>
          </p:cNvSpPr>
          <p:nvPr/>
        </p:nvSpPr>
        <p:spPr>
          <a:xfrm>
            <a:off x="7772400" y="3457575"/>
            <a:ext cx="3762375" cy="1009650"/>
          </a:xfrm>
          <a:prstGeom prst="rect">
            <a:avLst/>
          </a:prstGeom>
          <a:noFill/>
          <a:ln w="0">
            <a:noFill/>
          </a:ln>
        </p:spPr>
        <p:txBody>
          <a:bodyPr>
            <a:noAutofit/>
          </a:bodyPr>
          <a:lstStyle/>
          <a:p>
            <a:pPr>
              <a:defRPr sz="2250" b="0">
                <a:solidFill>
                  <a:srgbClr val="172331"/>
                </a:solidFill>
                <a:latin typeface="DejaVu Sans"/>
                <a:ea typeface="DejaVu Sans"/>
                <a:cs typeface="DejaVu Sans"/>
              </a:defRPr>
            </a:pPr>
            <a:r>
              <a:rPr sz="2250" b="0">
                <a:solidFill>
                  <a:srgbClr val="172331"/>
                </a:solidFill>
                <a:latin typeface="DejaVu Sans"/>
                <a:ea typeface="DejaVu Sans"/>
                <a:cs typeface="DejaVu Sans"/>
              </a:rPr>
              <a:t>of practical line rate</a:t>
            </a:r>
          </a:p>
          <a:p>
            <a:pPr>
              <a:defRPr sz="2250" b="0">
                <a:solidFill>
                  <a:srgbClr val="172331"/>
                </a:solidFill>
                <a:latin typeface="DejaVu Sans"/>
                <a:ea typeface="DejaVu Sans"/>
                <a:cs typeface="DejaVu Sans"/>
              </a:defRPr>
            </a:pPr>
            <a:r>
              <a:rPr sz="2250" b="0">
                <a:solidFill>
                  <a:srgbClr val="172331"/>
                </a:solidFill>
                <a:latin typeface="DejaVu Sans"/>
                <a:ea typeface="DejaVu Sans"/>
                <a:cs typeface="DejaVu Sans"/>
              </a:rPr>
              <a:t>at best in this test</a:t>
            </a:r>
          </a:p>
        </p:txBody>
      </p:sp>
      <p:sp>
        <p:nvSpPr>
          <p:cNvPr id="6" name="Rectangle 5">
            <a:extLst>
              <a:ext uri="{FF2B5EF4-FFF2-40B4-BE49-F238E27FC236}">
                <a16:creationId xmlns:a16="http://schemas.microsoft.com/office/drawing/2014/main" id="{9DDB9BBB-F1C2-44D0-8D88-61DA27781344}"/>
              </a:ext>
            </a:extLst>
          </p:cNvPr>
          <p:cNvSpPr>
            <a:spLocks noGrp="1"/>
          </p:cNvSpPr>
          <p:nvPr/>
        </p:nvSpPr>
        <p:spPr>
          <a:xfrm>
            <a:off x="7772400" y="4848225"/>
            <a:ext cx="3524250" cy="828675"/>
          </a:xfrm>
          <a:prstGeom prst="rect">
            <a:avLst/>
          </a:prstGeom>
          <a:noFill/>
          <a:ln w="0">
            <a:noFill/>
          </a:ln>
        </p:spPr>
        <p:txBody>
          <a:bodyPr>
            <a:noAutofit/>
          </a:bodyPr>
          <a:lstStyle/>
          <a:p>
            <a:pPr>
              <a:defRPr sz="1875" b="0">
                <a:solidFill>
                  <a:srgbClr val="172331"/>
                </a:solidFill>
                <a:latin typeface="DejaVu Sans"/>
                <a:ea typeface="DejaVu Sans"/>
                <a:cs typeface="DejaVu Sans"/>
              </a:defRPr>
            </a:pPr>
            <a:r>
              <a:rPr sz="1875" b="0">
                <a:solidFill>
                  <a:srgbClr val="172331"/>
                </a:solidFill>
                <a:latin typeface="DejaVu Sans"/>
                <a:ea typeface="DejaVu Sans"/>
                <a:cs typeface="DejaVu Sans"/>
              </a:rPr>
              <a:t>Four sender models</a:t>
            </a:r>
          </a:p>
          <a:p>
            <a:pPr>
              <a:defRPr sz="1875" b="0">
                <a:solidFill>
                  <a:srgbClr val="172331"/>
                </a:solidFill>
                <a:latin typeface="DejaVu Sans"/>
                <a:ea typeface="DejaVu Sans"/>
                <a:cs typeface="DejaVu Sans"/>
              </a:defRPr>
            </a:pPr>
            <a:r>
              <a:rPr sz="1875" b="0">
                <a:solidFill>
                  <a:srgbClr val="172331"/>
                </a:solidFill>
                <a:latin typeface="DejaVu Sans"/>
                <a:ea typeface="DejaVu Sans"/>
                <a:cs typeface="DejaVu Sans"/>
              </a:rPr>
              <a:t>Pixel 4 receiver</a:t>
            </a:r>
          </a:p>
        </p:txBody>
      </p:sp>
      <p:sp>
        <p:nvSpPr>
          <p:cNvPr id="7" name="Rectangle 6">
            <a:extLst>
              <a:ext uri="{FF2B5EF4-FFF2-40B4-BE49-F238E27FC236}">
                <a16:creationId xmlns:a16="http://schemas.microsoft.com/office/drawing/2014/main" id="{E172FC25-D589-4C03-BAAA-4271672F0FD2}"/>
              </a:ext>
            </a:extLst>
          </p:cNvPr>
          <p:cNvSpPr>
            <a:spLocks noGrp="1"/>
          </p:cNvSpPr>
          <p:nvPr/>
        </p:nvSpPr>
        <p:spPr>
          <a:xfrm>
            <a:off x="628650" y="6162675"/>
            <a:ext cx="10477500" cy="266700"/>
          </a:xfrm>
          <a:prstGeom prst="rect">
            <a:avLst/>
          </a:prstGeom>
          <a:noFill/>
          <a:ln w="0">
            <a:noFill/>
          </a:ln>
        </p:spPr>
        <p:txBody>
          <a:bodyPr>
            <a:noAutofit/>
          </a:bodyPr>
          <a:lstStyle/>
          <a:p>
            <a:pPr>
              <a:defRPr sz="1275" b="0">
                <a:solidFill>
                  <a:srgbClr val="60727D"/>
                </a:solidFill>
                <a:latin typeface="DejaVu Sans"/>
                <a:ea typeface="DejaVu Sans"/>
                <a:cs typeface="DejaVu Sans"/>
              </a:defRPr>
            </a:pPr>
            <a:r>
              <a:rPr sz="1275" b="0">
                <a:solidFill>
                  <a:srgbClr val="60727D"/>
                </a:solidFill>
                <a:latin typeface="DejaVu Sans"/>
                <a:ea typeface="DejaVu Sans"/>
                <a:cs typeface="DejaVu Sans"/>
              </a:rPr>
              <a:t>Original Figure 13, p. 1378. Axis value 1.0 represents 100% utilization.</a:t>
            </a:r>
          </a:p>
        </p:txBody>
      </p:sp>
    </p:spTree>
    <p:extLst>
      <p:ext uri="{BB962C8B-B14F-4D97-AF65-F5344CB8AC3E}">
        <p14:creationId xmlns:p14="http://schemas.microsoft.com/office/powerpoint/2010/main" val="23054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72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5FE2CDA-4D8E-4D21-867A-E1DCC6B8EA5D}"/>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F5F4EF"/>
                </a:solidFill>
                <a:latin typeface="DejaVu Sans"/>
                <a:ea typeface="DejaVu Sans"/>
                <a:cs typeface="DejaVu Sans"/>
              </a:defRPr>
            </a:pPr>
            <a:r>
              <a:rPr sz="3300" b="1">
                <a:solidFill>
                  <a:srgbClr val="F5F4EF"/>
                </a:solidFill>
                <a:latin typeface="DejaVu Sans"/>
                <a:ea typeface="DejaVu Sans"/>
                <a:cs typeface="DejaVu Sans"/>
              </a:rPr>
              <a:t>Deployment and tradeoffs</a:t>
            </a:r>
          </a:p>
        </p:txBody>
      </p:sp>
      <p:sp>
        <p:nvSpPr>
          <p:cNvPr id="2" name="Rectangle 1">
            <a:extLst>
              <a:ext uri="{FF2B5EF4-FFF2-40B4-BE49-F238E27FC236}">
                <a16:creationId xmlns:a16="http://schemas.microsoft.com/office/drawing/2014/main" id="{728AF1E2-96F6-4F62-9D71-5EB5946357D3}"/>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A9B7C4"/>
                </a:solidFill>
                <a:latin typeface="DejaVu Sans"/>
                <a:ea typeface="DejaVu Sans"/>
                <a:cs typeface="DejaVu Sans"/>
              </a:defRPr>
            </a:pPr>
            <a:r>
              <a:rPr sz="1200" b="0">
                <a:solidFill>
                  <a:srgbClr val="A9B7C4"/>
                </a:solidFill>
                <a:latin typeface="DejaVu Sans"/>
                <a:ea typeface="DejaVu Sans"/>
                <a:cs typeface="DejaVu Sans"/>
              </a:rPr>
              <a:t>10</a:t>
            </a:r>
          </a:p>
        </p:txBody>
      </p:sp>
      <p:sp>
        <p:nvSpPr>
          <p:cNvPr id="3" name="Rectangle 2">
            <a:extLst>
              <a:ext uri="{FF2B5EF4-FFF2-40B4-BE49-F238E27FC236}">
                <a16:creationId xmlns:a16="http://schemas.microsoft.com/office/drawing/2014/main" id="{40C548E0-A2F6-4CE0-A572-08E2C600AEB0}"/>
              </a:ext>
            </a:extLst>
          </p:cNvPr>
          <p:cNvSpPr>
            <a:spLocks noGrp="1"/>
          </p:cNvSpPr>
          <p:nvPr/>
        </p:nvSpPr>
        <p:spPr>
          <a:xfrm>
            <a:off x="628650" y="1857375"/>
            <a:ext cx="4905375" cy="590550"/>
          </a:xfrm>
          <a:prstGeom prst="rect">
            <a:avLst/>
          </a:prstGeom>
          <a:noFill/>
          <a:ln w="0">
            <a:noFill/>
          </a:ln>
        </p:spPr>
        <p:txBody>
          <a:bodyPr>
            <a:noAutofit/>
          </a:bodyPr>
          <a:lstStyle/>
          <a:p>
            <a:pPr>
              <a:defRPr sz="2250" b="1">
                <a:solidFill>
                  <a:srgbClr val="67D9C7"/>
                </a:solidFill>
                <a:latin typeface="DejaVu Sans"/>
                <a:ea typeface="DejaVu Sans"/>
                <a:cs typeface="DejaVu Sans"/>
              </a:defRPr>
            </a:pPr>
            <a:r>
              <a:rPr sz="2250" b="1">
                <a:solidFill>
                  <a:srgbClr val="67D9C7"/>
                </a:solidFill>
                <a:latin typeface="DejaVu Sans"/>
                <a:ea typeface="DejaVu Sans"/>
                <a:cs typeface="DejaVu Sans"/>
              </a:rPr>
              <a:t>Practical deployment</a:t>
            </a:r>
          </a:p>
        </p:txBody>
      </p:sp>
      <p:sp>
        <p:nvSpPr>
          <p:cNvPr id="4" name="Rectangle 3">
            <a:extLst>
              <a:ext uri="{FF2B5EF4-FFF2-40B4-BE49-F238E27FC236}">
                <a16:creationId xmlns:a16="http://schemas.microsoft.com/office/drawing/2014/main" id="{4561B6A5-028E-44CB-A675-73759445C4CB}"/>
              </a:ext>
            </a:extLst>
          </p:cNvPr>
          <p:cNvSpPr>
            <a:spLocks noGrp="1"/>
          </p:cNvSpPr>
          <p:nvPr/>
        </p:nvSpPr>
        <p:spPr>
          <a:xfrm>
            <a:off x="628650" y="2600325"/>
            <a:ext cx="4905375" cy="2238375"/>
          </a:xfrm>
          <a:prstGeom prst="rect">
            <a:avLst/>
          </a:prstGeom>
          <a:noFill/>
          <a:ln w="0">
            <a:noFill/>
          </a:ln>
        </p:spPr>
        <p:txBody>
          <a:bodyPr>
            <a:noAutofit/>
          </a:bodyPr>
          <a:lstStyle/>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Android system service</a:t>
            </a:r>
          </a:p>
          <a:p>
            <a:endParaRPr sz="2025" b="0">
              <a:solidFill>
                <a:srgbClr val="F5F4EF"/>
              </a:solidFill>
              <a:latin typeface="DejaVu Sans"/>
              <a:ea typeface="DejaVu Sans"/>
              <a:cs typeface="DejaVu Sans"/>
            </a:endParaRPr>
          </a:p>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Standard system APIs</a:t>
            </a:r>
          </a:p>
          <a:p>
            <a:endParaRPr sz="2025" b="0">
              <a:solidFill>
                <a:srgbClr val="F5F4EF"/>
              </a:solidFill>
              <a:latin typeface="DejaVu Sans"/>
              <a:ea typeface="DejaVu Sans"/>
              <a:cs typeface="DejaVu Sans"/>
            </a:endParaRPr>
          </a:p>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No proprietary hardware or kernel changes for SMUFF</a:t>
            </a:r>
          </a:p>
        </p:txBody>
      </p:sp>
      <p:sp>
        <p:nvSpPr>
          <p:cNvPr id="5" name="Rectangle 4">
            <a:extLst>
              <a:ext uri="{FF2B5EF4-FFF2-40B4-BE49-F238E27FC236}">
                <a16:creationId xmlns:a16="http://schemas.microsoft.com/office/drawing/2014/main" id="{9D4F9528-F246-4250-B7AB-A4FA5503EBEB}"/>
              </a:ext>
            </a:extLst>
          </p:cNvPr>
          <p:cNvSpPr>
            <a:spLocks noGrp="1"/>
          </p:cNvSpPr>
          <p:nvPr/>
        </p:nvSpPr>
        <p:spPr>
          <a:xfrm>
            <a:off x="6648450" y="1857375"/>
            <a:ext cx="4905375" cy="590550"/>
          </a:xfrm>
          <a:prstGeom prst="rect">
            <a:avLst/>
          </a:prstGeom>
          <a:noFill/>
          <a:ln w="0">
            <a:noFill/>
          </a:ln>
        </p:spPr>
        <p:txBody>
          <a:bodyPr>
            <a:noAutofit/>
          </a:bodyPr>
          <a:lstStyle/>
          <a:p>
            <a:pPr>
              <a:defRPr sz="2250" b="1">
                <a:solidFill>
                  <a:srgbClr val="67D9C7"/>
                </a:solidFill>
                <a:latin typeface="DejaVu Sans"/>
                <a:ea typeface="DejaVu Sans"/>
                <a:cs typeface="DejaVu Sans"/>
              </a:defRPr>
            </a:pPr>
            <a:r>
              <a:rPr sz="2250" b="1">
                <a:solidFill>
                  <a:srgbClr val="67D9C7"/>
                </a:solidFill>
                <a:latin typeface="DejaVu Sans"/>
                <a:ea typeface="DejaVu Sans"/>
                <a:cs typeface="DejaVu Sans"/>
              </a:rPr>
              <a:t>Important tradeoffs</a:t>
            </a:r>
          </a:p>
        </p:txBody>
      </p:sp>
      <p:sp>
        <p:nvSpPr>
          <p:cNvPr id="6" name="Rectangle 5">
            <a:extLst>
              <a:ext uri="{FF2B5EF4-FFF2-40B4-BE49-F238E27FC236}">
                <a16:creationId xmlns:a16="http://schemas.microsoft.com/office/drawing/2014/main" id="{8AB63D50-F276-4D9C-97B3-6622D4F18C95}"/>
              </a:ext>
            </a:extLst>
          </p:cNvPr>
          <p:cNvSpPr>
            <a:spLocks noGrp="1"/>
          </p:cNvSpPr>
          <p:nvPr/>
        </p:nvSpPr>
        <p:spPr>
          <a:xfrm>
            <a:off x="6648450" y="2600325"/>
            <a:ext cx="4905375" cy="2238375"/>
          </a:xfrm>
          <a:prstGeom prst="rect">
            <a:avLst/>
          </a:prstGeom>
          <a:noFill/>
          <a:ln w="0">
            <a:noFill/>
          </a:ln>
        </p:spPr>
        <p:txBody>
          <a:bodyPr>
            <a:noAutofit/>
          </a:bodyPr>
          <a:lstStyle/>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More queued data can add delay</a:t>
            </a:r>
          </a:p>
          <a:p>
            <a:endParaRPr sz="2025" b="0">
              <a:solidFill>
                <a:srgbClr val="F5F4EF"/>
              </a:solidFill>
              <a:latin typeface="DejaVu Sans"/>
              <a:ea typeface="DejaVu Sans"/>
              <a:cs typeface="DejaVu Sans"/>
            </a:endParaRPr>
          </a:p>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Foreground traffic still needs protection</a:t>
            </a:r>
          </a:p>
          <a:p>
            <a:endParaRPr sz="2025" b="0">
              <a:solidFill>
                <a:srgbClr val="F5F4EF"/>
              </a:solidFill>
              <a:latin typeface="DejaVu Sans"/>
              <a:ea typeface="DejaVu Sans"/>
              <a:cs typeface="DejaVu Sans"/>
            </a:endParaRPr>
          </a:p>
          <a:p>
            <a:pPr>
              <a:defRPr sz="2025" b="0">
                <a:solidFill>
                  <a:srgbClr val="F5F4EF"/>
                </a:solidFill>
                <a:latin typeface="DejaVu Sans"/>
                <a:ea typeface="DejaVu Sans"/>
                <a:cs typeface="DejaVu Sans"/>
              </a:defRPr>
            </a:pPr>
            <a:r>
              <a:rPr sz="2025" b="0">
                <a:solidFill>
                  <a:srgbClr val="F5F4EF"/>
                </a:solidFill>
                <a:latin typeface="DejaVu Sans"/>
                <a:ea typeface="DejaVu Sans"/>
                <a:cs typeface="DejaVu Sans"/>
              </a:rPr>
              <a:t>Aggregation helps efficiency but increases loss sensitivity</a:t>
            </a:r>
          </a:p>
        </p:txBody>
      </p:sp>
      <p:sp>
        <p:nvSpPr>
          <p:cNvPr id="7" name="Rectangle 6">
            <a:extLst>
              <a:ext uri="{FF2B5EF4-FFF2-40B4-BE49-F238E27FC236}">
                <a16:creationId xmlns:a16="http://schemas.microsoft.com/office/drawing/2014/main" id="{DF69BE53-A903-4055-8720-4C9EB280A694}"/>
              </a:ext>
            </a:extLst>
          </p:cNvPr>
          <p:cNvSpPr>
            <a:spLocks noGrp="1"/>
          </p:cNvSpPr>
          <p:nvPr/>
        </p:nvSpPr>
        <p:spPr>
          <a:xfrm>
            <a:off x="628650" y="5810250"/>
            <a:ext cx="10715625" cy="523875"/>
          </a:xfrm>
          <a:prstGeom prst="rect">
            <a:avLst/>
          </a:prstGeom>
          <a:noFill/>
          <a:ln w="0">
            <a:noFill/>
          </a:ln>
        </p:spPr>
        <p:txBody>
          <a:bodyPr>
            <a:noAutofit/>
          </a:bodyPr>
          <a:lstStyle/>
          <a:p>
            <a:pPr>
              <a:defRPr sz="2025" b="1">
                <a:solidFill>
                  <a:srgbClr val="F4AE7B"/>
                </a:solidFill>
                <a:latin typeface="DejaVu Sans"/>
                <a:ea typeface="DejaVu Sans"/>
                <a:cs typeface="DejaVu Sans"/>
              </a:defRPr>
            </a:pPr>
            <a:r>
              <a:rPr sz="2025" b="1">
                <a:solidFill>
                  <a:srgbClr val="F4AE7B"/>
                </a:solidFill>
                <a:latin typeface="DejaVu Sans"/>
                <a:ea typeface="DejaVu Sans"/>
                <a:cs typeface="DejaVu Sans"/>
              </a:rPr>
              <a:t>The evaluation focuses on reliable bulk transfer over a direct link.</a:t>
            </a:r>
          </a:p>
        </p:txBody>
      </p:sp>
    </p:spTree>
    <p:extLst>
      <p:ext uri="{BB962C8B-B14F-4D97-AF65-F5344CB8AC3E}">
        <p14:creationId xmlns:p14="http://schemas.microsoft.com/office/powerpoint/2010/main" val="2134682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EF2632-05C1-46C0-88EC-3C738F7FE00D}"/>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Where SMUFF fits in the research landscape</a:t>
            </a:r>
          </a:p>
        </p:txBody>
      </p:sp>
      <p:sp>
        <p:nvSpPr>
          <p:cNvPr id="2" name="Rectangle 1">
            <a:extLst>
              <a:ext uri="{FF2B5EF4-FFF2-40B4-BE49-F238E27FC236}">
                <a16:creationId xmlns:a16="http://schemas.microsoft.com/office/drawing/2014/main" id="{2BC1C977-1BC3-455B-B41E-05F70FF88175}"/>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11</a:t>
            </a:r>
          </a:p>
        </p:txBody>
      </p:sp>
      <p:graphicFrame>
        <p:nvGraphicFramePr>
          <p:cNvPr id="6" name="Table 5"/>
          <p:cNvGraphicFramePr/>
          <p:nvPr/>
        </p:nvGraphicFramePr>
        <p:xfrm>
          <a:off x="628650" y="1762125"/>
          <a:ext cx="10934700" cy="3981450"/>
        </p:xfrm>
        <a:graphic>
          <a:graphicData uri="http://schemas.openxmlformats.org/drawingml/2006/table">
            <a:tbl>
              <a:tblPr/>
              <a:tblGrid>
                <a:gridCol w="4305300">
                  <a:extLst>
                    <a:ext uri="{9D8B030D-6E8A-4147-A177-3AD203B41FA5}">
                      <a16:colId xmlns:a16="http://schemas.microsoft.com/office/drawing/2014/main" val="20000"/>
                    </a:ext>
                  </a:extLst>
                </a:gridCol>
                <a:gridCol w="6629400">
                  <a:extLst>
                    <a:ext uri="{9D8B030D-6E8A-4147-A177-3AD203B41FA5}">
                      <a16:colId xmlns:a16="http://schemas.microsoft.com/office/drawing/2014/main" val="20001"/>
                    </a:ext>
                  </a:extLst>
                </a:gridCol>
              </a:tblGrid>
              <a:tr h="796290">
                <a:tc>
                  <a:txBody>
                    <a:bodyPr/>
                    <a:lstStyle/>
                    <a:p>
                      <a:r>
                        <a:rPr sz="1650" b="1">
                          <a:solidFill>
                            <a:srgbClr val="F5F4EF"/>
                          </a:solidFill>
                          <a:latin typeface="DejaVu Sans"/>
                          <a:ea typeface="DejaVu Sans"/>
                          <a:cs typeface="DejaVu Sans"/>
                        </a:rPr>
                        <a:t>Research direction</a:t>
                      </a:r>
                    </a:p>
                  </a:txBody>
                  <a:tcPr>
                    <a:solidFill>
                      <a:srgbClr val="172331"/>
                    </a:solidFill>
                  </a:tcPr>
                </a:tc>
                <a:tc>
                  <a:txBody>
                    <a:bodyPr/>
                    <a:lstStyle/>
                    <a:p>
                      <a:r>
                        <a:rPr sz="1650" b="1">
                          <a:solidFill>
                            <a:srgbClr val="F5F4EF"/>
                          </a:solidFill>
                          <a:latin typeface="DejaVu Sans"/>
                          <a:ea typeface="DejaVu Sans"/>
                          <a:cs typeface="DejaVu Sans"/>
                        </a:rPr>
                        <a:t>What it contributes</a:t>
                      </a:r>
                    </a:p>
                  </a:txBody>
                  <a:tcPr>
                    <a:solidFill>
                      <a:srgbClr val="172331"/>
                    </a:solidFill>
                  </a:tcPr>
                </a:tc>
                <a:extLst>
                  <a:ext uri="{0D108BD9-81ED-4DB2-BD59-A6C34878D82A}">
                    <a16:rowId xmlns:a16="http://schemas.microsoft.com/office/drawing/2014/main" val="10000"/>
                  </a:ext>
                </a:extLst>
              </a:tr>
              <a:tr h="796290">
                <a:tc>
                  <a:txBody>
                    <a:bodyPr/>
                    <a:lstStyle/>
                    <a:p>
                      <a:r>
                        <a:rPr sz="1800" b="0">
                          <a:solidFill>
                            <a:srgbClr val="172331"/>
                          </a:solidFill>
                          <a:latin typeface="DejaVu Sans"/>
                          <a:ea typeface="DejaVu Sans"/>
                          <a:cs typeface="DejaVu Sans"/>
                        </a:rPr>
                        <a:t>Queue-based transport</a:t>
                      </a:r>
                    </a:p>
                  </a:txBody>
                  <a:tcPr>
                    <a:solidFill>
                      <a:srgbClr val="F5F4EF"/>
                    </a:solidFill>
                  </a:tcPr>
                </a:tc>
                <a:tc>
                  <a:txBody>
                    <a:bodyPr/>
                    <a:lstStyle/>
                    <a:p>
                      <a:r>
                        <a:rPr sz="1800" b="0">
                          <a:solidFill>
                            <a:srgbClr val="172331"/>
                          </a:solidFill>
                          <a:latin typeface="DejaVu Sans"/>
                          <a:ea typeface="DejaVu Sans"/>
                          <a:cs typeface="DejaVu Sans"/>
                        </a:rPr>
                        <a:t>Use queue information to guide the sending rate</a:t>
                      </a:r>
                    </a:p>
                  </a:txBody>
                  <a:tcPr>
                    <a:solidFill>
                      <a:srgbClr val="F5F4EF"/>
                    </a:solidFill>
                  </a:tcPr>
                </a:tc>
                <a:extLst>
                  <a:ext uri="{0D108BD9-81ED-4DB2-BD59-A6C34878D82A}">
                    <a16:rowId xmlns:a16="http://schemas.microsoft.com/office/drawing/2014/main" val="10001"/>
                  </a:ext>
                </a:extLst>
              </a:tr>
              <a:tr h="796290">
                <a:tc>
                  <a:txBody>
                    <a:bodyPr/>
                    <a:lstStyle/>
                    <a:p>
                      <a:r>
                        <a:rPr sz="1800" b="0">
                          <a:solidFill>
                            <a:srgbClr val="172331"/>
                          </a:solidFill>
                          <a:latin typeface="DejaVu Sans"/>
                          <a:ea typeface="DejaVu Sans"/>
                          <a:cs typeface="DejaVu Sans"/>
                        </a:rPr>
                        <a:t>Wireless reliability and acknowledgments</a:t>
                      </a:r>
                    </a:p>
                  </a:txBody>
                  <a:tcPr>
                    <a:solidFill>
                      <a:srgbClr val="F5F4EF"/>
                    </a:solidFill>
                  </a:tcPr>
                </a:tc>
                <a:tc>
                  <a:txBody>
                    <a:bodyPr/>
                    <a:lstStyle/>
                    <a:p>
                      <a:r>
                        <a:rPr sz="1800" b="0">
                          <a:solidFill>
                            <a:srgbClr val="172331"/>
                          </a:solidFill>
                          <a:latin typeface="DejaVu Sans"/>
                          <a:ea typeface="DejaVu Sans"/>
                          <a:cs typeface="DejaVu Sans"/>
                        </a:rPr>
                        <a:t>Handle loss while reducing channel contention</a:t>
                      </a:r>
                    </a:p>
                  </a:txBody>
                  <a:tcPr>
                    <a:solidFill>
                      <a:srgbClr val="F5F4EF"/>
                    </a:solidFill>
                  </a:tcPr>
                </a:tc>
                <a:extLst>
                  <a:ext uri="{0D108BD9-81ED-4DB2-BD59-A6C34878D82A}">
                    <a16:rowId xmlns:a16="http://schemas.microsoft.com/office/drawing/2014/main" val="10002"/>
                  </a:ext>
                </a:extLst>
              </a:tr>
              <a:tr h="796290">
                <a:tc>
                  <a:txBody>
                    <a:bodyPr/>
                    <a:lstStyle/>
                    <a:p>
                      <a:r>
                        <a:rPr sz="1800" b="0">
                          <a:solidFill>
                            <a:srgbClr val="172331"/>
                          </a:solidFill>
                          <a:latin typeface="DejaVu Sans"/>
                          <a:ea typeface="DejaVu Sans"/>
                          <a:cs typeface="DejaVu Sans"/>
                        </a:rPr>
                        <a:t>Wireless capacity estimation</a:t>
                      </a:r>
                    </a:p>
                  </a:txBody>
                  <a:tcPr>
                    <a:solidFill>
                      <a:srgbClr val="F5F4EF"/>
                    </a:solidFill>
                  </a:tcPr>
                </a:tc>
                <a:tc>
                  <a:txBody>
                    <a:bodyPr/>
                    <a:lstStyle/>
                    <a:p>
                      <a:r>
                        <a:rPr sz="1800" b="0">
                          <a:solidFill>
                            <a:srgbClr val="172331"/>
                          </a:solidFill>
                          <a:latin typeface="DejaVu Sans"/>
                          <a:ea typeface="DejaVu Sans"/>
                          <a:cs typeface="DejaVu Sans"/>
                        </a:rPr>
                        <a:t>Track a link whose speed changes over time</a:t>
                      </a:r>
                    </a:p>
                  </a:txBody>
                  <a:tcPr>
                    <a:solidFill>
                      <a:srgbClr val="F5F4EF"/>
                    </a:solidFill>
                  </a:tcPr>
                </a:tc>
                <a:extLst>
                  <a:ext uri="{0D108BD9-81ED-4DB2-BD59-A6C34878D82A}">
                    <a16:rowId xmlns:a16="http://schemas.microsoft.com/office/drawing/2014/main" val="10003"/>
                  </a:ext>
                </a:extLst>
              </a:tr>
              <a:tr h="796290">
                <a:tc>
                  <a:txBody>
                    <a:bodyPr/>
                    <a:lstStyle/>
                    <a:p>
                      <a:r>
                        <a:rPr sz="1800" b="0">
                          <a:solidFill>
                            <a:srgbClr val="172331"/>
                          </a:solidFill>
                          <a:latin typeface="DejaVu Sans"/>
                          <a:ea typeface="DejaVu Sans"/>
                          <a:cs typeface="DejaVu Sans"/>
                        </a:rPr>
                        <a:t>SMUFF’s position</a:t>
                      </a:r>
                    </a:p>
                  </a:txBody>
                  <a:tcPr>
                    <a:solidFill>
                      <a:srgbClr val="F5F4EF"/>
                    </a:solidFill>
                  </a:tcPr>
                </a:tc>
                <a:tc>
                  <a:txBody>
                    <a:bodyPr/>
                    <a:lstStyle/>
                    <a:p>
                      <a:r>
                        <a:rPr sz="1800" b="0">
                          <a:solidFill>
                            <a:srgbClr val="172331"/>
                          </a:solidFill>
                          <a:latin typeface="DejaVu Sans"/>
                          <a:ea typeface="DejaVu Sans"/>
                          <a:cs typeface="DejaVu Sans"/>
                        </a:rPr>
                        <a:t>Coordinate critical endpoint buffers on a direct link</a:t>
                      </a:r>
                    </a:p>
                  </a:txBody>
                  <a:tcPr>
                    <a:solidFill>
                      <a:srgbClr val="F5F4E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33513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72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006F785-28F8-48CC-864E-C191A40B04FE}"/>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F5F4EF"/>
                </a:solidFill>
                <a:latin typeface="DejaVu Sans"/>
                <a:ea typeface="DejaVu Sans"/>
                <a:cs typeface="DejaVu Sans"/>
              </a:defRPr>
            </a:pPr>
            <a:r>
              <a:rPr sz="3300" b="1">
                <a:solidFill>
                  <a:srgbClr val="F5F4EF"/>
                </a:solidFill>
                <a:latin typeface="DejaVu Sans"/>
                <a:ea typeface="DejaVu Sans"/>
                <a:cs typeface="DejaVu Sans"/>
              </a:rPr>
              <a:t>Research opportunities the paper opens</a:t>
            </a:r>
          </a:p>
        </p:txBody>
      </p:sp>
      <p:sp>
        <p:nvSpPr>
          <p:cNvPr id="2" name="Rectangle 1">
            <a:extLst>
              <a:ext uri="{FF2B5EF4-FFF2-40B4-BE49-F238E27FC236}">
                <a16:creationId xmlns:a16="http://schemas.microsoft.com/office/drawing/2014/main" id="{135C2633-809E-49A1-9B85-9763015DE30D}"/>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A9B7C4"/>
                </a:solidFill>
                <a:latin typeface="DejaVu Sans"/>
                <a:ea typeface="DejaVu Sans"/>
                <a:cs typeface="DejaVu Sans"/>
              </a:defRPr>
            </a:pPr>
            <a:r>
              <a:rPr sz="1200" b="0">
                <a:solidFill>
                  <a:srgbClr val="A9B7C4"/>
                </a:solidFill>
                <a:latin typeface="DejaVu Sans"/>
                <a:ea typeface="DejaVu Sans"/>
                <a:cs typeface="DejaVu Sans"/>
              </a:rPr>
              <a:t>12</a:t>
            </a:r>
          </a:p>
        </p:txBody>
      </p:sp>
      <p:graphicFrame>
        <p:nvGraphicFramePr>
          <p:cNvPr id="7" name="Table 6"/>
          <p:cNvGraphicFramePr/>
          <p:nvPr/>
        </p:nvGraphicFramePr>
        <p:xfrm>
          <a:off x="628650" y="1762125"/>
          <a:ext cx="10934700" cy="3895725"/>
        </p:xfrm>
        <a:graphic>
          <a:graphicData uri="http://schemas.openxmlformats.org/drawingml/2006/table">
            <a:tbl>
              <a:tblPr/>
              <a:tblGrid>
                <a:gridCol w="3714750">
                  <a:extLst>
                    <a:ext uri="{9D8B030D-6E8A-4147-A177-3AD203B41FA5}">
                      <a16:colId xmlns:a16="http://schemas.microsoft.com/office/drawing/2014/main" val="20000"/>
                    </a:ext>
                  </a:extLst>
                </a:gridCol>
                <a:gridCol w="7219950">
                  <a:extLst>
                    <a:ext uri="{9D8B030D-6E8A-4147-A177-3AD203B41FA5}">
                      <a16:colId xmlns:a16="http://schemas.microsoft.com/office/drawing/2014/main" val="20001"/>
                    </a:ext>
                  </a:extLst>
                </a:gridCol>
              </a:tblGrid>
              <a:tr h="779145">
                <a:tc>
                  <a:txBody>
                    <a:bodyPr/>
                    <a:lstStyle/>
                    <a:p>
                      <a:r>
                        <a:rPr sz="1650" b="1">
                          <a:solidFill>
                            <a:srgbClr val="F5F4EF"/>
                          </a:solidFill>
                          <a:latin typeface="DejaVu Sans"/>
                          <a:ea typeface="DejaVu Sans"/>
                          <a:cs typeface="DejaVu Sans"/>
                        </a:rPr>
                        <a:t>Opportunity</a:t>
                      </a:r>
                    </a:p>
                  </a:txBody>
                  <a:tcPr>
                    <a:solidFill>
                      <a:srgbClr val="213A43"/>
                    </a:solidFill>
                  </a:tcPr>
                </a:tc>
                <a:tc>
                  <a:txBody>
                    <a:bodyPr/>
                    <a:lstStyle/>
                    <a:p>
                      <a:r>
                        <a:rPr sz="1650" b="1">
                          <a:solidFill>
                            <a:srgbClr val="F5F4EF"/>
                          </a:solidFill>
                          <a:latin typeface="DejaVu Sans"/>
                          <a:ea typeface="DejaVu Sans"/>
                          <a:cs typeface="DejaVu Sans"/>
                        </a:rPr>
                        <a:t>Research question</a:t>
                      </a:r>
                    </a:p>
                  </a:txBody>
                  <a:tcPr>
                    <a:solidFill>
                      <a:srgbClr val="213A43"/>
                    </a:solidFill>
                  </a:tcPr>
                </a:tc>
                <a:extLst>
                  <a:ext uri="{0D108BD9-81ED-4DB2-BD59-A6C34878D82A}">
                    <a16:rowId xmlns:a16="http://schemas.microsoft.com/office/drawing/2014/main" val="10000"/>
                  </a:ext>
                </a:extLst>
              </a:tr>
              <a:tr h="779145">
                <a:tc>
                  <a:txBody>
                    <a:bodyPr/>
                    <a:lstStyle/>
                    <a:p>
                      <a:r>
                        <a:rPr sz="1800" b="0">
                          <a:solidFill>
                            <a:srgbClr val="F5F4EF"/>
                          </a:solidFill>
                          <a:latin typeface="DejaVu Sans"/>
                          <a:ea typeface="DejaVu Sans"/>
                          <a:cs typeface="DejaVu Sans"/>
                        </a:rPr>
                        <a:t>Other direct links</a:t>
                      </a:r>
                    </a:p>
                  </a:txBody>
                  <a:tcPr>
                    <a:solidFill>
                      <a:srgbClr val="101722"/>
                    </a:solidFill>
                  </a:tcPr>
                </a:tc>
                <a:tc>
                  <a:txBody>
                    <a:bodyPr/>
                    <a:lstStyle/>
                    <a:p>
                      <a:r>
                        <a:rPr sz="1800" b="0">
                          <a:solidFill>
                            <a:srgbClr val="F5F4EF"/>
                          </a:solidFill>
                          <a:latin typeface="DejaVu Sans"/>
                          <a:ea typeface="DejaVu Sans"/>
                          <a:cs typeface="DejaVu Sans"/>
                        </a:rPr>
                        <a:t>Which assumptions still hold on a different link technology?</a:t>
                      </a:r>
                    </a:p>
                  </a:txBody>
                  <a:tcPr>
                    <a:solidFill>
                      <a:srgbClr val="101722"/>
                    </a:solidFill>
                  </a:tcPr>
                </a:tc>
                <a:extLst>
                  <a:ext uri="{0D108BD9-81ED-4DB2-BD59-A6C34878D82A}">
                    <a16:rowId xmlns:a16="http://schemas.microsoft.com/office/drawing/2014/main" val="10001"/>
                  </a:ext>
                </a:extLst>
              </a:tr>
              <a:tr h="779145">
                <a:tc>
                  <a:txBody>
                    <a:bodyPr/>
                    <a:lstStyle/>
                    <a:p>
                      <a:r>
                        <a:rPr sz="1800" b="0">
                          <a:solidFill>
                            <a:srgbClr val="F5F4EF"/>
                          </a:solidFill>
                          <a:latin typeface="DejaVu Sans"/>
                          <a:ea typeface="DejaVu Sans"/>
                          <a:cs typeface="DejaVu Sans"/>
                        </a:rPr>
                        <a:t>Interactive applications</a:t>
                      </a:r>
                    </a:p>
                  </a:txBody>
                  <a:tcPr>
                    <a:solidFill>
                      <a:srgbClr val="101722"/>
                    </a:solidFill>
                  </a:tcPr>
                </a:tc>
                <a:tc>
                  <a:txBody>
                    <a:bodyPr/>
                    <a:lstStyle/>
                    <a:p>
                      <a:r>
                        <a:rPr sz="1800" b="0">
                          <a:solidFill>
                            <a:srgbClr val="F5F4EF"/>
                          </a:solidFill>
                          <a:latin typeface="DejaVu Sans"/>
                          <a:ea typeface="DejaVu Sans"/>
                          <a:cs typeface="DejaVu Sans"/>
                        </a:rPr>
                        <a:t>How should the controller balance speed and delay?</a:t>
                      </a:r>
                    </a:p>
                  </a:txBody>
                  <a:tcPr>
                    <a:solidFill>
                      <a:srgbClr val="101722"/>
                    </a:solidFill>
                  </a:tcPr>
                </a:tc>
                <a:extLst>
                  <a:ext uri="{0D108BD9-81ED-4DB2-BD59-A6C34878D82A}">
                    <a16:rowId xmlns:a16="http://schemas.microsoft.com/office/drawing/2014/main" val="10002"/>
                  </a:ext>
                </a:extLst>
              </a:tr>
              <a:tr h="779145">
                <a:tc>
                  <a:txBody>
                    <a:bodyPr/>
                    <a:lstStyle/>
                    <a:p>
                      <a:r>
                        <a:rPr sz="1800" b="0">
                          <a:solidFill>
                            <a:srgbClr val="F5F4EF"/>
                          </a:solidFill>
                          <a:latin typeface="DejaVu Sans"/>
                          <a:ea typeface="DejaVu Sans"/>
                          <a:cs typeface="DejaVu Sans"/>
                        </a:rPr>
                        <a:t>Hardware queue visibility</a:t>
                      </a:r>
                    </a:p>
                  </a:txBody>
                  <a:tcPr>
                    <a:solidFill>
                      <a:srgbClr val="101722"/>
                    </a:solidFill>
                  </a:tcPr>
                </a:tc>
                <a:tc>
                  <a:txBody>
                    <a:bodyPr/>
                    <a:lstStyle/>
                    <a:p>
                      <a:r>
                        <a:rPr sz="1800" b="0">
                          <a:solidFill>
                            <a:srgbClr val="F5F4EF"/>
                          </a:solidFill>
                          <a:latin typeface="DejaVu Sans"/>
                          <a:ea typeface="DejaVu Sans"/>
                          <a:cs typeface="DejaVu Sans"/>
                        </a:rPr>
                        <a:t>Can better feedback protect foreground traffic more effectively?</a:t>
                      </a:r>
                    </a:p>
                  </a:txBody>
                  <a:tcPr>
                    <a:solidFill>
                      <a:srgbClr val="101722"/>
                    </a:solidFill>
                  </a:tcPr>
                </a:tc>
                <a:extLst>
                  <a:ext uri="{0D108BD9-81ED-4DB2-BD59-A6C34878D82A}">
                    <a16:rowId xmlns:a16="http://schemas.microsoft.com/office/drawing/2014/main" val="10003"/>
                  </a:ext>
                </a:extLst>
              </a:tr>
              <a:tr h="779145">
                <a:tc>
                  <a:txBody>
                    <a:bodyPr/>
                    <a:lstStyle/>
                    <a:p>
                      <a:r>
                        <a:rPr sz="1800" b="0">
                          <a:solidFill>
                            <a:srgbClr val="F5F4EF"/>
                          </a:solidFill>
                          <a:latin typeface="DejaVu Sans"/>
                          <a:ea typeface="DejaVu Sans"/>
                          <a:cs typeface="DejaVu Sans"/>
                        </a:rPr>
                        <a:t>More shared resources</a:t>
                      </a:r>
                    </a:p>
                  </a:txBody>
                  <a:tcPr>
                    <a:solidFill>
                      <a:srgbClr val="101722"/>
                    </a:solidFill>
                  </a:tcPr>
                </a:tc>
                <a:tc>
                  <a:txBody>
                    <a:bodyPr/>
                    <a:lstStyle/>
                    <a:p>
                      <a:r>
                        <a:rPr sz="1800" b="0">
                          <a:solidFill>
                            <a:srgbClr val="F5F4EF"/>
                          </a:solidFill>
                          <a:latin typeface="DejaVu Sans"/>
                          <a:ea typeface="DejaVu Sans"/>
                          <a:cs typeface="DejaVu Sans"/>
                        </a:rPr>
                        <a:t>What changes when multiple devices or transfers compete?</a:t>
                      </a:r>
                    </a:p>
                  </a:txBody>
                  <a:tcPr>
                    <a:solidFill>
                      <a:srgbClr val="101722"/>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CBF4495F-EC8D-4C62-A08A-0DC642F5D3A5}"/>
              </a:ext>
            </a:extLst>
          </p:cNvPr>
          <p:cNvSpPr>
            <a:spLocks noGrp="1"/>
          </p:cNvSpPr>
          <p:nvPr/>
        </p:nvSpPr>
        <p:spPr>
          <a:xfrm>
            <a:off x="628650" y="5981700"/>
            <a:ext cx="10715625" cy="371475"/>
          </a:xfrm>
          <a:prstGeom prst="rect">
            <a:avLst/>
          </a:prstGeom>
          <a:noFill/>
          <a:ln w="0">
            <a:noFill/>
          </a:ln>
        </p:spPr>
        <p:txBody>
          <a:bodyPr>
            <a:noAutofit/>
          </a:bodyPr>
          <a:lstStyle/>
          <a:p>
            <a:pPr>
              <a:defRPr sz="1350" b="0">
                <a:solidFill>
                  <a:srgbClr val="A9B7C4"/>
                </a:solidFill>
                <a:latin typeface="DejaVu Sans"/>
                <a:ea typeface="DejaVu Sans"/>
                <a:cs typeface="DejaVu Sans"/>
              </a:defRPr>
            </a:pPr>
            <a:r>
              <a:rPr sz="1350" b="0">
                <a:solidFill>
                  <a:srgbClr val="A9B7C4"/>
                </a:solidFill>
                <a:latin typeface="DejaVu Sans"/>
                <a:ea typeface="DejaVu Sans"/>
                <a:cs typeface="DejaVu Sans"/>
              </a:rPr>
              <a:t>Extensions and discussion questions, not results demonstrated for all these settings.</a:t>
            </a:r>
          </a:p>
        </p:txBody>
      </p:sp>
    </p:spTree>
    <p:extLst>
      <p:ext uri="{BB962C8B-B14F-4D97-AF65-F5344CB8AC3E}">
        <p14:creationId xmlns:p14="http://schemas.microsoft.com/office/powerpoint/2010/main" val="134285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172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5D30CE-A8D6-470D-996B-B67BB4FAC79A}"/>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F5F4EF"/>
                </a:solidFill>
                <a:latin typeface="DejaVu Sans"/>
                <a:ea typeface="DejaVu Sans"/>
                <a:cs typeface="DejaVu Sans"/>
              </a:defRPr>
            </a:pPr>
            <a:r>
              <a:rPr sz="3300" b="1">
                <a:solidFill>
                  <a:srgbClr val="F5F4EF"/>
                </a:solidFill>
                <a:latin typeface="DejaVu Sans"/>
                <a:ea typeface="DejaVu Sans"/>
                <a:cs typeface="DejaVu Sans"/>
              </a:rPr>
              <a:t>The bigger lesson</a:t>
            </a:r>
          </a:p>
        </p:txBody>
      </p:sp>
      <p:sp>
        <p:nvSpPr>
          <p:cNvPr id="2" name="Rectangle 1">
            <a:extLst>
              <a:ext uri="{FF2B5EF4-FFF2-40B4-BE49-F238E27FC236}">
                <a16:creationId xmlns:a16="http://schemas.microsoft.com/office/drawing/2014/main" id="{FD7B270E-D25B-4E31-A43E-C1546DDCA70C}"/>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A9B7C4"/>
                </a:solidFill>
                <a:latin typeface="DejaVu Sans"/>
                <a:ea typeface="DejaVu Sans"/>
                <a:cs typeface="DejaVu Sans"/>
              </a:defRPr>
            </a:pPr>
            <a:r>
              <a:rPr sz="1200" b="0">
                <a:solidFill>
                  <a:srgbClr val="A9B7C4"/>
                </a:solidFill>
                <a:latin typeface="DejaVu Sans"/>
                <a:ea typeface="DejaVu Sans"/>
                <a:cs typeface="DejaVu Sans"/>
              </a:rPr>
              <a:t>13</a:t>
            </a:r>
          </a:p>
        </p:txBody>
      </p:sp>
      <p:sp>
        <p:nvSpPr>
          <p:cNvPr id="3" name="Rectangle 2">
            <a:extLst>
              <a:ext uri="{FF2B5EF4-FFF2-40B4-BE49-F238E27FC236}">
                <a16:creationId xmlns:a16="http://schemas.microsoft.com/office/drawing/2014/main" id="{E2C0AB0E-1DEB-4849-A8D8-265196C5CE50}"/>
              </a:ext>
            </a:extLst>
          </p:cNvPr>
          <p:cNvSpPr>
            <a:spLocks noGrp="1"/>
          </p:cNvSpPr>
          <p:nvPr/>
        </p:nvSpPr>
        <p:spPr>
          <a:xfrm>
            <a:off x="628650" y="1743075"/>
            <a:ext cx="10934700" cy="1752600"/>
          </a:xfrm>
          <a:prstGeom prst="rect">
            <a:avLst/>
          </a:prstGeom>
          <a:noFill/>
          <a:ln w="0">
            <a:noFill/>
          </a:ln>
        </p:spPr>
        <p:txBody>
          <a:bodyPr>
            <a:noAutofit/>
          </a:bodyPr>
          <a:lstStyle/>
          <a:p>
            <a:pPr>
              <a:defRPr sz="5100" b="1">
                <a:solidFill>
                  <a:srgbClr val="67D9C7"/>
                </a:solidFill>
                <a:latin typeface="DejaVu Sans"/>
                <a:ea typeface="DejaVu Sans"/>
                <a:cs typeface="DejaVu Sans"/>
              </a:defRPr>
            </a:pPr>
            <a:r>
              <a:rPr sz="5100" b="1">
                <a:solidFill>
                  <a:srgbClr val="67D9C7"/>
                </a:solidFill>
                <a:latin typeface="DejaVu Sans"/>
                <a:ea typeface="DejaVu Sans"/>
                <a:cs typeface="DejaVu Sans"/>
              </a:rPr>
              <a:t>Fast hardware needs</a:t>
            </a:r>
          </a:p>
          <a:p>
            <a:pPr>
              <a:defRPr sz="5100" b="1">
                <a:solidFill>
                  <a:srgbClr val="67D9C7"/>
                </a:solidFill>
                <a:latin typeface="DejaVu Sans"/>
                <a:ea typeface="DejaVu Sans"/>
                <a:cs typeface="DejaVu Sans"/>
              </a:defRPr>
            </a:pPr>
            <a:r>
              <a:rPr sz="5100" b="1">
                <a:solidFill>
                  <a:srgbClr val="67D9C7"/>
                </a:solidFill>
                <a:latin typeface="DejaVu Sans"/>
                <a:ea typeface="DejaVu Sans"/>
                <a:cs typeface="DejaVu Sans"/>
              </a:rPr>
              <a:t>coordinated software.</a:t>
            </a:r>
          </a:p>
        </p:txBody>
      </p:sp>
      <p:sp>
        <p:nvSpPr>
          <p:cNvPr id="4" name="Rectangle 3">
            <a:extLst>
              <a:ext uri="{FF2B5EF4-FFF2-40B4-BE49-F238E27FC236}">
                <a16:creationId xmlns:a16="http://schemas.microsoft.com/office/drawing/2014/main" id="{FCBE85FC-C1E3-4701-8B0B-78AE34E490D4}"/>
              </a:ext>
            </a:extLst>
          </p:cNvPr>
          <p:cNvSpPr>
            <a:spLocks noGrp="1"/>
          </p:cNvSpPr>
          <p:nvPr/>
        </p:nvSpPr>
        <p:spPr>
          <a:xfrm>
            <a:off x="685800" y="3952875"/>
            <a:ext cx="10572750" cy="1095375"/>
          </a:xfrm>
          <a:prstGeom prst="rect">
            <a:avLst/>
          </a:prstGeom>
          <a:noFill/>
          <a:ln w="0">
            <a:noFill/>
          </a:ln>
        </p:spPr>
        <p:txBody>
          <a:bodyPr>
            <a:noAutofit/>
          </a:bodyPr>
          <a:lstStyle/>
          <a:p>
            <a:pPr>
              <a:defRPr sz="2475" b="0">
                <a:solidFill>
                  <a:srgbClr val="F5F4EF"/>
                </a:solidFill>
                <a:latin typeface="DejaVu Sans"/>
                <a:ea typeface="DejaVu Sans"/>
                <a:cs typeface="DejaVu Sans"/>
              </a:defRPr>
            </a:pPr>
            <a:r>
              <a:rPr sz="2475" b="0">
                <a:solidFill>
                  <a:srgbClr val="F5F4EF"/>
                </a:solidFill>
                <a:latin typeface="DejaVu Sans"/>
                <a:ea typeface="DejaVu Sans"/>
                <a:cs typeface="DejaVu Sans"/>
              </a:rPr>
              <a:t>SMUFF uses buffer feedback to keep the bottleneck busy without overwhelming the data path.</a:t>
            </a:r>
          </a:p>
        </p:txBody>
      </p:sp>
      <p:sp>
        <p:nvSpPr>
          <p:cNvPr id="5" name="Rectangle 4">
            <a:extLst>
              <a:ext uri="{FF2B5EF4-FFF2-40B4-BE49-F238E27FC236}">
                <a16:creationId xmlns:a16="http://schemas.microsoft.com/office/drawing/2014/main" id="{75AE19C1-A9C8-4E4A-811F-B18077D62717}"/>
              </a:ext>
            </a:extLst>
          </p:cNvPr>
          <p:cNvSpPr>
            <a:spLocks noGrp="1"/>
          </p:cNvSpPr>
          <p:nvPr/>
        </p:nvSpPr>
        <p:spPr>
          <a:xfrm>
            <a:off x="685800" y="5486400"/>
            <a:ext cx="10525125" cy="781050"/>
          </a:xfrm>
          <a:prstGeom prst="rect">
            <a:avLst/>
          </a:prstGeom>
          <a:noFill/>
          <a:ln w="0">
            <a:noFill/>
          </a:ln>
        </p:spPr>
        <p:txBody>
          <a:bodyPr>
            <a:noAutofit/>
          </a:bodyPr>
          <a:lstStyle/>
          <a:p>
            <a:pPr>
              <a:defRPr sz="2100" b="0">
                <a:solidFill>
                  <a:srgbClr val="F4AE7B"/>
                </a:solidFill>
                <a:latin typeface="DejaVu Sans"/>
                <a:ea typeface="DejaVu Sans"/>
                <a:cs typeface="DejaVu Sans"/>
              </a:defRPr>
            </a:pPr>
            <a:r>
              <a:rPr sz="2100" b="0">
                <a:solidFill>
                  <a:srgbClr val="F4AE7B"/>
                </a:solidFill>
                <a:latin typeface="DejaVu Sans"/>
                <a:ea typeface="DejaVu Sans"/>
                <a:cs typeface="DejaVu Sans"/>
              </a:rPr>
              <a:t>Discussion: how much responsiveness should a device trade for a faster file transfer?</a:t>
            </a:r>
          </a:p>
        </p:txBody>
      </p:sp>
    </p:spTree>
    <p:extLst>
      <p:ext uri="{BB962C8B-B14F-4D97-AF65-F5344CB8AC3E}">
        <p14:creationId xmlns:p14="http://schemas.microsoft.com/office/powerpoint/2010/main" val="1998163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F65DB0A-9E83-4E33-B93F-8F01C26FDD28}"/>
              </a:ext>
            </a:extLst>
          </p:cNvPr>
          <p:cNvSpPr>
            <a:spLocks noGrp="1"/>
          </p:cNvSpPr>
          <p:nvPr/>
        </p:nvSpPr>
        <p:spPr>
          <a:xfrm>
            <a:off x="628650" y="476250"/>
            <a:ext cx="10934700" cy="1009650"/>
          </a:xfrm>
          <a:prstGeom prst="rect">
            <a:avLst/>
          </a:prstGeom>
          <a:noFill/>
          <a:ln w="0">
            <a:noFill/>
          </a:ln>
        </p:spPr>
        <p:txBody>
          <a:bodyPr>
            <a:noAutofit/>
          </a:bodyPr>
          <a:lstStyle/>
          <a:p>
            <a:pPr>
              <a:defRPr sz="3300" b="1">
                <a:solidFill>
                  <a:srgbClr val="172331"/>
                </a:solidFill>
                <a:latin typeface="DejaVu Sans"/>
                <a:ea typeface="DejaVu Sans"/>
                <a:cs typeface="DejaVu Sans"/>
              </a:defRPr>
            </a:pPr>
            <a:r>
              <a:rPr sz="3300" b="1">
                <a:solidFill>
                  <a:srgbClr val="172331"/>
                </a:solidFill>
                <a:latin typeface="DejaVu Sans"/>
                <a:ea typeface="DejaVu Sans"/>
                <a:cs typeface="DejaVu Sans"/>
              </a:rPr>
              <a:t>Source and figure credits</a:t>
            </a:r>
          </a:p>
        </p:txBody>
      </p:sp>
      <p:sp>
        <p:nvSpPr>
          <p:cNvPr id="2" name="Rectangle 1">
            <a:extLst>
              <a:ext uri="{FF2B5EF4-FFF2-40B4-BE49-F238E27FC236}">
                <a16:creationId xmlns:a16="http://schemas.microsoft.com/office/drawing/2014/main" id="{406CD41D-1C14-4CBA-8A65-109387207725}"/>
              </a:ext>
            </a:extLst>
          </p:cNvPr>
          <p:cNvSpPr>
            <a:spLocks noGrp="1"/>
          </p:cNvSpPr>
          <p:nvPr/>
        </p:nvSpPr>
        <p:spPr>
          <a:xfrm>
            <a:off x="11144250" y="6343650"/>
            <a:ext cx="571500" cy="257175"/>
          </a:xfrm>
          <a:prstGeom prst="rect">
            <a:avLst/>
          </a:prstGeom>
          <a:noFill/>
          <a:ln w="0">
            <a:noFill/>
          </a:ln>
        </p:spPr>
        <p:txBody>
          <a:bodyPr>
            <a:noAutofit/>
          </a:bodyPr>
          <a:lstStyle/>
          <a:p>
            <a:pPr>
              <a:defRPr sz="1200" b="0">
                <a:solidFill>
                  <a:srgbClr val="60727D"/>
                </a:solidFill>
                <a:latin typeface="DejaVu Sans"/>
                <a:ea typeface="DejaVu Sans"/>
                <a:cs typeface="DejaVu Sans"/>
              </a:defRPr>
            </a:pPr>
            <a:r>
              <a:rPr sz="1200" b="0">
                <a:solidFill>
                  <a:srgbClr val="60727D"/>
                </a:solidFill>
                <a:latin typeface="DejaVu Sans"/>
                <a:ea typeface="DejaVu Sans"/>
                <a:cs typeface="DejaVu Sans"/>
              </a:rPr>
              <a:t>14</a:t>
            </a:r>
          </a:p>
        </p:txBody>
      </p:sp>
      <p:sp>
        <p:nvSpPr>
          <p:cNvPr id="3" name="Rectangle 2">
            <a:extLst>
              <a:ext uri="{FF2B5EF4-FFF2-40B4-BE49-F238E27FC236}">
                <a16:creationId xmlns:a16="http://schemas.microsoft.com/office/drawing/2014/main" id="{C30E10AF-61D7-4808-83BF-3CD86B621D56}"/>
              </a:ext>
            </a:extLst>
          </p:cNvPr>
          <p:cNvSpPr>
            <a:spLocks noGrp="1"/>
          </p:cNvSpPr>
          <p:nvPr/>
        </p:nvSpPr>
        <p:spPr>
          <a:xfrm>
            <a:off x="628650" y="1809750"/>
            <a:ext cx="10906125" cy="533400"/>
          </a:xfrm>
          <a:prstGeom prst="rect">
            <a:avLst/>
          </a:prstGeom>
          <a:noFill/>
          <a:ln w="0">
            <a:noFill/>
          </a:ln>
        </p:spPr>
        <p:txBody>
          <a:bodyPr>
            <a:noAutofit/>
          </a:bodyPr>
          <a:lstStyle/>
          <a:p>
            <a:pPr>
              <a:defRPr sz="2325" b="1">
                <a:solidFill>
                  <a:srgbClr val="087F74"/>
                </a:solidFill>
                <a:latin typeface="DejaVu Sans"/>
                <a:ea typeface="DejaVu Sans"/>
                <a:cs typeface="DejaVu Sans"/>
              </a:defRPr>
            </a:pPr>
            <a:r>
              <a:rPr sz="2325" b="1">
                <a:solidFill>
                  <a:srgbClr val="087F74"/>
                </a:solidFill>
                <a:latin typeface="DejaVu Sans"/>
                <a:ea typeface="DejaVu Sans"/>
                <a:cs typeface="DejaVu Sans"/>
              </a:rPr>
              <a:t>Chengke Wang et al. · USENIX NSDI 2024</a:t>
            </a:r>
          </a:p>
        </p:txBody>
      </p:sp>
      <p:sp>
        <p:nvSpPr>
          <p:cNvPr id="4" name="Rectangle 3">
            <a:extLst>
              <a:ext uri="{FF2B5EF4-FFF2-40B4-BE49-F238E27FC236}">
                <a16:creationId xmlns:a16="http://schemas.microsoft.com/office/drawing/2014/main" id="{E203FC48-8FFC-4F6A-8A01-166C30A99BD0}"/>
              </a:ext>
            </a:extLst>
          </p:cNvPr>
          <p:cNvSpPr>
            <a:spLocks noGrp="1"/>
          </p:cNvSpPr>
          <p:nvPr/>
        </p:nvSpPr>
        <p:spPr>
          <a:xfrm>
            <a:off x="628650" y="2552700"/>
            <a:ext cx="10906125" cy="1162050"/>
          </a:xfrm>
          <a:prstGeom prst="rect">
            <a:avLst/>
          </a:prstGeom>
          <a:noFill/>
          <a:ln w="0">
            <a:noFill/>
          </a:ln>
        </p:spPr>
        <p:txBody>
          <a:bodyPr>
            <a:noAutofit/>
          </a:bodyPr>
          <a:lstStyle/>
          <a:p>
            <a:pPr>
              <a:defRPr sz="2475" b="1">
                <a:solidFill>
                  <a:srgbClr val="172331"/>
                </a:solidFill>
                <a:latin typeface="DejaVu Sans"/>
                <a:ea typeface="DejaVu Sans"/>
                <a:cs typeface="DejaVu Sans"/>
              </a:defRPr>
            </a:pPr>
            <a:r>
              <a:rPr sz="2475" b="1">
                <a:solidFill>
                  <a:srgbClr val="172331"/>
                </a:solidFill>
                <a:latin typeface="DejaVu Sans"/>
                <a:ea typeface="DejaVu Sans"/>
                <a:cs typeface="DejaVu Sans"/>
              </a:rPr>
              <a:t>SMUFF: Towards Line Rate Wi-Fi Direct Transport</a:t>
            </a:r>
          </a:p>
          <a:p>
            <a:pPr>
              <a:defRPr sz="2475" b="1">
                <a:solidFill>
                  <a:srgbClr val="172331"/>
                </a:solidFill>
                <a:latin typeface="DejaVu Sans"/>
                <a:ea typeface="DejaVu Sans"/>
                <a:cs typeface="DejaVu Sans"/>
              </a:defRPr>
            </a:pPr>
            <a:r>
              <a:rPr sz="2475" b="1">
                <a:solidFill>
                  <a:srgbClr val="172331"/>
                </a:solidFill>
                <a:latin typeface="DejaVu Sans"/>
                <a:ea typeface="DejaVu Sans"/>
                <a:cs typeface="DejaVu Sans"/>
              </a:rPr>
              <a:t>with Orchestrated On-device Buffer Management</a:t>
            </a:r>
          </a:p>
        </p:txBody>
      </p:sp>
      <p:sp>
        <p:nvSpPr>
          <p:cNvPr id="5" name="Rectangle 4">
            <a:extLst>
              <a:ext uri="{FF2B5EF4-FFF2-40B4-BE49-F238E27FC236}">
                <a16:creationId xmlns:a16="http://schemas.microsoft.com/office/drawing/2014/main" id="{C3FC3317-E84C-4217-9568-581562BDB8DD}"/>
              </a:ext>
            </a:extLst>
          </p:cNvPr>
          <p:cNvSpPr>
            <a:spLocks noGrp="1"/>
          </p:cNvSpPr>
          <p:nvPr/>
        </p:nvSpPr>
        <p:spPr>
          <a:xfrm>
            <a:off x="628650" y="3981450"/>
            <a:ext cx="10934700" cy="1209675"/>
          </a:xfrm>
          <a:prstGeom prst="rect">
            <a:avLst/>
          </a:prstGeom>
          <a:noFill/>
          <a:ln w="0">
            <a:noFill/>
          </a:ln>
        </p:spPr>
        <p:txBody>
          <a:bodyPr>
            <a:noAutofit/>
          </a:bodyPr>
          <a:lstStyle/>
          <a:p>
            <a:pPr>
              <a:defRPr sz="1725" b="0">
                <a:solidFill>
                  <a:srgbClr val="172331"/>
                </a:solidFill>
                <a:latin typeface="DejaVu Sans"/>
                <a:ea typeface="DejaVu Sans"/>
                <a:cs typeface="DejaVu Sans"/>
              </a:defRPr>
            </a:pPr>
            <a:r>
              <a:rPr sz="1725" b="0">
                <a:solidFill>
                  <a:srgbClr val="172331"/>
                </a:solidFill>
                <a:latin typeface="DejaVu Sans"/>
                <a:ea typeface="DejaVu Sans"/>
                <a:cs typeface="DejaVu Sans"/>
              </a:rPr>
              <a:t>Proceedings, pp. 1369–1383</a:t>
            </a:r>
          </a:p>
          <a:p>
            <a:endParaRPr sz="1725" b="0">
              <a:solidFill>
                <a:srgbClr val="172331"/>
              </a:solidFill>
              <a:latin typeface="DejaVu Sans"/>
              <a:ea typeface="DejaVu Sans"/>
              <a:cs typeface="DejaVu Sans"/>
            </a:endParaRPr>
          </a:p>
          <a:p>
            <a:pPr>
              <a:defRPr sz="1725" b="0">
                <a:solidFill>
                  <a:srgbClr val="172331"/>
                </a:solidFill>
                <a:latin typeface="DejaVu Sans"/>
                <a:ea typeface="DejaVu Sans"/>
                <a:cs typeface="DejaVu Sans"/>
              </a:defRPr>
            </a:pPr>
            <a:r>
              <a:rPr sz="1725" b="0">
                <a:solidFill>
                  <a:srgbClr val="172331"/>
                </a:solidFill>
                <a:latin typeface="DejaVu Sans"/>
                <a:ea typeface="DejaVu Sans"/>
                <a:cs typeface="DejaVu Sans"/>
              </a:rPr>
              <a:t>https://www.usenix.org/conference/nsdi24/presentation/wang-chengke</a:t>
            </a:r>
          </a:p>
        </p:txBody>
      </p:sp>
      <p:sp>
        <p:nvSpPr>
          <p:cNvPr id="6" name="Rectangle 5">
            <a:extLst>
              <a:ext uri="{FF2B5EF4-FFF2-40B4-BE49-F238E27FC236}">
                <a16:creationId xmlns:a16="http://schemas.microsoft.com/office/drawing/2014/main" id="{67299B8C-A2ED-4A30-8208-512D15698B0E}"/>
              </a:ext>
            </a:extLst>
          </p:cNvPr>
          <p:cNvSpPr>
            <a:spLocks noGrp="1"/>
          </p:cNvSpPr>
          <p:nvPr/>
        </p:nvSpPr>
        <p:spPr>
          <a:xfrm>
            <a:off x="628650" y="5572125"/>
            <a:ext cx="10668000" cy="742950"/>
          </a:xfrm>
          <a:prstGeom prst="rect">
            <a:avLst/>
          </a:prstGeom>
          <a:noFill/>
          <a:ln w="0">
            <a:noFill/>
          </a:ln>
        </p:spPr>
        <p:txBody>
          <a:bodyPr>
            <a:noAutofit/>
          </a:bodyPr>
          <a:lstStyle/>
          <a:p>
            <a:pPr>
              <a:defRPr sz="1800" b="0">
                <a:solidFill>
                  <a:srgbClr val="172331"/>
                </a:solidFill>
                <a:latin typeface="DejaVu Sans"/>
                <a:ea typeface="DejaVu Sans"/>
                <a:cs typeface="DejaVu Sans"/>
              </a:defRPr>
            </a:pPr>
            <a:r>
              <a:rPr sz="1800" b="0">
                <a:solidFill>
                  <a:srgbClr val="172331"/>
                </a:solidFill>
                <a:latin typeface="DejaVu Sans"/>
                <a:ea typeface="DejaVu Sans"/>
                <a:cs typeface="DejaVu Sans"/>
              </a:rPr>
              <a:t>Original figures used: 1, 6, 7, 11, and 13</a:t>
            </a:r>
          </a:p>
          <a:p>
            <a:pPr>
              <a:defRPr sz="1800" b="0">
                <a:solidFill>
                  <a:srgbClr val="172331"/>
                </a:solidFill>
                <a:latin typeface="DejaVu Sans"/>
                <a:ea typeface="DejaVu Sans"/>
                <a:cs typeface="DejaVu Sans"/>
              </a:defRPr>
            </a:pPr>
            <a:r>
              <a:rPr sz="1800" b="0">
                <a:solidFill>
                  <a:srgbClr val="172331"/>
                </a:solidFill>
                <a:latin typeface="DejaVu Sans"/>
                <a:ea typeface="DejaVu Sans"/>
                <a:cs typeface="DejaVu Sans"/>
              </a:rPr>
              <a:t>Research proposals are labeled separately from reported results.</a:t>
            </a:r>
          </a:p>
        </p:txBody>
      </p:sp>
    </p:spTree>
    <p:extLst>
      <p:ext uri="{BB962C8B-B14F-4D97-AF65-F5344CB8AC3E}">
        <p14:creationId xmlns:p14="http://schemas.microsoft.com/office/powerpoint/2010/main" val="210689715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2294</Words>
  <Application>Microsoft Office PowerPoint</Application>
  <DocSecurity>0</DocSecurity>
  <PresentationFormat>Widescreen</PresentationFormat>
  <Paragraphs>138</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Gannon Wooley</cp:lastModifiedBy>
  <cp:revision>2</cp:revision>
  <dcterms:created xsi:type="dcterms:W3CDTF">2026-09-29T15:22:37Z</dcterms:created>
  <dcterms:modified xsi:type="dcterms:W3CDTF">2026-09-30T21:59:38Z</dcterms:modified>
</cp:coreProperties>
</file>