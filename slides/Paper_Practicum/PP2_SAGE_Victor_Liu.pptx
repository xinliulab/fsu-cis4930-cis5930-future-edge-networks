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7" r:id="rId11"/>
    <p:sldId id="268" r:id="rId12"/>
    <p:sldId id="270" r:id="rId13"/>
    <p:sldId id="269"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6240"/>
  </p:normalViewPr>
  <p:slideViewPr>
    <p:cSldViewPr snapToGrid="0">
      <p:cViewPr varScale="1">
        <p:scale>
          <a:sx n="120" d="100"/>
          <a:sy n="120" d="100"/>
        </p:scale>
        <p:origin x="3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Relative to grant-based</c:v>
          </c:tx>
          <c:spPr>
            <a:solidFill>
              <a:srgbClr val="47D7FF"/>
            </a:solidFill>
          </c:spPr>
          <c:invertIfNegative val="1"/>
          <c:dLbls>
            <c:spPr>
              <a:noFill/>
              <a:ln>
                <a:noFill/>
              </a:ln>
              <a:effectLst/>
            </c:spPr>
            <c:txPr>
              <a:bodyPr anchorCtr="1"/>
              <a:lstStyle/>
              <a:p>
                <a:pPr>
                  <a:defRPr sz="1200" b="1">
                    <a:solidFill>
                      <a:srgbClr val="F4F8FB"/>
                    </a:solidFill>
                    <a:latin typeface="Bitstream Charter"/>
                    <a:ea typeface="Bitstream Charter"/>
                    <a:cs typeface="Bitstream Charte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Uplink latency</c:v>
                </c:pt>
                <c:pt idx="1">
                  <c:v>Allocated resources</c:v>
                </c:pt>
              </c:strCache>
            </c:strRef>
          </c:cat>
          <c:val>
            <c:numRef>
              <c:f>'Chart Data'!$B$2:$B$3</c:f>
              <c:numCache>
                <c:formatCode>General</c:formatCode>
                <c:ptCount val="2"/>
                <c:pt idx="0">
                  <c:v>0.4</c:v>
                </c:pt>
                <c:pt idx="1">
                  <c:v>1.59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ECA-A54B-8316-DF0120AAB823}"/>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w="9525">
              <a:solidFill>
                <a:srgbClr val="34526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975">
                <a:solidFill>
                  <a:srgbClr val="A8BDCC"/>
                </a:solidFill>
                <a:latin typeface="Bitstream Charter"/>
                <a:ea typeface="Bitstream Charter"/>
                <a:cs typeface="Bitstream Charter"/>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345267"/>
            </a:solidFill>
            <a:prstDash val="solid"/>
          </a:ln>
        </c:spPr>
        <c:txPr>
          <a:bodyPr anchorCtr="1"/>
          <a:lstStyle/>
          <a:p>
            <a:pPr>
              <a:defRPr sz="1200">
                <a:solidFill>
                  <a:srgbClr val="DDEBF2"/>
                </a:solidFill>
                <a:latin typeface="Bitstream Charter"/>
                <a:ea typeface="Bitstream Charter"/>
                <a:cs typeface="Bitstream Charter"/>
              </a:defRPr>
            </a:pPr>
            <a:endParaRPr lang="en-US"/>
          </a:p>
        </c:txPr>
        <c:crossAx val="48650112"/>
        <c:crosses val="autoZero"/>
        <c:crossBetween val="between"/>
      </c:valAx>
      <c:spPr>
        <a:solidFill>
          <a:srgbClr val="071A2B"/>
        </a:solidFill>
        <a:ln w="0">
          <a:solidFill>
            <a:srgbClr val="071A2B"/>
          </a:solidFill>
          <a:prstDash val="solid"/>
        </a:ln>
      </c:spPr>
    </c:plotArea>
    <c:plotVisOnly val="1"/>
    <c:dispBlanksAs val="zero"/>
    <c:showDLblsOverMax val="1"/>
  </c:chart>
  <c:spPr>
    <a:solidFill>
      <a:srgbClr val="071A2B"/>
    </a:solidFill>
    <a:ln w="0">
      <a:solidFill>
        <a:srgbClr val="071A2B"/>
      </a:solid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5G is often introduced as a faster way to use a phone. But its larger promise is more important: it could support applications that need communication to be fast, reliable, and predictable.</a:t>
            </a:r>
          </a:p>
          <a:p>
            <a:r>
              <a:rPr lang="en-US" dirty="0"/>
              <a:t>For example, imagine a surgeon controlling a robotic system from another location. The surgeon sends movement commands to the robot, while video and sensor feedback travel back. Even a small and unpredictable delay could make the system difficult to control.</a:t>
            </a:r>
          </a:p>
          <a:p>
            <a:r>
              <a:rPr lang="en-US" dirty="0"/>
              <a:t>5G alone does not make remote surgery safe. Specialized equipment, redundancy, and many other systems are also required. But this example shows why low and predictable latency matters.</a:t>
            </a:r>
          </a:p>
          <a:p>
            <a:r>
              <a:rPr lang="en-US" dirty="0"/>
              <a:t>To support applications like this, the network must reduce more than the time required to transmit data. It must also reduce the time devices spend waiting for permission to transmit.</a:t>
            </a:r>
          </a:p>
          <a:p>
            <a:r>
              <a:rPr lang="en-US" dirty="0"/>
              <a:t>That is the specific problem Sage studies.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problem, we need to separate two parts of the network.</a:t>
            </a:r>
          </a:p>
          <a:p>
            <a:r>
              <a:rPr lang="en-US" dirty="0"/>
              <a:t>The first is the data path. A device sends information through the 5G base station and then toward an application server.</a:t>
            </a:r>
          </a:p>
          <a:p>
            <a:r>
              <a:rPr lang="en-US" dirty="0"/>
              <a:t>The second is the decision path. The base station must decide when the device is allowed to use the shared radio resources.</a:t>
            </a:r>
          </a:p>
          <a:p>
            <a:r>
              <a:rPr lang="en-US" dirty="0"/>
              <a:t>This distinction is important. Sage does not make the application data travel through a new network location. Instead, it improves the decision that controls access to the radio.</a:t>
            </a:r>
          </a:p>
          <a:p>
            <a:r>
              <a:rPr lang="en-US" dirty="0"/>
              <a:t>In simple terms, the network already knows how to carry the data. Sage tries to help it decide earlier when the data is coming.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early cellular networks, the main goal was to connect voice calls. The network could reserve a communication path for one conversation.</a:t>
            </a:r>
          </a:p>
          <a:p>
            <a:r>
              <a:rPr lang="en-US" dirty="0"/>
              <a:t>As cellular systems developed, they began supporting internet data, video, sensors, games, industrial machines, and other applications. These applications do not all send data continuously. Many of them produce short bursts at unpredictable times.</a:t>
            </a:r>
          </a:p>
          <a:p>
            <a:r>
              <a:rPr lang="en-US" dirty="0"/>
              <a:t>That means the network must share the same radio resources among many different users and applications.</a:t>
            </a:r>
          </a:p>
          <a:p>
            <a:r>
              <a:rPr lang="en-US" dirty="0"/>
              <a:t>5G gives the network more flexibility and software control, but that flexibility creates more decisions. The system must decide which device should transmit, when it should transmit, and how much capacity it should receive.</a:t>
            </a:r>
          </a:p>
          <a:p>
            <a:r>
              <a:rPr lang="en-US" dirty="0"/>
              <a:t>Sage focuses on improving one of those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directions of communication.</a:t>
            </a:r>
          </a:p>
          <a:p>
            <a:r>
              <a:rPr lang="en-US" dirty="0"/>
              <a:t>The uplink is when the device sends information to the network. For example, a surgical robot might send sensor data, a camera might send a video frame, or a phone might send a game command.</a:t>
            </a:r>
          </a:p>
          <a:p>
            <a:r>
              <a:rPr lang="en-US" dirty="0"/>
              <a:t>The downlink is when the network sends information back to the device. This could include a video frame, a control response, or an updated map.</a:t>
            </a:r>
          </a:p>
          <a:p>
            <a:r>
              <a:rPr lang="en-US" dirty="0"/>
              <a:t>Sage focuses on the uplink because the device knows when its application creates data, while the base station controls the radio resources. The base station has to learn about the device’s demand through signaling.</a:t>
            </a:r>
          </a:p>
          <a:p>
            <a:r>
              <a:rPr lang="en-US" dirty="0"/>
              <a:t>That difference between who creates the data and who controls the radio is the central information gap in the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follow one burst of data from the device.</a:t>
            </a:r>
          </a:p>
          <a:p>
            <a:r>
              <a:rPr lang="en-US" dirty="0"/>
              <a:t>Suppose a robot’s camera creates a large image, but the robot does not currently have enough resources to transmit it.</a:t>
            </a:r>
          </a:p>
          <a:p>
            <a:r>
              <a:rPr lang="en-US" dirty="0"/>
              <a:t>First, the device sends a Scheduling Request, or SR. It is saying, “I have data waiting.”</a:t>
            </a:r>
          </a:p>
          <a:p>
            <a:r>
              <a:rPr lang="en-US" dirty="0"/>
              <a:t>The base station then sends a grant. The grant is permission to use specific radio resources.</a:t>
            </a:r>
          </a:p>
          <a:p>
            <a:r>
              <a:rPr lang="en-US" dirty="0"/>
              <a:t>The device sends some of the data and also sends a Buffer Status Report, or BSR. The BSR tells the base station approximately how much data is still waiting.</a:t>
            </a:r>
          </a:p>
          <a:p>
            <a:r>
              <a:rPr lang="en-US" dirty="0"/>
              <a:t>If the burst is large, the base station may need to send another grant before the rest of the data can be transmitted.</a:t>
            </a:r>
          </a:p>
          <a:p>
            <a:r>
              <a:rPr lang="en-US" dirty="0"/>
              <a:t>So the device and the base station communicate back and forth before the full burst is delivered. Each step may be short, but the waiting adds up.</a:t>
            </a:r>
          </a:p>
          <a:p>
            <a:r>
              <a:rPr lang="en-US" dirty="0"/>
              <a:t>This is why a fast radio connection can still produce noticeable application latency.</a:t>
            </a:r>
          </a:p>
          <a:p>
            <a:r>
              <a:rPr lang="en-US" dirty="0"/>
              <a:t>Optional: The paper reports that the Scheduling Request can take up to 40 milliseconds in the relevant configuration. That number is configuration-dependent, not a universal delay for every 5G connection.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has two obvious choices.</a:t>
            </a:r>
          </a:p>
          <a:p>
            <a:r>
              <a:rPr lang="en-US" dirty="0"/>
              <a:t>With request-based, or grant-based, scheduling, the network waits until a device asks for resources. This avoids reserving capacity unnecessarily, but the request and response create waiting time.</a:t>
            </a:r>
          </a:p>
          <a:p>
            <a:r>
              <a:rPr lang="en-US" dirty="0"/>
              <a:t>With </a:t>
            </a:r>
            <a:r>
              <a:rPr lang="en-US" dirty="0" err="1"/>
              <a:t>preallocated</a:t>
            </a:r>
            <a:r>
              <a:rPr lang="en-US" dirty="0"/>
              <a:t>, or grant-free, access, the network reserves capacity before the device asks. This can reduce waiting, but the reserved capacity may be empty or too small.</a:t>
            </a:r>
          </a:p>
          <a:p>
            <a:r>
              <a:rPr lang="en-US" dirty="0"/>
              <a:t>Sage tries to find a better balance. It predicts when the next burst will arrive and approximately how large it will be. The base station can then prepare a more targeted allocation.</a:t>
            </a:r>
          </a:p>
          <a:p>
            <a:r>
              <a:rPr lang="en-US" dirty="0"/>
              <a:t>The benefit is less waiting. The cost is that the network may reserve some extra resources because predictions are never perfect.</a:t>
            </a:r>
          </a:p>
          <a:p>
            <a:r>
              <a:rPr lang="en-US" dirty="0"/>
              <a:t>This is the point where Sage enters the story: it uses prediction to improve the existing scheduling tradeoff.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station does not directly see the exact moment when the application created its data.</a:t>
            </a:r>
          </a:p>
          <a:p>
            <a:r>
              <a:rPr lang="en-US" dirty="0"/>
              <a:t>For example, one video frame may be divided into several pieces. Those pieces may arrive at different times because of scheduling, retransmissions, or changing radio conditions.</a:t>
            </a:r>
          </a:p>
          <a:p>
            <a:r>
              <a:rPr lang="en-US" dirty="0"/>
              <a:t>If the system treats every piece as a separate new event, it may misunderstand the application.</a:t>
            </a:r>
          </a:p>
          <a:p>
            <a:r>
              <a:rPr lang="en-US" dirty="0"/>
              <a:t>Sage groups nearby arrivals into what it calls a traffic train. You can think of this like a warehouse receiving several boxes from one shipment. The warehouse should recognize that the boxes belong to one order instead of treating them as unrelated orders.</a:t>
            </a:r>
          </a:p>
          <a:p>
            <a:r>
              <a:rPr lang="en-US" dirty="0"/>
              <a:t>Once Sage creates this cleaner representation, it can predict the next burst’s arrival time and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Sage is more than a machine-learning model.</a:t>
            </a:r>
          </a:p>
          <a:p>
            <a:r>
              <a:rPr lang="en-US" dirty="0"/>
              <a:t>First, it observes and characterizes the traffic. Then it selects and checks a model that seems appropriate. The fast part of the system predicts the next burst and helps schedule resources.</a:t>
            </a:r>
          </a:p>
          <a:p>
            <a:r>
              <a:rPr lang="en-US" dirty="0"/>
              <a:t>After that, Sage monitors its own mistakes. It can learn from new traffic, update its model database, and fall back to ordinary scheduling when its predictions are not reliable.</a:t>
            </a:r>
          </a:p>
          <a:p>
            <a:r>
              <a:rPr lang="en-US" dirty="0"/>
              <a:t>This is why the system uses different control timescales. Fast decisions need to happen close to the base station. Heavier tasks, such as model selection and larger updates, can happen more slowly.</a:t>
            </a:r>
          </a:p>
          <a:p>
            <a:r>
              <a:rPr lang="en-US" dirty="0"/>
              <a:t>A prediction is only useful if it arrives before the transmission opportunity.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analogy is data-center power management.</a:t>
            </a:r>
          </a:p>
          <a:p>
            <a:r>
              <a:rPr lang="en-US" dirty="0"/>
              <a:t>Imagine a data center that receives large jobs throughout the day. If it waits until a job arrives before starting servers, the job may sit in a queue.</a:t>
            </a:r>
          </a:p>
          <a:p>
            <a:r>
              <a:rPr lang="en-US" dirty="0"/>
              <a:t>But if it keeps every server, cooling system, and power supply ready all the time, it wastes energy.</a:t>
            </a:r>
          </a:p>
          <a:p>
            <a:r>
              <a:rPr lang="en-US" dirty="0"/>
              <a:t>Radio scheduling has a similar tradeoff. Too little resource allocation causes waiting. Too much allocation wastes capacity.</a:t>
            </a:r>
          </a:p>
          <a:p>
            <a:r>
              <a:rPr lang="en-US" dirty="0"/>
              <a:t>If the system can predict when a workload will arrive and how large it will be, it can prepare more accurately.</a:t>
            </a:r>
          </a:p>
          <a:p>
            <a:r>
              <a:rPr lang="en-US" dirty="0"/>
              <a:t>This analogy helps show why prediction matters beyond cellular networks.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compares Sage with grant-based scheduling, using the grant-based result as 1.0.</a:t>
            </a:r>
          </a:p>
          <a:p>
            <a:r>
              <a:rPr lang="en-US" dirty="0"/>
              <a:t>The paper reports a 2.53-times reduction in average uplink latency. In simpler terms, the new latency is approximately 40 percent of the original latency.</a:t>
            </a:r>
          </a:p>
          <a:p>
            <a:r>
              <a:rPr lang="en-US" dirty="0"/>
              <a:t>The cost is that Sage uses about 1.59 times as many allocated resources in this comparison. That extra allocation helps the system prepare for uncertainty in its predictions.</a:t>
            </a:r>
          </a:p>
          <a:p>
            <a:r>
              <a:rPr lang="en-US" dirty="0"/>
              <a:t>The third number must be interpreted separately. Sage uses up to 37.5 times fewer resources than the evaluated grant-free baselines.</a:t>
            </a:r>
          </a:p>
          <a:p>
            <a:r>
              <a:rPr lang="en-US" dirty="0"/>
              <a:t>That does not mean Sage is 37.5 times better than grant-based scheduling. The comparison baseline is different.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if the radio delivers data faster, the user may not see the result immediately.</a:t>
            </a:r>
          </a:p>
          <a:p>
            <a:r>
              <a:rPr lang="en-US" dirty="0"/>
              <a:t>For example, a video frame still has to be decoded, processed, and displayed.</a:t>
            </a:r>
          </a:p>
          <a:p>
            <a:r>
              <a:rPr lang="en-US" dirty="0"/>
              <a:t>The paper reports that video network latency improved by approximately 2.07 to 2.54 times. But the end-to-end display latency improved by only about 1.13 to 1.23 times.</a:t>
            </a:r>
          </a:p>
          <a:p>
            <a:r>
              <a:rPr lang="en-US" dirty="0"/>
              <a:t>This is an important systems lesson. Improving one stage of a pipeline does not automatically improve the entire application by the same amount.</a:t>
            </a:r>
          </a:p>
          <a:p>
            <a:r>
              <a:rPr lang="en-US" dirty="0"/>
              <a:t>The network can become faster while computation and display still limit the final experience.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different research directions by asking where they observe demand and where they make decisions.</a:t>
            </a:r>
          </a:p>
          <a:p>
            <a:r>
              <a:rPr lang="en-US" dirty="0"/>
              <a:t>Some systems use advance messages from the device to prepare the network. Other research studies how to place intelligent control close to the radio so decisions can happen quickly.</a:t>
            </a:r>
          </a:p>
          <a:p>
            <a:r>
              <a:rPr lang="en-US" dirty="0"/>
              <a:t>Sage combines these ideas with a specific prediction problem. It observes traffic near the base station and predicts the next uplink burst.</a:t>
            </a:r>
          </a:p>
          <a:p>
            <a:r>
              <a:rPr lang="en-US" dirty="0"/>
              <a:t>The important question is not simply, “Which model is more advanced?”</a:t>
            </a:r>
          </a:p>
          <a:p>
            <a:r>
              <a:rPr lang="en-US" dirty="0"/>
              <a:t>The better question is: what does the system observe, what does it predict, where does the decision happen, and can the system act before the deadline?</a:t>
            </a:r>
          </a:p>
          <a:p>
            <a:r>
              <a:rPr lang="en-US" dirty="0"/>
              <a:t>Optional: Avoid directly comparing speedup numbers across papers because their testbeds and baselines are different.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Sage focuses on the uplink because the device knows when its application creates data, while the base station has to discover that demand through signaling.</a:t>
            </a:r>
          </a:p>
          <a:p>
            <a:r>
              <a:rPr lang="en-US" dirty="0"/>
              <a:t>The downlink has a different information situation. The network usually knows more about the data waiting to be sent.</a:t>
            </a:r>
          </a:p>
          <a:p>
            <a:r>
              <a:rPr lang="en-US" dirty="0"/>
              <a:t>However, downlink scheduling still has challenges. The radio is shared, channel quality changes, users may move, and different applications may have different deadlines.</a:t>
            </a:r>
          </a:p>
          <a:p>
            <a:r>
              <a:rPr lang="en-US" dirty="0"/>
              <a:t>So downlink is a natural direction for future research. We should describe it as a scope question, not as an additional Sage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identify three main directions.</a:t>
            </a:r>
          </a:p>
          <a:p>
            <a:r>
              <a:rPr lang="en-US" dirty="0"/>
              <a:t>First, Sage needs better traffic-train detection when scheduling requests arrive less often and the observations are delayed.</a:t>
            </a:r>
          </a:p>
          <a:p>
            <a:r>
              <a:rPr lang="en-US" dirty="0"/>
              <a:t>Second, the system could predict both traffic demand and channel quality. Knowing that a large burst is coming is useful, but the network also needs to know how difficult that burst will be to transmit.</a:t>
            </a:r>
          </a:p>
          <a:p>
            <a:r>
              <a:rPr lang="en-US" dirty="0"/>
              <a:t>Third, predictive scheduling could be coordinated across network slices. Different services may share the same physical radio even if they are logically separated.</a:t>
            </a:r>
          </a:p>
          <a:p>
            <a:r>
              <a:rPr lang="en-US" dirty="0"/>
              <a:t>The broader questions are also interesting. How much extra capacity should we reserve when the prediction is uncertain? Can models transfer to new cells or applications? Can radio scheduling and edge computing be planned together?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loop is simple: observe, predict, and allocate.</a:t>
            </a:r>
          </a:p>
          <a:p>
            <a:r>
              <a:rPr lang="en-US" dirty="0"/>
              <a:t>First, the network needs a useful representation of the traffic. Second, it predicts the next burst before it arrives. Third, it prepares radio resources close to the time they are needed.</a:t>
            </a:r>
          </a:p>
          <a:p>
            <a:r>
              <a:rPr lang="en-US" dirty="0"/>
              <a:t>The broader lesson is that 5G is not just a collection of components to memorize. It is a platform with decision points that researchers can redesign.</a:t>
            </a:r>
          </a:p>
          <a:p>
            <a:r>
              <a:rPr lang="en-US" dirty="0"/>
              <a:t>Sage improves one of those decision points by making the scheduler more proactive.</a:t>
            </a:r>
          </a:p>
          <a:p>
            <a:r>
              <a:rPr lang="en-US" dirty="0"/>
              <a:t>The larger question is: how can a network make a good decision early enough to matter?</a:t>
            </a:r>
          </a:p>
          <a:p>
            <a:r>
              <a:rPr lang="en-US" dirty="0"/>
              <a:t>Sage provides one answer for the 5G uplink: predict the demand, allocate ahead of time, monitor the errors, and fall back when the prediction is not trustworthy.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EF1164B6-1090-4443-85AE-7E0F365F40A7}"/>
              </a:ext>
            </a:extLst>
          </p:cNvPr>
          <p:cNvSpPr>
            <a:spLocks noGrp="1"/>
          </p:cNvSpPr>
          <p:nvPr/>
        </p:nvSpPr>
        <p:spPr>
          <a:xfrm>
            <a:off x="8096250" y="914400"/>
            <a:ext cx="3143250" cy="3143250"/>
          </a:xfrm>
          <a:prstGeom prst="ellipse">
            <a:avLst/>
          </a:prstGeom>
          <a:noFill/>
          <a:ln w="14288">
            <a:solidFill>
              <a:srgbClr val="47D7FF"/>
            </a:solidFill>
            <a:prstDash val="solid"/>
          </a:ln>
        </p:spPr>
        <p:txBody>
          <a:bodyPr/>
          <a:lstStyle/>
          <a:p>
            <a:endParaRPr lang="en-US"/>
          </a:p>
        </p:txBody>
      </p:sp>
      <p:sp>
        <p:nvSpPr>
          <p:cNvPr id="2" name="Oval 1">
            <a:extLst>
              <a:ext uri="{FF2B5EF4-FFF2-40B4-BE49-F238E27FC236}">
                <a16:creationId xmlns:a16="http://schemas.microsoft.com/office/drawing/2014/main" id="{05185476-316A-4DFA-B0CB-2C6D4F17D227}"/>
              </a:ext>
            </a:extLst>
          </p:cNvPr>
          <p:cNvSpPr>
            <a:spLocks noGrp="1"/>
          </p:cNvSpPr>
          <p:nvPr/>
        </p:nvSpPr>
        <p:spPr>
          <a:xfrm>
            <a:off x="7791450" y="590550"/>
            <a:ext cx="3771900" cy="3771900"/>
          </a:xfrm>
          <a:prstGeom prst="ellipse">
            <a:avLst/>
          </a:prstGeom>
          <a:noFill/>
          <a:ln w="14288">
            <a:solidFill>
              <a:srgbClr val="47D7FF"/>
            </a:solidFill>
            <a:prstDash val="solid"/>
          </a:ln>
        </p:spPr>
        <p:txBody>
          <a:bodyPr/>
          <a:lstStyle/>
          <a:p>
            <a:endParaRPr lang="en-US"/>
          </a:p>
        </p:txBody>
      </p:sp>
      <p:sp>
        <p:nvSpPr>
          <p:cNvPr id="3" name="Oval 2">
            <a:extLst>
              <a:ext uri="{FF2B5EF4-FFF2-40B4-BE49-F238E27FC236}">
                <a16:creationId xmlns:a16="http://schemas.microsoft.com/office/drawing/2014/main" id="{747DA2C1-7C9A-49CA-AD7D-D93B8F26E256}"/>
              </a:ext>
            </a:extLst>
          </p:cNvPr>
          <p:cNvSpPr>
            <a:spLocks noGrp="1"/>
          </p:cNvSpPr>
          <p:nvPr/>
        </p:nvSpPr>
        <p:spPr>
          <a:xfrm>
            <a:off x="7486650" y="266700"/>
            <a:ext cx="4400550" cy="4400550"/>
          </a:xfrm>
          <a:prstGeom prst="ellipse">
            <a:avLst/>
          </a:prstGeom>
          <a:noFill/>
          <a:ln w="14288">
            <a:solidFill>
              <a:srgbClr val="47D7FF"/>
            </a:solidFill>
            <a:prstDash val="solid"/>
          </a:ln>
        </p:spPr>
        <p:txBody>
          <a:bodyPr/>
          <a:lstStyle/>
          <a:p>
            <a:endParaRPr lang="en-US"/>
          </a:p>
        </p:txBody>
      </p:sp>
      <p:sp>
        <p:nvSpPr>
          <p:cNvPr id="4" name="Rounded Rectangle 3">
            <a:extLst>
              <a:ext uri="{FF2B5EF4-FFF2-40B4-BE49-F238E27FC236}">
                <a16:creationId xmlns:a16="http://schemas.microsoft.com/office/drawing/2014/main" id="{4AC0309D-ED60-492E-AC34-BA9FED30B108}"/>
              </a:ext>
            </a:extLst>
          </p:cNvPr>
          <p:cNvSpPr>
            <a:spLocks noGrp="1"/>
          </p:cNvSpPr>
          <p:nvPr/>
        </p:nvSpPr>
        <p:spPr>
          <a:xfrm>
            <a:off x="8858250" y="2333625"/>
            <a:ext cx="1619250" cy="2000250"/>
          </a:xfrm>
          <a:prstGeom prst="roundRect">
            <a:avLst>
              <a:gd name="adj" fmla="val 14118"/>
            </a:avLst>
          </a:prstGeom>
          <a:solidFill>
            <a:srgbClr val="0D2940"/>
          </a:solidFill>
          <a:ln w="14288">
            <a:solidFill>
              <a:srgbClr val="47D7FF"/>
            </a:solidFill>
            <a:prstDash val="solid"/>
          </a:ln>
        </p:spPr>
        <p:txBody>
          <a:bodyPr/>
          <a:lstStyle/>
          <a:p>
            <a:endParaRPr lang="en-US"/>
          </a:p>
        </p:txBody>
      </p:sp>
      <p:sp>
        <p:nvSpPr>
          <p:cNvPr id="5" name="Rectangle 4">
            <a:extLst>
              <a:ext uri="{FF2B5EF4-FFF2-40B4-BE49-F238E27FC236}">
                <a16:creationId xmlns:a16="http://schemas.microsoft.com/office/drawing/2014/main" id="{16B798CD-0EE2-453C-B0E2-F2B86C99BC80}"/>
              </a:ext>
            </a:extLst>
          </p:cNvPr>
          <p:cNvSpPr>
            <a:spLocks noGrp="1"/>
          </p:cNvSpPr>
          <p:nvPr/>
        </p:nvSpPr>
        <p:spPr>
          <a:xfrm>
            <a:off x="9086850" y="2638425"/>
            <a:ext cx="1162050" cy="1066800"/>
          </a:xfrm>
          <a:prstGeom prst="rect">
            <a:avLst/>
          </a:prstGeom>
          <a:solidFill>
            <a:srgbClr val="071A2B"/>
          </a:solidFill>
          <a:ln w="14288">
            <a:solidFill>
              <a:srgbClr val="345267"/>
            </a:solidFill>
            <a:prstDash val="solid"/>
          </a:ln>
        </p:spPr>
        <p:txBody>
          <a:bodyPr/>
          <a:lstStyle/>
          <a:p>
            <a:endParaRPr lang="en-US"/>
          </a:p>
        </p:txBody>
      </p:sp>
      <p:sp>
        <p:nvSpPr>
          <p:cNvPr id="6" name="Straight Connector 5">
            <a:extLst>
              <a:ext uri="{FF2B5EF4-FFF2-40B4-BE49-F238E27FC236}">
                <a16:creationId xmlns:a16="http://schemas.microsoft.com/office/drawing/2014/main" id="{B4D25355-07A0-4B54-AA5A-611BECBD607D}"/>
              </a:ext>
            </a:extLst>
          </p:cNvPr>
          <p:cNvSpPr>
            <a:spLocks noGrp="1"/>
          </p:cNvSpPr>
          <p:nvPr/>
        </p:nvSpPr>
        <p:spPr>
          <a:xfrm>
            <a:off x="9525000" y="2286000"/>
            <a:ext cx="0" cy="0"/>
          </a:xfrm>
          <a:prstGeom prst="line">
            <a:avLst/>
          </a:prstGeom>
          <a:noFill/>
          <a:ln w="28575">
            <a:solidFill>
              <a:srgbClr val="47D7FF"/>
            </a:solidFill>
            <a:prstDash val="solid"/>
          </a:ln>
        </p:spPr>
        <p:txBody>
          <a:bodyPr/>
          <a:lstStyle/>
          <a:p>
            <a:endParaRPr lang="en-US"/>
          </a:p>
        </p:txBody>
      </p:sp>
      <p:sp>
        <p:nvSpPr>
          <p:cNvPr id="7" name="Oval 6">
            <a:extLst>
              <a:ext uri="{FF2B5EF4-FFF2-40B4-BE49-F238E27FC236}">
                <a16:creationId xmlns:a16="http://schemas.microsoft.com/office/drawing/2014/main" id="{B17C7266-DEC7-43C5-83F6-64BA0A8329B6}"/>
              </a:ext>
            </a:extLst>
          </p:cNvPr>
          <p:cNvSpPr>
            <a:spLocks noGrp="1"/>
          </p:cNvSpPr>
          <p:nvPr/>
        </p:nvSpPr>
        <p:spPr>
          <a:xfrm>
            <a:off x="9391650" y="1952625"/>
            <a:ext cx="266700" cy="266700"/>
          </a:xfrm>
          <a:prstGeom prst="ellipse">
            <a:avLst/>
          </a:prstGeom>
          <a:solidFill>
            <a:srgbClr val="47D7FF"/>
          </a:solidFill>
          <a:ln w="0">
            <a:solidFill>
              <a:srgbClr val="47D7FF"/>
            </a:solidFill>
            <a:prstDash val="solid"/>
          </a:ln>
        </p:spPr>
        <p:txBody>
          <a:bodyPr/>
          <a:lstStyle/>
          <a:p>
            <a:endParaRPr lang="en-US"/>
          </a:p>
        </p:txBody>
      </p:sp>
      <p:sp>
        <p:nvSpPr>
          <p:cNvPr id="8" name="Oval 7">
            <a:extLst>
              <a:ext uri="{FF2B5EF4-FFF2-40B4-BE49-F238E27FC236}">
                <a16:creationId xmlns:a16="http://schemas.microsoft.com/office/drawing/2014/main" id="{3DC9553E-DD51-4E1F-BDB2-FC94995231F6}"/>
              </a:ext>
            </a:extLst>
          </p:cNvPr>
          <p:cNvSpPr>
            <a:spLocks noGrp="1"/>
          </p:cNvSpPr>
          <p:nvPr/>
        </p:nvSpPr>
        <p:spPr>
          <a:xfrm>
            <a:off x="10287000" y="1762125"/>
            <a:ext cx="171450" cy="171450"/>
          </a:xfrm>
          <a:prstGeom prst="ellipse">
            <a:avLst/>
          </a:prstGeom>
          <a:solidFill>
            <a:srgbClr val="FFC857"/>
          </a:solidFill>
          <a:ln w="0">
            <a:solidFill>
              <a:srgbClr val="FFC857"/>
            </a:solidFill>
            <a:prstDash val="solid"/>
          </a:ln>
        </p:spPr>
        <p:txBody>
          <a:bodyPr/>
          <a:lstStyle/>
          <a:p>
            <a:endParaRPr lang="en-US"/>
          </a:p>
        </p:txBody>
      </p:sp>
      <p:cxnSp>
        <p:nvCxnSpPr>
          <p:cNvPr id="26" name="Straight Arrow Connector 25"/>
          <p:cNvCxnSpPr>
            <a:stCxn id="7" idx="4"/>
            <a:endCxn id="4" idx="0"/>
          </p:cNvCxnSpPr>
          <p:nvPr/>
        </p:nvCxnSpPr>
        <p:spPr>
          <a:xfrm>
            <a:off x="9525000" y="2219325"/>
            <a:ext cx="142875" cy="114300"/>
          </a:xfrm>
          <a:prstGeom prst="straightConnector1">
            <a:avLst/>
          </a:prstGeom>
          <a:ln w="17145">
            <a:solidFill>
              <a:srgbClr val="47D7FF"/>
            </a:solidFill>
            <a:prstDash val="solid"/>
            <a:headEnd type="none" w="med" len="med"/>
            <a:tailEnd type="none" w="med" len="med"/>
          </a:ln>
        </p:spPr>
      </p:cxnSp>
      <p:cxnSp>
        <p:nvCxnSpPr>
          <p:cNvPr id="27" name="Straight Arrow Connector 26"/>
          <p:cNvCxnSpPr>
            <a:stCxn id="8" idx="4"/>
            <a:endCxn id="4" idx="0"/>
          </p:cNvCxnSpPr>
          <p:nvPr/>
        </p:nvCxnSpPr>
        <p:spPr>
          <a:xfrm flipH="1">
            <a:off x="9667875" y="1933575"/>
            <a:ext cx="704850" cy="400050"/>
          </a:xfrm>
          <a:prstGeom prst="straightConnector1">
            <a:avLst/>
          </a:prstGeom>
          <a:ln w="14288">
            <a:solidFill>
              <a:srgbClr val="FFC857"/>
            </a:solidFill>
            <a:prstDash val="dash"/>
            <a:headEnd type="none" w="med" len="med"/>
            <a:tailEnd type="none" w="med" len="med"/>
          </a:ln>
        </p:spPr>
      </p:cxnSp>
      <p:sp>
        <p:nvSpPr>
          <p:cNvPr id="11" name="Rectangle 10">
            <a:extLst>
              <a:ext uri="{FF2B5EF4-FFF2-40B4-BE49-F238E27FC236}">
                <a16:creationId xmlns:a16="http://schemas.microsoft.com/office/drawing/2014/main" id="{FD281963-D710-4E3F-AC16-0385C9EDED14}"/>
              </a:ext>
            </a:extLst>
          </p:cNvPr>
          <p:cNvSpPr>
            <a:spLocks noGrp="1"/>
          </p:cNvSpPr>
          <p:nvPr/>
        </p:nvSpPr>
        <p:spPr>
          <a:xfrm>
            <a:off x="685800" y="1009650"/>
            <a:ext cx="4000500" cy="704850"/>
          </a:xfrm>
          <a:prstGeom prst="rect">
            <a:avLst/>
          </a:prstGeom>
          <a:noFill/>
          <a:ln w="0">
            <a:noFill/>
          </a:ln>
        </p:spPr>
        <p:txBody>
          <a:bodyPr>
            <a:noAutofit/>
          </a:bodyPr>
          <a:lstStyle/>
          <a:p>
            <a:pPr algn="l">
              <a:defRPr sz="4350" b="1" i="0">
                <a:solidFill>
                  <a:srgbClr val="47D7FF"/>
                </a:solidFill>
                <a:latin typeface="Bitstream Charter"/>
                <a:ea typeface="Bitstream Charter"/>
                <a:cs typeface="Bitstream Charter"/>
              </a:defRPr>
            </a:pPr>
            <a:r>
              <a:rPr sz="4350" b="1" i="0">
                <a:solidFill>
                  <a:srgbClr val="47D7FF"/>
                </a:solidFill>
                <a:latin typeface="Bitstream Charter"/>
                <a:ea typeface="Bitstream Charter"/>
                <a:cs typeface="Bitstream Charter"/>
              </a:rPr>
              <a:t>SAGE</a:t>
            </a:r>
          </a:p>
        </p:txBody>
      </p:sp>
      <p:sp>
        <p:nvSpPr>
          <p:cNvPr id="12" name="Rectangle 11">
            <a:extLst>
              <a:ext uri="{FF2B5EF4-FFF2-40B4-BE49-F238E27FC236}">
                <a16:creationId xmlns:a16="http://schemas.microsoft.com/office/drawing/2014/main" id="{89699707-3170-4EE3-9D76-40C75F147F41}"/>
              </a:ext>
            </a:extLst>
          </p:cNvPr>
          <p:cNvSpPr>
            <a:spLocks noGrp="1"/>
          </p:cNvSpPr>
          <p:nvPr/>
        </p:nvSpPr>
        <p:spPr>
          <a:xfrm>
            <a:off x="685800" y="1809750"/>
            <a:ext cx="7239000" cy="742950"/>
          </a:xfrm>
          <a:prstGeom prst="rect">
            <a:avLst/>
          </a:prstGeom>
          <a:noFill/>
          <a:ln w="0">
            <a:noFill/>
          </a:ln>
        </p:spPr>
        <p:txBody>
          <a:bodyPr>
            <a:noAutofit/>
          </a:bodyPr>
          <a:lstStyle/>
          <a:p>
            <a:pPr algn="l">
              <a:defRPr sz="3150" b="1" i="0">
                <a:solidFill>
                  <a:srgbClr val="F4F8FB"/>
                </a:solidFill>
                <a:latin typeface="Bitstream Charter"/>
                <a:ea typeface="Bitstream Charter"/>
                <a:cs typeface="Bitstream Charter"/>
              </a:defRPr>
            </a:pPr>
            <a:r>
              <a:rPr sz="3150" b="1" i="0">
                <a:solidFill>
                  <a:srgbClr val="F4F8FB"/>
                </a:solidFill>
                <a:latin typeface="Bitstream Charter"/>
                <a:ea typeface="Bitstream Charter"/>
                <a:cs typeface="Bitstream Charter"/>
              </a:rPr>
              <a:t>Predicting the next milliseconds of 5G</a:t>
            </a:r>
          </a:p>
        </p:txBody>
      </p:sp>
      <p:sp>
        <p:nvSpPr>
          <p:cNvPr id="13" name="Rectangle 12">
            <a:extLst>
              <a:ext uri="{FF2B5EF4-FFF2-40B4-BE49-F238E27FC236}">
                <a16:creationId xmlns:a16="http://schemas.microsoft.com/office/drawing/2014/main" id="{1986BEB6-D942-4285-BE37-E39544B292FE}"/>
              </a:ext>
            </a:extLst>
          </p:cNvPr>
          <p:cNvSpPr>
            <a:spLocks noGrp="1"/>
          </p:cNvSpPr>
          <p:nvPr/>
        </p:nvSpPr>
        <p:spPr>
          <a:xfrm>
            <a:off x="723900" y="2781300"/>
            <a:ext cx="6572250" cy="457200"/>
          </a:xfrm>
          <a:prstGeom prst="rect">
            <a:avLst/>
          </a:prstGeom>
          <a:noFill/>
          <a:ln w="0">
            <a:noFill/>
          </a:ln>
        </p:spPr>
        <p:txBody>
          <a:bodyPr>
            <a:noAutofit/>
          </a:bodyPr>
          <a:lstStyle/>
          <a:p>
            <a:pPr algn="l">
              <a:defRPr sz="1650" b="0" i="0">
                <a:solidFill>
                  <a:srgbClr val="DDEBF2"/>
                </a:solidFill>
                <a:latin typeface="Bitstream Charter"/>
                <a:ea typeface="Bitstream Charter"/>
                <a:cs typeface="Bitstream Charter"/>
              </a:defRPr>
            </a:pPr>
            <a:r>
              <a:rPr sz="1650" b="0" i="0">
                <a:solidFill>
                  <a:srgbClr val="DDEBF2"/>
                </a:solidFill>
                <a:latin typeface="Bitstream Charter"/>
                <a:ea typeface="Bitstream Charter"/>
                <a:cs typeface="Bitstream Charter"/>
              </a:rPr>
              <a:t>How predictive radio scheduling changes the uplink resource tradeoff</a:t>
            </a:r>
          </a:p>
        </p:txBody>
      </p:sp>
      <p:sp>
        <p:nvSpPr>
          <p:cNvPr id="14" name="Straight Connector 13">
            <a:extLst>
              <a:ext uri="{FF2B5EF4-FFF2-40B4-BE49-F238E27FC236}">
                <a16:creationId xmlns:a16="http://schemas.microsoft.com/office/drawing/2014/main" id="{28C4BC22-B1A7-4EC6-BB17-64427F2EF82A}"/>
              </a:ext>
            </a:extLst>
          </p:cNvPr>
          <p:cNvSpPr>
            <a:spLocks noGrp="1"/>
          </p:cNvSpPr>
          <p:nvPr/>
        </p:nvSpPr>
        <p:spPr>
          <a:xfrm>
            <a:off x="723900" y="3600450"/>
            <a:ext cx="5619750" cy="0"/>
          </a:xfrm>
          <a:prstGeom prst="line">
            <a:avLst/>
          </a:prstGeom>
          <a:noFill/>
          <a:ln w="11430">
            <a:solidFill>
              <a:srgbClr val="345267"/>
            </a:solidFill>
            <a:prstDash val="solid"/>
          </a:ln>
        </p:spPr>
        <p:txBody>
          <a:bodyPr/>
          <a:lstStyle/>
          <a:p>
            <a:endParaRPr lang="en-US"/>
          </a:p>
        </p:txBody>
      </p:sp>
      <p:sp>
        <p:nvSpPr>
          <p:cNvPr id="15" name="Rectangle 14">
            <a:extLst>
              <a:ext uri="{FF2B5EF4-FFF2-40B4-BE49-F238E27FC236}">
                <a16:creationId xmlns:a16="http://schemas.microsoft.com/office/drawing/2014/main" id="{BF8B678F-CDE7-4D37-B87F-E8EF84056912}"/>
              </a:ext>
            </a:extLst>
          </p:cNvPr>
          <p:cNvSpPr>
            <a:spLocks noGrp="1"/>
          </p:cNvSpPr>
          <p:nvPr/>
        </p:nvSpPr>
        <p:spPr>
          <a:xfrm>
            <a:off x="723900" y="3810000"/>
            <a:ext cx="6191250" cy="304800"/>
          </a:xfrm>
          <a:prstGeom prst="rect">
            <a:avLst/>
          </a:prstGeom>
          <a:noFill/>
          <a:ln w="0">
            <a:noFill/>
          </a:ln>
        </p:spPr>
        <p:txBody>
          <a:bodyPr>
            <a:noAutofit/>
          </a:bodyPr>
          <a:lstStyle/>
          <a:p>
            <a:pPr algn="l">
              <a:defRPr sz="1350" b="0" i="0">
                <a:solidFill>
                  <a:srgbClr val="A8BDCC"/>
                </a:solidFill>
                <a:latin typeface="Bitstream Charter"/>
                <a:ea typeface="Bitstream Charter"/>
                <a:cs typeface="Bitstream Charter"/>
              </a:defRPr>
            </a:pPr>
            <a:r>
              <a:rPr sz="1350" b="0" i="0">
                <a:solidFill>
                  <a:srgbClr val="A8BDCC"/>
                </a:solidFill>
                <a:latin typeface="Bitstream Charter"/>
                <a:ea typeface="Bitstream Charter"/>
                <a:cs typeface="Bitstream Charter"/>
              </a:rPr>
              <a:t>A high-level architecture and research-landscape presentation</a:t>
            </a:r>
          </a:p>
        </p:txBody>
      </p:sp>
      <p:sp>
        <p:nvSpPr>
          <p:cNvPr id="16" name="Rectangle 15">
            <a:extLst>
              <a:ext uri="{FF2B5EF4-FFF2-40B4-BE49-F238E27FC236}">
                <a16:creationId xmlns:a16="http://schemas.microsoft.com/office/drawing/2014/main" id="{CB69E7AB-5813-4A8A-AA71-DA9898CFF5BD}"/>
              </a:ext>
            </a:extLst>
          </p:cNvPr>
          <p:cNvSpPr>
            <a:spLocks noGrp="1"/>
          </p:cNvSpPr>
          <p:nvPr/>
        </p:nvSpPr>
        <p:spPr>
          <a:xfrm>
            <a:off x="723899" y="6096000"/>
            <a:ext cx="3624817" cy="228600"/>
          </a:xfrm>
          <a:prstGeom prst="rect">
            <a:avLst/>
          </a:prstGeom>
          <a:noFill/>
          <a:ln w="0">
            <a:noFill/>
          </a:ln>
        </p:spPr>
        <p:txBody>
          <a:bodyPr>
            <a:noAutofit/>
          </a:bodyPr>
          <a:lstStyle/>
          <a:p>
            <a:pPr>
              <a:defRPr sz="1200" b="1" i="0">
                <a:solidFill>
                  <a:srgbClr val="A8BDCC"/>
                </a:solidFill>
                <a:latin typeface="Bitstream Charter"/>
                <a:ea typeface="Bitstream Charter"/>
                <a:cs typeface="Bitstream Charter"/>
              </a:defRPr>
            </a:pPr>
            <a:r>
              <a:rPr lang="en-US" sz="1200" dirty="0">
                <a:solidFill>
                  <a:srgbClr val="A8BDCC"/>
                </a:solidFill>
                <a:latin typeface="Bitstream Charter"/>
              </a:rPr>
              <a:t>CIS 4930/5930 </a:t>
            </a:r>
            <a:r>
              <a:rPr sz="1200" b="1" i="0" dirty="0">
                <a:solidFill>
                  <a:srgbClr val="A8BDCC"/>
                </a:solidFill>
                <a:latin typeface="Bitstream Charter"/>
                <a:ea typeface="Bitstream Charter"/>
                <a:cs typeface="Bitstream Charter"/>
              </a:rPr>
              <a:t>Future Edge Network</a:t>
            </a:r>
          </a:p>
        </p:txBody>
      </p:sp>
      <p:sp>
        <p:nvSpPr>
          <p:cNvPr id="17" name="Rectangle 16">
            <a:extLst>
              <a:ext uri="{FF2B5EF4-FFF2-40B4-BE49-F238E27FC236}">
                <a16:creationId xmlns:a16="http://schemas.microsoft.com/office/drawing/2014/main" id="{EADEEE65-ED15-4FD4-BDB1-E09F908C6721}"/>
              </a:ext>
            </a:extLst>
          </p:cNvPr>
          <p:cNvSpPr>
            <a:spLocks noGrp="1"/>
          </p:cNvSpPr>
          <p:nvPr/>
        </p:nvSpPr>
        <p:spPr>
          <a:xfrm>
            <a:off x="10096500" y="6096000"/>
            <a:ext cx="1238250" cy="228600"/>
          </a:xfrm>
          <a:prstGeom prst="rect">
            <a:avLst/>
          </a:prstGeom>
          <a:noFill/>
          <a:ln w="0">
            <a:noFill/>
          </a:ln>
        </p:spPr>
        <p:txBody>
          <a:bodyPr>
            <a:noAutofit/>
          </a:bodyPr>
          <a:lstStyle/>
          <a:p>
            <a:pPr algn="r">
              <a:defRPr sz="1200" b="0" i="0">
                <a:solidFill>
                  <a:srgbClr val="A8BDCC"/>
                </a:solidFill>
                <a:latin typeface="Bitstream Charter"/>
                <a:ea typeface="Bitstream Charter"/>
                <a:cs typeface="Bitstream Charter"/>
              </a:defRPr>
            </a:pPr>
            <a:r>
              <a:rPr sz="1200" b="0" i="0">
                <a:solidFill>
                  <a:srgbClr val="A8BDCC"/>
                </a:solidFill>
                <a:latin typeface="Bitstream Charter"/>
                <a:ea typeface="Bitstream Charter"/>
                <a:cs typeface="Bitstream Charter"/>
              </a:rPr>
              <a:t>Victor Liu</a:t>
            </a:r>
          </a:p>
        </p:txBody>
      </p:sp>
    </p:spTree>
    <p:extLst>
      <p:ext uri="{BB962C8B-B14F-4D97-AF65-F5344CB8AC3E}">
        <p14:creationId xmlns:p14="http://schemas.microsoft.com/office/powerpoint/2010/main" val="1736110195"/>
      </p:ext>
    </p:extLst>
  </p:cSld>
  <p:clrMapOvr>
    <a:masterClrMapping/>
  </p:clrMapOvr>
  <mc:AlternateContent xmlns:mc="http://schemas.openxmlformats.org/markup-compatibility/2006">
    <mc:Choice xmlns:p14="http://schemas.microsoft.com/office/powerpoint/2010/main" Requires="p14">
      <p:transition spd="slow" p14:dur="2000" advTm="93222"/>
    </mc:Choice>
    <mc:Fallback>
      <p:transition spd="slow" advTm="9322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995EAE9-FA27-41E3-A03A-B7BCE520A4EE}"/>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5G has two different paths</a:t>
            </a:r>
          </a:p>
        </p:txBody>
      </p:sp>
      <p:sp>
        <p:nvSpPr>
          <p:cNvPr id="2" name="Rectangle 1">
            <a:extLst>
              <a:ext uri="{FF2B5EF4-FFF2-40B4-BE49-F238E27FC236}">
                <a16:creationId xmlns:a16="http://schemas.microsoft.com/office/drawing/2014/main" id="{8376E742-DB0E-4AFD-B4BC-62D337B44CFE}"/>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User data moves through the network; control decisions determine when it may move</a:t>
            </a:r>
          </a:p>
        </p:txBody>
      </p:sp>
      <p:sp>
        <p:nvSpPr>
          <p:cNvPr id="3" name="Straight Connector 2">
            <a:extLst>
              <a:ext uri="{FF2B5EF4-FFF2-40B4-BE49-F238E27FC236}">
                <a16:creationId xmlns:a16="http://schemas.microsoft.com/office/drawing/2014/main" id="{CFD65339-08CA-4689-85D5-CBF95EF25279}"/>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ectangle 3">
            <a:extLst>
              <a:ext uri="{FF2B5EF4-FFF2-40B4-BE49-F238E27FC236}">
                <a16:creationId xmlns:a16="http://schemas.microsoft.com/office/drawing/2014/main" id="{FB2BA239-49D6-4EEE-8C67-70945E748363}"/>
              </a:ext>
            </a:extLst>
          </p:cNvPr>
          <p:cNvSpPr>
            <a:spLocks noGrp="1"/>
          </p:cNvSpPr>
          <p:nvPr/>
        </p:nvSpPr>
        <p:spPr>
          <a:xfrm>
            <a:off x="781050" y="1495425"/>
            <a:ext cx="2095500" cy="171450"/>
          </a:xfrm>
          <a:prstGeom prst="rect">
            <a:avLst/>
          </a:prstGeom>
          <a:noFill/>
          <a:ln w="0">
            <a:noFill/>
          </a:ln>
        </p:spPr>
        <p:txBody>
          <a:bodyPr>
            <a:noAutofit/>
          </a:bodyPr>
          <a:lstStyle/>
          <a:p>
            <a:pPr algn="l">
              <a:defRPr sz="900" b="1" i="0">
                <a:solidFill>
                  <a:srgbClr val="57D18C"/>
                </a:solidFill>
                <a:latin typeface="Bitstream Charter"/>
                <a:ea typeface="Bitstream Charter"/>
                <a:cs typeface="Bitstream Charter"/>
              </a:defRPr>
            </a:pPr>
            <a:r>
              <a:rPr sz="900" b="1" i="0">
                <a:solidFill>
                  <a:srgbClr val="57D18C"/>
                </a:solidFill>
                <a:latin typeface="Bitstream Charter"/>
                <a:ea typeface="Bitstream Charter"/>
                <a:cs typeface="Bitstream Charter"/>
              </a:rPr>
              <a:t>WHO CARRIES?</a:t>
            </a:r>
          </a:p>
        </p:txBody>
      </p:sp>
      <p:sp>
        <p:nvSpPr>
          <p:cNvPr id="5" name="Rounded Rectangle 4">
            <a:extLst>
              <a:ext uri="{FF2B5EF4-FFF2-40B4-BE49-F238E27FC236}">
                <a16:creationId xmlns:a16="http://schemas.microsoft.com/office/drawing/2014/main" id="{B00B6192-185D-4FBB-B3F9-F27120246024}"/>
              </a:ext>
            </a:extLst>
          </p:cNvPr>
          <p:cNvSpPr>
            <a:spLocks noGrp="1"/>
          </p:cNvSpPr>
          <p:nvPr/>
        </p:nvSpPr>
        <p:spPr>
          <a:xfrm>
            <a:off x="952500" y="2333625"/>
            <a:ext cx="1047750" cy="1333500"/>
          </a:xfrm>
          <a:prstGeom prst="roundRect">
            <a:avLst>
              <a:gd name="adj" fmla="val 18182"/>
            </a:avLst>
          </a:prstGeom>
          <a:solidFill>
            <a:srgbClr val="0D2940"/>
          </a:solidFill>
          <a:ln w="14288">
            <a:solidFill>
              <a:srgbClr val="47D7FF"/>
            </a:solidFill>
            <a:prstDash val="solid"/>
          </a:ln>
        </p:spPr>
        <p:txBody>
          <a:bodyPr/>
          <a:lstStyle/>
          <a:p>
            <a:endParaRPr lang="en-US"/>
          </a:p>
        </p:txBody>
      </p:sp>
      <p:sp>
        <p:nvSpPr>
          <p:cNvPr id="6" name="Rectangle 5">
            <a:extLst>
              <a:ext uri="{FF2B5EF4-FFF2-40B4-BE49-F238E27FC236}">
                <a16:creationId xmlns:a16="http://schemas.microsoft.com/office/drawing/2014/main" id="{5EFE73A6-4470-47BA-874C-F36333FB336E}"/>
              </a:ext>
            </a:extLst>
          </p:cNvPr>
          <p:cNvSpPr>
            <a:spLocks noGrp="1"/>
          </p:cNvSpPr>
          <p:nvPr/>
        </p:nvSpPr>
        <p:spPr>
          <a:xfrm>
            <a:off x="1076325" y="2505075"/>
            <a:ext cx="800100" cy="952500"/>
          </a:xfrm>
          <a:prstGeom prst="rect">
            <a:avLst/>
          </a:prstGeom>
          <a:solidFill>
            <a:srgbClr val="071A2B"/>
          </a:solidFill>
          <a:ln w="14288">
            <a:solidFill>
              <a:srgbClr val="345267"/>
            </a:solidFill>
            <a:prstDash val="solid"/>
          </a:ln>
        </p:spPr>
        <p:txBody>
          <a:bodyPr/>
          <a:lstStyle/>
          <a:p>
            <a:endParaRPr lang="en-US"/>
          </a:p>
        </p:txBody>
      </p:sp>
      <p:sp>
        <p:nvSpPr>
          <p:cNvPr id="7" name="Oval 6">
            <a:extLst>
              <a:ext uri="{FF2B5EF4-FFF2-40B4-BE49-F238E27FC236}">
                <a16:creationId xmlns:a16="http://schemas.microsoft.com/office/drawing/2014/main" id="{78E0528B-B78C-43C5-A2BA-03E4CB085E34}"/>
              </a:ext>
            </a:extLst>
          </p:cNvPr>
          <p:cNvSpPr>
            <a:spLocks noGrp="1"/>
          </p:cNvSpPr>
          <p:nvPr/>
        </p:nvSpPr>
        <p:spPr>
          <a:xfrm>
            <a:off x="1428750" y="3533775"/>
            <a:ext cx="95250" cy="95250"/>
          </a:xfrm>
          <a:prstGeom prst="ellipse">
            <a:avLst/>
          </a:prstGeom>
          <a:solidFill>
            <a:srgbClr val="47D7FF"/>
          </a:solidFill>
          <a:ln w="0">
            <a:solidFill>
              <a:srgbClr val="47D7FF"/>
            </a:solidFill>
            <a:prstDash val="solid"/>
          </a:ln>
        </p:spPr>
        <p:txBody>
          <a:bodyPr/>
          <a:lstStyle/>
          <a:p>
            <a:endParaRPr lang="en-US"/>
          </a:p>
        </p:txBody>
      </p:sp>
      <p:sp>
        <p:nvSpPr>
          <p:cNvPr id="8" name="Rectangle 7">
            <a:extLst>
              <a:ext uri="{FF2B5EF4-FFF2-40B4-BE49-F238E27FC236}">
                <a16:creationId xmlns:a16="http://schemas.microsoft.com/office/drawing/2014/main" id="{A0F3FA6D-29FD-41FE-9107-91665C7C5954}"/>
              </a:ext>
            </a:extLst>
          </p:cNvPr>
          <p:cNvSpPr>
            <a:spLocks noGrp="1"/>
          </p:cNvSpPr>
          <p:nvPr/>
        </p:nvSpPr>
        <p:spPr>
          <a:xfrm>
            <a:off x="1143000" y="3781425"/>
            <a:ext cx="666750" cy="228600"/>
          </a:xfrm>
          <a:prstGeom prst="rect">
            <a:avLst/>
          </a:prstGeom>
          <a:noFill/>
          <a:ln w="0">
            <a:noFill/>
          </a:ln>
        </p:spPr>
        <p:txBody>
          <a:bodyPr>
            <a:noAutofit/>
          </a:bodyPr>
          <a:lstStyle/>
          <a:p>
            <a:pPr algn="ctr">
              <a:defRPr sz="1275" b="1" i="0">
                <a:solidFill>
                  <a:srgbClr val="DDEBF2"/>
                </a:solidFill>
                <a:latin typeface="Bitstream Charter"/>
                <a:ea typeface="Bitstream Charter"/>
                <a:cs typeface="Bitstream Charter"/>
              </a:defRPr>
            </a:pPr>
            <a:r>
              <a:rPr sz="1275" b="1" i="0">
                <a:solidFill>
                  <a:srgbClr val="DDEBF2"/>
                </a:solidFill>
                <a:latin typeface="Bitstream Charter"/>
                <a:ea typeface="Bitstream Charter"/>
                <a:cs typeface="Bitstream Charter"/>
              </a:rPr>
              <a:t>UE</a:t>
            </a:r>
          </a:p>
        </p:txBody>
      </p:sp>
      <p:sp>
        <p:nvSpPr>
          <p:cNvPr id="9" name="Rounded Rectangle 8">
            <a:extLst>
              <a:ext uri="{FF2B5EF4-FFF2-40B4-BE49-F238E27FC236}">
                <a16:creationId xmlns:a16="http://schemas.microsoft.com/office/drawing/2014/main" id="{254FD9DD-05C4-4207-996F-EFA73A634125}"/>
              </a:ext>
            </a:extLst>
          </p:cNvPr>
          <p:cNvSpPr>
            <a:spLocks noGrp="1"/>
          </p:cNvSpPr>
          <p:nvPr/>
        </p:nvSpPr>
        <p:spPr>
          <a:xfrm>
            <a:off x="3429000" y="2333625"/>
            <a:ext cx="1524000" cy="1333500"/>
          </a:xfrm>
          <a:prstGeom prst="roundRect">
            <a:avLst>
              <a:gd name="adj" fmla="val 14286"/>
            </a:avLst>
          </a:prstGeom>
          <a:solidFill>
            <a:srgbClr val="0D2940"/>
          </a:solidFill>
          <a:ln w="14288">
            <a:solidFill>
              <a:srgbClr val="47D7FF"/>
            </a:solidFill>
            <a:prstDash val="solid"/>
          </a:ln>
        </p:spPr>
        <p:txBody>
          <a:bodyPr/>
          <a:lstStyle/>
          <a:p>
            <a:endParaRPr lang="en-US"/>
          </a:p>
        </p:txBody>
      </p:sp>
      <p:sp>
        <p:nvSpPr>
          <p:cNvPr id="10" name="Rectangle 9">
            <a:extLst>
              <a:ext uri="{FF2B5EF4-FFF2-40B4-BE49-F238E27FC236}">
                <a16:creationId xmlns:a16="http://schemas.microsoft.com/office/drawing/2014/main" id="{27918676-9AA8-4A15-85EF-1CC7A2ED802E}"/>
              </a:ext>
            </a:extLst>
          </p:cNvPr>
          <p:cNvSpPr>
            <a:spLocks noGrp="1"/>
          </p:cNvSpPr>
          <p:nvPr/>
        </p:nvSpPr>
        <p:spPr>
          <a:xfrm>
            <a:off x="3619500" y="2600325"/>
            <a:ext cx="1143000" cy="381000"/>
          </a:xfrm>
          <a:prstGeom prst="rect">
            <a:avLst/>
          </a:prstGeom>
          <a:noFill/>
          <a:ln w="0">
            <a:noFill/>
          </a:ln>
        </p:spPr>
        <p:txBody>
          <a:bodyPr>
            <a:noAutofit/>
          </a:bodyPr>
          <a:lstStyle/>
          <a:p>
            <a:pPr algn="ctr">
              <a:defRPr sz="1500" b="1" i="0">
                <a:solidFill>
                  <a:srgbClr val="F4F8FB"/>
                </a:solidFill>
                <a:latin typeface="Bitstream Charter"/>
                <a:ea typeface="Bitstream Charter"/>
                <a:cs typeface="Bitstream Charter"/>
              </a:defRPr>
            </a:pPr>
            <a:r>
              <a:rPr sz="1500" b="1" i="0">
                <a:solidFill>
                  <a:srgbClr val="F4F8FB"/>
                </a:solidFill>
                <a:latin typeface="Bitstream Charter"/>
                <a:ea typeface="Bitstream Charter"/>
                <a:cs typeface="Bitstream Charter"/>
              </a:rPr>
              <a:t>5G base station</a:t>
            </a:r>
          </a:p>
        </p:txBody>
      </p:sp>
      <p:sp>
        <p:nvSpPr>
          <p:cNvPr id="11" name="Rectangle 10">
            <a:extLst>
              <a:ext uri="{FF2B5EF4-FFF2-40B4-BE49-F238E27FC236}">
                <a16:creationId xmlns:a16="http://schemas.microsoft.com/office/drawing/2014/main" id="{AEB940A6-3914-4911-BAFC-71222444A49C}"/>
              </a:ext>
            </a:extLst>
          </p:cNvPr>
          <p:cNvSpPr>
            <a:spLocks noGrp="1"/>
          </p:cNvSpPr>
          <p:nvPr/>
        </p:nvSpPr>
        <p:spPr>
          <a:xfrm>
            <a:off x="3810000" y="3124200"/>
            <a:ext cx="762000" cy="266700"/>
          </a:xfrm>
          <a:prstGeom prst="rect">
            <a:avLst/>
          </a:prstGeom>
          <a:noFill/>
          <a:ln w="0">
            <a:noFill/>
          </a:ln>
        </p:spPr>
        <p:txBody>
          <a:bodyPr>
            <a:noAutofit/>
          </a:bodyPr>
          <a:lstStyle/>
          <a:p>
            <a:pPr algn="ctr">
              <a:defRPr sz="1350" b="0" i="0">
                <a:solidFill>
                  <a:srgbClr val="47D7FF"/>
                </a:solidFill>
                <a:latin typeface="Bitstream Charter"/>
                <a:ea typeface="Bitstream Charter"/>
                <a:cs typeface="Bitstream Charter"/>
              </a:defRPr>
            </a:pPr>
            <a:r>
              <a:rPr sz="1350" b="0" i="0">
                <a:solidFill>
                  <a:srgbClr val="47D7FF"/>
                </a:solidFill>
                <a:latin typeface="Bitstream Charter"/>
                <a:ea typeface="Bitstream Charter"/>
                <a:cs typeface="Bitstream Charter"/>
              </a:rPr>
              <a:t>gNB</a:t>
            </a:r>
          </a:p>
        </p:txBody>
      </p:sp>
      <p:sp>
        <p:nvSpPr>
          <p:cNvPr id="12" name="Rounded Rectangle 11">
            <a:extLst>
              <a:ext uri="{FF2B5EF4-FFF2-40B4-BE49-F238E27FC236}">
                <a16:creationId xmlns:a16="http://schemas.microsoft.com/office/drawing/2014/main" id="{A01BFCAC-D4FE-4E94-BE8A-2EDB963F297C}"/>
              </a:ext>
            </a:extLst>
          </p:cNvPr>
          <p:cNvSpPr>
            <a:spLocks noGrp="1"/>
          </p:cNvSpPr>
          <p:nvPr/>
        </p:nvSpPr>
        <p:spPr>
          <a:xfrm>
            <a:off x="6477000" y="2333625"/>
            <a:ext cx="1524000" cy="1333500"/>
          </a:xfrm>
          <a:prstGeom prst="roundRect">
            <a:avLst>
              <a:gd name="adj" fmla="val 14286"/>
            </a:avLst>
          </a:prstGeom>
          <a:solidFill>
            <a:srgbClr val="0D2940"/>
          </a:solidFill>
          <a:ln w="14288">
            <a:solidFill>
              <a:srgbClr val="345267"/>
            </a:solidFill>
            <a:prstDash val="solid"/>
          </a:ln>
        </p:spPr>
        <p:txBody>
          <a:bodyPr/>
          <a:lstStyle/>
          <a:p>
            <a:endParaRPr lang="en-US"/>
          </a:p>
        </p:txBody>
      </p:sp>
      <p:sp>
        <p:nvSpPr>
          <p:cNvPr id="13" name="Rectangle 12">
            <a:extLst>
              <a:ext uri="{FF2B5EF4-FFF2-40B4-BE49-F238E27FC236}">
                <a16:creationId xmlns:a16="http://schemas.microsoft.com/office/drawing/2014/main" id="{7B58401E-91AA-44C4-9096-81F86E0923E6}"/>
              </a:ext>
            </a:extLst>
          </p:cNvPr>
          <p:cNvSpPr>
            <a:spLocks noGrp="1"/>
          </p:cNvSpPr>
          <p:nvPr/>
        </p:nvSpPr>
        <p:spPr>
          <a:xfrm>
            <a:off x="6667500" y="2619375"/>
            <a:ext cx="1143000" cy="304800"/>
          </a:xfrm>
          <a:prstGeom prst="rect">
            <a:avLst/>
          </a:prstGeom>
          <a:noFill/>
          <a:ln w="0">
            <a:noFill/>
          </a:ln>
        </p:spPr>
        <p:txBody>
          <a:bodyPr>
            <a:noAutofit/>
          </a:bodyPr>
          <a:lstStyle/>
          <a:p>
            <a:pPr algn="ctr">
              <a:defRPr sz="1500" b="1" i="0">
                <a:solidFill>
                  <a:srgbClr val="F4F8FB"/>
                </a:solidFill>
                <a:latin typeface="Bitstream Charter"/>
                <a:ea typeface="Bitstream Charter"/>
                <a:cs typeface="Bitstream Charter"/>
              </a:defRPr>
            </a:pPr>
            <a:r>
              <a:rPr sz="1500" b="1" i="0">
                <a:solidFill>
                  <a:srgbClr val="F4F8FB"/>
                </a:solidFill>
                <a:latin typeface="Bitstream Charter"/>
                <a:ea typeface="Bitstream Charter"/>
                <a:cs typeface="Bitstream Charter"/>
              </a:rPr>
              <a:t>5G Core</a:t>
            </a:r>
          </a:p>
        </p:txBody>
      </p:sp>
      <p:sp>
        <p:nvSpPr>
          <p:cNvPr id="14" name="Rectangle 13">
            <a:extLst>
              <a:ext uri="{FF2B5EF4-FFF2-40B4-BE49-F238E27FC236}">
                <a16:creationId xmlns:a16="http://schemas.microsoft.com/office/drawing/2014/main" id="{84545683-0D54-42EE-BCCE-A56E12AB07BD}"/>
              </a:ext>
            </a:extLst>
          </p:cNvPr>
          <p:cNvSpPr>
            <a:spLocks noGrp="1"/>
          </p:cNvSpPr>
          <p:nvPr/>
        </p:nvSpPr>
        <p:spPr>
          <a:xfrm>
            <a:off x="6619875" y="3105150"/>
            <a:ext cx="1238250" cy="228600"/>
          </a:xfrm>
          <a:prstGeom prst="rect">
            <a:avLst/>
          </a:prstGeom>
          <a:noFill/>
          <a:ln w="0">
            <a:noFill/>
          </a:ln>
        </p:spPr>
        <p:txBody>
          <a:bodyPr>
            <a:noAutofit/>
          </a:bodyPr>
          <a:lstStyle/>
          <a:p>
            <a:pPr algn="ctr">
              <a:defRPr sz="1050" b="0" i="0">
                <a:solidFill>
                  <a:srgbClr val="A8BDCC"/>
                </a:solidFill>
                <a:latin typeface="Bitstream Charter"/>
                <a:ea typeface="Bitstream Charter"/>
                <a:cs typeface="Bitstream Charter"/>
              </a:defRPr>
            </a:pPr>
            <a:r>
              <a:rPr sz="1050" b="0" i="0">
                <a:solidFill>
                  <a:srgbClr val="A8BDCC"/>
                </a:solidFill>
                <a:latin typeface="Bitstream Charter"/>
                <a:ea typeface="Bitstream Charter"/>
                <a:cs typeface="Bitstream Charter"/>
              </a:rPr>
              <a:t>AMF · SMF · UPF</a:t>
            </a:r>
          </a:p>
        </p:txBody>
      </p:sp>
      <p:sp>
        <p:nvSpPr>
          <p:cNvPr id="15" name="Rounded Rectangle 14">
            <a:extLst>
              <a:ext uri="{FF2B5EF4-FFF2-40B4-BE49-F238E27FC236}">
                <a16:creationId xmlns:a16="http://schemas.microsoft.com/office/drawing/2014/main" id="{6D01769E-8CAD-459F-AA3D-BAD0F98AC97E}"/>
              </a:ext>
            </a:extLst>
          </p:cNvPr>
          <p:cNvSpPr>
            <a:spLocks noGrp="1"/>
          </p:cNvSpPr>
          <p:nvPr/>
        </p:nvSpPr>
        <p:spPr>
          <a:xfrm>
            <a:off x="9467850" y="2333625"/>
            <a:ext cx="1428750" cy="1333500"/>
          </a:xfrm>
          <a:prstGeom prst="roundRect">
            <a:avLst>
              <a:gd name="adj" fmla="val 14286"/>
            </a:avLst>
          </a:prstGeom>
          <a:solidFill>
            <a:srgbClr val="0D2940"/>
          </a:solidFill>
          <a:ln w="14288">
            <a:solidFill>
              <a:srgbClr val="345267"/>
            </a:solidFill>
            <a:prstDash val="solid"/>
          </a:ln>
        </p:spPr>
        <p:txBody>
          <a:bodyPr/>
          <a:lstStyle/>
          <a:p>
            <a:endParaRPr lang="en-US"/>
          </a:p>
        </p:txBody>
      </p:sp>
      <p:sp>
        <p:nvSpPr>
          <p:cNvPr id="16" name="Rectangle 15">
            <a:extLst>
              <a:ext uri="{FF2B5EF4-FFF2-40B4-BE49-F238E27FC236}">
                <a16:creationId xmlns:a16="http://schemas.microsoft.com/office/drawing/2014/main" id="{A3F08259-DDE3-4DB0-8D85-78508127203A}"/>
              </a:ext>
            </a:extLst>
          </p:cNvPr>
          <p:cNvSpPr>
            <a:spLocks noGrp="1"/>
          </p:cNvSpPr>
          <p:nvPr/>
        </p:nvSpPr>
        <p:spPr>
          <a:xfrm>
            <a:off x="9477375" y="2667000"/>
            <a:ext cx="1428750" cy="514350"/>
          </a:xfrm>
          <a:prstGeom prst="rect">
            <a:avLst/>
          </a:prstGeom>
          <a:noFill/>
          <a:ln w="0">
            <a:noFill/>
          </a:ln>
        </p:spPr>
        <p:txBody>
          <a:bodyPr>
            <a:noAutofit/>
          </a:bodyPr>
          <a:lstStyle/>
          <a:p>
            <a:pPr algn="ctr">
              <a:defRPr sz="1500" b="1" i="0">
                <a:solidFill>
                  <a:srgbClr val="F4F8FB"/>
                </a:solidFill>
                <a:latin typeface="Bitstream Charter"/>
                <a:ea typeface="Bitstream Charter"/>
                <a:cs typeface="Bitstream Charter"/>
              </a:defRPr>
            </a:pPr>
            <a:r>
              <a:rPr sz="1500" b="1" i="0" dirty="0">
                <a:solidFill>
                  <a:srgbClr val="F4F8FB"/>
                </a:solidFill>
                <a:latin typeface="Bitstream Charter"/>
                <a:ea typeface="Bitstream Charter"/>
                <a:cs typeface="Bitstream Charter"/>
              </a:rPr>
              <a:t>Applicati</a:t>
            </a:r>
            <a:r>
              <a:rPr lang="en-US" sz="1500" b="1" i="0" dirty="0">
                <a:solidFill>
                  <a:srgbClr val="F4F8FB"/>
                </a:solidFill>
                <a:latin typeface="Bitstream Charter"/>
                <a:ea typeface="Bitstream Charter"/>
                <a:cs typeface="Bitstream Charter"/>
              </a:rPr>
              <a:t>o</a:t>
            </a:r>
            <a:r>
              <a:rPr sz="1500" b="1" i="0" dirty="0">
                <a:solidFill>
                  <a:srgbClr val="F4F8FB"/>
                </a:solidFill>
                <a:latin typeface="Bitstream Charter"/>
                <a:ea typeface="Bitstream Charter"/>
                <a:cs typeface="Bitstream Charter"/>
              </a:rPr>
              <a:t>n</a:t>
            </a:r>
          </a:p>
          <a:p>
            <a:pPr algn="ctr">
              <a:defRPr sz="1500" b="1" i="0">
                <a:solidFill>
                  <a:srgbClr val="F4F8FB"/>
                </a:solidFill>
                <a:latin typeface="Bitstream Charter"/>
                <a:ea typeface="Bitstream Charter"/>
                <a:cs typeface="Bitstream Charter"/>
              </a:defRPr>
            </a:pPr>
            <a:r>
              <a:rPr sz="1500" b="1" i="0" dirty="0">
                <a:solidFill>
                  <a:srgbClr val="F4F8FB"/>
                </a:solidFill>
                <a:latin typeface="Bitstream Charter"/>
                <a:ea typeface="Bitstream Charter"/>
                <a:cs typeface="Bitstream Charter"/>
              </a:rPr>
              <a:t>server</a:t>
            </a:r>
          </a:p>
        </p:txBody>
      </p:sp>
      <p:cxnSp>
        <p:nvCxnSpPr>
          <p:cNvPr id="46" name="Straight Arrow Connector 45"/>
          <p:cNvCxnSpPr>
            <a:cxnSpLocks/>
            <a:stCxn id="9" idx="1"/>
            <a:endCxn id="5" idx="3"/>
          </p:cNvCxnSpPr>
          <p:nvPr/>
        </p:nvCxnSpPr>
        <p:spPr>
          <a:xfrm flipH="1">
            <a:off x="2000250" y="3000375"/>
            <a:ext cx="1428750" cy="0"/>
          </a:xfrm>
          <a:prstGeom prst="straightConnector1">
            <a:avLst/>
          </a:prstGeom>
          <a:ln w="23813">
            <a:solidFill>
              <a:srgbClr val="57D18C"/>
            </a:solidFill>
            <a:prstDash val="solid"/>
            <a:headEnd type="arrow" w="med" len="med"/>
            <a:tailEnd type="none" w="med" len="med"/>
          </a:ln>
        </p:spPr>
      </p:cxnSp>
      <p:cxnSp>
        <p:nvCxnSpPr>
          <p:cNvPr id="47" name="Straight Arrow Connector 46"/>
          <p:cNvCxnSpPr>
            <a:cxnSpLocks/>
            <a:stCxn id="12" idx="1"/>
            <a:endCxn id="9" idx="3"/>
          </p:cNvCxnSpPr>
          <p:nvPr/>
        </p:nvCxnSpPr>
        <p:spPr>
          <a:xfrm flipH="1">
            <a:off x="4953000" y="3000375"/>
            <a:ext cx="1524000" cy="0"/>
          </a:xfrm>
          <a:prstGeom prst="straightConnector1">
            <a:avLst/>
          </a:prstGeom>
          <a:ln w="23813">
            <a:solidFill>
              <a:srgbClr val="57D18C"/>
            </a:solidFill>
            <a:prstDash val="solid"/>
            <a:headEnd type="arrow" w="med" len="med"/>
            <a:tailEnd type="none" w="med" len="med"/>
          </a:ln>
        </p:spPr>
      </p:cxnSp>
      <p:cxnSp>
        <p:nvCxnSpPr>
          <p:cNvPr id="48" name="Straight Arrow Connector 47"/>
          <p:cNvCxnSpPr>
            <a:cxnSpLocks/>
            <a:stCxn id="15" idx="1"/>
            <a:endCxn id="12" idx="3"/>
          </p:cNvCxnSpPr>
          <p:nvPr/>
        </p:nvCxnSpPr>
        <p:spPr>
          <a:xfrm flipH="1">
            <a:off x="8001000" y="3000375"/>
            <a:ext cx="1466850" cy="0"/>
          </a:xfrm>
          <a:prstGeom prst="straightConnector1">
            <a:avLst/>
          </a:prstGeom>
          <a:ln w="23813">
            <a:solidFill>
              <a:srgbClr val="57D18C"/>
            </a:solidFill>
            <a:prstDash val="solid"/>
            <a:headEnd type="arrow" w="med" len="med"/>
            <a:tailEnd type="none" w="med" len="med"/>
          </a:ln>
        </p:spPr>
      </p:cxnSp>
      <p:sp>
        <p:nvSpPr>
          <p:cNvPr id="20" name="Rectangle 19">
            <a:extLst>
              <a:ext uri="{FF2B5EF4-FFF2-40B4-BE49-F238E27FC236}">
                <a16:creationId xmlns:a16="http://schemas.microsoft.com/office/drawing/2014/main" id="{081D8D80-926A-4A65-A31F-8C1326D20A8F}"/>
              </a:ext>
            </a:extLst>
          </p:cNvPr>
          <p:cNvSpPr>
            <a:spLocks noGrp="1"/>
          </p:cNvSpPr>
          <p:nvPr/>
        </p:nvSpPr>
        <p:spPr>
          <a:xfrm>
            <a:off x="2095500" y="2076450"/>
            <a:ext cx="1333500" cy="228600"/>
          </a:xfrm>
          <a:prstGeom prst="rect">
            <a:avLst/>
          </a:prstGeom>
          <a:noFill/>
          <a:ln w="0">
            <a:noFill/>
          </a:ln>
        </p:spPr>
        <p:txBody>
          <a:bodyPr>
            <a:noAutofit/>
          </a:bodyPr>
          <a:lstStyle/>
          <a:p>
            <a:pPr algn="ctr">
              <a:defRPr sz="1125" b="1" i="0">
                <a:solidFill>
                  <a:srgbClr val="57D18C"/>
                </a:solidFill>
                <a:latin typeface="Bitstream Charter"/>
                <a:ea typeface="Bitstream Charter"/>
                <a:cs typeface="Bitstream Charter"/>
              </a:defRPr>
            </a:pPr>
            <a:r>
              <a:rPr sz="1125" b="1" i="0">
                <a:solidFill>
                  <a:srgbClr val="57D18C"/>
                </a:solidFill>
                <a:latin typeface="Bitstream Charter"/>
                <a:ea typeface="Bitstream Charter"/>
                <a:cs typeface="Bitstream Charter"/>
              </a:rPr>
              <a:t>uplink data</a:t>
            </a:r>
          </a:p>
        </p:txBody>
      </p:sp>
      <p:sp>
        <p:nvSpPr>
          <p:cNvPr id="21" name="Rounded Rectangle 20">
            <a:extLst>
              <a:ext uri="{FF2B5EF4-FFF2-40B4-BE49-F238E27FC236}">
                <a16:creationId xmlns:a16="http://schemas.microsoft.com/office/drawing/2014/main" id="{4E0C007F-62F5-4214-B126-2986E991A562}"/>
              </a:ext>
            </a:extLst>
          </p:cNvPr>
          <p:cNvSpPr>
            <a:spLocks noGrp="1"/>
          </p:cNvSpPr>
          <p:nvPr/>
        </p:nvSpPr>
        <p:spPr>
          <a:xfrm>
            <a:off x="3238500" y="4600575"/>
            <a:ext cx="1905000" cy="723900"/>
          </a:xfrm>
          <a:prstGeom prst="roundRect">
            <a:avLst>
              <a:gd name="adj" fmla="val 21053"/>
            </a:avLst>
          </a:prstGeom>
          <a:solidFill>
            <a:srgbClr val="FFC857"/>
          </a:solidFill>
          <a:ln w="0">
            <a:solidFill>
              <a:srgbClr val="FFC857"/>
            </a:solidFill>
            <a:prstDash val="solid"/>
          </a:ln>
        </p:spPr>
        <p:txBody>
          <a:bodyPr/>
          <a:lstStyle/>
          <a:p>
            <a:endParaRPr lang="en-US"/>
          </a:p>
        </p:txBody>
      </p:sp>
      <p:sp>
        <p:nvSpPr>
          <p:cNvPr id="22" name="Rectangle 21">
            <a:extLst>
              <a:ext uri="{FF2B5EF4-FFF2-40B4-BE49-F238E27FC236}">
                <a16:creationId xmlns:a16="http://schemas.microsoft.com/office/drawing/2014/main" id="{AE3F499F-B2DD-42CA-8259-BA1F6AEB106D}"/>
              </a:ext>
            </a:extLst>
          </p:cNvPr>
          <p:cNvSpPr>
            <a:spLocks noGrp="1"/>
          </p:cNvSpPr>
          <p:nvPr/>
        </p:nvSpPr>
        <p:spPr>
          <a:xfrm>
            <a:off x="3429000" y="4810125"/>
            <a:ext cx="1524000" cy="266700"/>
          </a:xfrm>
          <a:prstGeom prst="rect">
            <a:avLst/>
          </a:prstGeom>
          <a:noFill/>
          <a:ln w="0">
            <a:noFill/>
          </a:ln>
        </p:spPr>
        <p:txBody>
          <a:bodyPr>
            <a:noAutofit/>
          </a:bodyPr>
          <a:lstStyle/>
          <a:p>
            <a:pPr algn="ctr">
              <a:defRPr sz="1575" b="1" i="0">
                <a:solidFill>
                  <a:srgbClr val="071A2B"/>
                </a:solidFill>
                <a:latin typeface="Bitstream Charter"/>
                <a:ea typeface="Bitstream Charter"/>
                <a:cs typeface="Bitstream Charter"/>
              </a:defRPr>
            </a:pPr>
            <a:r>
              <a:rPr sz="1575" b="1" i="0">
                <a:solidFill>
                  <a:srgbClr val="071A2B"/>
                </a:solidFill>
                <a:latin typeface="Bitstream Charter"/>
                <a:ea typeface="Bitstream Charter"/>
                <a:cs typeface="Bitstream Charter"/>
              </a:rPr>
              <a:t>MAC scheduler</a:t>
            </a:r>
          </a:p>
        </p:txBody>
      </p:sp>
      <p:cxnSp>
        <p:nvCxnSpPr>
          <p:cNvPr id="52" name="Straight Arrow Connector 51"/>
          <p:cNvCxnSpPr>
            <a:stCxn id="21" idx="0"/>
            <a:endCxn id="9" idx="2"/>
          </p:cNvCxnSpPr>
          <p:nvPr/>
        </p:nvCxnSpPr>
        <p:spPr>
          <a:xfrm flipV="1">
            <a:off x="4191000" y="3667125"/>
            <a:ext cx="0" cy="933450"/>
          </a:xfrm>
          <a:prstGeom prst="straightConnector1">
            <a:avLst/>
          </a:prstGeom>
          <a:ln w="23813">
            <a:solidFill>
              <a:srgbClr val="FFC857"/>
            </a:solidFill>
            <a:prstDash val="solid"/>
            <a:headEnd type="arrow" w="med" len="med"/>
            <a:tailEnd type="none" w="med" len="med"/>
          </a:ln>
        </p:spPr>
      </p:cxnSp>
      <p:sp>
        <p:nvSpPr>
          <p:cNvPr id="24" name="Rectangle 23">
            <a:extLst>
              <a:ext uri="{FF2B5EF4-FFF2-40B4-BE49-F238E27FC236}">
                <a16:creationId xmlns:a16="http://schemas.microsoft.com/office/drawing/2014/main" id="{F9B3B1BD-DEB3-47B9-ABE5-82142092EC4E}"/>
              </a:ext>
            </a:extLst>
          </p:cNvPr>
          <p:cNvSpPr>
            <a:spLocks noGrp="1"/>
          </p:cNvSpPr>
          <p:nvPr/>
        </p:nvSpPr>
        <p:spPr>
          <a:xfrm>
            <a:off x="5734050" y="4476750"/>
            <a:ext cx="2095500" cy="171450"/>
          </a:xfrm>
          <a:prstGeom prst="rect">
            <a:avLst/>
          </a:prstGeom>
          <a:noFill/>
          <a:ln w="0">
            <a:noFill/>
          </a:ln>
        </p:spPr>
        <p:txBody>
          <a:bodyPr>
            <a:noAutofit/>
          </a:bodyPr>
          <a:lstStyle/>
          <a:p>
            <a:pPr algn="l">
              <a:defRPr sz="900" b="1" i="0">
                <a:solidFill>
                  <a:srgbClr val="FFC857"/>
                </a:solidFill>
                <a:latin typeface="Bitstream Charter"/>
                <a:ea typeface="Bitstream Charter"/>
                <a:cs typeface="Bitstream Charter"/>
              </a:defRPr>
            </a:pPr>
            <a:r>
              <a:rPr sz="900" b="1" i="0">
                <a:solidFill>
                  <a:srgbClr val="FFC857"/>
                </a:solidFill>
                <a:latin typeface="Bitstream Charter"/>
                <a:ea typeface="Bitstream Charter"/>
                <a:cs typeface="Bitstream Charter"/>
              </a:rPr>
              <a:t>WHO DECIDES?</a:t>
            </a:r>
          </a:p>
        </p:txBody>
      </p:sp>
      <p:sp>
        <p:nvSpPr>
          <p:cNvPr id="25" name="Rectangle 24">
            <a:extLst>
              <a:ext uri="{FF2B5EF4-FFF2-40B4-BE49-F238E27FC236}">
                <a16:creationId xmlns:a16="http://schemas.microsoft.com/office/drawing/2014/main" id="{3090AFCC-7378-4A61-816E-C803A87B3FD9}"/>
              </a:ext>
            </a:extLst>
          </p:cNvPr>
          <p:cNvSpPr>
            <a:spLocks noGrp="1"/>
          </p:cNvSpPr>
          <p:nvPr/>
        </p:nvSpPr>
        <p:spPr>
          <a:xfrm>
            <a:off x="5810250" y="4762500"/>
            <a:ext cx="4381500" cy="609600"/>
          </a:xfrm>
          <a:prstGeom prst="rect">
            <a:avLst/>
          </a:prstGeom>
          <a:noFill/>
          <a:ln w="0">
            <a:noFill/>
          </a:ln>
        </p:spPr>
        <p:txBody>
          <a:bodyPr>
            <a:noAutofit/>
          </a:bodyPr>
          <a:lstStyle/>
          <a:p>
            <a:pPr algn="l">
              <a:defRPr sz="1425" b="0" i="0">
                <a:solidFill>
                  <a:srgbClr val="DDEBF2"/>
                </a:solidFill>
                <a:latin typeface="Bitstream Charter"/>
                <a:ea typeface="Bitstream Charter"/>
                <a:cs typeface="Bitstream Charter"/>
              </a:defRPr>
            </a:pPr>
            <a:r>
              <a:rPr sz="1425" b="0" i="0" dirty="0">
                <a:solidFill>
                  <a:srgbClr val="DDEBF2"/>
                </a:solidFill>
                <a:latin typeface="Bitstream Charter"/>
                <a:ea typeface="Bitstream Charter"/>
                <a:cs typeface="Bitstream Charter"/>
              </a:rPr>
              <a:t>Sage sits beside this decision point. It changes when and how the base station allocates shared radio resources.</a:t>
            </a:r>
          </a:p>
        </p:txBody>
      </p:sp>
      <p:sp>
        <p:nvSpPr>
          <p:cNvPr id="26" name="Straight Connector 25">
            <a:extLst>
              <a:ext uri="{FF2B5EF4-FFF2-40B4-BE49-F238E27FC236}">
                <a16:creationId xmlns:a16="http://schemas.microsoft.com/office/drawing/2014/main" id="{E2736BA7-EA63-40B6-8DDF-1690DB2DDF26}"/>
              </a:ext>
            </a:extLst>
          </p:cNvPr>
          <p:cNvSpPr>
            <a:spLocks noGrp="1"/>
          </p:cNvSpPr>
          <p:nvPr/>
        </p:nvSpPr>
        <p:spPr>
          <a:xfrm>
            <a:off x="781050" y="5886450"/>
            <a:ext cx="10382250" cy="0"/>
          </a:xfrm>
          <a:prstGeom prst="line">
            <a:avLst/>
          </a:prstGeom>
          <a:noFill/>
          <a:ln w="9525">
            <a:solidFill>
              <a:srgbClr val="345267"/>
            </a:solidFill>
            <a:prstDash val="solid"/>
          </a:ln>
        </p:spPr>
        <p:txBody>
          <a:bodyPr/>
          <a:lstStyle/>
          <a:p>
            <a:endParaRPr lang="en-US"/>
          </a:p>
        </p:txBody>
      </p:sp>
      <p:sp>
        <p:nvSpPr>
          <p:cNvPr id="27" name="Rectangle 26">
            <a:extLst>
              <a:ext uri="{FF2B5EF4-FFF2-40B4-BE49-F238E27FC236}">
                <a16:creationId xmlns:a16="http://schemas.microsoft.com/office/drawing/2014/main" id="{2DB083A7-E80E-4C2B-986B-1B93B053B04A}"/>
              </a:ext>
            </a:extLst>
          </p:cNvPr>
          <p:cNvSpPr>
            <a:spLocks noGrp="1"/>
          </p:cNvSpPr>
          <p:nvPr/>
        </p:nvSpPr>
        <p:spPr>
          <a:xfrm>
            <a:off x="781050" y="6019800"/>
            <a:ext cx="10001250" cy="266700"/>
          </a:xfrm>
          <a:prstGeom prst="rect">
            <a:avLst/>
          </a:prstGeom>
          <a:noFill/>
          <a:ln w="0">
            <a:noFill/>
          </a:ln>
        </p:spPr>
        <p:txBody>
          <a:bodyPr>
            <a:noAutofit/>
          </a:bodyPr>
          <a:lstStyle/>
          <a:p>
            <a:pPr algn="l">
              <a:defRPr sz="1350" b="1" i="0">
                <a:solidFill>
                  <a:srgbClr val="F4F8FB"/>
                </a:solidFill>
                <a:latin typeface="Bitstream Charter"/>
                <a:ea typeface="Bitstream Charter"/>
                <a:cs typeface="Bitstream Charter"/>
              </a:defRPr>
            </a:pPr>
            <a:r>
              <a:rPr sz="1350" b="1" i="0" dirty="0">
                <a:solidFill>
                  <a:srgbClr val="F4F8FB"/>
                </a:solidFill>
                <a:latin typeface="Bitstream Charter"/>
                <a:ea typeface="Bitstream Charter"/>
                <a:cs typeface="Bitstream Charter"/>
              </a:rPr>
              <a:t>The paper improves a decision loop inside the Radio Access Network (RAN), not the packet-forwarding path.</a:t>
            </a:r>
          </a:p>
        </p:txBody>
      </p:sp>
      <p:sp>
        <p:nvSpPr>
          <p:cNvPr id="28" name="Rectangle 27">
            <a:extLst>
              <a:ext uri="{FF2B5EF4-FFF2-40B4-BE49-F238E27FC236}">
                <a16:creationId xmlns:a16="http://schemas.microsoft.com/office/drawing/2014/main" id="{2055FE0B-126C-4B8B-B485-6A554539E8EC}"/>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02</a:t>
            </a:r>
          </a:p>
        </p:txBody>
      </p:sp>
      <p:sp>
        <p:nvSpPr>
          <p:cNvPr id="29" name="Rectangle 28">
            <a:extLst>
              <a:ext uri="{FF2B5EF4-FFF2-40B4-BE49-F238E27FC236}">
                <a16:creationId xmlns:a16="http://schemas.microsoft.com/office/drawing/2014/main" id="{3BB455E0-7ACF-4D70-96D2-591487F70D56}"/>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Paper §§1–2, 4; study guide</a:t>
            </a:r>
          </a:p>
        </p:txBody>
      </p:sp>
    </p:spTree>
    <p:extLst>
      <p:ext uri="{BB962C8B-B14F-4D97-AF65-F5344CB8AC3E}">
        <p14:creationId xmlns:p14="http://schemas.microsoft.com/office/powerpoint/2010/main" val="1687009876"/>
      </p:ext>
    </p:extLst>
  </p:cSld>
  <p:clrMapOvr>
    <a:masterClrMapping/>
  </p:clrMapOvr>
  <mc:AlternateContent xmlns:mc="http://schemas.openxmlformats.org/markup-compatibility/2006">
    <mc:Choice xmlns:p14="http://schemas.microsoft.com/office/powerpoint/2010/main" Requires="p14">
      <p:transition spd="slow" p14:dur="2000" advTm="92300"/>
    </mc:Choice>
    <mc:Fallback>
      <p:transition spd="slow" advTm="923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2F716780-1667-4E9C-838F-CF7F10206226}"/>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1G to 5G: more flexible networks, harder coordination</a:t>
            </a:r>
          </a:p>
        </p:txBody>
      </p:sp>
      <p:sp>
        <p:nvSpPr>
          <p:cNvPr id="2" name="Rectangle 1">
            <a:extLst>
              <a:ext uri="{FF2B5EF4-FFF2-40B4-BE49-F238E27FC236}">
                <a16:creationId xmlns:a16="http://schemas.microsoft.com/office/drawing/2014/main" id="{91D313E4-947C-463E-90C6-8809FBC414D7}"/>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The paper belongs to the latest step in a longer shift from reserved voice paths to programmable shared infrastructure</a:t>
            </a:r>
          </a:p>
        </p:txBody>
      </p:sp>
      <p:sp>
        <p:nvSpPr>
          <p:cNvPr id="3" name="Straight Connector 2">
            <a:extLst>
              <a:ext uri="{FF2B5EF4-FFF2-40B4-BE49-F238E27FC236}">
                <a16:creationId xmlns:a16="http://schemas.microsoft.com/office/drawing/2014/main" id="{94796E99-9525-49CA-AC51-E7068AD5EA88}"/>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ounded Rectangle 3">
            <a:extLst>
              <a:ext uri="{FF2B5EF4-FFF2-40B4-BE49-F238E27FC236}">
                <a16:creationId xmlns:a16="http://schemas.microsoft.com/office/drawing/2014/main" id="{4BDFC613-469A-482E-9375-38F54598C563}"/>
              </a:ext>
            </a:extLst>
          </p:cNvPr>
          <p:cNvSpPr>
            <a:spLocks noGrp="1"/>
          </p:cNvSpPr>
          <p:nvPr/>
        </p:nvSpPr>
        <p:spPr>
          <a:xfrm>
            <a:off x="685800" y="2143125"/>
            <a:ext cx="1790700" cy="1714500"/>
          </a:xfrm>
          <a:prstGeom prst="roundRect">
            <a:avLst>
              <a:gd name="adj" fmla="val 12222"/>
            </a:avLst>
          </a:prstGeom>
          <a:solidFill>
            <a:srgbClr val="345267"/>
          </a:solidFill>
          <a:ln w="0">
            <a:solidFill>
              <a:srgbClr val="345267"/>
            </a:solidFill>
            <a:prstDash val="solid"/>
          </a:ln>
        </p:spPr>
        <p:txBody>
          <a:bodyPr/>
          <a:lstStyle/>
          <a:p>
            <a:endParaRPr lang="en-US"/>
          </a:p>
        </p:txBody>
      </p:sp>
      <p:sp>
        <p:nvSpPr>
          <p:cNvPr id="5" name="Rectangle 4">
            <a:extLst>
              <a:ext uri="{FF2B5EF4-FFF2-40B4-BE49-F238E27FC236}">
                <a16:creationId xmlns:a16="http://schemas.microsoft.com/office/drawing/2014/main" id="{FE494DC2-5FCF-4F32-B01C-CD83884486CD}"/>
              </a:ext>
            </a:extLst>
          </p:cNvPr>
          <p:cNvSpPr>
            <a:spLocks noGrp="1"/>
          </p:cNvSpPr>
          <p:nvPr/>
        </p:nvSpPr>
        <p:spPr>
          <a:xfrm>
            <a:off x="895350" y="2381250"/>
            <a:ext cx="1371600" cy="342900"/>
          </a:xfrm>
          <a:prstGeom prst="rect">
            <a:avLst/>
          </a:prstGeom>
          <a:noFill/>
          <a:ln w="0">
            <a:noFill/>
          </a:ln>
        </p:spPr>
        <p:txBody>
          <a:bodyPr>
            <a:noAutofit/>
          </a:bodyPr>
          <a:lstStyle/>
          <a:p>
            <a:pPr algn="l">
              <a:defRPr sz="2100" b="1" i="0">
                <a:solidFill>
                  <a:srgbClr val="F4F8FB"/>
                </a:solidFill>
                <a:latin typeface="Bitstream Charter"/>
                <a:ea typeface="Bitstream Charter"/>
                <a:cs typeface="Bitstream Charter"/>
              </a:defRPr>
            </a:pPr>
            <a:r>
              <a:rPr sz="2100" b="1" i="0">
                <a:solidFill>
                  <a:srgbClr val="F4F8FB"/>
                </a:solidFill>
                <a:latin typeface="Bitstream Charter"/>
                <a:ea typeface="Bitstream Charter"/>
                <a:cs typeface="Bitstream Charter"/>
              </a:rPr>
              <a:t>1G</a:t>
            </a:r>
          </a:p>
        </p:txBody>
      </p:sp>
      <p:sp>
        <p:nvSpPr>
          <p:cNvPr id="6" name="Rectangle 5">
            <a:extLst>
              <a:ext uri="{FF2B5EF4-FFF2-40B4-BE49-F238E27FC236}">
                <a16:creationId xmlns:a16="http://schemas.microsoft.com/office/drawing/2014/main" id="{2FDA126F-DE02-445E-B1AA-7CE2C3697BFB}"/>
              </a:ext>
            </a:extLst>
          </p:cNvPr>
          <p:cNvSpPr>
            <a:spLocks noGrp="1"/>
          </p:cNvSpPr>
          <p:nvPr/>
        </p:nvSpPr>
        <p:spPr>
          <a:xfrm>
            <a:off x="895350" y="2876550"/>
            <a:ext cx="1371600" cy="304800"/>
          </a:xfrm>
          <a:prstGeom prst="rect">
            <a:avLst/>
          </a:prstGeom>
          <a:noFill/>
          <a:ln w="0">
            <a:noFill/>
          </a:ln>
        </p:spPr>
        <p:txBody>
          <a:bodyPr>
            <a:noAutofit/>
          </a:bodyPr>
          <a:lstStyle/>
          <a:p>
            <a:pPr algn="l">
              <a:defRPr sz="1350" b="1" i="0">
                <a:solidFill>
                  <a:srgbClr val="F4F8FB"/>
                </a:solidFill>
                <a:latin typeface="Bitstream Charter"/>
                <a:ea typeface="Bitstream Charter"/>
                <a:cs typeface="Bitstream Charter"/>
              </a:defRPr>
            </a:pPr>
            <a:r>
              <a:rPr sz="1350" b="1" i="0">
                <a:solidFill>
                  <a:srgbClr val="F4F8FB"/>
                </a:solidFill>
                <a:latin typeface="Bitstream Charter"/>
                <a:ea typeface="Bitstream Charter"/>
                <a:cs typeface="Bitstream Charter"/>
              </a:rPr>
              <a:t>Analog voice</a:t>
            </a:r>
          </a:p>
        </p:txBody>
      </p:sp>
      <p:sp>
        <p:nvSpPr>
          <p:cNvPr id="7" name="Rectangle 6">
            <a:extLst>
              <a:ext uri="{FF2B5EF4-FFF2-40B4-BE49-F238E27FC236}">
                <a16:creationId xmlns:a16="http://schemas.microsoft.com/office/drawing/2014/main" id="{7F3D9A21-BBEB-4CEB-A9C3-8639598B7E4F}"/>
              </a:ext>
            </a:extLst>
          </p:cNvPr>
          <p:cNvSpPr>
            <a:spLocks noGrp="1"/>
          </p:cNvSpPr>
          <p:nvPr/>
        </p:nvSpPr>
        <p:spPr>
          <a:xfrm>
            <a:off x="895350" y="3314700"/>
            <a:ext cx="1371600" cy="400050"/>
          </a:xfrm>
          <a:prstGeom prst="rect">
            <a:avLst/>
          </a:prstGeom>
          <a:noFill/>
          <a:ln w="0">
            <a:noFill/>
          </a:ln>
        </p:spPr>
        <p:txBody>
          <a:bodyPr>
            <a:noAutofit/>
          </a:bodyPr>
          <a:lstStyle/>
          <a:p>
            <a:pPr algn="l">
              <a:defRPr sz="1200" b="0" i="0">
                <a:solidFill>
                  <a:srgbClr val="A8BDCC"/>
                </a:solidFill>
                <a:latin typeface="Bitstream Charter"/>
                <a:ea typeface="Bitstream Charter"/>
                <a:cs typeface="Bitstream Charter"/>
              </a:defRPr>
            </a:pPr>
            <a:r>
              <a:rPr sz="1200" b="0" i="0">
                <a:solidFill>
                  <a:srgbClr val="A8BDCC"/>
                </a:solidFill>
                <a:latin typeface="Bitstream Charter"/>
                <a:ea typeface="Bitstream Charter"/>
                <a:cs typeface="Bitstream Charter"/>
              </a:rPr>
              <a:t>Reserve a circuit</a:t>
            </a:r>
          </a:p>
        </p:txBody>
      </p:sp>
      <p:sp>
        <p:nvSpPr>
          <p:cNvPr id="8" name="Rounded Rectangle 7">
            <a:extLst>
              <a:ext uri="{FF2B5EF4-FFF2-40B4-BE49-F238E27FC236}">
                <a16:creationId xmlns:a16="http://schemas.microsoft.com/office/drawing/2014/main" id="{2ED053EE-93A1-4BD7-A176-32C68C85501E}"/>
              </a:ext>
            </a:extLst>
          </p:cNvPr>
          <p:cNvSpPr>
            <a:spLocks noGrp="1"/>
          </p:cNvSpPr>
          <p:nvPr/>
        </p:nvSpPr>
        <p:spPr>
          <a:xfrm>
            <a:off x="2895600" y="2143125"/>
            <a:ext cx="1790700" cy="1714500"/>
          </a:xfrm>
          <a:prstGeom prst="roundRect">
            <a:avLst>
              <a:gd name="adj" fmla="val 12222"/>
            </a:avLst>
          </a:prstGeom>
          <a:solidFill>
            <a:srgbClr val="345267"/>
          </a:solidFill>
          <a:ln w="0">
            <a:solidFill>
              <a:srgbClr val="345267"/>
            </a:solidFill>
            <a:prstDash val="solid"/>
          </a:ln>
        </p:spPr>
        <p:txBody>
          <a:bodyPr/>
          <a:lstStyle/>
          <a:p>
            <a:endParaRPr lang="en-US"/>
          </a:p>
        </p:txBody>
      </p:sp>
      <p:sp>
        <p:nvSpPr>
          <p:cNvPr id="9" name="Rectangle 8">
            <a:extLst>
              <a:ext uri="{FF2B5EF4-FFF2-40B4-BE49-F238E27FC236}">
                <a16:creationId xmlns:a16="http://schemas.microsoft.com/office/drawing/2014/main" id="{49F9A0AB-55E7-4664-AA07-BCE19826B970}"/>
              </a:ext>
            </a:extLst>
          </p:cNvPr>
          <p:cNvSpPr>
            <a:spLocks noGrp="1"/>
          </p:cNvSpPr>
          <p:nvPr/>
        </p:nvSpPr>
        <p:spPr>
          <a:xfrm>
            <a:off x="3105150" y="2381250"/>
            <a:ext cx="1371600" cy="342900"/>
          </a:xfrm>
          <a:prstGeom prst="rect">
            <a:avLst/>
          </a:prstGeom>
          <a:noFill/>
          <a:ln w="0">
            <a:noFill/>
          </a:ln>
        </p:spPr>
        <p:txBody>
          <a:bodyPr>
            <a:noAutofit/>
          </a:bodyPr>
          <a:lstStyle/>
          <a:p>
            <a:pPr algn="l">
              <a:defRPr sz="2100" b="1" i="0">
                <a:solidFill>
                  <a:srgbClr val="F4F8FB"/>
                </a:solidFill>
                <a:latin typeface="Bitstream Charter"/>
                <a:ea typeface="Bitstream Charter"/>
                <a:cs typeface="Bitstream Charter"/>
              </a:defRPr>
            </a:pPr>
            <a:r>
              <a:rPr sz="2100" b="1" i="0">
                <a:solidFill>
                  <a:srgbClr val="F4F8FB"/>
                </a:solidFill>
                <a:latin typeface="Bitstream Charter"/>
                <a:ea typeface="Bitstream Charter"/>
                <a:cs typeface="Bitstream Charter"/>
              </a:rPr>
              <a:t>2G</a:t>
            </a:r>
          </a:p>
        </p:txBody>
      </p:sp>
      <p:sp>
        <p:nvSpPr>
          <p:cNvPr id="10" name="Rectangle 9">
            <a:extLst>
              <a:ext uri="{FF2B5EF4-FFF2-40B4-BE49-F238E27FC236}">
                <a16:creationId xmlns:a16="http://schemas.microsoft.com/office/drawing/2014/main" id="{31AAA272-7893-419D-9D70-E8D1D1927548}"/>
              </a:ext>
            </a:extLst>
          </p:cNvPr>
          <p:cNvSpPr>
            <a:spLocks noGrp="1"/>
          </p:cNvSpPr>
          <p:nvPr/>
        </p:nvSpPr>
        <p:spPr>
          <a:xfrm>
            <a:off x="3105150" y="2876550"/>
            <a:ext cx="1371600" cy="304800"/>
          </a:xfrm>
          <a:prstGeom prst="rect">
            <a:avLst/>
          </a:prstGeom>
          <a:noFill/>
          <a:ln w="0">
            <a:noFill/>
          </a:ln>
        </p:spPr>
        <p:txBody>
          <a:bodyPr>
            <a:noAutofit/>
          </a:bodyPr>
          <a:lstStyle/>
          <a:p>
            <a:pPr algn="l">
              <a:defRPr sz="1350" b="1" i="0">
                <a:solidFill>
                  <a:srgbClr val="F4F8FB"/>
                </a:solidFill>
                <a:latin typeface="Bitstream Charter"/>
                <a:ea typeface="Bitstream Charter"/>
                <a:cs typeface="Bitstream Charter"/>
              </a:defRPr>
            </a:pPr>
            <a:r>
              <a:rPr sz="1350" b="1" i="0">
                <a:solidFill>
                  <a:srgbClr val="F4F8FB"/>
                </a:solidFill>
                <a:latin typeface="Bitstream Charter"/>
                <a:ea typeface="Bitstream Charter"/>
                <a:cs typeface="Bitstream Charter"/>
              </a:rPr>
              <a:t>Digital voice</a:t>
            </a:r>
          </a:p>
        </p:txBody>
      </p:sp>
      <p:sp>
        <p:nvSpPr>
          <p:cNvPr id="11" name="Rectangle 10">
            <a:extLst>
              <a:ext uri="{FF2B5EF4-FFF2-40B4-BE49-F238E27FC236}">
                <a16:creationId xmlns:a16="http://schemas.microsoft.com/office/drawing/2014/main" id="{78B6864C-7DE2-4A30-85B2-1CFCCE540C2F}"/>
              </a:ext>
            </a:extLst>
          </p:cNvPr>
          <p:cNvSpPr>
            <a:spLocks noGrp="1"/>
          </p:cNvSpPr>
          <p:nvPr/>
        </p:nvSpPr>
        <p:spPr>
          <a:xfrm>
            <a:off x="3105150" y="3314700"/>
            <a:ext cx="1371600" cy="400050"/>
          </a:xfrm>
          <a:prstGeom prst="rect">
            <a:avLst/>
          </a:prstGeom>
          <a:noFill/>
          <a:ln w="0">
            <a:noFill/>
          </a:ln>
        </p:spPr>
        <p:txBody>
          <a:bodyPr>
            <a:noAutofit/>
          </a:bodyPr>
          <a:lstStyle/>
          <a:p>
            <a:pPr algn="l">
              <a:defRPr sz="1200" b="0" i="0">
                <a:solidFill>
                  <a:srgbClr val="A8BDCC"/>
                </a:solidFill>
                <a:latin typeface="Bitstream Charter"/>
                <a:ea typeface="Bitstream Charter"/>
                <a:cs typeface="Bitstream Charter"/>
              </a:defRPr>
            </a:pPr>
            <a:r>
              <a:rPr sz="1200" b="0" i="0">
                <a:solidFill>
                  <a:srgbClr val="A8BDCC"/>
                </a:solidFill>
                <a:latin typeface="Bitstream Charter"/>
                <a:ea typeface="Bitstream Charter"/>
                <a:cs typeface="Bitstream Charter"/>
              </a:rPr>
              <a:t>Add packet data</a:t>
            </a:r>
          </a:p>
        </p:txBody>
      </p:sp>
      <p:sp>
        <p:nvSpPr>
          <p:cNvPr id="13" name="Rounded Rectangle 12">
            <a:extLst>
              <a:ext uri="{FF2B5EF4-FFF2-40B4-BE49-F238E27FC236}">
                <a16:creationId xmlns:a16="http://schemas.microsoft.com/office/drawing/2014/main" id="{4D8C7CBC-9D91-4CC8-8DE3-0B7F3634FD94}"/>
              </a:ext>
            </a:extLst>
          </p:cNvPr>
          <p:cNvSpPr>
            <a:spLocks noGrp="1"/>
          </p:cNvSpPr>
          <p:nvPr/>
        </p:nvSpPr>
        <p:spPr>
          <a:xfrm>
            <a:off x="5105400" y="2143125"/>
            <a:ext cx="1790700" cy="1714500"/>
          </a:xfrm>
          <a:prstGeom prst="roundRect">
            <a:avLst>
              <a:gd name="adj" fmla="val 12222"/>
            </a:avLst>
          </a:prstGeom>
          <a:solidFill>
            <a:srgbClr val="345267"/>
          </a:solidFill>
          <a:ln w="0">
            <a:solidFill>
              <a:srgbClr val="345267"/>
            </a:solidFill>
            <a:prstDash val="solid"/>
          </a:ln>
        </p:spPr>
        <p:txBody>
          <a:bodyPr/>
          <a:lstStyle/>
          <a:p>
            <a:endParaRPr lang="en-US"/>
          </a:p>
        </p:txBody>
      </p:sp>
      <p:sp>
        <p:nvSpPr>
          <p:cNvPr id="14" name="Rectangle 13">
            <a:extLst>
              <a:ext uri="{FF2B5EF4-FFF2-40B4-BE49-F238E27FC236}">
                <a16:creationId xmlns:a16="http://schemas.microsoft.com/office/drawing/2014/main" id="{883D1048-C160-4330-B8C8-71468E15106E}"/>
              </a:ext>
            </a:extLst>
          </p:cNvPr>
          <p:cNvSpPr>
            <a:spLocks noGrp="1"/>
          </p:cNvSpPr>
          <p:nvPr/>
        </p:nvSpPr>
        <p:spPr>
          <a:xfrm>
            <a:off x="5314950" y="2381250"/>
            <a:ext cx="1371600" cy="342900"/>
          </a:xfrm>
          <a:prstGeom prst="rect">
            <a:avLst/>
          </a:prstGeom>
          <a:noFill/>
          <a:ln w="0">
            <a:noFill/>
          </a:ln>
        </p:spPr>
        <p:txBody>
          <a:bodyPr>
            <a:noAutofit/>
          </a:bodyPr>
          <a:lstStyle/>
          <a:p>
            <a:pPr algn="l">
              <a:defRPr sz="2100" b="1" i="0">
                <a:solidFill>
                  <a:srgbClr val="F4F8FB"/>
                </a:solidFill>
                <a:latin typeface="Bitstream Charter"/>
                <a:ea typeface="Bitstream Charter"/>
                <a:cs typeface="Bitstream Charter"/>
              </a:defRPr>
            </a:pPr>
            <a:r>
              <a:rPr sz="2100" b="1" i="0">
                <a:solidFill>
                  <a:srgbClr val="F4F8FB"/>
                </a:solidFill>
                <a:latin typeface="Bitstream Charter"/>
                <a:ea typeface="Bitstream Charter"/>
                <a:cs typeface="Bitstream Charter"/>
              </a:rPr>
              <a:t>3G</a:t>
            </a:r>
          </a:p>
        </p:txBody>
      </p:sp>
      <p:sp>
        <p:nvSpPr>
          <p:cNvPr id="15" name="Rectangle 14">
            <a:extLst>
              <a:ext uri="{FF2B5EF4-FFF2-40B4-BE49-F238E27FC236}">
                <a16:creationId xmlns:a16="http://schemas.microsoft.com/office/drawing/2014/main" id="{22F93C9D-F8D9-49B2-BD7C-E443973A9660}"/>
              </a:ext>
            </a:extLst>
          </p:cNvPr>
          <p:cNvSpPr>
            <a:spLocks noGrp="1"/>
          </p:cNvSpPr>
          <p:nvPr/>
        </p:nvSpPr>
        <p:spPr>
          <a:xfrm>
            <a:off x="5314950" y="2876550"/>
            <a:ext cx="1371600" cy="304800"/>
          </a:xfrm>
          <a:prstGeom prst="rect">
            <a:avLst/>
          </a:prstGeom>
          <a:noFill/>
          <a:ln w="0">
            <a:noFill/>
          </a:ln>
        </p:spPr>
        <p:txBody>
          <a:bodyPr>
            <a:noAutofit/>
          </a:bodyPr>
          <a:lstStyle/>
          <a:p>
            <a:pPr algn="l">
              <a:defRPr sz="1350" b="1" i="0">
                <a:solidFill>
                  <a:srgbClr val="F4F8FB"/>
                </a:solidFill>
                <a:latin typeface="Bitstream Charter"/>
                <a:ea typeface="Bitstream Charter"/>
                <a:cs typeface="Bitstream Charter"/>
              </a:defRPr>
            </a:pPr>
            <a:r>
              <a:rPr sz="1350" b="1" i="0">
                <a:solidFill>
                  <a:srgbClr val="F4F8FB"/>
                </a:solidFill>
                <a:latin typeface="Bitstream Charter"/>
                <a:ea typeface="Bitstream Charter"/>
                <a:cs typeface="Bitstream Charter"/>
              </a:rPr>
              <a:t>Richer data</a:t>
            </a:r>
          </a:p>
        </p:txBody>
      </p:sp>
      <p:sp>
        <p:nvSpPr>
          <p:cNvPr id="16" name="Rectangle 15">
            <a:extLst>
              <a:ext uri="{FF2B5EF4-FFF2-40B4-BE49-F238E27FC236}">
                <a16:creationId xmlns:a16="http://schemas.microsoft.com/office/drawing/2014/main" id="{467558B1-29B1-4BBE-BF96-DB670C80D2D2}"/>
              </a:ext>
            </a:extLst>
          </p:cNvPr>
          <p:cNvSpPr>
            <a:spLocks noGrp="1"/>
          </p:cNvSpPr>
          <p:nvPr/>
        </p:nvSpPr>
        <p:spPr>
          <a:xfrm>
            <a:off x="5314950" y="3314700"/>
            <a:ext cx="1371600" cy="400050"/>
          </a:xfrm>
          <a:prstGeom prst="rect">
            <a:avLst/>
          </a:prstGeom>
          <a:noFill/>
          <a:ln w="0">
            <a:noFill/>
          </a:ln>
        </p:spPr>
        <p:txBody>
          <a:bodyPr>
            <a:noAutofit/>
          </a:bodyPr>
          <a:lstStyle/>
          <a:p>
            <a:pPr algn="l">
              <a:defRPr sz="1200" b="0" i="0">
                <a:solidFill>
                  <a:srgbClr val="A8BDCC"/>
                </a:solidFill>
                <a:latin typeface="Bitstream Charter"/>
                <a:ea typeface="Bitstream Charter"/>
                <a:cs typeface="Bitstream Charter"/>
              </a:defRPr>
            </a:pPr>
            <a:r>
              <a:rPr sz="1200" b="0" i="0">
                <a:solidFill>
                  <a:srgbClr val="A8BDCC"/>
                </a:solidFill>
                <a:latin typeface="Bitstream Charter"/>
                <a:ea typeface="Bitstream Charter"/>
                <a:cs typeface="Bitstream Charter"/>
              </a:rPr>
              <a:t>More varied traffic</a:t>
            </a:r>
          </a:p>
        </p:txBody>
      </p:sp>
      <p:sp>
        <p:nvSpPr>
          <p:cNvPr id="18" name="Rounded Rectangle 17">
            <a:extLst>
              <a:ext uri="{FF2B5EF4-FFF2-40B4-BE49-F238E27FC236}">
                <a16:creationId xmlns:a16="http://schemas.microsoft.com/office/drawing/2014/main" id="{CFA81937-CD84-4905-AAE1-158B3679C6FD}"/>
              </a:ext>
            </a:extLst>
          </p:cNvPr>
          <p:cNvSpPr>
            <a:spLocks noGrp="1"/>
          </p:cNvSpPr>
          <p:nvPr/>
        </p:nvSpPr>
        <p:spPr>
          <a:xfrm>
            <a:off x="7315200" y="2143125"/>
            <a:ext cx="1790700" cy="1714500"/>
          </a:xfrm>
          <a:prstGeom prst="roundRect">
            <a:avLst>
              <a:gd name="adj" fmla="val 12222"/>
            </a:avLst>
          </a:prstGeom>
          <a:solidFill>
            <a:srgbClr val="345267"/>
          </a:solidFill>
          <a:ln w="0">
            <a:solidFill>
              <a:srgbClr val="345267"/>
            </a:solidFill>
            <a:prstDash val="solid"/>
          </a:ln>
        </p:spPr>
        <p:txBody>
          <a:bodyPr/>
          <a:lstStyle/>
          <a:p>
            <a:endParaRPr lang="en-US"/>
          </a:p>
        </p:txBody>
      </p:sp>
      <p:sp>
        <p:nvSpPr>
          <p:cNvPr id="19" name="Rectangle 18">
            <a:extLst>
              <a:ext uri="{FF2B5EF4-FFF2-40B4-BE49-F238E27FC236}">
                <a16:creationId xmlns:a16="http://schemas.microsoft.com/office/drawing/2014/main" id="{C6D2360A-5494-4478-8B36-7C93B7691326}"/>
              </a:ext>
            </a:extLst>
          </p:cNvPr>
          <p:cNvSpPr>
            <a:spLocks noGrp="1"/>
          </p:cNvSpPr>
          <p:nvPr/>
        </p:nvSpPr>
        <p:spPr>
          <a:xfrm>
            <a:off x="7524750" y="2381250"/>
            <a:ext cx="1371600" cy="342900"/>
          </a:xfrm>
          <a:prstGeom prst="rect">
            <a:avLst/>
          </a:prstGeom>
          <a:noFill/>
          <a:ln w="0">
            <a:noFill/>
          </a:ln>
        </p:spPr>
        <p:txBody>
          <a:bodyPr>
            <a:noAutofit/>
          </a:bodyPr>
          <a:lstStyle/>
          <a:p>
            <a:pPr algn="l">
              <a:defRPr sz="2100" b="1" i="0">
                <a:solidFill>
                  <a:srgbClr val="F4F8FB"/>
                </a:solidFill>
                <a:latin typeface="Bitstream Charter"/>
                <a:ea typeface="Bitstream Charter"/>
                <a:cs typeface="Bitstream Charter"/>
              </a:defRPr>
            </a:pPr>
            <a:r>
              <a:rPr sz="2100" b="1" i="0">
                <a:solidFill>
                  <a:srgbClr val="F4F8FB"/>
                </a:solidFill>
                <a:latin typeface="Bitstream Charter"/>
                <a:ea typeface="Bitstream Charter"/>
                <a:cs typeface="Bitstream Charter"/>
              </a:rPr>
              <a:t>4G</a:t>
            </a:r>
          </a:p>
        </p:txBody>
      </p:sp>
      <p:sp>
        <p:nvSpPr>
          <p:cNvPr id="20" name="Rectangle 19">
            <a:extLst>
              <a:ext uri="{FF2B5EF4-FFF2-40B4-BE49-F238E27FC236}">
                <a16:creationId xmlns:a16="http://schemas.microsoft.com/office/drawing/2014/main" id="{5E22ED51-7CAC-4B80-8F17-54B76986B80E}"/>
              </a:ext>
            </a:extLst>
          </p:cNvPr>
          <p:cNvSpPr>
            <a:spLocks noGrp="1"/>
          </p:cNvSpPr>
          <p:nvPr/>
        </p:nvSpPr>
        <p:spPr>
          <a:xfrm>
            <a:off x="7524750" y="2876550"/>
            <a:ext cx="1371600" cy="304800"/>
          </a:xfrm>
          <a:prstGeom prst="rect">
            <a:avLst/>
          </a:prstGeom>
          <a:noFill/>
          <a:ln w="0">
            <a:noFill/>
          </a:ln>
        </p:spPr>
        <p:txBody>
          <a:bodyPr>
            <a:noAutofit/>
          </a:bodyPr>
          <a:lstStyle/>
          <a:p>
            <a:pPr algn="l">
              <a:defRPr sz="1350" b="1" i="0">
                <a:solidFill>
                  <a:srgbClr val="F4F8FB"/>
                </a:solidFill>
                <a:latin typeface="Bitstream Charter"/>
                <a:ea typeface="Bitstream Charter"/>
                <a:cs typeface="Bitstream Charter"/>
              </a:defRPr>
            </a:pPr>
            <a:r>
              <a:rPr sz="1350" b="1" i="0">
                <a:solidFill>
                  <a:srgbClr val="F4F8FB"/>
                </a:solidFill>
                <a:latin typeface="Bitstream Charter"/>
                <a:ea typeface="Bitstream Charter"/>
                <a:cs typeface="Bitstream Charter"/>
              </a:rPr>
              <a:t>Packet core</a:t>
            </a:r>
          </a:p>
        </p:txBody>
      </p:sp>
      <p:sp>
        <p:nvSpPr>
          <p:cNvPr id="21" name="Rectangle 20">
            <a:extLst>
              <a:ext uri="{FF2B5EF4-FFF2-40B4-BE49-F238E27FC236}">
                <a16:creationId xmlns:a16="http://schemas.microsoft.com/office/drawing/2014/main" id="{A939BFEF-C3BB-483F-96BE-9E7912DA8CDB}"/>
              </a:ext>
            </a:extLst>
          </p:cNvPr>
          <p:cNvSpPr>
            <a:spLocks noGrp="1"/>
          </p:cNvSpPr>
          <p:nvPr/>
        </p:nvSpPr>
        <p:spPr>
          <a:xfrm>
            <a:off x="7524750" y="3314700"/>
            <a:ext cx="1371600" cy="400050"/>
          </a:xfrm>
          <a:prstGeom prst="rect">
            <a:avLst/>
          </a:prstGeom>
          <a:noFill/>
          <a:ln w="0">
            <a:noFill/>
          </a:ln>
        </p:spPr>
        <p:txBody>
          <a:bodyPr>
            <a:noAutofit/>
          </a:bodyPr>
          <a:lstStyle/>
          <a:p>
            <a:pPr algn="l">
              <a:defRPr sz="1200" b="0" i="0">
                <a:solidFill>
                  <a:srgbClr val="A8BDCC"/>
                </a:solidFill>
                <a:latin typeface="Bitstream Charter"/>
                <a:ea typeface="Bitstream Charter"/>
                <a:cs typeface="Bitstream Charter"/>
              </a:defRPr>
            </a:pPr>
            <a:r>
              <a:rPr sz="1200" b="0" i="0">
                <a:solidFill>
                  <a:srgbClr val="A8BDCC"/>
                </a:solidFill>
                <a:latin typeface="Bitstream Charter"/>
                <a:ea typeface="Bitstream Charter"/>
                <a:cs typeface="Bitstream Charter"/>
              </a:rPr>
              <a:t>Schedule shared radio</a:t>
            </a:r>
          </a:p>
        </p:txBody>
      </p:sp>
      <p:sp>
        <p:nvSpPr>
          <p:cNvPr id="23" name="Rounded Rectangle 22">
            <a:extLst>
              <a:ext uri="{FF2B5EF4-FFF2-40B4-BE49-F238E27FC236}">
                <a16:creationId xmlns:a16="http://schemas.microsoft.com/office/drawing/2014/main" id="{06BCB8DC-2752-4C45-BAD7-0F0B295694E6}"/>
              </a:ext>
            </a:extLst>
          </p:cNvPr>
          <p:cNvSpPr>
            <a:spLocks noGrp="1"/>
          </p:cNvSpPr>
          <p:nvPr/>
        </p:nvSpPr>
        <p:spPr>
          <a:xfrm>
            <a:off x="9525000" y="2143125"/>
            <a:ext cx="1790700" cy="1714500"/>
          </a:xfrm>
          <a:prstGeom prst="roundRect">
            <a:avLst>
              <a:gd name="adj" fmla="val 12222"/>
            </a:avLst>
          </a:prstGeom>
          <a:solidFill>
            <a:srgbClr val="0E9FC2"/>
          </a:solidFill>
          <a:ln w="14288">
            <a:solidFill>
              <a:srgbClr val="47D7FF"/>
            </a:solidFill>
            <a:prstDash val="solid"/>
          </a:ln>
        </p:spPr>
        <p:txBody>
          <a:bodyPr/>
          <a:lstStyle/>
          <a:p>
            <a:endParaRPr lang="en-US"/>
          </a:p>
        </p:txBody>
      </p:sp>
      <p:sp>
        <p:nvSpPr>
          <p:cNvPr id="24" name="Rectangle 23">
            <a:extLst>
              <a:ext uri="{FF2B5EF4-FFF2-40B4-BE49-F238E27FC236}">
                <a16:creationId xmlns:a16="http://schemas.microsoft.com/office/drawing/2014/main" id="{4A00A865-8D12-41A1-819F-E3DB85EDA0FE}"/>
              </a:ext>
            </a:extLst>
          </p:cNvPr>
          <p:cNvSpPr>
            <a:spLocks noGrp="1"/>
          </p:cNvSpPr>
          <p:nvPr/>
        </p:nvSpPr>
        <p:spPr>
          <a:xfrm>
            <a:off x="9734550" y="2381250"/>
            <a:ext cx="1371600" cy="342900"/>
          </a:xfrm>
          <a:prstGeom prst="rect">
            <a:avLst/>
          </a:prstGeom>
          <a:noFill/>
          <a:ln w="0">
            <a:noFill/>
          </a:ln>
        </p:spPr>
        <p:txBody>
          <a:bodyPr>
            <a:noAutofit/>
          </a:bodyPr>
          <a:lstStyle/>
          <a:p>
            <a:pPr algn="l">
              <a:defRPr sz="2100" b="1" i="0">
                <a:solidFill>
                  <a:srgbClr val="47D7FF"/>
                </a:solidFill>
                <a:latin typeface="Bitstream Charter"/>
                <a:ea typeface="Bitstream Charter"/>
                <a:cs typeface="Bitstream Charter"/>
              </a:defRPr>
            </a:pPr>
            <a:r>
              <a:rPr sz="2100" b="1" i="0">
                <a:solidFill>
                  <a:srgbClr val="47D7FF"/>
                </a:solidFill>
                <a:latin typeface="Bitstream Charter"/>
                <a:ea typeface="Bitstream Charter"/>
                <a:cs typeface="Bitstream Charter"/>
              </a:rPr>
              <a:t>5G</a:t>
            </a:r>
          </a:p>
        </p:txBody>
      </p:sp>
      <p:sp>
        <p:nvSpPr>
          <p:cNvPr id="25" name="Rectangle 24">
            <a:extLst>
              <a:ext uri="{FF2B5EF4-FFF2-40B4-BE49-F238E27FC236}">
                <a16:creationId xmlns:a16="http://schemas.microsoft.com/office/drawing/2014/main" id="{00C9C586-F1A5-4E65-8507-595FFA6E9BDE}"/>
              </a:ext>
            </a:extLst>
          </p:cNvPr>
          <p:cNvSpPr>
            <a:spLocks noGrp="1"/>
          </p:cNvSpPr>
          <p:nvPr/>
        </p:nvSpPr>
        <p:spPr>
          <a:xfrm>
            <a:off x="9734550" y="2876550"/>
            <a:ext cx="1371600" cy="304800"/>
          </a:xfrm>
          <a:prstGeom prst="rect">
            <a:avLst/>
          </a:prstGeom>
          <a:noFill/>
          <a:ln w="0">
            <a:noFill/>
          </a:ln>
        </p:spPr>
        <p:txBody>
          <a:bodyPr>
            <a:noAutofit/>
          </a:bodyPr>
          <a:lstStyle/>
          <a:p>
            <a:pPr algn="l">
              <a:defRPr sz="1350" b="1" i="0">
                <a:solidFill>
                  <a:srgbClr val="F4F8FB"/>
                </a:solidFill>
                <a:latin typeface="Bitstream Charter"/>
                <a:ea typeface="Bitstream Charter"/>
                <a:cs typeface="Bitstream Charter"/>
              </a:defRPr>
            </a:pPr>
            <a:r>
              <a:rPr sz="1350" b="1" i="0">
                <a:solidFill>
                  <a:srgbClr val="F4F8FB"/>
                </a:solidFill>
                <a:latin typeface="Bitstream Charter"/>
                <a:ea typeface="Bitstream Charter"/>
                <a:cs typeface="Bitstream Charter"/>
              </a:rPr>
              <a:t>Modular + flexible</a:t>
            </a:r>
          </a:p>
        </p:txBody>
      </p:sp>
      <p:sp>
        <p:nvSpPr>
          <p:cNvPr id="26" name="Rectangle 25">
            <a:extLst>
              <a:ext uri="{FF2B5EF4-FFF2-40B4-BE49-F238E27FC236}">
                <a16:creationId xmlns:a16="http://schemas.microsoft.com/office/drawing/2014/main" id="{97DAB14E-1C42-477E-95AE-ED4390467165}"/>
              </a:ext>
            </a:extLst>
          </p:cNvPr>
          <p:cNvSpPr>
            <a:spLocks noGrp="1"/>
          </p:cNvSpPr>
          <p:nvPr/>
        </p:nvSpPr>
        <p:spPr>
          <a:xfrm>
            <a:off x="9734550" y="3314700"/>
            <a:ext cx="1371600" cy="400050"/>
          </a:xfrm>
          <a:prstGeom prst="rect">
            <a:avLst/>
          </a:prstGeom>
          <a:noFill/>
          <a:ln w="0">
            <a:noFill/>
          </a:ln>
        </p:spPr>
        <p:txBody>
          <a:bodyPr>
            <a:noAutofit/>
          </a:bodyPr>
          <a:lstStyle/>
          <a:p>
            <a:pPr algn="l">
              <a:defRPr sz="1200" b="0" i="0">
                <a:solidFill>
                  <a:srgbClr val="DDEBF2"/>
                </a:solidFill>
                <a:latin typeface="Bitstream Charter"/>
                <a:ea typeface="Bitstream Charter"/>
                <a:cs typeface="Bitstream Charter"/>
              </a:defRPr>
            </a:pPr>
            <a:r>
              <a:rPr sz="1200" b="0" i="0">
                <a:solidFill>
                  <a:srgbClr val="DDEBF2"/>
                </a:solidFill>
                <a:latin typeface="Bitstream Charter"/>
                <a:ea typeface="Bitstream Charter"/>
                <a:cs typeface="Bitstream Charter"/>
              </a:rPr>
              <a:t>Software can improve decisions</a:t>
            </a:r>
          </a:p>
        </p:txBody>
      </p:sp>
      <p:sp>
        <p:nvSpPr>
          <p:cNvPr id="28" name="Rectangle 27">
            <a:extLst>
              <a:ext uri="{FF2B5EF4-FFF2-40B4-BE49-F238E27FC236}">
                <a16:creationId xmlns:a16="http://schemas.microsoft.com/office/drawing/2014/main" id="{7B0FC69C-197F-4A78-825F-8E9DAAF5346E}"/>
              </a:ext>
            </a:extLst>
          </p:cNvPr>
          <p:cNvSpPr>
            <a:spLocks noGrp="1"/>
          </p:cNvSpPr>
          <p:nvPr/>
        </p:nvSpPr>
        <p:spPr>
          <a:xfrm>
            <a:off x="685800" y="4429125"/>
            <a:ext cx="3143250" cy="171450"/>
          </a:xfrm>
          <a:prstGeom prst="rect">
            <a:avLst/>
          </a:prstGeom>
          <a:noFill/>
          <a:ln w="0">
            <a:noFill/>
          </a:ln>
        </p:spPr>
        <p:txBody>
          <a:bodyPr>
            <a:noAutofit/>
          </a:bodyPr>
          <a:lstStyle/>
          <a:p>
            <a:pPr algn="l">
              <a:defRPr sz="900" b="1" i="0">
                <a:solidFill>
                  <a:srgbClr val="FFC857"/>
                </a:solidFill>
                <a:latin typeface="Bitstream Charter"/>
                <a:ea typeface="Bitstream Charter"/>
                <a:cs typeface="Bitstream Charter"/>
              </a:defRPr>
            </a:pPr>
            <a:r>
              <a:rPr sz="900" b="1" i="0">
                <a:solidFill>
                  <a:srgbClr val="FFC857"/>
                </a:solidFill>
                <a:latin typeface="Bitstream Charter"/>
                <a:ea typeface="Bitstream Charter"/>
                <a:cs typeface="Bitstream Charter"/>
              </a:rPr>
              <a:t>THE RECURRING SYSTEMS PROBLEM</a:t>
            </a:r>
          </a:p>
        </p:txBody>
      </p:sp>
      <p:sp>
        <p:nvSpPr>
          <p:cNvPr id="29" name="Rectangle 28">
            <a:extLst>
              <a:ext uri="{FF2B5EF4-FFF2-40B4-BE49-F238E27FC236}">
                <a16:creationId xmlns:a16="http://schemas.microsoft.com/office/drawing/2014/main" id="{A88ED6C9-DCD4-49FC-92E3-66CB7B72B13B}"/>
              </a:ext>
            </a:extLst>
          </p:cNvPr>
          <p:cNvSpPr>
            <a:spLocks noGrp="1"/>
          </p:cNvSpPr>
          <p:nvPr/>
        </p:nvSpPr>
        <p:spPr>
          <a:xfrm>
            <a:off x="685800" y="4762500"/>
            <a:ext cx="6572250" cy="457200"/>
          </a:xfrm>
          <a:prstGeom prst="rect">
            <a:avLst/>
          </a:prstGeom>
          <a:noFill/>
          <a:ln w="0">
            <a:noFill/>
          </a:ln>
        </p:spPr>
        <p:txBody>
          <a:bodyPr>
            <a:noAutofit/>
          </a:bodyPr>
          <a:lstStyle/>
          <a:p>
            <a:pPr algn="l">
              <a:defRPr sz="2100" b="1" i="0">
                <a:solidFill>
                  <a:srgbClr val="F4F8FB"/>
                </a:solidFill>
                <a:latin typeface="Bitstream Charter"/>
                <a:ea typeface="Bitstream Charter"/>
                <a:cs typeface="Bitstream Charter"/>
              </a:defRPr>
            </a:pPr>
            <a:r>
              <a:rPr sz="2100" b="1" i="0">
                <a:solidFill>
                  <a:srgbClr val="F4F8FB"/>
                </a:solidFill>
                <a:latin typeface="Bitstream Charter"/>
                <a:ea typeface="Bitstream Charter"/>
                <a:cs typeface="Bitstream Charter"/>
              </a:rPr>
              <a:t>Every era must decide who gets access to scarce network resources, and when.</a:t>
            </a:r>
          </a:p>
        </p:txBody>
      </p:sp>
      <p:sp>
        <p:nvSpPr>
          <p:cNvPr id="30" name="Rectangle 29">
            <a:extLst>
              <a:ext uri="{FF2B5EF4-FFF2-40B4-BE49-F238E27FC236}">
                <a16:creationId xmlns:a16="http://schemas.microsoft.com/office/drawing/2014/main" id="{A57EB52C-9598-43C8-9D39-F44C5CDA21A3}"/>
              </a:ext>
            </a:extLst>
          </p:cNvPr>
          <p:cNvSpPr>
            <a:spLocks noGrp="1"/>
          </p:cNvSpPr>
          <p:nvPr/>
        </p:nvSpPr>
        <p:spPr>
          <a:xfrm>
            <a:off x="685800" y="5457824"/>
            <a:ext cx="6381750" cy="323850"/>
          </a:xfrm>
          <a:prstGeom prst="rect">
            <a:avLst/>
          </a:prstGeom>
          <a:noFill/>
          <a:ln w="0">
            <a:noFill/>
          </a:ln>
        </p:spPr>
        <p:txBody>
          <a:bodyPr>
            <a:noAutofit/>
          </a:bodyPr>
          <a:lstStyle/>
          <a:p>
            <a:pPr algn="l">
              <a:defRPr sz="1425" b="0" i="0">
                <a:solidFill>
                  <a:srgbClr val="DDEBF2"/>
                </a:solidFill>
                <a:latin typeface="Bitstream Charter"/>
                <a:ea typeface="Bitstream Charter"/>
                <a:cs typeface="Bitstream Charter"/>
              </a:defRPr>
            </a:pPr>
            <a:r>
              <a:rPr sz="1425" b="0" i="0" dirty="0">
                <a:solidFill>
                  <a:srgbClr val="DDEBF2"/>
                </a:solidFill>
                <a:latin typeface="Bitstream Charter"/>
                <a:ea typeface="Bitstream Charter"/>
                <a:cs typeface="Bitstream Charter"/>
              </a:rPr>
              <a:t>Sage keeps the 5G architecture, then improves the information available to the scheduler.</a:t>
            </a:r>
          </a:p>
        </p:txBody>
      </p:sp>
      <p:sp>
        <p:nvSpPr>
          <p:cNvPr id="31" name="Rounded Rectangle 30">
            <a:extLst>
              <a:ext uri="{FF2B5EF4-FFF2-40B4-BE49-F238E27FC236}">
                <a16:creationId xmlns:a16="http://schemas.microsoft.com/office/drawing/2014/main" id="{B4DFC1E3-93E5-4A14-835C-167BFF8586CB}"/>
              </a:ext>
            </a:extLst>
          </p:cNvPr>
          <p:cNvSpPr>
            <a:spLocks noGrp="1"/>
          </p:cNvSpPr>
          <p:nvPr/>
        </p:nvSpPr>
        <p:spPr>
          <a:xfrm>
            <a:off x="8096250" y="4524375"/>
            <a:ext cx="2857500" cy="1104900"/>
          </a:xfrm>
          <a:prstGeom prst="roundRect">
            <a:avLst>
              <a:gd name="adj" fmla="val 15517"/>
            </a:avLst>
          </a:prstGeom>
          <a:solidFill>
            <a:srgbClr val="0D2940"/>
          </a:solidFill>
          <a:ln w="14288">
            <a:solidFill>
              <a:srgbClr val="345267"/>
            </a:solidFill>
            <a:prstDash val="solid"/>
          </a:ln>
        </p:spPr>
        <p:txBody>
          <a:bodyPr/>
          <a:lstStyle/>
          <a:p>
            <a:endParaRPr lang="en-US"/>
          </a:p>
        </p:txBody>
      </p:sp>
      <p:sp>
        <p:nvSpPr>
          <p:cNvPr id="32" name="Rectangle 31">
            <a:extLst>
              <a:ext uri="{FF2B5EF4-FFF2-40B4-BE49-F238E27FC236}">
                <a16:creationId xmlns:a16="http://schemas.microsoft.com/office/drawing/2014/main" id="{A5A4231D-74DC-41E3-9E12-85CB58DAC90C}"/>
              </a:ext>
            </a:extLst>
          </p:cNvPr>
          <p:cNvSpPr>
            <a:spLocks noGrp="1"/>
          </p:cNvSpPr>
          <p:nvPr/>
        </p:nvSpPr>
        <p:spPr>
          <a:xfrm>
            <a:off x="8334375" y="4695825"/>
            <a:ext cx="1047750" cy="228600"/>
          </a:xfrm>
          <a:prstGeom prst="rect">
            <a:avLst/>
          </a:prstGeom>
          <a:noFill/>
          <a:ln w="0">
            <a:noFill/>
          </a:ln>
        </p:spPr>
        <p:txBody>
          <a:bodyPr>
            <a:noAutofit/>
          </a:bodyPr>
          <a:lstStyle/>
          <a:p>
            <a:pPr algn="ctr">
              <a:defRPr sz="1200" b="0" i="0">
                <a:solidFill>
                  <a:srgbClr val="A8BDCC"/>
                </a:solidFill>
                <a:latin typeface="Bitstream Charter"/>
                <a:ea typeface="Bitstream Charter"/>
                <a:cs typeface="Bitstream Charter"/>
              </a:defRPr>
            </a:pPr>
            <a:r>
              <a:rPr sz="1200" b="0" i="0">
                <a:solidFill>
                  <a:srgbClr val="A8BDCC"/>
                </a:solidFill>
                <a:latin typeface="Bitstream Charter"/>
                <a:ea typeface="Bitstream Charter"/>
                <a:cs typeface="Bitstream Charter"/>
              </a:rPr>
              <a:t>reserved path</a:t>
            </a:r>
          </a:p>
        </p:txBody>
      </p:sp>
      <p:sp>
        <p:nvSpPr>
          <p:cNvPr id="33" name="Rectangle 32">
            <a:extLst>
              <a:ext uri="{FF2B5EF4-FFF2-40B4-BE49-F238E27FC236}">
                <a16:creationId xmlns:a16="http://schemas.microsoft.com/office/drawing/2014/main" id="{9BC8BA89-F634-4CC5-8BFA-D41D53E3E0ED}"/>
              </a:ext>
            </a:extLst>
          </p:cNvPr>
          <p:cNvSpPr>
            <a:spLocks noGrp="1"/>
          </p:cNvSpPr>
          <p:nvPr/>
        </p:nvSpPr>
        <p:spPr>
          <a:xfrm>
            <a:off x="9691687" y="4610100"/>
            <a:ext cx="952500" cy="400049"/>
          </a:xfrm>
          <a:prstGeom prst="rect">
            <a:avLst/>
          </a:prstGeom>
          <a:noFill/>
          <a:ln w="0">
            <a:noFill/>
          </a:ln>
        </p:spPr>
        <p:txBody>
          <a:bodyPr>
            <a:noAutofit/>
          </a:bodyPr>
          <a:lstStyle/>
          <a:p>
            <a:pPr algn="ctr">
              <a:defRPr sz="1200" b="0" i="0">
                <a:solidFill>
                  <a:srgbClr val="A8BDCC"/>
                </a:solidFill>
                <a:latin typeface="Bitstream Charter"/>
                <a:ea typeface="Bitstream Charter"/>
                <a:cs typeface="Bitstream Charter"/>
              </a:defRPr>
            </a:pPr>
            <a:r>
              <a:rPr sz="1200" b="0" i="0" dirty="0">
                <a:solidFill>
                  <a:srgbClr val="A8BDCC"/>
                </a:solidFill>
                <a:latin typeface="Bitstream Charter"/>
                <a:ea typeface="Bitstream Charter"/>
                <a:cs typeface="Bitstream Charter"/>
              </a:rPr>
              <a:t>shared radio</a:t>
            </a:r>
          </a:p>
        </p:txBody>
      </p:sp>
      <p:sp>
        <p:nvSpPr>
          <p:cNvPr id="34" name="Rounded Rectangle 33">
            <a:extLst>
              <a:ext uri="{FF2B5EF4-FFF2-40B4-BE49-F238E27FC236}">
                <a16:creationId xmlns:a16="http://schemas.microsoft.com/office/drawing/2014/main" id="{BC2C40BA-E60C-4676-8FEB-E127CABBB877}"/>
              </a:ext>
            </a:extLst>
          </p:cNvPr>
          <p:cNvSpPr>
            <a:spLocks noGrp="1"/>
          </p:cNvSpPr>
          <p:nvPr/>
        </p:nvSpPr>
        <p:spPr>
          <a:xfrm>
            <a:off x="8382000" y="5095875"/>
            <a:ext cx="809625" cy="238125"/>
          </a:xfrm>
          <a:prstGeom prst="roundRect">
            <a:avLst>
              <a:gd name="adj" fmla="val 40000"/>
            </a:avLst>
          </a:prstGeom>
          <a:solidFill>
            <a:srgbClr val="345267"/>
          </a:solidFill>
          <a:ln w="0">
            <a:solidFill>
              <a:srgbClr val="345267"/>
            </a:solidFill>
            <a:prstDash val="solid"/>
          </a:ln>
        </p:spPr>
        <p:txBody>
          <a:bodyPr/>
          <a:lstStyle/>
          <a:p>
            <a:endParaRPr lang="en-US"/>
          </a:p>
        </p:txBody>
      </p:sp>
      <p:sp>
        <p:nvSpPr>
          <p:cNvPr id="35" name="Rounded Rectangle 34">
            <a:extLst>
              <a:ext uri="{FF2B5EF4-FFF2-40B4-BE49-F238E27FC236}">
                <a16:creationId xmlns:a16="http://schemas.microsoft.com/office/drawing/2014/main" id="{15354E2D-3311-40A5-B648-CE3DE16D8FF2}"/>
              </a:ext>
            </a:extLst>
          </p:cNvPr>
          <p:cNvSpPr>
            <a:spLocks noGrp="1"/>
          </p:cNvSpPr>
          <p:nvPr/>
        </p:nvSpPr>
        <p:spPr>
          <a:xfrm>
            <a:off x="9696450" y="5095875"/>
            <a:ext cx="952500" cy="238125"/>
          </a:xfrm>
          <a:prstGeom prst="roundRect">
            <a:avLst>
              <a:gd name="adj" fmla="val 40000"/>
            </a:avLst>
          </a:prstGeom>
          <a:solidFill>
            <a:srgbClr val="0E9FC2"/>
          </a:solidFill>
          <a:ln w="0">
            <a:solidFill>
              <a:srgbClr val="0E9FC2"/>
            </a:solidFill>
            <a:prstDash val="solid"/>
          </a:ln>
        </p:spPr>
        <p:txBody>
          <a:bodyPr/>
          <a:lstStyle/>
          <a:p>
            <a:endParaRPr lang="en-US"/>
          </a:p>
        </p:txBody>
      </p:sp>
      <p:cxnSp>
        <p:nvCxnSpPr>
          <p:cNvPr id="75" name="Straight Arrow Connector 74"/>
          <p:cNvCxnSpPr>
            <a:stCxn id="34" idx="3"/>
            <a:endCxn id="35" idx="1"/>
          </p:cNvCxnSpPr>
          <p:nvPr/>
        </p:nvCxnSpPr>
        <p:spPr>
          <a:xfrm>
            <a:off x="9191625" y="5214938"/>
            <a:ext cx="504825" cy="0"/>
          </a:xfrm>
          <a:prstGeom prst="straightConnector1">
            <a:avLst/>
          </a:prstGeom>
          <a:ln w="28575">
            <a:solidFill>
              <a:srgbClr val="FFC857"/>
            </a:solidFill>
            <a:prstDash val="solid"/>
            <a:headEnd type="none" w="med" len="med"/>
            <a:tailEnd type="none" w="med" len="med"/>
          </a:ln>
        </p:spPr>
      </p:cxnSp>
      <p:sp>
        <p:nvSpPr>
          <p:cNvPr id="37" name="Rectangle 36">
            <a:extLst>
              <a:ext uri="{FF2B5EF4-FFF2-40B4-BE49-F238E27FC236}">
                <a16:creationId xmlns:a16="http://schemas.microsoft.com/office/drawing/2014/main" id="{17FE87EB-7CDB-4C5A-A26D-5C9FBB570349}"/>
              </a:ext>
            </a:extLst>
          </p:cNvPr>
          <p:cNvSpPr>
            <a:spLocks noGrp="1"/>
          </p:cNvSpPr>
          <p:nvPr/>
        </p:nvSpPr>
        <p:spPr>
          <a:xfrm>
            <a:off x="8362950" y="5429250"/>
            <a:ext cx="2190750" cy="209550"/>
          </a:xfrm>
          <a:prstGeom prst="rect">
            <a:avLst/>
          </a:prstGeom>
          <a:noFill/>
          <a:ln w="0">
            <a:noFill/>
          </a:ln>
        </p:spPr>
        <p:txBody>
          <a:bodyPr>
            <a:noAutofit/>
          </a:bodyPr>
          <a:lstStyle/>
          <a:p>
            <a:pPr algn="ctr">
              <a:defRPr sz="1050" b="0" i="0">
                <a:solidFill>
                  <a:srgbClr val="FFC857"/>
                </a:solidFill>
                <a:latin typeface="Bitstream Charter"/>
                <a:ea typeface="Bitstream Charter"/>
                <a:cs typeface="Bitstream Charter"/>
              </a:defRPr>
            </a:pPr>
            <a:r>
              <a:rPr sz="1050" b="0" i="0">
                <a:solidFill>
                  <a:srgbClr val="FFC857"/>
                </a:solidFill>
                <a:latin typeface="Bitstream Charter"/>
                <a:ea typeface="Bitstream Charter"/>
                <a:cs typeface="Bitstream Charter"/>
              </a:rPr>
              <a:t>more demand, more scheduling</a:t>
            </a:r>
          </a:p>
        </p:txBody>
      </p:sp>
      <p:sp>
        <p:nvSpPr>
          <p:cNvPr id="38" name="Rectangle 37">
            <a:extLst>
              <a:ext uri="{FF2B5EF4-FFF2-40B4-BE49-F238E27FC236}">
                <a16:creationId xmlns:a16="http://schemas.microsoft.com/office/drawing/2014/main" id="{646D4CBD-4724-4598-B2A6-75E39245B1B4}"/>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03</a:t>
            </a:r>
          </a:p>
        </p:txBody>
      </p:sp>
      <p:sp>
        <p:nvSpPr>
          <p:cNvPr id="39" name="Rectangle 38">
            <a:extLst>
              <a:ext uri="{FF2B5EF4-FFF2-40B4-BE49-F238E27FC236}">
                <a16:creationId xmlns:a16="http://schemas.microsoft.com/office/drawing/2014/main" id="{DB6F8CFF-D89F-4FAA-A2C3-A5D1F73DB042}"/>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Study guide: historical connection; paper §1</a:t>
            </a:r>
          </a:p>
        </p:txBody>
      </p:sp>
    </p:spTree>
    <p:extLst>
      <p:ext uri="{BB962C8B-B14F-4D97-AF65-F5344CB8AC3E}">
        <p14:creationId xmlns:p14="http://schemas.microsoft.com/office/powerpoint/2010/main" val="1648682690"/>
      </p:ext>
    </p:extLst>
  </p:cSld>
  <p:clrMapOvr>
    <a:masterClrMapping/>
  </p:clrMapOvr>
  <mc:AlternateContent xmlns:mc="http://schemas.openxmlformats.org/markup-compatibility/2006">
    <mc:Choice xmlns:p14="http://schemas.microsoft.com/office/powerpoint/2010/main" Requires="p14">
      <p:transition spd="slow" p14:dur="2000" advTm="69967"/>
    </mc:Choice>
    <mc:Fallback>
      <p:transition spd="slow" advTm="6996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4E04497-5665-4F99-BC0F-4EBED8F9D028}"/>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The 5G link has two directions</a:t>
            </a:r>
          </a:p>
        </p:txBody>
      </p:sp>
      <p:sp>
        <p:nvSpPr>
          <p:cNvPr id="2" name="Rectangle 1">
            <a:extLst>
              <a:ext uri="{FF2B5EF4-FFF2-40B4-BE49-F238E27FC236}">
                <a16:creationId xmlns:a16="http://schemas.microsoft.com/office/drawing/2014/main" id="{9C865E69-2BE6-48F8-93CC-52FF90486DF9}"/>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Sage focuses on the device-to-network direction, where the base station must wait to learn what the device will send</a:t>
            </a:r>
          </a:p>
        </p:txBody>
      </p:sp>
      <p:sp>
        <p:nvSpPr>
          <p:cNvPr id="3" name="Straight Connector 2">
            <a:extLst>
              <a:ext uri="{FF2B5EF4-FFF2-40B4-BE49-F238E27FC236}">
                <a16:creationId xmlns:a16="http://schemas.microsoft.com/office/drawing/2014/main" id="{69A4AD02-69F8-4EA9-B0BF-86A85B199723}"/>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ounded Rectangle 3">
            <a:extLst>
              <a:ext uri="{FF2B5EF4-FFF2-40B4-BE49-F238E27FC236}">
                <a16:creationId xmlns:a16="http://schemas.microsoft.com/office/drawing/2014/main" id="{90A46F9B-888D-48D7-980F-F1791CDE1274}"/>
              </a:ext>
            </a:extLst>
          </p:cNvPr>
          <p:cNvSpPr>
            <a:spLocks noGrp="1"/>
          </p:cNvSpPr>
          <p:nvPr/>
        </p:nvSpPr>
        <p:spPr>
          <a:xfrm>
            <a:off x="1000125" y="2428875"/>
            <a:ext cx="1095375" cy="1381125"/>
          </a:xfrm>
          <a:prstGeom prst="roundRect">
            <a:avLst>
              <a:gd name="adj" fmla="val 17391"/>
            </a:avLst>
          </a:prstGeom>
          <a:solidFill>
            <a:srgbClr val="0D2940"/>
          </a:solidFill>
          <a:ln w="14288">
            <a:solidFill>
              <a:srgbClr val="47D7FF"/>
            </a:solidFill>
            <a:prstDash val="solid"/>
          </a:ln>
        </p:spPr>
        <p:txBody>
          <a:bodyPr/>
          <a:lstStyle/>
          <a:p>
            <a:endParaRPr lang="en-US"/>
          </a:p>
        </p:txBody>
      </p:sp>
      <p:sp>
        <p:nvSpPr>
          <p:cNvPr id="5" name="Rectangle 4">
            <a:extLst>
              <a:ext uri="{FF2B5EF4-FFF2-40B4-BE49-F238E27FC236}">
                <a16:creationId xmlns:a16="http://schemas.microsoft.com/office/drawing/2014/main" id="{176BC629-347E-4753-AC18-77978A1D90FD}"/>
              </a:ext>
            </a:extLst>
          </p:cNvPr>
          <p:cNvSpPr>
            <a:spLocks noGrp="1"/>
          </p:cNvSpPr>
          <p:nvPr/>
        </p:nvSpPr>
        <p:spPr>
          <a:xfrm>
            <a:off x="1123950" y="2600325"/>
            <a:ext cx="847725" cy="1000125"/>
          </a:xfrm>
          <a:prstGeom prst="rect">
            <a:avLst/>
          </a:prstGeom>
          <a:solidFill>
            <a:srgbClr val="071A2B"/>
          </a:solidFill>
          <a:ln w="14288">
            <a:solidFill>
              <a:srgbClr val="345267"/>
            </a:solidFill>
            <a:prstDash val="solid"/>
          </a:ln>
        </p:spPr>
        <p:txBody>
          <a:bodyPr/>
          <a:lstStyle/>
          <a:p>
            <a:endParaRPr lang="en-US"/>
          </a:p>
        </p:txBody>
      </p:sp>
      <p:sp>
        <p:nvSpPr>
          <p:cNvPr id="6" name="Oval 5">
            <a:extLst>
              <a:ext uri="{FF2B5EF4-FFF2-40B4-BE49-F238E27FC236}">
                <a16:creationId xmlns:a16="http://schemas.microsoft.com/office/drawing/2014/main" id="{B20A7623-D185-4A2B-8D45-9B71CA1BE570}"/>
              </a:ext>
            </a:extLst>
          </p:cNvPr>
          <p:cNvSpPr>
            <a:spLocks noGrp="1"/>
          </p:cNvSpPr>
          <p:nvPr/>
        </p:nvSpPr>
        <p:spPr>
          <a:xfrm>
            <a:off x="1500188" y="3676650"/>
            <a:ext cx="95250" cy="95250"/>
          </a:xfrm>
          <a:prstGeom prst="ellipse">
            <a:avLst/>
          </a:prstGeom>
          <a:solidFill>
            <a:srgbClr val="47D7FF"/>
          </a:solidFill>
          <a:ln w="0">
            <a:solidFill>
              <a:srgbClr val="47D7FF"/>
            </a:solidFill>
            <a:prstDash val="solid"/>
          </a:ln>
        </p:spPr>
        <p:txBody>
          <a:bodyPr/>
          <a:lstStyle/>
          <a:p>
            <a:endParaRPr lang="en-US"/>
          </a:p>
        </p:txBody>
      </p:sp>
      <p:sp>
        <p:nvSpPr>
          <p:cNvPr id="7" name="Rectangle 6">
            <a:extLst>
              <a:ext uri="{FF2B5EF4-FFF2-40B4-BE49-F238E27FC236}">
                <a16:creationId xmlns:a16="http://schemas.microsoft.com/office/drawing/2014/main" id="{C02BF8BD-55A6-4EA4-9E3C-42DDB1D91000}"/>
              </a:ext>
            </a:extLst>
          </p:cNvPr>
          <p:cNvSpPr>
            <a:spLocks noGrp="1"/>
          </p:cNvSpPr>
          <p:nvPr/>
        </p:nvSpPr>
        <p:spPr>
          <a:xfrm>
            <a:off x="895350" y="4000500"/>
            <a:ext cx="1333500" cy="419100"/>
          </a:xfrm>
          <a:prstGeom prst="rect">
            <a:avLst/>
          </a:prstGeom>
          <a:noFill/>
          <a:ln w="0">
            <a:noFill/>
          </a:ln>
        </p:spPr>
        <p:txBody>
          <a:bodyPr>
            <a:noAutofit/>
          </a:bodyPr>
          <a:lstStyle/>
          <a:p>
            <a:pPr algn="ctr">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User equipment</a:t>
            </a:r>
          </a:p>
          <a:p>
            <a:pPr algn="ctr">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(UE)</a:t>
            </a:r>
          </a:p>
        </p:txBody>
      </p:sp>
      <p:sp>
        <p:nvSpPr>
          <p:cNvPr id="8" name="Rounded Rectangle 7">
            <a:extLst>
              <a:ext uri="{FF2B5EF4-FFF2-40B4-BE49-F238E27FC236}">
                <a16:creationId xmlns:a16="http://schemas.microsoft.com/office/drawing/2014/main" id="{84AC4F57-F5E2-4FD0-89C7-34046F884D5E}"/>
              </a:ext>
            </a:extLst>
          </p:cNvPr>
          <p:cNvSpPr>
            <a:spLocks noGrp="1"/>
          </p:cNvSpPr>
          <p:nvPr/>
        </p:nvSpPr>
        <p:spPr>
          <a:xfrm>
            <a:off x="4476750" y="2428875"/>
            <a:ext cx="1809750" cy="1381125"/>
          </a:xfrm>
          <a:prstGeom prst="roundRect">
            <a:avLst>
              <a:gd name="adj" fmla="val 13793"/>
            </a:avLst>
          </a:prstGeom>
          <a:solidFill>
            <a:srgbClr val="0D2940"/>
          </a:solidFill>
          <a:ln w="14288">
            <a:solidFill>
              <a:srgbClr val="47D7FF"/>
            </a:solidFill>
            <a:prstDash val="solid"/>
          </a:ln>
        </p:spPr>
        <p:txBody>
          <a:bodyPr/>
          <a:lstStyle/>
          <a:p>
            <a:endParaRPr lang="en-US"/>
          </a:p>
        </p:txBody>
      </p:sp>
      <p:sp>
        <p:nvSpPr>
          <p:cNvPr id="9" name="Rectangle 8">
            <a:extLst>
              <a:ext uri="{FF2B5EF4-FFF2-40B4-BE49-F238E27FC236}">
                <a16:creationId xmlns:a16="http://schemas.microsoft.com/office/drawing/2014/main" id="{C71BFA1D-F3CC-4C45-AF66-CCF5610A40F2}"/>
              </a:ext>
            </a:extLst>
          </p:cNvPr>
          <p:cNvSpPr>
            <a:spLocks noGrp="1"/>
          </p:cNvSpPr>
          <p:nvPr/>
        </p:nvSpPr>
        <p:spPr>
          <a:xfrm>
            <a:off x="4953000" y="2781300"/>
            <a:ext cx="857250" cy="304800"/>
          </a:xfrm>
          <a:prstGeom prst="rect">
            <a:avLst/>
          </a:prstGeom>
          <a:noFill/>
          <a:ln w="0">
            <a:noFill/>
          </a:ln>
        </p:spPr>
        <p:txBody>
          <a:bodyPr>
            <a:noAutofit/>
          </a:bodyPr>
          <a:lstStyle/>
          <a:p>
            <a:pPr algn="ctr">
              <a:defRPr sz="2100" b="1" i="0">
                <a:solidFill>
                  <a:srgbClr val="47D7FF"/>
                </a:solidFill>
                <a:latin typeface="Bitstream Charter"/>
                <a:ea typeface="Bitstream Charter"/>
                <a:cs typeface="Bitstream Charter"/>
              </a:defRPr>
            </a:pPr>
            <a:r>
              <a:rPr sz="2100" b="1" i="0">
                <a:solidFill>
                  <a:srgbClr val="47D7FF"/>
                </a:solidFill>
                <a:latin typeface="Bitstream Charter"/>
                <a:ea typeface="Bitstream Charter"/>
                <a:cs typeface="Bitstream Charter"/>
              </a:rPr>
              <a:t>gNB</a:t>
            </a:r>
          </a:p>
        </p:txBody>
      </p:sp>
      <p:sp>
        <p:nvSpPr>
          <p:cNvPr id="10" name="Rectangle 9">
            <a:extLst>
              <a:ext uri="{FF2B5EF4-FFF2-40B4-BE49-F238E27FC236}">
                <a16:creationId xmlns:a16="http://schemas.microsoft.com/office/drawing/2014/main" id="{DD48BB6E-D2CA-4532-BC43-7A189A65ACA6}"/>
              </a:ext>
            </a:extLst>
          </p:cNvPr>
          <p:cNvSpPr>
            <a:spLocks noGrp="1"/>
          </p:cNvSpPr>
          <p:nvPr/>
        </p:nvSpPr>
        <p:spPr>
          <a:xfrm>
            <a:off x="4810125" y="3238500"/>
            <a:ext cx="1143000" cy="228600"/>
          </a:xfrm>
          <a:prstGeom prst="rect">
            <a:avLst/>
          </a:prstGeom>
          <a:noFill/>
          <a:ln w="0">
            <a:noFill/>
          </a:ln>
        </p:spPr>
        <p:txBody>
          <a:bodyPr>
            <a:noAutofit/>
          </a:bodyPr>
          <a:lstStyle/>
          <a:p>
            <a:pPr algn="ctr">
              <a:defRPr sz="1200" b="0" i="0">
                <a:solidFill>
                  <a:srgbClr val="A8BDCC"/>
                </a:solidFill>
                <a:latin typeface="Bitstream Charter"/>
                <a:ea typeface="Bitstream Charter"/>
                <a:cs typeface="Bitstream Charter"/>
              </a:defRPr>
            </a:pPr>
            <a:r>
              <a:rPr sz="1200" b="0" i="0">
                <a:solidFill>
                  <a:srgbClr val="A8BDCC"/>
                </a:solidFill>
                <a:latin typeface="Bitstream Charter"/>
                <a:ea typeface="Bitstream Charter"/>
                <a:cs typeface="Bitstream Charter"/>
              </a:rPr>
              <a:t>shared radio</a:t>
            </a:r>
          </a:p>
        </p:txBody>
      </p:sp>
      <p:sp>
        <p:nvSpPr>
          <p:cNvPr id="11" name="Rounded Rectangle 10">
            <a:extLst>
              <a:ext uri="{FF2B5EF4-FFF2-40B4-BE49-F238E27FC236}">
                <a16:creationId xmlns:a16="http://schemas.microsoft.com/office/drawing/2014/main" id="{EA4DF335-6084-48F5-B847-000AD2708E83}"/>
              </a:ext>
            </a:extLst>
          </p:cNvPr>
          <p:cNvSpPr>
            <a:spLocks noGrp="1"/>
          </p:cNvSpPr>
          <p:nvPr/>
        </p:nvSpPr>
        <p:spPr>
          <a:xfrm>
            <a:off x="8763000" y="2428875"/>
            <a:ext cx="2000250" cy="1381125"/>
          </a:xfrm>
          <a:prstGeom prst="roundRect">
            <a:avLst>
              <a:gd name="adj" fmla="val 13793"/>
            </a:avLst>
          </a:prstGeom>
          <a:solidFill>
            <a:srgbClr val="0D2940"/>
          </a:solidFill>
          <a:ln w="14288">
            <a:solidFill>
              <a:srgbClr val="345267"/>
            </a:solidFill>
            <a:prstDash val="solid"/>
          </a:ln>
        </p:spPr>
        <p:txBody>
          <a:bodyPr/>
          <a:lstStyle/>
          <a:p>
            <a:endParaRPr lang="en-US"/>
          </a:p>
        </p:txBody>
      </p:sp>
      <p:sp>
        <p:nvSpPr>
          <p:cNvPr id="12" name="Rectangle 11">
            <a:extLst>
              <a:ext uri="{FF2B5EF4-FFF2-40B4-BE49-F238E27FC236}">
                <a16:creationId xmlns:a16="http://schemas.microsoft.com/office/drawing/2014/main" id="{F73E14DA-0C5B-4F9B-A283-711BE17A7D45}"/>
              </a:ext>
            </a:extLst>
          </p:cNvPr>
          <p:cNvSpPr>
            <a:spLocks noGrp="1"/>
          </p:cNvSpPr>
          <p:nvPr/>
        </p:nvSpPr>
        <p:spPr>
          <a:xfrm>
            <a:off x="9048750" y="2781300"/>
            <a:ext cx="1428750" cy="304800"/>
          </a:xfrm>
          <a:prstGeom prst="rect">
            <a:avLst/>
          </a:prstGeom>
          <a:noFill/>
          <a:ln w="0">
            <a:noFill/>
          </a:ln>
        </p:spPr>
        <p:txBody>
          <a:bodyPr>
            <a:noAutofit/>
          </a:bodyPr>
          <a:lstStyle/>
          <a:p>
            <a:pPr algn="ctr">
              <a:defRPr sz="1725" b="1" i="0">
                <a:solidFill>
                  <a:srgbClr val="F4F8FB"/>
                </a:solidFill>
                <a:latin typeface="Bitstream Charter"/>
                <a:ea typeface="Bitstream Charter"/>
                <a:cs typeface="Bitstream Charter"/>
              </a:defRPr>
            </a:pPr>
            <a:r>
              <a:rPr sz="1725" b="1" i="0">
                <a:solidFill>
                  <a:srgbClr val="F4F8FB"/>
                </a:solidFill>
                <a:latin typeface="Bitstream Charter"/>
                <a:ea typeface="Bitstream Charter"/>
                <a:cs typeface="Bitstream Charter"/>
              </a:rPr>
              <a:t>Network + app</a:t>
            </a:r>
          </a:p>
        </p:txBody>
      </p:sp>
      <p:sp>
        <p:nvSpPr>
          <p:cNvPr id="13" name="Rectangle 12">
            <a:extLst>
              <a:ext uri="{FF2B5EF4-FFF2-40B4-BE49-F238E27FC236}">
                <a16:creationId xmlns:a16="http://schemas.microsoft.com/office/drawing/2014/main" id="{34BD2A8A-02AA-4C17-9CAE-A030622618C2}"/>
              </a:ext>
            </a:extLst>
          </p:cNvPr>
          <p:cNvSpPr>
            <a:spLocks noGrp="1"/>
          </p:cNvSpPr>
          <p:nvPr/>
        </p:nvSpPr>
        <p:spPr>
          <a:xfrm>
            <a:off x="9144000" y="3338512"/>
            <a:ext cx="1238250" cy="228600"/>
          </a:xfrm>
          <a:prstGeom prst="rect">
            <a:avLst/>
          </a:prstGeom>
          <a:noFill/>
          <a:ln w="0">
            <a:noFill/>
          </a:ln>
        </p:spPr>
        <p:txBody>
          <a:bodyPr>
            <a:noAutofit/>
          </a:bodyPr>
          <a:lstStyle/>
          <a:p>
            <a:pPr algn="ctr">
              <a:defRPr sz="1200" b="0" i="0">
                <a:solidFill>
                  <a:srgbClr val="A8BDCC"/>
                </a:solidFill>
                <a:latin typeface="Bitstream Charter"/>
                <a:ea typeface="Bitstream Charter"/>
                <a:cs typeface="Bitstream Charter"/>
              </a:defRPr>
            </a:pPr>
            <a:r>
              <a:rPr sz="1200" b="0" i="0" dirty="0">
                <a:solidFill>
                  <a:srgbClr val="A8BDCC"/>
                </a:solidFill>
                <a:latin typeface="Bitstream Charter"/>
                <a:ea typeface="Bitstream Charter"/>
                <a:cs typeface="Bitstream Charter"/>
              </a:rPr>
              <a:t>server / service</a:t>
            </a:r>
          </a:p>
        </p:txBody>
      </p:sp>
      <p:cxnSp>
        <p:nvCxnSpPr>
          <p:cNvPr id="40" name="Straight Arrow Connector 39"/>
          <p:cNvCxnSpPr>
            <a:cxnSpLocks/>
            <a:stCxn id="4" idx="3"/>
            <a:endCxn id="8" idx="1"/>
          </p:cNvCxnSpPr>
          <p:nvPr/>
        </p:nvCxnSpPr>
        <p:spPr>
          <a:xfrm>
            <a:off x="2095500" y="3119438"/>
            <a:ext cx="2381250" cy="0"/>
          </a:xfrm>
          <a:prstGeom prst="straightConnector1">
            <a:avLst/>
          </a:prstGeom>
          <a:ln w="23813">
            <a:solidFill>
              <a:srgbClr val="57D18C"/>
            </a:solidFill>
            <a:prstDash val="solid"/>
            <a:headEnd type="arrow" w="med" len="med"/>
            <a:tailEnd type="none" w="med" len="med"/>
          </a:ln>
        </p:spPr>
      </p:cxnSp>
      <p:cxnSp>
        <p:nvCxnSpPr>
          <p:cNvPr id="41" name="Straight Arrow Connector 40"/>
          <p:cNvCxnSpPr>
            <a:cxnSpLocks/>
            <a:stCxn id="8" idx="3"/>
            <a:endCxn id="11" idx="1"/>
          </p:cNvCxnSpPr>
          <p:nvPr/>
        </p:nvCxnSpPr>
        <p:spPr>
          <a:xfrm>
            <a:off x="6286500" y="3119438"/>
            <a:ext cx="2476500" cy="0"/>
          </a:xfrm>
          <a:prstGeom prst="straightConnector1">
            <a:avLst/>
          </a:prstGeom>
          <a:ln w="23813">
            <a:solidFill>
              <a:srgbClr val="57D18C"/>
            </a:solidFill>
            <a:prstDash val="solid"/>
            <a:headEnd type="arrow" w="med" len="med"/>
            <a:tailEnd type="none" w="med" len="med"/>
          </a:ln>
        </p:spPr>
      </p:cxnSp>
      <p:sp>
        <p:nvSpPr>
          <p:cNvPr id="16" name="Rectangle 15">
            <a:extLst>
              <a:ext uri="{FF2B5EF4-FFF2-40B4-BE49-F238E27FC236}">
                <a16:creationId xmlns:a16="http://schemas.microsoft.com/office/drawing/2014/main" id="{C44B3A1A-E061-4556-93AA-DE9EEAAA1FC2}"/>
              </a:ext>
            </a:extLst>
          </p:cNvPr>
          <p:cNvSpPr>
            <a:spLocks noGrp="1"/>
          </p:cNvSpPr>
          <p:nvPr/>
        </p:nvSpPr>
        <p:spPr>
          <a:xfrm>
            <a:off x="2381250" y="1809750"/>
            <a:ext cx="1619250" cy="266700"/>
          </a:xfrm>
          <a:prstGeom prst="rect">
            <a:avLst/>
          </a:prstGeom>
          <a:noFill/>
          <a:ln w="0">
            <a:noFill/>
          </a:ln>
        </p:spPr>
        <p:txBody>
          <a:bodyPr>
            <a:noAutofit/>
          </a:bodyPr>
          <a:lstStyle/>
          <a:p>
            <a:pPr algn="ctr">
              <a:defRPr sz="1350" b="1" i="0">
                <a:solidFill>
                  <a:srgbClr val="57D18C"/>
                </a:solidFill>
                <a:latin typeface="Bitstream Charter"/>
                <a:ea typeface="Bitstream Charter"/>
                <a:cs typeface="Bitstream Charter"/>
              </a:defRPr>
            </a:pPr>
            <a:r>
              <a:rPr sz="1350" b="1" i="0">
                <a:solidFill>
                  <a:srgbClr val="57D18C"/>
                </a:solidFill>
                <a:latin typeface="Bitstream Charter"/>
                <a:ea typeface="Bitstream Charter"/>
                <a:cs typeface="Bitstream Charter"/>
              </a:rPr>
              <a:t>UPLINK</a:t>
            </a:r>
          </a:p>
        </p:txBody>
      </p:sp>
      <p:sp>
        <p:nvSpPr>
          <p:cNvPr id="17" name="Rectangle 16">
            <a:extLst>
              <a:ext uri="{FF2B5EF4-FFF2-40B4-BE49-F238E27FC236}">
                <a16:creationId xmlns:a16="http://schemas.microsoft.com/office/drawing/2014/main" id="{AB23B0AC-485D-4783-9709-4269065F0EF0}"/>
              </a:ext>
            </a:extLst>
          </p:cNvPr>
          <p:cNvSpPr>
            <a:spLocks noGrp="1"/>
          </p:cNvSpPr>
          <p:nvPr/>
        </p:nvSpPr>
        <p:spPr>
          <a:xfrm>
            <a:off x="2286000" y="2133600"/>
            <a:ext cx="1905000" cy="419100"/>
          </a:xfrm>
          <a:prstGeom prst="rect">
            <a:avLst/>
          </a:prstGeom>
          <a:noFill/>
          <a:ln w="0">
            <a:noFill/>
          </a:ln>
        </p:spPr>
        <p:txBody>
          <a:bodyPr>
            <a:noAutofit/>
          </a:bodyPr>
          <a:lstStyle/>
          <a:p>
            <a:pPr algn="ctr">
              <a:defRPr sz="1200" b="0" i="0">
                <a:solidFill>
                  <a:srgbClr val="DDEBF2"/>
                </a:solidFill>
                <a:latin typeface="Bitstream Charter"/>
                <a:ea typeface="Bitstream Charter"/>
                <a:cs typeface="Bitstream Charter"/>
              </a:defRPr>
            </a:pPr>
            <a:r>
              <a:rPr sz="1200" b="0" i="0">
                <a:solidFill>
                  <a:srgbClr val="DDEBF2"/>
                </a:solidFill>
                <a:latin typeface="Bitstream Charter"/>
                <a:ea typeface="Bitstream Charter"/>
                <a:cs typeface="Bitstream Charter"/>
              </a:rPr>
              <a:t>camera frame · sensor burst · game command</a:t>
            </a:r>
          </a:p>
        </p:txBody>
      </p:sp>
      <p:cxnSp>
        <p:nvCxnSpPr>
          <p:cNvPr id="44" name="Straight Arrow Connector 43"/>
          <p:cNvCxnSpPr>
            <a:stCxn id="11" idx="2"/>
            <a:endCxn id="4" idx="2"/>
          </p:cNvCxnSpPr>
          <p:nvPr/>
        </p:nvCxnSpPr>
        <p:spPr>
          <a:xfrm flipH="1">
            <a:off x="1547813" y="3810000"/>
            <a:ext cx="8215313" cy="0"/>
          </a:xfrm>
          <a:prstGeom prst="straightConnector1">
            <a:avLst/>
          </a:prstGeom>
          <a:ln w="19050">
            <a:solidFill>
              <a:srgbClr val="47D7FF"/>
            </a:solidFill>
            <a:prstDash val="dash"/>
            <a:headEnd type="arrow" w="med" len="med"/>
            <a:tailEnd type="arrow" w="sm" len="sm"/>
          </a:ln>
        </p:spPr>
      </p:cxnSp>
      <p:sp>
        <p:nvSpPr>
          <p:cNvPr id="19" name="Rectangle 18">
            <a:extLst>
              <a:ext uri="{FF2B5EF4-FFF2-40B4-BE49-F238E27FC236}">
                <a16:creationId xmlns:a16="http://schemas.microsoft.com/office/drawing/2014/main" id="{439A74A2-3B64-4FE6-8BD7-F9D881546A88}"/>
              </a:ext>
            </a:extLst>
          </p:cNvPr>
          <p:cNvSpPr>
            <a:spLocks noGrp="1"/>
          </p:cNvSpPr>
          <p:nvPr/>
        </p:nvSpPr>
        <p:spPr>
          <a:xfrm>
            <a:off x="6667500" y="4114800"/>
            <a:ext cx="1619250" cy="266700"/>
          </a:xfrm>
          <a:prstGeom prst="rect">
            <a:avLst/>
          </a:prstGeom>
          <a:noFill/>
          <a:ln w="0">
            <a:noFill/>
          </a:ln>
        </p:spPr>
        <p:txBody>
          <a:bodyPr>
            <a:noAutofit/>
          </a:bodyPr>
          <a:lstStyle/>
          <a:p>
            <a:pPr algn="ctr">
              <a:defRPr sz="1350" b="1" i="0">
                <a:solidFill>
                  <a:srgbClr val="47D7FF"/>
                </a:solidFill>
                <a:latin typeface="Bitstream Charter"/>
                <a:ea typeface="Bitstream Charter"/>
                <a:cs typeface="Bitstream Charter"/>
              </a:defRPr>
            </a:pPr>
            <a:r>
              <a:rPr sz="1350" b="1" i="0">
                <a:solidFill>
                  <a:srgbClr val="47D7FF"/>
                </a:solidFill>
                <a:latin typeface="Bitstream Charter"/>
                <a:ea typeface="Bitstream Charter"/>
                <a:cs typeface="Bitstream Charter"/>
              </a:rPr>
              <a:t>DOWNLINK</a:t>
            </a:r>
          </a:p>
        </p:txBody>
      </p:sp>
      <p:sp>
        <p:nvSpPr>
          <p:cNvPr id="20" name="Rectangle 19">
            <a:extLst>
              <a:ext uri="{FF2B5EF4-FFF2-40B4-BE49-F238E27FC236}">
                <a16:creationId xmlns:a16="http://schemas.microsoft.com/office/drawing/2014/main" id="{0928919E-A8CC-4A3D-9A94-D7FE5955FA17}"/>
              </a:ext>
            </a:extLst>
          </p:cNvPr>
          <p:cNvSpPr>
            <a:spLocks noGrp="1"/>
          </p:cNvSpPr>
          <p:nvPr/>
        </p:nvSpPr>
        <p:spPr>
          <a:xfrm>
            <a:off x="6572250" y="4438650"/>
            <a:ext cx="1809750" cy="381000"/>
          </a:xfrm>
          <a:prstGeom prst="rect">
            <a:avLst/>
          </a:prstGeom>
          <a:noFill/>
          <a:ln w="0">
            <a:noFill/>
          </a:ln>
        </p:spPr>
        <p:txBody>
          <a:bodyPr>
            <a:noAutofit/>
          </a:bodyPr>
          <a:lstStyle/>
          <a:p>
            <a:pPr algn="ctr">
              <a:defRPr sz="1200" b="0" i="0">
                <a:solidFill>
                  <a:srgbClr val="DDEBF2"/>
                </a:solidFill>
                <a:latin typeface="Bitstream Charter"/>
                <a:ea typeface="Bitstream Charter"/>
                <a:cs typeface="Bitstream Charter"/>
              </a:defRPr>
            </a:pPr>
            <a:r>
              <a:rPr sz="1200" b="0" i="0">
                <a:solidFill>
                  <a:srgbClr val="DDEBF2"/>
                </a:solidFill>
                <a:latin typeface="Bitstream Charter"/>
                <a:ea typeface="Bitstream Charter"/>
                <a:cs typeface="Bitstream Charter"/>
              </a:rPr>
              <a:t>video frame · map update · control response</a:t>
            </a:r>
          </a:p>
        </p:txBody>
      </p:sp>
      <p:sp>
        <p:nvSpPr>
          <p:cNvPr id="21" name="Rounded Rectangle 20">
            <a:extLst>
              <a:ext uri="{FF2B5EF4-FFF2-40B4-BE49-F238E27FC236}">
                <a16:creationId xmlns:a16="http://schemas.microsoft.com/office/drawing/2014/main" id="{F562BB99-9A57-464F-9E39-CFB70B1EA69F}"/>
              </a:ext>
            </a:extLst>
          </p:cNvPr>
          <p:cNvSpPr>
            <a:spLocks noGrp="1"/>
          </p:cNvSpPr>
          <p:nvPr/>
        </p:nvSpPr>
        <p:spPr>
          <a:xfrm>
            <a:off x="3667125" y="5000625"/>
            <a:ext cx="3429000" cy="800100"/>
          </a:xfrm>
          <a:prstGeom prst="roundRect">
            <a:avLst>
              <a:gd name="adj" fmla="val 21429"/>
            </a:avLst>
          </a:prstGeom>
          <a:solidFill>
            <a:srgbClr val="FFC857"/>
          </a:solidFill>
          <a:ln w="0">
            <a:solidFill>
              <a:srgbClr val="FFC857"/>
            </a:solidFill>
            <a:prstDash val="solid"/>
          </a:ln>
        </p:spPr>
        <p:txBody>
          <a:bodyPr/>
          <a:lstStyle/>
          <a:p>
            <a:endParaRPr lang="en-US"/>
          </a:p>
        </p:txBody>
      </p:sp>
      <p:sp>
        <p:nvSpPr>
          <p:cNvPr id="22" name="Rectangle 21">
            <a:extLst>
              <a:ext uri="{FF2B5EF4-FFF2-40B4-BE49-F238E27FC236}">
                <a16:creationId xmlns:a16="http://schemas.microsoft.com/office/drawing/2014/main" id="{182146F9-F94B-4B09-BF9B-1BA21920086C}"/>
              </a:ext>
            </a:extLst>
          </p:cNvPr>
          <p:cNvSpPr>
            <a:spLocks noGrp="1"/>
          </p:cNvSpPr>
          <p:nvPr/>
        </p:nvSpPr>
        <p:spPr>
          <a:xfrm>
            <a:off x="3857625" y="5143500"/>
            <a:ext cx="3048000" cy="495300"/>
          </a:xfrm>
          <a:prstGeom prst="rect">
            <a:avLst/>
          </a:prstGeom>
          <a:noFill/>
          <a:ln w="0">
            <a:noFill/>
          </a:ln>
        </p:spPr>
        <p:txBody>
          <a:bodyPr>
            <a:noAutofit/>
          </a:bodyPr>
          <a:lstStyle/>
          <a:p>
            <a:pPr algn="ctr">
              <a:defRPr sz="1425" b="1" i="0">
                <a:solidFill>
                  <a:srgbClr val="071A2B"/>
                </a:solidFill>
                <a:latin typeface="Bitstream Charter"/>
                <a:ea typeface="Bitstream Charter"/>
                <a:cs typeface="Bitstream Charter"/>
              </a:defRPr>
            </a:pPr>
            <a:r>
              <a:rPr sz="1425" b="1" i="0">
                <a:solidFill>
                  <a:srgbClr val="071A2B"/>
                </a:solidFill>
                <a:latin typeface="Bitstream Charter"/>
                <a:ea typeface="Bitstream Charter"/>
                <a:cs typeface="Bitstream Charter"/>
              </a:rPr>
              <a:t>Sage: predictive uplink</a:t>
            </a:r>
          </a:p>
          <a:p>
            <a:pPr algn="ctr">
              <a:defRPr sz="1425" b="1" i="0">
                <a:solidFill>
                  <a:srgbClr val="071A2B"/>
                </a:solidFill>
                <a:latin typeface="Bitstream Charter"/>
                <a:ea typeface="Bitstream Charter"/>
                <a:cs typeface="Bitstream Charter"/>
              </a:defRPr>
            </a:pPr>
            <a:r>
              <a:rPr sz="1425" b="1" i="0">
                <a:solidFill>
                  <a:srgbClr val="071A2B"/>
                </a:solidFill>
                <a:latin typeface="Bitstream Charter"/>
                <a:ea typeface="Bitstream Charter"/>
                <a:cs typeface="Bitstream Charter"/>
              </a:rPr>
              <a:t>scheduling</a:t>
            </a:r>
          </a:p>
        </p:txBody>
      </p:sp>
      <p:cxnSp>
        <p:nvCxnSpPr>
          <p:cNvPr id="49" name="Straight Arrow Connector 48"/>
          <p:cNvCxnSpPr>
            <a:stCxn id="21" idx="0"/>
            <a:endCxn id="8" idx="2"/>
          </p:cNvCxnSpPr>
          <p:nvPr/>
        </p:nvCxnSpPr>
        <p:spPr>
          <a:xfrm flipV="1">
            <a:off x="5381625" y="3810000"/>
            <a:ext cx="0" cy="1190625"/>
          </a:xfrm>
          <a:prstGeom prst="straightConnector1">
            <a:avLst/>
          </a:prstGeom>
          <a:ln w="23813">
            <a:solidFill>
              <a:srgbClr val="FFC857"/>
            </a:solidFill>
            <a:prstDash val="solid"/>
            <a:headEnd type="arrow" w="med" len="med"/>
            <a:tailEnd type="none" w="med" len="med"/>
          </a:ln>
        </p:spPr>
      </p:cxnSp>
      <p:sp>
        <p:nvSpPr>
          <p:cNvPr id="24" name="Rectangle 23">
            <a:extLst>
              <a:ext uri="{FF2B5EF4-FFF2-40B4-BE49-F238E27FC236}">
                <a16:creationId xmlns:a16="http://schemas.microsoft.com/office/drawing/2014/main" id="{47C12561-4ED3-4835-A7A9-4FE284573FC1}"/>
              </a:ext>
            </a:extLst>
          </p:cNvPr>
          <p:cNvSpPr>
            <a:spLocks noGrp="1"/>
          </p:cNvSpPr>
          <p:nvPr/>
        </p:nvSpPr>
        <p:spPr>
          <a:xfrm>
            <a:off x="7810500" y="5095875"/>
            <a:ext cx="3143250" cy="552450"/>
          </a:xfrm>
          <a:prstGeom prst="rect">
            <a:avLst/>
          </a:prstGeom>
          <a:noFill/>
          <a:ln w="0">
            <a:noFill/>
          </a:ln>
        </p:spPr>
        <p:txBody>
          <a:bodyPr>
            <a:noAutofit/>
          </a:bodyPr>
          <a:lstStyle/>
          <a:p>
            <a:pPr algn="l">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Downlink remains an important scope question: the network knows more about queued data, but shared radio capacity and channel conditions still need scheduling.</a:t>
            </a:r>
          </a:p>
        </p:txBody>
      </p:sp>
      <p:sp>
        <p:nvSpPr>
          <p:cNvPr id="25" name="Rectangle 24">
            <a:extLst>
              <a:ext uri="{FF2B5EF4-FFF2-40B4-BE49-F238E27FC236}">
                <a16:creationId xmlns:a16="http://schemas.microsoft.com/office/drawing/2014/main" id="{9FF33308-AC2B-4424-B7A4-A38DBBB5ABF9}"/>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04</a:t>
            </a:r>
          </a:p>
        </p:txBody>
      </p:sp>
      <p:sp>
        <p:nvSpPr>
          <p:cNvPr id="26" name="Rectangle 25">
            <a:extLst>
              <a:ext uri="{FF2B5EF4-FFF2-40B4-BE49-F238E27FC236}">
                <a16:creationId xmlns:a16="http://schemas.microsoft.com/office/drawing/2014/main" id="{0F39E669-F25C-4C40-9325-040FE7CFAF7F}"/>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Paper §§1–2, 10; study guide</a:t>
            </a:r>
          </a:p>
        </p:txBody>
      </p:sp>
    </p:spTree>
    <p:extLst>
      <p:ext uri="{BB962C8B-B14F-4D97-AF65-F5344CB8AC3E}">
        <p14:creationId xmlns:p14="http://schemas.microsoft.com/office/powerpoint/2010/main" val="1921492199"/>
      </p:ext>
    </p:extLst>
  </p:cSld>
  <p:clrMapOvr>
    <a:masterClrMapping/>
  </p:clrMapOvr>
  <mc:AlternateContent xmlns:mc="http://schemas.openxmlformats.org/markup-compatibility/2006">
    <mc:Choice xmlns:p14="http://schemas.microsoft.com/office/powerpoint/2010/main" Requires="p14">
      <p:transition spd="slow" p14:dur="2000" advTm="74716"/>
    </mc:Choice>
    <mc:Fallback>
      <p:transition spd="slow" advTm="7471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D7D12087-E15E-4464-8183-3D7B230B48E9}"/>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Fast radio can still spend time waiting</a:t>
            </a:r>
          </a:p>
        </p:txBody>
      </p:sp>
      <p:sp>
        <p:nvSpPr>
          <p:cNvPr id="2" name="Rectangle 1">
            <a:extLst>
              <a:ext uri="{FF2B5EF4-FFF2-40B4-BE49-F238E27FC236}">
                <a16:creationId xmlns:a16="http://schemas.microsoft.com/office/drawing/2014/main" id="{F3ABF502-FA02-4B40-83E5-25E28E130DA1}"/>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A grant-based uplink learns about a burst through a signaling sequence</a:t>
            </a:r>
          </a:p>
        </p:txBody>
      </p:sp>
      <p:sp>
        <p:nvSpPr>
          <p:cNvPr id="3" name="Straight Connector 2">
            <a:extLst>
              <a:ext uri="{FF2B5EF4-FFF2-40B4-BE49-F238E27FC236}">
                <a16:creationId xmlns:a16="http://schemas.microsoft.com/office/drawing/2014/main" id="{C97A29F8-2986-4B3D-AE0A-CEE03BDAB77C}"/>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ounded Rectangle 3">
            <a:extLst>
              <a:ext uri="{FF2B5EF4-FFF2-40B4-BE49-F238E27FC236}">
                <a16:creationId xmlns:a16="http://schemas.microsoft.com/office/drawing/2014/main" id="{4AF6F9CE-A1C5-40C9-A6C2-26106B43C5E7}"/>
              </a:ext>
            </a:extLst>
          </p:cNvPr>
          <p:cNvSpPr>
            <a:spLocks noGrp="1"/>
          </p:cNvSpPr>
          <p:nvPr/>
        </p:nvSpPr>
        <p:spPr>
          <a:xfrm>
            <a:off x="704850" y="2143125"/>
            <a:ext cx="2095500" cy="1219200"/>
          </a:xfrm>
          <a:prstGeom prst="roundRect">
            <a:avLst>
              <a:gd name="adj" fmla="val 15625"/>
            </a:avLst>
          </a:prstGeom>
          <a:solidFill>
            <a:srgbClr val="0D2940"/>
          </a:solidFill>
          <a:ln w="14288">
            <a:solidFill>
              <a:srgbClr val="FFC857"/>
            </a:solidFill>
            <a:prstDash val="solid"/>
          </a:ln>
        </p:spPr>
        <p:txBody>
          <a:bodyPr/>
          <a:lstStyle/>
          <a:p>
            <a:endParaRPr lang="en-US"/>
          </a:p>
        </p:txBody>
      </p:sp>
      <p:sp>
        <p:nvSpPr>
          <p:cNvPr id="5" name="Rectangle 4">
            <a:extLst>
              <a:ext uri="{FF2B5EF4-FFF2-40B4-BE49-F238E27FC236}">
                <a16:creationId xmlns:a16="http://schemas.microsoft.com/office/drawing/2014/main" id="{F493E97F-3357-4B50-825F-787F2426BEA6}"/>
              </a:ext>
            </a:extLst>
          </p:cNvPr>
          <p:cNvSpPr>
            <a:spLocks noGrp="1"/>
          </p:cNvSpPr>
          <p:nvPr/>
        </p:nvSpPr>
        <p:spPr>
          <a:xfrm>
            <a:off x="876300" y="2343150"/>
            <a:ext cx="304800" cy="304800"/>
          </a:xfrm>
          <a:prstGeom prst="rect">
            <a:avLst/>
          </a:prstGeom>
          <a:noFill/>
          <a:ln w="0">
            <a:noFill/>
          </a:ln>
        </p:spPr>
        <p:txBody>
          <a:bodyPr>
            <a:noAutofit/>
          </a:bodyPr>
          <a:lstStyle/>
          <a:p>
            <a:pPr algn="l">
              <a:defRPr sz="1800" b="1" i="0">
                <a:solidFill>
                  <a:srgbClr val="FFC857"/>
                </a:solidFill>
                <a:latin typeface="Bitstream Charter"/>
                <a:ea typeface="Bitstream Charter"/>
                <a:cs typeface="Bitstream Charter"/>
              </a:defRPr>
            </a:pPr>
            <a:r>
              <a:rPr sz="1800" b="1" i="0">
                <a:solidFill>
                  <a:srgbClr val="FFC857"/>
                </a:solidFill>
                <a:latin typeface="Bitstream Charter"/>
                <a:ea typeface="Bitstream Charter"/>
                <a:cs typeface="Bitstream Charter"/>
              </a:rPr>
              <a:t>1</a:t>
            </a:r>
          </a:p>
        </p:txBody>
      </p:sp>
      <p:sp>
        <p:nvSpPr>
          <p:cNvPr id="6" name="Rectangle 5">
            <a:extLst>
              <a:ext uri="{FF2B5EF4-FFF2-40B4-BE49-F238E27FC236}">
                <a16:creationId xmlns:a16="http://schemas.microsoft.com/office/drawing/2014/main" id="{28287731-62F5-4218-8565-A9E07FC53E05}"/>
              </a:ext>
            </a:extLst>
          </p:cNvPr>
          <p:cNvSpPr>
            <a:spLocks noGrp="1"/>
          </p:cNvSpPr>
          <p:nvPr/>
        </p:nvSpPr>
        <p:spPr>
          <a:xfrm>
            <a:off x="1295400" y="2333625"/>
            <a:ext cx="1333500" cy="304800"/>
          </a:xfrm>
          <a:prstGeom prst="rect">
            <a:avLst/>
          </a:prstGeom>
          <a:noFill/>
          <a:ln w="0">
            <a:noFill/>
          </a:ln>
        </p:spPr>
        <p:txBody>
          <a:bodyPr>
            <a:noAutofit/>
          </a:bodyPr>
          <a:lstStyle/>
          <a:p>
            <a:pPr algn="l">
              <a:defRPr sz="1800" b="1" i="0">
                <a:solidFill>
                  <a:srgbClr val="F4F8FB"/>
                </a:solidFill>
                <a:latin typeface="Bitstream Charter"/>
                <a:ea typeface="Bitstream Charter"/>
                <a:cs typeface="Bitstream Charter"/>
              </a:defRPr>
            </a:pPr>
            <a:r>
              <a:rPr sz="1800" b="1" i="0">
                <a:solidFill>
                  <a:srgbClr val="F4F8FB"/>
                </a:solidFill>
                <a:latin typeface="Bitstream Charter"/>
                <a:ea typeface="Bitstream Charter"/>
                <a:cs typeface="Bitstream Charter"/>
              </a:rPr>
              <a:t>SR</a:t>
            </a:r>
          </a:p>
        </p:txBody>
      </p:sp>
      <p:sp>
        <p:nvSpPr>
          <p:cNvPr id="7" name="Rectangle 6">
            <a:extLst>
              <a:ext uri="{FF2B5EF4-FFF2-40B4-BE49-F238E27FC236}">
                <a16:creationId xmlns:a16="http://schemas.microsoft.com/office/drawing/2014/main" id="{1BAE124E-AFA9-440D-8371-DC1FB9BEE656}"/>
              </a:ext>
            </a:extLst>
          </p:cNvPr>
          <p:cNvSpPr>
            <a:spLocks noGrp="1"/>
          </p:cNvSpPr>
          <p:nvPr/>
        </p:nvSpPr>
        <p:spPr>
          <a:xfrm>
            <a:off x="1295400" y="2781300"/>
            <a:ext cx="1333500" cy="400050"/>
          </a:xfrm>
          <a:prstGeom prst="rect">
            <a:avLst/>
          </a:prstGeom>
          <a:noFill/>
          <a:ln w="0">
            <a:noFill/>
          </a:ln>
        </p:spPr>
        <p:txBody>
          <a:bodyPr>
            <a:noAutofit/>
          </a:bodyPr>
          <a:lstStyle/>
          <a:p>
            <a:pPr algn="l">
              <a:defRPr sz="1200" b="0" i="0">
                <a:solidFill>
                  <a:srgbClr val="DDEBF2"/>
                </a:solidFill>
                <a:latin typeface="Bitstream Charter"/>
                <a:ea typeface="Bitstream Charter"/>
                <a:cs typeface="Bitstream Charter"/>
              </a:defRPr>
            </a:pPr>
            <a:r>
              <a:rPr sz="1200" b="0" i="0">
                <a:solidFill>
                  <a:srgbClr val="DDEBF2"/>
                </a:solidFill>
                <a:latin typeface="Bitstream Charter"/>
                <a:ea typeface="Bitstream Charter"/>
                <a:cs typeface="Bitstream Charter"/>
              </a:rPr>
              <a:t>Scheduling Request</a:t>
            </a:r>
          </a:p>
        </p:txBody>
      </p:sp>
      <p:sp>
        <p:nvSpPr>
          <p:cNvPr id="8" name="Rounded Rectangle 7">
            <a:extLst>
              <a:ext uri="{FF2B5EF4-FFF2-40B4-BE49-F238E27FC236}">
                <a16:creationId xmlns:a16="http://schemas.microsoft.com/office/drawing/2014/main" id="{5F0FC134-01DE-404B-8FD8-E1EA28E05932}"/>
              </a:ext>
            </a:extLst>
          </p:cNvPr>
          <p:cNvSpPr>
            <a:spLocks noGrp="1"/>
          </p:cNvSpPr>
          <p:nvPr/>
        </p:nvSpPr>
        <p:spPr>
          <a:xfrm>
            <a:off x="3467100" y="2143125"/>
            <a:ext cx="2095500" cy="1219200"/>
          </a:xfrm>
          <a:prstGeom prst="roundRect">
            <a:avLst>
              <a:gd name="adj" fmla="val 15625"/>
            </a:avLst>
          </a:prstGeom>
          <a:solidFill>
            <a:srgbClr val="0D2940"/>
          </a:solidFill>
          <a:ln w="14288">
            <a:solidFill>
              <a:srgbClr val="47D7FF"/>
            </a:solidFill>
            <a:prstDash val="solid"/>
          </a:ln>
        </p:spPr>
        <p:txBody>
          <a:bodyPr/>
          <a:lstStyle/>
          <a:p>
            <a:endParaRPr lang="en-US"/>
          </a:p>
        </p:txBody>
      </p:sp>
      <p:sp>
        <p:nvSpPr>
          <p:cNvPr id="9" name="Rectangle 8">
            <a:extLst>
              <a:ext uri="{FF2B5EF4-FFF2-40B4-BE49-F238E27FC236}">
                <a16:creationId xmlns:a16="http://schemas.microsoft.com/office/drawing/2014/main" id="{6E0A26A7-FB23-4983-8BA6-6A4B089F4477}"/>
              </a:ext>
            </a:extLst>
          </p:cNvPr>
          <p:cNvSpPr>
            <a:spLocks noGrp="1"/>
          </p:cNvSpPr>
          <p:nvPr/>
        </p:nvSpPr>
        <p:spPr>
          <a:xfrm>
            <a:off x="3638550" y="2343150"/>
            <a:ext cx="304800" cy="304800"/>
          </a:xfrm>
          <a:prstGeom prst="rect">
            <a:avLst/>
          </a:prstGeom>
          <a:noFill/>
          <a:ln w="0">
            <a:noFill/>
          </a:ln>
        </p:spPr>
        <p:txBody>
          <a:bodyPr>
            <a:noAutofit/>
          </a:bodyPr>
          <a:lstStyle/>
          <a:p>
            <a:pPr algn="l">
              <a:defRPr sz="1800" b="1" i="0">
                <a:solidFill>
                  <a:srgbClr val="47D7FF"/>
                </a:solidFill>
                <a:latin typeface="Bitstream Charter"/>
                <a:ea typeface="Bitstream Charter"/>
                <a:cs typeface="Bitstream Charter"/>
              </a:defRPr>
            </a:pPr>
            <a:r>
              <a:rPr sz="1800" b="1" i="0">
                <a:solidFill>
                  <a:srgbClr val="47D7FF"/>
                </a:solidFill>
                <a:latin typeface="Bitstream Charter"/>
                <a:ea typeface="Bitstream Charter"/>
                <a:cs typeface="Bitstream Charter"/>
              </a:rPr>
              <a:t>2</a:t>
            </a:r>
          </a:p>
        </p:txBody>
      </p:sp>
      <p:sp>
        <p:nvSpPr>
          <p:cNvPr id="10" name="Rectangle 9">
            <a:extLst>
              <a:ext uri="{FF2B5EF4-FFF2-40B4-BE49-F238E27FC236}">
                <a16:creationId xmlns:a16="http://schemas.microsoft.com/office/drawing/2014/main" id="{1462F9CB-B53C-455A-B5CB-BB5ECD5D4072}"/>
              </a:ext>
            </a:extLst>
          </p:cNvPr>
          <p:cNvSpPr>
            <a:spLocks noGrp="1"/>
          </p:cNvSpPr>
          <p:nvPr/>
        </p:nvSpPr>
        <p:spPr>
          <a:xfrm>
            <a:off x="4057650" y="2333625"/>
            <a:ext cx="1333500" cy="304800"/>
          </a:xfrm>
          <a:prstGeom prst="rect">
            <a:avLst/>
          </a:prstGeom>
          <a:noFill/>
          <a:ln w="0">
            <a:noFill/>
          </a:ln>
        </p:spPr>
        <p:txBody>
          <a:bodyPr>
            <a:noAutofit/>
          </a:bodyPr>
          <a:lstStyle/>
          <a:p>
            <a:pPr algn="l">
              <a:defRPr sz="1800" b="1" i="0">
                <a:solidFill>
                  <a:srgbClr val="F4F8FB"/>
                </a:solidFill>
                <a:latin typeface="Bitstream Charter"/>
                <a:ea typeface="Bitstream Charter"/>
                <a:cs typeface="Bitstream Charter"/>
              </a:defRPr>
            </a:pPr>
            <a:r>
              <a:rPr sz="1800" b="1" i="0">
                <a:solidFill>
                  <a:srgbClr val="F4F8FB"/>
                </a:solidFill>
                <a:latin typeface="Bitstream Charter"/>
                <a:ea typeface="Bitstream Charter"/>
                <a:cs typeface="Bitstream Charter"/>
              </a:rPr>
              <a:t>Grant</a:t>
            </a:r>
          </a:p>
        </p:txBody>
      </p:sp>
      <p:sp>
        <p:nvSpPr>
          <p:cNvPr id="11" name="Rectangle 10">
            <a:extLst>
              <a:ext uri="{FF2B5EF4-FFF2-40B4-BE49-F238E27FC236}">
                <a16:creationId xmlns:a16="http://schemas.microsoft.com/office/drawing/2014/main" id="{A8D7D59A-3F50-41CE-A99C-93635317EBCF}"/>
              </a:ext>
            </a:extLst>
          </p:cNvPr>
          <p:cNvSpPr>
            <a:spLocks noGrp="1"/>
          </p:cNvSpPr>
          <p:nvPr/>
        </p:nvSpPr>
        <p:spPr>
          <a:xfrm>
            <a:off x="4057650" y="2781300"/>
            <a:ext cx="1333500" cy="400050"/>
          </a:xfrm>
          <a:prstGeom prst="rect">
            <a:avLst/>
          </a:prstGeom>
          <a:noFill/>
          <a:ln w="0">
            <a:noFill/>
          </a:ln>
        </p:spPr>
        <p:txBody>
          <a:bodyPr>
            <a:noAutofit/>
          </a:bodyPr>
          <a:lstStyle/>
          <a:p>
            <a:pPr algn="l">
              <a:defRPr sz="1200" b="0" i="0">
                <a:solidFill>
                  <a:srgbClr val="DDEBF2"/>
                </a:solidFill>
                <a:latin typeface="Bitstream Charter"/>
                <a:ea typeface="Bitstream Charter"/>
                <a:cs typeface="Bitstream Charter"/>
              </a:defRPr>
            </a:pPr>
            <a:r>
              <a:rPr sz="1200" b="0" i="0">
                <a:solidFill>
                  <a:srgbClr val="DDEBF2"/>
                </a:solidFill>
                <a:latin typeface="Bitstream Charter"/>
                <a:ea typeface="Bitstream Charter"/>
                <a:cs typeface="Bitstream Charter"/>
              </a:rPr>
              <a:t>permission to transmit</a:t>
            </a:r>
          </a:p>
        </p:txBody>
      </p:sp>
      <p:cxnSp>
        <p:nvCxnSpPr>
          <p:cNvPr id="46" name="Straight Arrow Connector 45"/>
          <p:cNvCxnSpPr>
            <a:cxnSpLocks/>
            <a:stCxn id="8" idx="1"/>
            <a:endCxn id="4" idx="3"/>
          </p:cNvCxnSpPr>
          <p:nvPr/>
        </p:nvCxnSpPr>
        <p:spPr>
          <a:xfrm flipH="1">
            <a:off x="2800350" y="2752725"/>
            <a:ext cx="666750" cy="0"/>
          </a:xfrm>
          <a:prstGeom prst="straightConnector1">
            <a:avLst/>
          </a:prstGeom>
          <a:ln w="23813">
            <a:solidFill>
              <a:srgbClr val="A8BDCC"/>
            </a:solidFill>
            <a:prstDash val="solid"/>
            <a:headEnd type="arrow" w="med" len="med"/>
            <a:tailEnd type="none" w="med" len="med"/>
          </a:ln>
        </p:spPr>
      </p:cxnSp>
      <p:sp>
        <p:nvSpPr>
          <p:cNvPr id="13" name="Rounded Rectangle 12">
            <a:extLst>
              <a:ext uri="{FF2B5EF4-FFF2-40B4-BE49-F238E27FC236}">
                <a16:creationId xmlns:a16="http://schemas.microsoft.com/office/drawing/2014/main" id="{FC4EFF79-FD7E-40F4-826D-1FB58CB175EA}"/>
              </a:ext>
            </a:extLst>
          </p:cNvPr>
          <p:cNvSpPr>
            <a:spLocks noGrp="1"/>
          </p:cNvSpPr>
          <p:nvPr/>
        </p:nvSpPr>
        <p:spPr>
          <a:xfrm>
            <a:off x="6229350" y="2143125"/>
            <a:ext cx="2095500" cy="1219200"/>
          </a:xfrm>
          <a:prstGeom prst="roundRect">
            <a:avLst>
              <a:gd name="adj" fmla="val 15625"/>
            </a:avLst>
          </a:prstGeom>
          <a:solidFill>
            <a:srgbClr val="0D2940"/>
          </a:solidFill>
          <a:ln w="14288">
            <a:solidFill>
              <a:srgbClr val="57D18C"/>
            </a:solidFill>
            <a:prstDash val="solid"/>
          </a:ln>
        </p:spPr>
        <p:txBody>
          <a:bodyPr/>
          <a:lstStyle/>
          <a:p>
            <a:endParaRPr lang="en-US"/>
          </a:p>
        </p:txBody>
      </p:sp>
      <p:sp>
        <p:nvSpPr>
          <p:cNvPr id="14" name="Rectangle 13">
            <a:extLst>
              <a:ext uri="{FF2B5EF4-FFF2-40B4-BE49-F238E27FC236}">
                <a16:creationId xmlns:a16="http://schemas.microsoft.com/office/drawing/2014/main" id="{D2EF0565-2CA5-4BDB-92E5-38CE86B4F53D}"/>
              </a:ext>
            </a:extLst>
          </p:cNvPr>
          <p:cNvSpPr>
            <a:spLocks noGrp="1"/>
          </p:cNvSpPr>
          <p:nvPr/>
        </p:nvSpPr>
        <p:spPr>
          <a:xfrm>
            <a:off x="6400800" y="2343150"/>
            <a:ext cx="304800" cy="304800"/>
          </a:xfrm>
          <a:prstGeom prst="rect">
            <a:avLst/>
          </a:prstGeom>
          <a:noFill/>
          <a:ln w="0">
            <a:noFill/>
          </a:ln>
        </p:spPr>
        <p:txBody>
          <a:bodyPr>
            <a:noAutofit/>
          </a:bodyPr>
          <a:lstStyle/>
          <a:p>
            <a:pPr algn="l">
              <a:defRPr sz="1800" b="1" i="0">
                <a:solidFill>
                  <a:srgbClr val="57D18C"/>
                </a:solidFill>
                <a:latin typeface="Bitstream Charter"/>
                <a:ea typeface="Bitstream Charter"/>
                <a:cs typeface="Bitstream Charter"/>
              </a:defRPr>
            </a:pPr>
            <a:r>
              <a:rPr sz="1800" b="1" i="0">
                <a:solidFill>
                  <a:srgbClr val="57D18C"/>
                </a:solidFill>
                <a:latin typeface="Bitstream Charter"/>
                <a:ea typeface="Bitstream Charter"/>
                <a:cs typeface="Bitstream Charter"/>
              </a:rPr>
              <a:t>3</a:t>
            </a:r>
          </a:p>
        </p:txBody>
      </p:sp>
      <p:sp>
        <p:nvSpPr>
          <p:cNvPr id="15" name="Rectangle 14">
            <a:extLst>
              <a:ext uri="{FF2B5EF4-FFF2-40B4-BE49-F238E27FC236}">
                <a16:creationId xmlns:a16="http://schemas.microsoft.com/office/drawing/2014/main" id="{CEAC426D-F95A-4ACF-8DA1-BF24F779E91F}"/>
              </a:ext>
            </a:extLst>
          </p:cNvPr>
          <p:cNvSpPr>
            <a:spLocks noGrp="1"/>
          </p:cNvSpPr>
          <p:nvPr/>
        </p:nvSpPr>
        <p:spPr>
          <a:xfrm>
            <a:off x="6819900" y="2333625"/>
            <a:ext cx="1333500" cy="304800"/>
          </a:xfrm>
          <a:prstGeom prst="rect">
            <a:avLst/>
          </a:prstGeom>
          <a:noFill/>
          <a:ln w="0">
            <a:noFill/>
          </a:ln>
        </p:spPr>
        <p:txBody>
          <a:bodyPr>
            <a:noAutofit/>
          </a:bodyPr>
          <a:lstStyle/>
          <a:p>
            <a:pPr algn="l">
              <a:defRPr sz="1800" b="1" i="0">
                <a:solidFill>
                  <a:srgbClr val="F4F8FB"/>
                </a:solidFill>
                <a:latin typeface="Bitstream Charter"/>
                <a:ea typeface="Bitstream Charter"/>
                <a:cs typeface="Bitstream Charter"/>
              </a:defRPr>
            </a:pPr>
            <a:r>
              <a:rPr sz="1800" b="1" i="0">
                <a:solidFill>
                  <a:srgbClr val="F4F8FB"/>
                </a:solidFill>
                <a:latin typeface="Bitstream Charter"/>
                <a:ea typeface="Bitstream Charter"/>
                <a:cs typeface="Bitstream Charter"/>
              </a:rPr>
              <a:t>Data + BSR</a:t>
            </a:r>
          </a:p>
        </p:txBody>
      </p:sp>
      <p:sp>
        <p:nvSpPr>
          <p:cNvPr id="16" name="Rectangle 15">
            <a:extLst>
              <a:ext uri="{FF2B5EF4-FFF2-40B4-BE49-F238E27FC236}">
                <a16:creationId xmlns:a16="http://schemas.microsoft.com/office/drawing/2014/main" id="{9F67A555-D4AD-4998-A0F3-0EE50637D936}"/>
              </a:ext>
            </a:extLst>
          </p:cNvPr>
          <p:cNvSpPr>
            <a:spLocks noGrp="1"/>
          </p:cNvSpPr>
          <p:nvPr/>
        </p:nvSpPr>
        <p:spPr>
          <a:xfrm>
            <a:off x="6819900" y="2781300"/>
            <a:ext cx="1333500" cy="400050"/>
          </a:xfrm>
          <a:prstGeom prst="rect">
            <a:avLst/>
          </a:prstGeom>
          <a:noFill/>
          <a:ln w="0">
            <a:noFill/>
          </a:ln>
        </p:spPr>
        <p:txBody>
          <a:bodyPr>
            <a:noAutofit/>
          </a:bodyPr>
          <a:lstStyle/>
          <a:p>
            <a:pPr algn="l">
              <a:defRPr sz="1200" b="0" i="0">
                <a:solidFill>
                  <a:srgbClr val="DDEBF2"/>
                </a:solidFill>
                <a:latin typeface="Bitstream Charter"/>
                <a:ea typeface="Bitstream Charter"/>
                <a:cs typeface="Bitstream Charter"/>
              </a:defRPr>
            </a:pPr>
            <a:r>
              <a:rPr sz="1200" b="0" i="0">
                <a:solidFill>
                  <a:srgbClr val="DDEBF2"/>
                </a:solidFill>
                <a:latin typeface="Bitstream Charter"/>
                <a:ea typeface="Bitstream Charter"/>
                <a:cs typeface="Bitstream Charter"/>
              </a:rPr>
              <a:t>payload plus queue estimate</a:t>
            </a:r>
          </a:p>
        </p:txBody>
      </p:sp>
      <p:cxnSp>
        <p:nvCxnSpPr>
          <p:cNvPr id="51" name="Straight Arrow Connector 50"/>
          <p:cNvCxnSpPr>
            <a:cxnSpLocks/>
            <a:stCxn id="13" idx="1"/>
            <a:endCxn id="8" idx="3"/>
          </p:cNvCxnSpPr>
          <p:nvPr/>
        </p:nvCxnSpPr>
        <p:spPr>
          <a:xfrm flipH="1">
            <a:off x="5562600" y="2752725"/>
            <a:ext cx="666750" cy="0"/>
          </a:xfrm>
          <a:prstGeom prst="straightConnector1">
            <a:avLst/>
          </a:prstGeom>
          <a:ln w="23813">
            <a:solidFill>
              <a:srgbClr val="A8BDCC"/>
            </a:solidFill>
            <a:prstDash val="solid"/>
            <a:headEnd type="arrow" w="med" len="med"/>
            <a:tailEnd type="none" w="med" len="med"/>
          </a:ln>
        </p:spPr>
      </p:cxnSp>
      <p:sp>
        <p:nvSpPr>
          <p:cNvPr id="18" name="Rounded Rectangle 17">
            <a:extLst>
              <a:ext uri="{FF2B5EF4-FFF2-40B4-BE49-F238E27FC236}">
                <a16:creationId xmlns:a16="http://schemas.microsoft.com/office/drawing/2014/main" id="{E8807E51-C53A-4565-89AC-4A0F282BAF4F}"/>
              </a:ext>
            </a:extLst>
          </p:cNvPr>
          <p:cNvSpPr>
            <a:spLocks noGrp="1"/>
          </p:cNvSpPr>
          <p:nvPr/>
        </p:nvSpPr>
        <p:spPr>
          <a:xfrm>
            <a:off x="8991600" y="2143125"/>
            <a:ext cx="2095500" cy="1219200"/>
          </a:xfrm>
          <a:prstGeom prst="roundRect">
            <a:avLst>
              <a:gd name="adj" fmla="val 15625"/>
            </a:avLst>
          </a:prstGeom>
          <a:solidFill>
            <a:srgbClr val="0D2940"/>
          </a:solidFill>
          <a:ln w="14288">
            <a:solidFill>
              <a:srgbClr val="47D7FF"/>
            </a:solidFill>
            <a:prstDash val="solid"/>
          </a:ln>
        </p:spPr>
        <p:txBody>
          <a:bodyPr/>
          <a:lstStyle/>
          <a:p>
            <a:endParaRPr lang="en-US"/>
          </a:p>
        </p:txBody>
      </p:sp>
      <p:sp>
        <p:nvSpPr>
          <p:cNvPr id="19" name="Rectangle 18">
            <a:extLst>
              <a:ext uri="{FF2B5EF4-FFF2-40B4-BE49-F238E27FC236}">
                <a16:creationId xmlns:a16="http://schemas.microsoft.com/office/drawing/2014/main" id="{5E932D62-FFF1-4C22-B2F5-9AE517EF1DBC}"/>
              </a:ext>
            </a:extLst>
          </p:cNvPr>
          <p:cNvSpPr>
            <a:spLocks noGrp="1"/>
          </p:cNvSpPr>
          <p:nvPr/>
        </p:nvSpPr>
        <p:spPr>
          <a:xfrm>
            <a:off x="9163050" y="2343150"/>
            <a:ext cx="304800" cy="304800"/>
          </a:xfrm>
          <a:prstGeom prst="rect">
            <a:avLst/>
          </a:prstGeom>
          <a:noFill/>
          <a:ln w="0">
            <a:noFill/>
          </a:ln>
        </p:spPr>
        <p:txBody>
          <a:bodyPr>
            <a:noAutofit/>
          </a:bodyPr>
          <a:lstStyle/>
          <a:p>
            <a:pPr algn="l">
              <a:defRPr sz="1800" b="1" i="0">
                <a:solidFill>
                  <a:srgbClr val="47D7FF"/>
                </a:solidFill>
                <a:latin typeface="Bitstream Charter"/>
                <a:ea typeface="Bitstream Charter"/>
                <a:cs typeface="Bitstream Charter"/>
              </a:defRPr>
            </a:pPr>
            <a:r>
              <a:rPr sz="1800" b="1" i="0">
                <a:solidFill>
                  <a:srgbClr val="47D7FF"/>
                </a:solidFill>
                <a:latin typeface="Bitstream Charter"/>
                <a:ea typeface="Bitstream Charter"/>
                <a:cs typeface="Bitstream Charter"/>
              </a:rPr>
              <a:t>4</a:t>
            </a:r>
          </a:p>
        </p:txBody>
      </p:sp>
      <p:sp>
        <p:nvSpPr>
          <p:cNvPr id="20" name="Rectangle 19">
            <a:extLst>
              <a:ext uri="{FF2B5EF4-FFF2-40B4-BE49-F238E27FC236}">
                <a16:creationId xmlns:a16="http://schemas.microsoft.com/office/drawing/2014/main" id="{7E2DA9C3-8CF4-4928-8E98-4D357560BCF8}"/>
              </a:ext>
            </a:extLst>
          </p:cNvPr>
          <p:cNvSpPr>
            <a:spLocks noGrp="1"/>
          </p:cNvSpPr>
          <p:nvPr/>
        </p:nvSpPr>
        <p:spPr>
          <a:xfrm>
            <a:off x="9582150" y="2333625"/>
            <a:ext cx="1333500" cy="304800"/>
          </a:xfrm>
          <a:prstGeom prst="rect">
            <a:avLst/>
          </a:prstGeom>
          <a:noFill/>
          <a:ln w="0">
            <a:noFill/>
          </a:ln>
        </p:spPr>
        <p:txBody>
          <a:bodyPr>
            <a:noAutofit/>
          </a:bodyPr>
          <a:lstStyle/>
          <a:p>
            <a:pPr algn="l">
              <a:defRPr sz="1800" b="1" i="0">
                <a:solidFill>
                  <a:srgbClr val="F4F8FB"/>
                </a:solidFill>
                <a:latin typeface="Bitstream Charter"/>
                <a:ea typeface="Bitstream Charter"/>
                <a:cs typeface="Bitstream Charter"/>
              </a:defRPr>
            </a:pPr>
            <a:r>
              <a:rPr sz="1800" b="1" i="0">
                <a:solidFill>
                  <a:srgbClr val="F4F8FB"/>
                </a:solidFill>
                <a:latin typeface="Bitstream Charter"/>
                <a:ea typeface="Bitstream Charter"/>
                <a:cs typeface="Bitstream Charter"/>
              </a:rPr>
              <a:t>More grant</a:t>
            </a:r>
          </a:p>
        </p:txBody>
      </p:sp>
      <p:sp>
        <p:nvSpPr>
          <p:cNvPr id="21" name="Rectangle 20">
            <a:extLst>
              <a:ext uri="{FF2B5EF4-FFF2-40B4-BE49-F238E27FC236}">
                <a16:creationId xmlns:a16="http://schemas.microsoft.com/office/drawing/2014/main" id="{3C36DFAE-D4DA-4B34-90A3-EA4EC7765B23}"/>
              </a:ext>
            </a:extLst>
          </p:cNvPr>
          <p:cNvSpPr>
            <a:spLocks noGrp="1"/>
          </p:cNvSpPr>
          <p:nvPr/>
        </p:nvSpPr>
        <p:spPr>
          <a:xfrm>
            <a:off x="9582150" y="2781300"/>
            <a:ext cx="1333500" cy="400050"/>
          </a:xfrm>
          <a:prstGeom prst="rect">
            <a:avLst/>
          </a:prstGeom>
          <a:noFill/>
          <a:ln w="0">
            <a:noFill/>
          </a:ln>
        </p:spPr>
        <p:txBody>
          <a:bodyPr>
            <a:noAutofit/>
          </a:bodyPr>
          <a:lstStyle/>
          <a:p>
            <a:pPr algn="l">
              <a:defRPr sz="1200" b="0" i="0">
                <a:solidFill>
                  <a:srgbClr val="DDEBF2"/>
                </a:solidFill>
                <a:latin typeface="Bitstream Charter"/>
                <a:ea typeface="Bitstream Charter"/>
                <a:cs typeface="Bitstream Charter"/>
              </a:defRPr>
            </a:pPr>
            <a:r>
              <a:rPr sz="1200" b="0" i="0">
                <a:solidFill>
                  <a:srgbClr val="DDEBF2"/>
                </a:solidFill>
                <a:latin typeface="Bitstream Charter"/>
                <a:ea typeface="Bitstream Charter"/>
                <a:cs typeface="Bitstream Charter"/>
              </a:rPr>
              <a:t>resources for backlog</a:t>
            </a:r>
          </a:p>
        </p:txBody>
      </p:sp>
      <p:cxnSp>
        <p:nvCxnSpPr>
          <p:cNvPr id="56" name="Straight Arrow Connector 55"/>
          <p:cNvCxnSpPr>
            <a:cxnSpLocks/>
            <a:stCxn id="18" idx="1"/>
            <a:endCxn id="13" idx="3"/>
          </p:cNvCxnSpPr>
          <p:nvPr/>
        </p:nvCxnSpPr>
        <p:spPr>
          <a:xfrm flipH="1">
            <a:off x="8324850" y="2752725"/>
            <a:ext cx="666750" cy="0"/>
          </a:xfrm>
          <a:prstGeom prst="straightConnector1">
            <a:avLst/>
          </a:prstGeom>
          <a:ln w="23813">
            <a:solidFill>
              <a:srgbClr val="A8BDCC"/>
            </a:solidFill>
            <a:prstDash val="solid"/>
            <a:headEnd type="arrow" w="med" len="med"/>
            <a:tailEnd type="none" w="med" len="med"/>
          </a:ln>
        </p:spPr>
      </p:cxnSp>
      <p:sp>
        <p:nvSpPr>
          <p:cNvPr id="23" name="Rectangle 22">
            <a:extLst>
              <a:ext uri="{FF2B5EF4-FFF2-40B4-BE49-F238E27FC236}">
                <a16:creationId xmlns:a16="http://schemas.microsoft.com/office/drawing/2014/main" id="{F028F0F5-E2ED-411E-9ABA-318A24727B61}"/>
              </a:ext>
            </a:extLst>
          </p:cNvPr>
          <p:cNvSpPr>
            <a:spLocks noGrp="1"/>
          </p:cNvSpPr>
          <p:nvPr/>
        </p:nvSpPr>
        <p:spPr>
          <a:xfrm>
            <a:off x="704850" y="3857625"/>
            <a:ext cx="2857500" cy="171450"/>
          </a:xfrm>
          <a:prstGeom prst="rect">
            <a:avLst/>
          </a:prstGeom>
          <a:noFill/>
          <a:ln w="0">
            <a:noFill/>
          </a:ln>
        </p:spPr>
        <p:txBody>
          <a:bodyPr>
            <a:noAutofit/>
          </a:bodyPr>
          <a:lstStyle/>
          <a:p>
            <a:pPr algn="l">
              <a:defRPr sz="900" b="1" i="0">
                <a:solidFill>
                  <a:srgbClr val="FF7185"/>
                </a:solidFill>
                <a:latin typeface="Bitstream Charter"/>
                <a:ea typeface="Bitstream Charter"/>
                <a:cs typeface="Bitstream Charter"/>
              </a:defRPr>
            </a:pPr>
            <a:r>
              <a:rPr sz="900" b="1" i="0">
                <a:solidFill>
                  <a:srgbClr val="FF7185"/>
                </a:solidFill>
                <a:latin typeface="Bitstream Charter"/>
                <a:ea typeface="Bitstream Charter"/>
                <a:cs typeface="Bitstream Charter"/>
              </a:rPr>
              <a:t>WAITING LIVES BETWEEN THE BOXES</a:t>
            </a:r>
          </a:p>
        </p:txBody>
      </p:sp>
      <p:sp>
        <p:nvSpPr>
          <p:cNvPr id="24" name="Straight Connector 23">
            <a:extLst>
              <a:ext uri="{FF2B5EF4-FFF2-40B4-BE49-F238E27FC236}">
                <a16:creationId xmlns:a16="http://schemas.microsoft.com/office/drawing/2014/main" id="{623E2503-4D9C-4313-B775-0F91F99C17AA}"/>
              </a:ext>
            </a:extLst>
          </p:cNvPr>
          <p:cNvSpPr>
            <a:spLocks noGrp="1"/>
          </p:cNvSpPr>
          <p:nvPr/>
        </p:nvSpPr>
        <p:spPr>
          <a:xfrm>
            <a:off x="971550" y="4695825"/>
            <a:ext cx="9429750" cy="0"/>
          </a:xfrm>
          <a:prstGeom prst="line">
            <a:avLst/>
          </a:prstGeom>
          <a:noFill/>
          <a:ln w="28575">
            <a:solidFill>
              <a:srgbClr val="345267"/>
            </a:solidFill>
            <a:prstDash val="solid"/>
          </a:ln>
        </p:spPr>
        <p:txBody>
          <a:bodyPr/>
          <a:lstStyle/>
          <a:p>
            <a:endParaRPr lang="en-US"/>
          </a:p>
        </p:txBody>
      </p:sp>
      <p:sp>
        <p:nvSpPr>
          <p:cNvPr id="25" name="Oval 24">
            <a:extLst>
              <a:ext uri="{FF2B5EF4-FFF2-40B4-BE49-F238E27FC236}">
                <a16:creationId xmlns:a16="http://schemas.microsoft.com/office/drawing/2014/main" id="{162FC6AC-AC75-499E-A984-A3C34F9DC198}"/>
              </a:ext>
            </a:extLst>
          </p:cNvPr>
          <p:cNvSpPr>
            <a:spLocks noGrp="1"/>
          </p:cNvSpPr>
          <p:nvPr/>
        </p:nvSpPr>
        <p:spPr>
          <a:xfrm>
            <a:off x="923925" y="4610100"/>
            <a:ext cx="171450" cy="171450"/>
          </a:xfrm>
          <a:prstGeom prst="ellipse">
            <a:avLst/>
          </a:prstGeom>
          <a:solidFill>
            <a:srgbClr val="FF7185"/>
          </a:solidFill>
          <a:ln w="0">
            <a:solidFill>
              <a:srgbClr val="FF7185"/>
            </a:solidFill>
            <a:prstDash val="solid"/>
          </a:ln>
        </p:spPr>
        <p:txBody>
          <a:bodyPr/>
          <a:lstStyle/>
          <a:p>
            <a:endParaRPr lang="en-US"/>
          </a:p>
        </p:txBody>
      </p:sp>
      <p:sp>
        <p:nvSpPr>
          <p:cNvPr id="26" name="Oval 25">
            <a:extLst>
              <a:ext uri="{FF2B5EF4-FFF2-40B4-BE49-F238E27FC236}">
                <a16:creationId xmlns:a16="http://schemas.microsoft.com/office/drawing/2014/main" id="{80468752-14F5-410F-9683-F3DBE14CDEAE}"/>
              </a:ext>
            </a:extLst>
          </p:cNvPr>
          <p:cNvSpPr>
            <a:spLocks noGrp="1"/>
          </p:cNvSpPr>
          <p:nvPr/>
        </p:nvSpPr>
        <p:spPr>
          <a:xfrm>
            <a:off x="3686175" y="4610100"/>
            <a:ext cx="171450" cy="171450"/>
          </a:xfrm>
          <a:prstGeom prst="ellipse">
            <a:avLst/>
          </a:prstGeom>
          <a:solidFill>
            <a:srgbClr val="FF7185"/>
          </a:solidFill>
          <a:ln w="0">
            <a:solidFill>
              <a:srgbClr val="FF7185"/>
            </a:solidFill>
            <a:prstDash val="solid"/>
          </a:ln>
        </p:spPr>
        <p:txBody>
          <a:bodyPr/>
          <a:lstStyle/>
          <a:p>
            <a:endParaRPr lang="en-US"/>
          </a:p>
        </p:txBody>
      </p:sp>
      <p:sp>
        <p:nvSpPr>
          <p:cNvPr id="27" name="Oval 26">
            <a:extLst>
              <a:ext uri="{FF2B5EF4-FFF2-40B4-BE49-F238E27FC236}">
                <a16:creationId xmlns:a16="http://schemas.microsoft.com/office/drawing/2014/main" id="{4C55C521-5F47-4954-AFD4-4C01B3D8BCC5}"/>
              </a:ext>
            </a:extLst>
          </p:cNvPr>
          <p:cNvSpPr>
            <a:spLocks noGrp="1"/>
          </p:cNvSpPr>
          <p:nvPr/>
        </p:nvSpPr>
        <p:spPr>
          <a:xfrm>
            <a:off x="6448425" y="4610100"/>
            <a:ext cx="171450" cy="171450"/>
          </a:xfrm>
          <a:prstGeom prst="ellipse">
            <a:avLst/>
          </a:prstGeom>
          <a:solidFill>
            <a:srgbClr val="FF7185"/>
          </a:solidFill>
          <a:ln w="0">
            <a:solidFill>
              <a:srgbClr val="FF7185"/>
            </a:solidFill>
            <a:prstDash val="solid"/>
          </a:ln>
        </p:spPr>
        <p:txBody>
          <a:bodyPr/>
          <a:lstStyle/>
          <a:p>
            <a:endParaRPr lang="en-US"/>
          </a:p>
        </p:txBody>
      </p:sp>
      <p:sp>
        <p:nvSpPr>
          <p:cNvPr id="28" name="Oval 27">
            <a:extLst>
              <a:ext uri="{FF2B5EF4-FFF2-40B4-BE49-F238E27FC236}">
                <a16:creationId xmlns:a16="http://schemas.microsoft.com/office/drawing/2014/main" id="{16ECC484-F3EA-41FD-87EF-8F48DA124857}"/>
              </a:ext>
            </a:extLst>
          </p:cNvPr>
          <p:cNvSpPr>
            <a:spLocks noGrp="1"/>
          </p:cNvSpPr>
          <p:nvPr/>
        </p:nvSpPr>
        <p:spPr>
          <a:xfrm>
            <a:off x="9210675" y="4610100"/>
            <a:ext cx="171450" cy="171450"/>
          </a:xfrm>
          <a:prstGeom prst="ellipse">
            <a:avLst/>
          </a:prstGeom>
          <a:solidFill>
            <a:srgbClr val="FF7185"/>
          </a:solidFill>
          <a:ln w="0">
            <a:solidFill>
              <a:srgbClr val="FF7185"/>
            </a:solidFill>
            <a:prstDash val="solid"/>
          </a:ln>
        </p:spPr>
        <p:txBody>
          <a:bodyPr/>
          <a:lstStyle/>
          <a:p>
            <a:endParaRPr lang="en-US"/>
          </a:p>
        </p:txBody>
      </p:sp>
      <p:sp>
        <p:nvSpPr>
          <p:cNvPr id="29" name="Rectangle 28">
            <a:extLst>
              <a:ext uri="{FF2B5EF4-FFF2-40B4-BE49-F238E27FC236}">
                <a16:creationId xmlns:a16="http://schemas.microsoft.com/office/drawing/2014/main" id="{0790E67B-7028-42A0-8E69-1523CC0366C2}"/>
              </a:ext>
            </a:extLst>
          </p:cNvPr>
          <p:cNvSpPr>
            <a:spLocks noGrp="1"/>
          </p:cNvSpPr>
          <p:nvPr/>
        </p:nvSpPr>
        <p:spPr>
          <a:xfrm>
            <a:off x="704850" y="5048250"/>
            <a:ext cx="4953000" cy="304800"/>
          </a:xfrm>
          <a:prstGeom prst="rect">
            <a:avLst/>
          </a:prstGeom>
          <a:noFill/>
          <a:ln w="0">
            <a:noFill/>
          </a:ln>
        </p:spPr>
        <p:txBody>
          <a:bodyPr>
            <a:noAutofit/>
          </a:bodyPr>
          <a:lstStyle/>
          <a:p>
            <a:pPr algn="l">
              <a:defRPr sz="1650" b="1" i="0">
                <a:solidFill>
                  <a:srgbClr val="F4F8FB"/>
                </a:solidFill>
                <a:latin typeface="Bitstream Charter"/>
                <a:ea typeface="Bitstream Charter"/>
                <a:cs typeface="Bitstream Charter"/>
              </a:defRPr>
            </a:pPr>
            <a:r>
              <a:rPr sz="1650" b="1" i="0">
                <a:solidFill>
                  <a:srgbClr val="F4F8FB"/>
                </a:solidFill>
                <a:latin typeface="Bitstream Charter"/>
                <a:ea typeface="Bitstream Charter"/>
                <a:cs typeface="Bitstream Charter"/>
              </a:rPr>
              <a:t>SR timing can be a large part of the startup delay</a:t>
            </a:r>
          </a:p>
        </p:txBody>
      </p:sp>
      <p:sp>
        <p:nvSpPr>
          <p:cNvPr id="30" name="Rectangle 29">
            <a:extLst>
              <a:ext uri="{FF2B5EF4-FFF2-40B4-BE49-F238E27FC236}">
                <a16:creationId xmlns:a16="http://schemas.microsoft.com/office/drawing/2014/main" id="{F8C2ECC8-9BF2-4E8A-8169-3507ED68FBB8}"/>
              </a:ext>
            </a:extLst>
          </p:cNvPr>
          <p:cNvSpPr>
            <a:spLocks noGrp="1"/>
          </p:cNvSpPr>
          <p:nvPr/>
        </p:nvSpPr>
        <p:spPr>
          <a:xfrm>
            <a:off x="704850" y="5429250"/>
            <a:ext cx="7048500" cy="400050"/>
          </a:xfrm>
          <a:prstGeom prst="rect">
            <a:avLst/>
          </a:prstGeom>
          <a:noFill/>
          <a:ln w="0">
            <a:noFill/>
          </a:ln>
        </p:spPr>
        <p:txBody>
          <a:bodyPr>
            <a:noAutofit/>
          </a:bodyPr>
          <a:lstStyle/>
          <a:p>
            <a:pPr algn="l">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The paper reports that a Scheduling Request can take up to 40 ms in the relevant configuration. The exact delay depends on configuration and traffic state.</a:t>
            </a:r>
          </a:p>
        </p:txBody>
      </p:sp>
      <p:sp>
        <p:nvSpPr>
          <p:cNvPr id="31" name="Rounded Rectangle 30">
            <a:extLst>
              <a:ext uri="{FF2B5EF4-FFF2-40B4-BE49-F238E27FC236}">
                <a16:creationId xmlns:a16="http://schemas.microsoft.com/office/drawing/2014/main" id="{19DA440C-89AA-4761-AEBE-9A534B7D08F9}"/>
              </a:ext>
            </a:extLst>
          </p:cNvPr>
          <p:cNvSpPr>
            <a:spLocks noGrp="1"/>
          </p:cNvSpPr>
          <p:nvPr/>
        </p:nvSpPr>
        <p:spPr>
          <a:xfrm>
            <a:off x="8515350" y="4973410"/>
            <a:ext cx="2571750" cy="904875"/>
          </a:xfrm>
          <a:prstGeom prst="roundRect">
            <a:avLst>
              <a:gd name="adj" fmla="val 18947"/>
            </a:avLst>
          </a:prstGeom>
          <a:solidFill>
            <a:srgbClr val="FF7185"/>
          </a:solidFill>
          <a:ln w="0">
            <a:solidFill>
              <a:srgbClr val="FF7185"/>
            </a:solidFill>
            <a:prstDash val="solid"/>
          </a:ln>
        </p:spPr>
        <p:txBody>
          <a:bodyPr/>
          <a:lstStyle/>
          <a:p>
            <a:endParaRPr lang="en-US"/>
          </a:p>
        </p:txBody>
      </p:sp>
      <p:sp>
        <p:nvSpPr>
          <p:cNvPr id="32" name="Rectangle 31">
            <a:extLst>
              <a:ext uri="{FF2B5EF4-FFF2-40B4-BE49-F238E27FC236}">
                <a16:creationId xmlns:a16="http://schemas.microsoft.com/office/drawing/2014/main" id="{0E7D0B12-A8F1-4958-B32B-2B3BF1B7D793}"/>
              </a:ext>
            </a:extLst>
          </p:cNvPr>
          <p:cNvSpPr>
            <a:spLocks noGrp="1"/>
          </p:cNvSpPr>
          <p:nvPr/>
        </p:nvSpPr>
        <p:spPr>
          <a:xfrm>
            <a:off x="8753475" y="5124449"/>
            <a:ext cx="2095500" cy="457200"/>
          </a:xfrm>
          <a:prstGeom prst="rect">
            <a:avLst/>
          </a:prstGeom>
          <a:noFill/>
          <a:ln w="0">
            <a:noFill/>
          </a:ln>
        </p:spPr>
        <p:txBody>
          <a:bodyPr>
            <a:noAutofit/>
          </a:bodyPr>
          <a:lstStyle/>
          <a:p>
            <a:pPr algn="ctr">
              <a:defRPr sz="1575" b="1" i="0">
                <a:solidFill>
                  <a:srgbClr val="071A2B"/>
                </a:solidFill>
                <a:latin typeface="Bitstream Charter"/>
                <a:ea typeface="Bitstream Charter"/>
                <a:cs typeface="Bitstream Charter"/>
              </a:defRPr>
            </a:pPr>
            <a:r>
              <a:rPr sz="1575" b="1" i="0" dirty="0">
                <a:solidFill>
                  <a:srgbClr val="071A2B"/>
                </a:solidFill>
                <a:latin typeface="Bitstream Charter"/>
                <a:ea typeface="Bitstream Charter"/>
                <a:cs typeface="Bitstream Charter"/>
              </a:rPr>
              <a:t>Capacity exists</a:t>
            </a:r>
          </a:p>
          <a:p>
            <a:pPr algn="ctr">
              <a:defRPr sz="1575" b="1" i="0">
                <a:solidFill>
                  <a:srgbClr val="071A2B"/>
                </a:solidFill>
                <a:latin typeface="Bitstream Charter"/>
                <a:ea typeface="Bitstream Charter"/>
                <a:cs typeface="Bitstream Charter"/>
              </a:defRPr>
            </a:pPr>
            <a:r>
              <a:rPr sz="1575" b="1" i="0" dirty="0">
                <a:solidFill>
                  <a:srgbClr val="071A2B"/>
                </a:solidFill>
                <a:latin typeface="Bitstream Charter"/>
                <a:ea typeface="Bitstream Charter"/>
                <a:cs typeface="Bitstream Charter"/>
              </a:rPr>
              <a:t>but the device waits</a:t>
            </a:r>
          </a:p>
        </p:txBody>
      </p:sp>
      <p:sp>
        <p:nvSpPr>
          <p:cNvPr id="33" name="Rectangle 32">
            <a:extLst>
              <a:ext uri="{FF2B5EF4-FFF2-40B4-BE49-F238E27FC236}">
                <a16:creationId xmlns:a16="http://schemas.microsoft.com/office/drawing/2014/main" id="{8A371D48-C0E8-474B-8F83-271EECB482A3}"/>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05</a:t>
            </a:r>
          </a:p>
        </p:txBody>
      </p:sp>
      <p:sp>
        <p:nvSpPr>
          <p:cNvPr id="34" name="Rectangle 33">
            <a:extLst>
              <a:ext uri="{FF2B5EF4-FFF2-40B4-BE49-F238E27FC236}">
                <a16:creationId xmlns:a16="http://schemas.microsoft.com/office/drawing/2014/main" id="{95299ABD-0C7D-401D-9342-CFDBA6076FE7}"/>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Paper §§1–3, Fig. 1; author slides 6–9</a:t>
            </a:r>
          </a:p>
        </p:txBody>
      </p:sp>
    </p:spTree>
    <p:extLst>
      <p:ext uri="{BB962C8B-B14F-4D97-AF65-F5344CB8AC3E}">
        <p14:creationId xmlns:p14="http://schemas.microsoft.com/office/powerpoint/2010/main" val="672529777"/>
      </p:ext>
    </p:extLst>
  </p:cSld>
  <p:clrMapOvr>
    <a:masterClrMapping/>
  </p:clrMapOvr>
  <mc:AlternateContent xmlns:mc="http://schemas.openxmlformats.org/markup-compatibility/2006">
    <mc:Choice xmlns:p14="http://schemas.microsoft.com/office/powerpoint/2010/main" Requires="p14">
      <p:transition spd="slow" p14:dur="2000" advTm="83308"/>
    </mc:Choice>
    <mc:Fallback>
      <p:transition spd="slow" advTm="8330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F0AF2B18-389F-459C-B4D3-932005435AD8}"/>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The scheduler faces a latency–waste tradeoff</a:t>
            </a:r>
          </a:p>
        </p:txBody>
      </p:sp>
      <p:sp>
        <p:nvSpPr>
          <p:cNvPr id="2" name="Rectangle 1">
            <a:extLst>
              <a:ext uri="{FF2B5EF4-FFF2-40B4-BE49-F238E27FC236}">
                <a16:creationId xmlns:a16="http://schemas.microsoft.com/office/drawing/2014/main" id="{40F85021-6CA8-4C82-874A-772612A3A3F8}"/>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Two familiar policies sit at opposite ends; Sage tries to use prediction between them</a:t>
            </a:r>
          </a:p>
        </p:txBody>
      </p:sp>
      <p:sp>
        <p:nvSpPr>
          <p:cNvPr id="3" name="Straight Connector 2">
            <a:extLst>
              <a:ext uri="{FF2B5EF4-FFF2-40B4-BE49-F238E27FC236}">
                <a16:creationId xmlns:a16="http://schemas.microsoft.com/office/drawing/2014/main" id="{12491CF2-A2CB-4A8F-B8B5-419A5F505856}"/>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ounded Rectangle 3">
            <a:extLst>
              <a:ext uri="{FF2B5EF4-FFF2-40B4-BE49-F238E27FC236}">
                <a16:creationId xmlns:a16="http://schemas.microsoft.com/office/drawing/2014/main" id="{32277C20-F24C-4019-8D55-5570F74EC8EE}"/>
              </a:ext>
            </a:extLst>
          </p:cNvPr>
          <p:cNvSpPr>
            <a:spLocks noGrp="1"/>
          </p:cNvSpPr>
          <p:nvPr/>
        </p:nvSpPr>
        <p:spPr>
          <a:xfrm>
            <a:off x="714375" y="1952625"/>
            <a:ext cx="2857500" cy="2667000"/>
          </a:xfrm>
          <a:prstGeom prst="roundRect">
            <a:avLst>
              <a:gd name="adj" fmla="val 8571"/>
            </a:avLst>
          </a:prstGeom>
          <a:solidFill>
            <a:srgbClr val="0D2940"/>
          </a:solidFill>
          <a:ln w="14288">
            <a:solidFill>
              <a:srgbClr val="FFC857"/>
            </a:solidFill>
            <a:prstDash val="solid"/>
          </a:ln>
        </p:spPr>
        <p:txBody>
          <a:bodyPr/>
          <a:lstStyle/>
          <a:p>
            <a:endParaRPr lang="en-US"/>
          </a:p>
        </p:txBody>
      </p:sp>
      <p:sp>
        <p:nvSpPr>
          <p:cNvPr id="5" name="Rectangle 4">
            <a:extLst>
              <a:ext uri="{FF2B5EF4-FFF2-40B4-BE49-F238E27FC236}">
                <a16:creationId xmlns:a16="http://schemas.microsoft.com/office/drawing/2014/main" id="{A7F18A66-33E2-4F66-82D6-6268BB0177E0}"/>
              </a:ext>
            </a:extLst>
          </p:cNvPr>
          <p:cNvSpPr>
            <a:spLocks noGrp="1"/>
          </p:cNvSpPr>
          <p:nvPr/>
        </p:nvSpPr>
        <p:spPr>
          <a:xfrm>
            <a:off x="942975" y="2190750"/>
            <a:ext cx="2381250" cy="342900"/>
          </a:xfrm>
          <a:prstGeom prst="rect">
            <a:avLst/>
          </a:prstGeom>
          <a:noFill/>
          <a:ln w="0">
            <a:noFill/>
          </a:ln>
        </p:spPr>
        <p:txBody>
          <a:bodyPr>
            <a:noAutofit/>
          </a:bodyPr>
          <a:lstStyle/>
          <a:p>
            <a:pPr algn="l">
              <a:defRPr sz="1950" b="1" i="0">
                <a:solidFill>
                  <a:srgbClr val="FFC857"/>
                </a:solidFill>
                <a:latin typeface="Bitstream Charter"/>
                <a:ea typeface="Bitstream Charter"/>
                <a:cs typeface="Bitstream Charter"/>
              </a:defRPr>
            </a:pPr>
            <a:r>
              <a:rPr sz="1950" b="1" i="0">
                <a:solidFill>
                  <a:srgbClr val="FFC857"/>
                </a:solidFill>
                <a:latin typeface="Bitstream Charter"/>
                <a:ea typeface="Bitstream Charter"/>
                <a:cs typeface="Bitstream Charter"/>
              </a:rPr>
              <a:t>Request-based</a:t>
            </a:r>
          </a:p>
        </p:txBody>
      </p:sp>
      <p:sp>
        <p:nvSpPr>
          <p:cNvPr id="6" name="Rectangle 5">
            <a:extLst>
              <a:ext uri="{FF2B5EF4-FFF2-40B4-BE49-F238E27FC236}">
                <a16:creationId xmlns:a16="http://schemas.microsoft.com/office/drawing/2014/main" id="{F1479CDC-B084-40DA-A20E-E5E81C131DA4}"/>
              </a:ext>
            </a:extLst>
          </p:cNvPr>
          <p:cNvSpPr>
            <a:spLocks noGrp="1"/>
          </p:cNvSpPr>
          <p:nvPr/>
        </p:nvSpPr>
        <p:spPr>
          <a:xfrm>
            <a:off x="942975" y="2590800"/>
            <a:ext cx="2381250" cy="209550"/>
          </a:xfrm>
          <a:prstGeom prst="rect">
            <a:avLst/>
          </a:prstGeom>
          <a:noFill/>
          <a:ln w="0">
            <a:noFill/>
          </a:ln>
        </p:spPr>
        <p:txBody>
          <a:bodyPr>
            <a:noAutofit/>
          </a:bodyPr>
          <a:lstStyle/>
          <a:p>
            <a:pPr algn="l">
              <a:defRPr sz="1050" b="0" i="0">
                <a:solidFill>
                  <a:srgbClr val="A8BDCC"/>
                </a:solidFill>
                <a:latin typeface="Bitstream Charter"/>
                <a:ea typeface="Bitstream Charter"/>
                <a:cs typeface="Bitstream Charter"/>
              </a:defRPr>
            </a:pPr>
            <a:r>
              <a:rPr sz="1050" b="0" i="0">
                <a:solidFill>
                  <a:srgbClr val="A8BDCC"/>
                </a:solidFill>
                <a:latin typeface="Bitstream Charter"/>
                <a:ea typeface="Bitstream Charter"/>
                <a:cs typeface="Bitstream Charter"/>
              </a:rPr>
              <a:t>grant-based</a:t>
            </a:r>
          </a:p>
        </p:txBody>
      </p:sp>
      <p:sp>
        <p:nvSpPr>
          <p:cNvPr id="7" name="Rectangle 6">
            <a:extLst>
              <a:ext uri="{FF2B5EF4-FFF2-40B4-BE49-F238E27FC236}">
                <a16:creationId xmlns:a16="http://schemas.microsoft.com/office/drawing/2014/main" id="{146BD641-CCD7-470E-86BC-F31F43472EAE}"/>
              </a:ext>
            </a:extLst>
          </p:cNvPr>
          <p:cNvSpPr>
            <a:spLocks noGrp="1"/>
          </p:cNvSpPr>
          <p:nvPr/>
        </p:nvSpPr>
        <p:spPr>
          <a:xfrm>
            <a:off x="942975" y="3143250"/>
            <a:ext cx="2381250" cy="285750"/>
          </a:xfrm>
          <a:prstGeom prst="rect">
            <a:avLst/>
          </a:prstGeom>
          <a:noFill/>
          <a:ln w="0">
            <a:noFill/>
          </a:ln>
        </p:spPr>
        <p:txBody>
          <a:bodyPr>
            <a:noAutofit/>
          </a:bodyPr>
          <a:lstStyle/>
          <a:p>
            <a:pPr algn="l">
              <a:defRPr sz="1575" b="1" i="0">
                <a:solidFill>
                  <a:srgbClr val="F4F8FB"/>
                </a:solidFill>
                <a:latin typeface="Bitstream Charter"/>
                <a:ea typeface="Bitstream Charter"/>
                <a:cs typeface="Bitstream Charter"/>
              </a:defRPr>
            </a:pPr>
            <a:r>
              <a:rPr sz="1575" b="1" i="0">
                <a:solidFill>
                  <a:srgbClr val="F4F8FB"/>
                </a:solidFill>
                <a:latin typeface="Bitstream Charter"/>
                <a:ea typeface="Bitstream Charter"/>
                <a:cs typeface="Bitstream Charter"/>
              </a:rPr>
              <a:t>Ask when data is ready</a:t>
            </a:r>
          </a:p>
        </p:txBody>
      </p:sp>
      <p:sp>
        <p:nvSpPr>
          <p:cNvPr id="8" name="Straight Connector 7">
            <a:extLst>
              <a:ext uri="{FF2B5EF4-FFF2-40B4-BE49-F238E27FC236}">
                <a16:creationId xmlns:a16="http://schemas.microsoft.com/office/drawing/2014/main" id="{401BDF0B-B0DF-48EE-B1BD-30FDE7890F60}"/>
              </a:ext>
            </a:extLst>
          </p:cNvPr>
          <p:cNvSpPr>
            <a:spLocks noGrp="1"/>
          </p:cNvSpPr>
          <p:nvPr/>
        </p:nvSpPr>
        <p:spPr>
          <a:xfrm>
            <a:off x="942975" y="3667125"/>
            <a:ext cx="2381250" cy="0"/>
          </a:xfrm>
          <a:prstGeom prst="line">
            <a:avLst/>
          </a:prstGeom>
          <a:noFill/>
          <a:ln w="9525">
            <a:solidFill>
              <a:srgbClr val="345267"/>
            </a:solidFill>
            <a:prstDash val="solid"/>
          </a:ln>
        </p:spPr>
        <p:txBody>
          <a:bodyPr/>
          <a:lstStyle/>
          <a:p>
            <a:endParaRPr lang="en-US"/>
          </a:p>
        </p:txBody>
      </p:sp>
      <p:sp>
        <p:nvSpPr>
          <p:cNvPr id="9" name="Rectangle 8">
            <a:extLst>
              <a:ext uri="{FF2B5EF4-FFF2-40B4-BE49-F238E27FC236}">
                <a16:creationId xmlns:a16="http://schemas.microsoft.com/office/drawing/2014/main" id="{E30D3DD5-8CAF-41EE-9E06-7025CC0825AA}"/>
              </a:ext>
            </a:extLst>
          </p:cNvPr>
          <p:cNvSpPr>
            <a:spLocks noGrp="1"/>
          </p:cNvSpPr>
          <p:nvPr/>
        </p:nvSpPr>
        <p:spPr>
          <a:xfrm>
            <a:off x="942975" y="3886200"/>
            <a:ext cx="2381250" cy="228600"/>
          </a:xfrm>
          <a:prstGeom prst="rect">
            <a:avLst/>
          </a:prstGeom>
          <a:noFill/>
          <a:ln w="0">
            <a:noFill/>
          </a:ln>
        </p:spPr>
        <p:txBody>
          <a:bodyPr>
            <a:noAutofit/>
          </a:bodyPr>
          <a:lstStyle/>
          <a:p>
            <a:pPr algn="l">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low idle allocation</a:t>
            </a:r>
          </a:p>
        </p:txBody>
      </p:sp>
      <p:sp>
        <p:nvSpPr>
          <p:cNvPr id="10" name="Rectangle 9">
            <a:extLst>
              <a:ext uri="{FF2B5EF4-FFF2-40B4-BE49-F238E27FC236}">
                <a16:creationId xmlns:a16="http://schemas.microsoft.com/office/drawing/2014/main" id="{B319967B-2395-4FDA-B240-6B5B63DB7825}"/>
              </a:ext>
            </a:extLst>
          </p:cNvPr>
          <p:cNvSpPr>
            <a:spLocks noGrp="1"/>
          </p:cNvSpPr>
          <p:nvPr/>
        </p:nvSpPr>
        <p:spPr>
          <a:xfrm>
            <a:off x="942975" y="4257675"/>
            <a:ext cx="2381250" cy="228600"/>
          </a:xfrm>
          <a:prstGeom prst="rect">
            <a:avLst/>
          </a:prstGeom>
          <a:noFill/>
          <a:ln w="0">
            <a:noFill/>
          </a:ln>
        </p:spPr>
        <p:txBody>
          <a:bodyPr>
            <a:noAutofit/>
          </a:bodyPr>
          <a:lstStyle/>
          <a:p>
            <a:pPr algn="l">
              <a:defRPr sz="1275" b="0" i="0">
                <a:solidFill>
                  <a:srgbClr val="FFC857"/>
                </a:solidFill>
                <a:latin typeface="Bitstream Charter"/>
                <a:ea typeface="Bitstream Charter"/>
                <a:cs typeface="Bitstream Charter"/>
              </a:defRPr>
            </a:pPr>
            <a:r>
              <a:rPr sz="1275" b="0" i="0">
                <a:solidFill>
                  <a:srgbClr val="FFC857"/>
                </a:solidFill>
                <a:latin typeface="Bitstream Charter"/>
                <a:ea typeface="Bitstream Charter"/>
                <a:cs typeface="Bitstream Charter"/>
              </a:rPr>
              <a:t>waiting adds latency</a:t>
            </a:r>
          </a:p>
        </p:txBody>
      </p:sp>
      <p:sp>
        <p:nvSpPr>
          <p:cNvPr id="11" name="Rounded Rectangle 10">
            <a:extLst>
              <a:ext uri="{FF2B5EF4-FFF2-40B4-BE49-F238E27FC236}">
                <a16:creationId xmlns:a16="http://schemas.microsoft.com/office/drawing/2014/main" id="{59DFEDE3-7973-4638-AA93-1C3A5BF16DEC}"/>
              </a:ext>
            </a:extLst>
          </p:cNvPr>
          <p:cNvSpPr>
            <a:spLocks noGrp="1"/>
          </p:cNvSpPr>
          <p:nvPr/>
        </p:nvSpPr>
        <p:spPr>
          <a:xfrm>
            <a:off x="4143375" y="1952625"/>
            <a:ext cx="2857500" cy="2667000"/>
          </a:xfrm>
          <a:prstGeom prst="roundRect">
            <a:avLst>
              <a:gd name="adj" fmla="val 8571"/>
            </a:avLst>
          </a:prstGeom>
          <a:solidFill>
            <a:srgbClr val="0D2940"/>
          </a:solidFill>
          <a:ln w="14288">
            <a:solidFill>
              <a:srgbClr val="FF7185"/>
            </a:solidFill>
            <a:prstDash val="solid"/>
          </a:ln>
        </p:spPr>
        <p:txBody>
          <a:bodyPr/>
          <a:lstStyle/>
          <a:p>
            <a:endParaRPr lang="en-US"/>
          </a:p>
        </p:txBody>
      </p:sp>
      <p:sp>
        <p:nvSpPr>
          <p:cNvPr id="12" name="Rectangle 11">
            <a:extLst>
              <a:ext uri="{FF2B5EF4-FFF2-40B4-BE49-F238E27FC236}">
                <a16:creationId xmlns:a16="http://schemas.microsoft.com/office/drawing/2014/main" id="{80C8658F-C4E0-4000-ABB1-0B2105435B69}"/>
              </a:ext>
            </a:extLst>
          </p:cNvPr>
          <p:cNvSpPr>
            <a:spLocks noGrp="1"/>
          </p:cNvSpPr>
          <p:nvPr/>
        </p:nvSpPr>
        <p:spPr>
          <a:xfrm>
            <a:off x="4371975" y="2190750"/>
            <a:ext cx="2381250" cy="342900"/>
          </a:xfrm>
          <a:prstGeom prst="rect">
            <a:avLst/>
          </a:prstGeom>
          <a:noFill/>
          <a:ln w="0">
            <a:noFill/>
          </a:ln>
        </p:spPr>
        <p:txBody>
          <a:bodyPr>
            <a:noAutofit/>
          </a:bodyPr>
          <a:lstStyle/>
          <a:p>
            <a:pPr algn="l">
              <a:defRPr sz="1950" b="1" i="0">
                <a:solidFill>
                  <a:srgbClr val="FF7185"/>
                </a:solidFill>
                <a:latin typeface="Bitstream Charter"/>
                <a:ea typeface="Bitstream Charter"/>
                <a:cs typeface="Bitstream Charter"/>
              </a:defRPr>
            </a:pPr>
            <a:r>
              <a:rPr sz="1950" b="1" i="0">
                <a:solidFill>
                  <a:srgbClr val="FF7185"/>
                </a:solidFill>
                <a:latin typeface="Bitstream Charter"/>
                <a:ea typeface="Bitstream Charter"/>
                <a:cs typeface="Bitstream Charter"/>
              </a:rPr>
              <a:t>Preallocated</a:t>
            </a:r>
          </a:p>
        </p:txBody>
      </p:sp>
      <p:sp>
        <p:nvSpPr>
          <p:cNvPr id="13" name="Rectangle 12">
            <a:extLst>
              <a:ext uri="{FF2B5EF4-FFF2-40B4-BE49-F238E27FC236}">
                <a16:creationId xmlns:a16="http://schemas.microsoft.com/office/drawing/2014/main" id="{78E1DA50-AEF6-4517-96D2-1056AAC965B2}"/>
              </a:ext>
            </a:extLst>
          </p:cNvPr>
          <p:cNvSpPr>
            <a:spLocks noGrp="1"/>
          </p:cNvSpPr>
          <p:nvPr/>
        </p:nvSpPr>
        <p:spPr>
          <a:xfrm>
            <a:off x="4371975" y="2590800"/>
            <a:ext cx="2381250" cy="209550"/>
          </a:xfrm>
          <a:prstGeom prst="rect">
            <a:avLst/>
          </a:prstGeom>
          <a:noFill/>
          <a:ln w="0">
            <a:noFill/>
          </a:ln>
        </p:spPr>
        <p:txBody>
          <a:bodyPr>
            <a:noAutofit/>
          </a:bodyPr>
          <a:lstStyle/>
          <a:p>
            <a:pPr algn="l">
              <a:defRPr sz="1050" b="0" i="0">
                <a:solidFill>
                  <a:srgbClr val="A8BDCC"/>
                </a:solidFill>
                <a:latin typeface="Bitstream Charter"/>
                <a:ea typeface="Bitstream Charter"/>
                <a:cs typeface="Bitstream Charter"/>
              </a:defRPr>
            </a:pPr>
            <a:r>
              <a:rPr sz="1050" b="0" i="0">
                <a:solidFill>
                  <a:srgbClr val="A8BDCC"/>
                </a:solidFill>
                <a:latin typeface="Bitstream Charter"/>
                <a:ea typeface="Bitstream Charter"/>
                <a:cs typeface="Bitstream Charter"/>
              </a:rPr>
              <a:t>grant-free baseline</a:t>
            </a:r>
          </a:p>
        </p:txBody>
      </p:sp>
      <p:sp>
        <p:nvSpPr>
          <p:cNvPr id="14" name="Rectangle 13">
            <a:extLst>
              <a:ext uri="{FF2B5EF4-FFF2-40B4-BE49-F238E27FC236}">
                <a16:creationId xmlns:a16="http://schemas.microsoft.com/office/drawing/2014/main" id="{4681908C-4E87-492A-952E-B8647FED6422}"/>
              </a:ext>
            </a:extLst>
          </p:cNvPr>
          <p:cNvSpPr>
            <a:spLocks noGrp="1"/>
          </p:cNvSpPr>
          <p:nvPr/>
        </p:nvSpPr>
        <p:spPr>
          <a:xfrm>
            <a:off x="4371975" y="3143250"/>
            <a:ext cx="2381250" cy="285750"/>
          </a:xfrm>
          <a:prstGeom prst="rect">
            <a:avLst/>
          </a:prstGeom>
          <a:noFill/>
          <a:ln w="0">
            <a:noFill/>
          </a:ln>
        </p:spPr>
        <p:txBody>
          <a:bodyPr>
            <a:noAutofit/>
          </a:bodyPr>
          <a:lstStyle/>
          <a:p>
            <a:pPr algn="l">
              <a:defRPr sz="1575" b="1" i="0">
                <a:solidFill>
                  <a:srgbClr val="F4F8FB"/>
                </a:solidFill>
                <a:latin typeface="Bitstream Charter"/>
                <a:ea typeface="Bitstream Charter"/>
                <a:cs typeface="Bitstream Charter"/>
              </a:defRPr>
            </a:pPr>
            <a:r>
              <a:rPr sz="1575" b="1" i="0">
                <a:solidFill>
                  <a:srgbClr val="F4F8FB"/>
                </a:solidFill>
                <a:latin typeface="Bitstream Charter"/>
                <a:ea typeface="Bitstream Charter"/>
                <a:cs typeface="Bitstream Charter"/>
              </a:rPr>
              <a:t>Reserve capacity ahead</a:t>
            </a:r>
          </a:p>
        </p:txBody>
      </p:sp>
      <p:sp>
        <p:nvSpPr>
          <p:cNvPr id="15" name="Straight Connector 14">
            <a:extLst>
              <a:ext uri="{FF2B5EF4-FFF2-40B4-BE49-F238E27FC236}">
                <a16:creationId xmlns:a16="http://schemas.microsoft.com/office/drawing/2014/main" id="{3F5CCA21-1A31-45DF-986D-54BBA625966A}"/>
              </a:ext>
            </a:extLst>
          </p:cNvPr>
          <p:cNvSpPr>
            <a:spLocks noGrp="1"/>
          </p:cNvSpPr>
          <p:nvPr/>
        </p:nvSpPr>
        <p:spPr>
          <a:xfrm>
            <a:off x="4371975" y="3667125"/>
            <a:ext cx="2381250" cy="0"/>
          </a:xfrm>
          <a:prstGeom prst="line">
            <a:avLst/>
          </a:prstGeom>
          <a:noFill/>
          <a:ln w="9525">
            <a:solidFill>
              <a:srgbClr val="345267"/>
            </a:solidFill>
            <a:prstDash val="solid"/>
          </a:ln>
        </p:spPr>
        <p:txBody>
          <a:bodyPr/>
          <a:lstStyle/>
          <a:p>
            <a:endParaRPr lang="en-US"/>
          </a:p>
        </p:txBody>
      </p:sp>
      <p:sp>
        <p:nvSpPr>
          <p:cNvPr id="16" name="Rectangle 15">
            <a:extLst>
              <a:ext uri="{FF2B5EF4-FFF2-40B4-BE49-F238E27FC236}">
                <a16:creationId xmlns:a16="http://schemas.microsoft.com/office/drawing/2014/main" id="{0E1D0532-38E0-4108-9E75-726A39693F6A}"/>
              </a:ext>
            </a:extLst>
          </p:cNvPr>
          <p:cNvSpPr>
            <a:spLocks noGrp="1"/>
          </p:cNvSpPr>
          <p:nvPr/>
        </p:nvSpPr>
        <p:spPr>
          <a:xfrm>
            <a:off x="4371975" y="3886200"/>
            <a:ext cx="2381250" cy="228600"/>
          </a:xfrm>
          <a:prstGeom prst="rect">
            <a:avLst/>
          </a:prstGeom>
          <a:noFill/>
          <a:ln w="0">
            <a:noFill/>
          </a:ln>
        </p:spPr>
        <p:txBody>
          <a:bodyPr>
            <a:noAutofit/>
          </a:bodyPr>
          <a:lstStyle/>
          <a:p>
            <a:pPr algn="l">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fast access</a:t>
            </a:r>
          </a:p>
        </p:txBody>
      </p:sp>
      <p:sp>
        <p:nvSpPr>
          <p:cNvPr id="17" name="Rectangle 16">
            <a:extLst>
              <a:ext uri="{FF2B5EF4-FFF2-40B4-BE49-F238E27FC236}">
                <a16:creationId xmlns:a16="http://schemas.microsoft.com/office/drawing/2014/main" id="{84128D56-4FBC-4823-8F8F-3C184888D53E}"/>
              </a:ext>
            </a:extLst>
          </p:cNvPr>
          <p:cNvSpPr>
            <a:spLocks noGrp="1"/>
          </p:cNvSpPr>
          <p:nvPr/>
        </p:nvSpPr>
        <p:spPr>
          <a:xfrm>
            <a:off x="4371975" y="4257675"/>
            <a:ext cx="2381250" cy="228600"/>
          </a:xfrm>
          <a:prstGeom prst="rect">
            <a:avLst/>
          </a:prstGeom>
          <a:noFill/>
          <a:ln w="0">
            <a:noFill/>
          </a:ln>
        </p:spPr>
        <p:txBody>
          <a:bodyPr>
            <a:noAutofit/>
          </a:bodyPr>
          <a:lstStyle/>
          <a:p>
            <a:pPr algn="l">
              <a:defRPr sz="1275" b="0" i="0">
                <a:solidFill>
                  <a:srgbClr val="FF7185"/>
                </a:solidFill>
                <a:latin typeface="Bitstream Charter"/>
                <a:ea typeface="Bitstream Charter"/>
                <a:cs typeface="Bitstream Charter"/>
              </a:defRPr>
            </a:pPr>
            <a:r>
              <a:rPr sz="1275" b="0" i="0">
                <a:solidFill>
                  <a:srgbClr val="FF7185"/>
                </a:solidFill>
                <a:latin typeface="Bitstream Charter"/>
                <a:ea typeface="Bitstream Charter"/>
                <a:cs typeface="Bitstream Charter"/>
              </a:rPr>
              <a:t>unused capacity</a:t>
            </a:r>
          </a:p>
        </p:txBody>
      </p:sp>
      <p:sp>
        <p:nvSpPr>
          <p:cNvPr id="18" name="Rounded Rectangle 17">
            <a:extLst>
              <a:ext uri="{FF2B5EF4-FFF2-40B4-BE49-F238E27FC236}">
                <a16:creationId xmlns:a16="http://schemas.microsoft.com/office/drawing/2014/main" id="{39447736-A7F5-40AC-8D83-C880E2AE4C54}"/>
              </a:ext>
            </a:extLst>
          </p:cNvPr>
          <p:cNvSpPr>
            <a:spLocks noGrp="1"/>
          </p:cNvSpPr>
          <p:nvPr/>
        </p:nvSpPr>
        <p:spPr>
          <a:xfrm>
            <a:off x="7572375" y="1952625"/>
            <a:ext cx="2857500" cy="2667000"/>
          </a:xfrm>
          <a:prstGeom prst="roundRect">
            <a:avLst>
              <a:gd name="adj" fmla="val 8571"/>
            </a:avLst>
          </a:prstGeom>
          <a:solidFill>
            <a:srgbClr val="0D2940"/>
          </a:solidFill>
          <a:ln w="14288">
            <a:solidFill>
              <a:srgbClr val="57D18C"/>
            </a:solidFill>
            <a:prstDash val="solid"/>
          </a:ln>
        </p:spPr>
        <p:txBody>
          <a:bodyPr/>
          <a:lstStyle/>
          <a:p>
            <a:endParaRPr lang="en-US"/>
          </a:p>
        </p:txBody>
      </p:sp>
      <p:sp>
        <p:nvSpPr>
          <p:cNvPr id="19" name="Rectangle 18">
            <a:extLst>
              <a:ext uri="{FF2B5EF4-FFF2-40B4-BE49-F238E27FC236}">
                <a16:creationId xmlns:a16="http://schemas.microsoft.com/office/drawing/2014/main" id="{90DD7455-43AB-43F8-B09A-052E71A35BBF}"/>
              </a:ext>
            </a:extLst>
          </p:cNvPr>
          <p:cNvSpPr>
            <a:spLocks noGrp="1"/>
          </p:cNvSpPr>
          <p:nvPr/>
        </p:nvSpPr>
        <p:spPr>
          <a:xfrm>
            <a:off x="7800975" y="2190750"/>
            <a:ext cx="2381250" cy="342900"/>
          </a:xfrm>
          <a:prstGeom prst="rect">
            <a:avLst/>
          </a:prstGeom>
          <a:noFill/>
          <a:ln w="0">
            <a:noFill/>
          </a:ln>
        </p:spPr>
        <p:txBody>
          <a:bodyPr>
            <a:noAutofit/>
          </a:bodyPr>
          <a:lstStyle/>
          <a:p>
            <a:pPr algn="l">
              <a:defRPr sz="1950" b="1" i="0">
                <a:solidFill>
                  <a:srgbClr val="57D18C"/>
                </a:solidFill>
                <a:latin typeface="Bitstream Charter"/>
                <a:ea typeface="Bitstream Charter"/>
                <a:cs typeface="Bitstream Charter"/>
              </a:defRPr>
            </a:pPr>
            <a:r>
              <a:rPr sz="1950" b="1" i="0">
                <a:solidFill>
                  <a:srgbClr val="57D18C"/>
                </a:solidFill>
                <a:latin typeface="Bitstream Charter"/>
                <a:ea typeface="Bitstream Charter"/>
                <a:cs typeface="Bitstream Charter"/>
              </a:rPr>
              <a:t>Predictive</a:t>
            </a:r>
          </a:p>
        </p:txBody>
      </p:sp>
      <p:sp>
        <p:nvSpPr>
          <p:cNvPr id="20" name="Rectangle 19">
            <a:extLst>
              <a:ext uri="{FF2B5EF4-FFF2-40B4-BE49-F238E27FC236}">
                <a16:creationId xmlns:a16="http://schemas.microsoft.com/office/drawing/2014/main" id="{7812A102-490A-4012-A9FE-98C01C71998F}"/>
              </a:ext>
            </a:extLst>
          </p:cNvPr>
          <p:cNvSpPr>
            <a:spLocks noGrp="1"/>
          </p:cNvSpPr>
          <p:nvPr/>
        </p:nvSpPr>
        <p:spPr>
          <a:xfrm>
            <a:off x="7800975" y="2590800"/>
            <a:ext cx="2381250" cy="209550"/>
          </a:xfrm>
          <a:prstGeom prst="rect">
            <a:avLst/>
          </a:prstGeom>
          <a:noFill/>
          <a:ln w="0">
            <a:noFill/>
          </a:ln>
        </p:spPr>
        <p:txBody>
          <a:bodyPr>
            <a:noAutofit/>
          </a:bodyPr>
          <a:lstStyle/>
          <a:p>
            <a:pPr algn="l">
              <a:defRPr sz="1050" b="0" i="0">
                <a:solidFill>
                  <a:srgbClr val="A8BDCC"/>
                </a:solidFill>
                <a:latin typeface="Bitstream Charter"/>
                <a:ea typeface="Bitstream Charter"/>
                <a:cs typeface="Bitstream Charter"/>
              </a:defRPr>
            </a:pPr>
            <a:r>
              <a:rPr sz="1050" b="0" i="0">
                <a:solidFill>
                  <a:srgbClr val="A8BDCC"/>
                </a:solidFill>
                <a:latin typeface="Bitstream Charter"/>
                <a:ea typeface="Bitstream Charter"/>
                <a:cs typeface="Bitstream Charter"/>
              </a:rPr>
              <a:t>Sage</a:t>
            </a:r>
          </a:p>
        </p:txBody>
      </p:sp>
      <p:sp>
        <p:nvSpPr>
          <p:cNvPr id="21" name="Rectangle 20">
            <a:extLst>
              <a:ext uri="{FF2B5EF4-FFF2-40B4-BE49-F238E27FC236}">
                <a16:creationId xmlns:a16="http://schemas.microsoft.com/office/drawing/2014/main" id="{2E0053F9-8DEA-4C17-BF8E-444E3D5D5906}"/>
              </a:ext>
            </a:extLst>
          </p:cNvPr>
          <p:cNvSpPr>
            <a:spLocks noGrp="1"/>
          </p:cNvSpPr>
          <p:nvPr/>
        </p:nvSpPr>
        <p:spPr>
          <a:xfrm>
            <a:off x="7800975" y="3143250"/>
            <a:ext cx="2381250" cy="285750"/>
          </a:xfrm>
          <a:prstGeom prst="rect">
            <a:avLst/>
          </a:prstGeom>
          <a:noFill/>
          <a:ln w="0">
            <a:noFill/>
          </a:ln>
        </p:spPr>
        <p:txBody>
          <a:bodyPr>
            <a:noAutofit/>
          </a:bodyPr>
          <a:lstStyle/>
          <a:p>
            <a:pPr algn="l">
              <a:defRPr sz="1575" b="1" i="0">
                <a:solidFill>
                  <a:srgbClr val="F4F8FB"/>
                </a:solidFill>
                <a:latin typeface="Bitstream Charter"/>
                <a:ea typeface="Bitstream Charter"/>
                <a:cs typeface="Bitstream Charter"/>
              </a:defRPr>
            </a:pPr>
            <a:r>
              <a:rPr sz="1575" b="1" i="0">
                <a:solidFill>
                  <a:srgbClr val="F4F8FB"/>
                </a:solidFill>
                <a:latin typeface="Bitstream Charter"/>
                <a:ea typeface="Bitstream Charter"/>
                <a:cs typeface="Bitstream Charter"/>
              </a:rPr>
              <a:t>Forecast time + size</a:t>
            </a:r>
          </a:p>
        </p:txBody>
      </p:sp>
      <p:sp>
        <p:nvSpPr>
          <p:cNvPr id="22" name="Straight Connector 21">
            <a:extLst>
              <a:ext uri="{FF2B5EF4-FFF2-40B4-BE49-F238E27FC236}">
                <a16:creationId xmlns:a16="http://schemas.microsoft.com/office/drawing/2014/main" id="{576E2FB8-F005-4A2E-BBDB-A294D9880A27}"/>
              </a:ext>
            </a:extLst>
          </p:cNvPr>
          <p:cNvSpPr>
            <a:spLocks noGrp="1"/>
          </p:cNvSpPr>
          <p:nvPr/>
        </p:nvSpPr>
        <p:spPr>
          <a:xfrm>
            <a:off x="7800975" y="3667125"/>
            <a:ext cx="2381250" cy="0"/>
          </a:xfrm>
          <a:prstGeom prst="line">
            <a:avLst/>
          </a:prstGeom>
          <a:noFill/>
          <a:ln w="9525">
            <a:solidFill>
              <a:srgbClr val="345267"/>
            </a:solidFill>
            <a:prstDash val="solid"/>
          </a:ln>
        </p:spPr>
        <p:txBody>
          <a:bodyPr/>
          <a:lstStyle/>
          <a:p>
            <a:endParaRPr lang="en-US"/>
          </a:p>
        </p:txBody>
      </p:sp>
      <p:sp>
        <p:nvSpPr>
          <p:cNvPr id="23" name="Rectangle 22">
            <a:extLst>
              <a:ext uri="{FF2B5EF4-FFF2-40B4-BE49-F238E27FC236}">
                <a16:creationId xmlns:a16="http://schemas.microsoft.com/office/drawing/2014/main" id="{63ABA022-347C-4145-AADC-05FFCC1740CA}"/>
              </a:ext>
            </a:extLst>
          </p:cNvPr>
          <p:cNvSpPr>
            <a:spLocks noGrp="1"/>
          </p:cNvSpPr>
          <p:nvPr/>
        </p:nvSpPr>
        <p:spPr>
          <a:xfrm>
            <a:off x="7800975" y="3886200"/>
            <a:ext cx="2381250" cy="228600"/>
          </a:xfrm>
          <a:prstGeom prst="rect">
            <a:avLst/>
          </a:prstGeom>
          <a:noFill/>
          <a:ln w="0">
            <a:noFill/>
          </a:ln>
        </p:spPr>
        <p:txBody>
          <a:bodyPr>
            <a:noAutofit/>
          </a:bodyPr>
          <a:lstStyle/>
          <a:p>
            <a:pPr algn="l">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targeted reservation</a:t>
            </a:r>
          </a:p>
        </p:txBody>
      </p:sp>
      <p:sp>
        <p:nvSpPr>
          <p:cNvPr id="24" name="Rectangle 23">
            <a:extLst>
              <a:ext uri="{FF2B5EF4-FFF2-40B4-BE49-F238E27FC236}">
                <a16:creationId xmlns:a16="http://schemas.microsoft.com/office/drawing/2014/main" id="{1454A4A1-7D50-4CA7-91DE-FB1424B85DDD}"/>
              </a:ext>
            </a:extLst>
          </p:cNvPr>
          <p:cNvSpPr>
            <a:spLocks noGrp="1"/>
          </p:cNvSpPr>
          <p:nvPr/>
        </p:nvSpPr>
        <p:spPr>
          <a:xfrm>
            <a:off x="7800975" y="4257675"/>
            <a:ext cx="2381250" cy="228600"/>
          </a:xfrm>
          <a:prstGeom prst="rect">
            <a:avLst/>
          </a:prstGeom>
          <a:noFill/>
          <a:ln w="0">
            <a:noFill/>
          </a:ln>
        </p:spPr>
        <p:txBody>
          <a:bodyPr>
            <a:noAutofit/>
          </a:bodyPr>
          <a:lstStyle/>
          <a:p>
            <a:pPr algn="l">
              <a:defRPr sz="1275" b="0" i="0">
                <a:solidFill>
                  <a:srgbClr val="57D18C"/>
                </a:solidFill>
                <a:latin typeface="Bitstream Charter"/>
                <a:ea typeface="Bitstream Charter"/>
                <a:cs typeface="Bitstream Charter"/>
              </a:defRPr>
            </a:pPr>
            <a:r>
              <a:rPr sz="1275" b="0" i="0">
                <a:solidFill>
                  <a:srgbClr val="57D18C"/>
                </a:solidFill>
                <a:latin typeface="Bitstream Charter"/>
                <a:ea typeface="Bitstream Charter"/>
                <a:cs typeface="Bitstream Charter"/>
              </a:rPr>
              <a:t>prediction errors</a:t>
            </a:r>
          </a:p>
        </p:txBody>
      </p:sp>
      <p:sp>
        <p:nvSpPr>
          <p:cNvPr id="25" name="Rectangle 24">
            <a:extLst>
              <a:ext uri="{FF2B5EF4-FFF2-40B4-BE49-F238E27FC236}">
                <a16:creationId xmlns:a16="http://schemas.microsoft.com/office/drawing/2014/main" id="{7C113BB2-F9F1-48C8-A2AD-A8998785810A}"/>
              </a:ext>
            </a:extLst>
          </p:cNvPr>
          <p:cNvSpPr>
            <a:spLocks noGrp="1"/>
          </p:cNvSpPr>
          <p:nvPr/>
        </p:nvSpPr>
        <p:spPr>
          <a:xfrm>
            <a:off x="1066800" y="5286375"/>
            <a:ext cx="10001250" cy="400050"/>
          </a:xfrm>
          <a:prstGeom prst="rect">
            <a:avLst/>
          </a:prstGeom>
          <a:noFill/>
          <a:ln w="0">
            <a:noFill/>
          </a:ln>
        </p:spPr>
        <p:txBody>
          <a:bodyPr>
            <a:noAutofit/>
          </a:bodyPr>
          <a:lstStyle/>
          <a:p>
            <a:pPr algn="ctr">
              <a:defRPr sz="1875" b="1" i="0">
                <a:solidFill>
                  <a:srgbClr val="F4F8FB"/>
                </a:solidFill>
                <a:latin typeface="Bitstream Charter"/>
                <a:ea typeface="Bitstream Charter"/>
                <a:cs typeface="Bitstream Charter"/>
              </a:defRPr>
            </a:pPr>
            <a:r>
              <a:rPr sz="1875" b="1" i="0">
                <a:solidFill>
                  <a:srgbClr val="F4F8FB"/>
                </a:solidFill>
                <a:latin typeface="Bitstream Charter"/>
                <a:ea typeface="Bitstream Charter"/>
                <a:cs typeface="Bitstream Charter"/>
              </a:rPr>
              <a:t>Sage’s goal is a better operating point, not a free lunch: lower waiting with a controlled resource premium.</a:t>
            </a:r>
          </a:p>
        </p:txBody>
      </p:sp>
      <p:sp>
        <p:nvSpPr>
          <p:cNvPr id="26" name="Rectangle 25">
            <a:extLst>
              <a:ext uri="{FF2B5EF4-FFF2-40B4-BE49-F238E27FC236}">
                <a16:creationId xmlns:a16="http://schemas.microsoft.com/office/drawing/2014/main" id="{AAFABF23-E151-4240-B530-7CAACFFE359B}"/>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06</a:t>
            </a:r>
          </a:p>
        </p:txBody>
      </p:sp>
      <p:sp>
        <p:nvSpPr>
          <p:cNvPr id="27" name="Rectangle 26">
            <a:extLst>
              <a:ext uri="{FF2B5EF4-FFF2-40B4-BE49-F238E27FC236}">
                <a16:creationId xmlns:a16="http://schemas.microsoft.com/office/drawing/2014/main" id="{672B73C6-2404-44DA-8153-0DEE6946A0EE}"/>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Paper §1, §7A; study guide</a:t>
            </a:r>
          </a:p>
        </p:txBody>
      </p:sp>
    </p:spTree>
    <p:extLst>
      <p:ext uri="{BB962C8B-B14F-4D97-AF65-F5344CB8AC3E}">
        <p14:creationId xmlns:p14="http://schemas.microsoft.com/office/powerpoint/2010/main" val="869691858"/>
      </p:ext>
    </p:extLst>
  </p:cSld>
  <p:clrMapOvr>
    <a:masterClrMapping/>
  </p:clrMapOvr>
  <mc:AlternateContent xmlns:mc="http://schemas.openxmlformats.org/markup-compatibility/2006">
    <mc:Choice xmlns:p14="http://schemas.microsoft.com/office/powerpoint/2010/main" Requires="p14">
      <p:transition spd="slow" p14:dur="2000" advTm="78859"/>
    </mc:Choice>
    <mc:Fallback>
      <p:transition spd="slow" advTm="7885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9BB3D96F-51EC-41D9-86EA-4F6211972751}"/>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Sage first makes the traffic interpretable</a:t>
            </a:r>
          </a:p>
        </p:txBody>
      </p:sp>
      <p:sp>
        <p:nvSpPr>
          <p:cNvPr id="2" name="Rectangle 1">
            <a:extLst>
              <a:ext uri="{FF2B5EF4-FFF2-40B4-BE49-F238E27FC236}">
                <a16:creationId xmlns:a16="http://schemas.microsoft.com/office/drawing/2014/main" id="{E7C3C009-D7B9-4654-850A-3BCFD1249027}"/>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The base station sees delayed fragments; the application thinks in bursts</a:t>
            </a:r>
          </a:p>
        </p:txBody>
      </p:sp>
      <p:sp>
        <p:nvSpPr>
          <p:cNvPr id="3" name="Straight Connector 2">
            <a:extLst>
              <a:ext uri="{FF2B5EF4-FFF2-40B4-BE49-F238E27FC236}">
                <a16:creationId xmlns:a16="http://schemas.microsoft.com/office/drawing/2014/main" id="{FE8A55B2-A3E9-403F-9128-D42662234B8F}"/>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ectangle 3">
            <a:extLst>
              <a:ext uri="{FF2B5EF4-FFF2-40B4-BE49-F238E27FC236}">
                <a16:creationId xmlns:a16="http://schemas.microsoft.com/office/drawing/2014/main" id="{A74CE50D-4C1D-4FB0-BB7E-8BE3DEEC5A39}"/>
              </a:ext>
            </a:extLst>
          </p:cNvPr>
          <p:cNvSpPr>
            <a:spLocks noGrp="1"/>
          </p:cNvSpPr>
          <p:nvPr/>
        </p:nvSpPr>
        <p:spPr>
          <a:xfrm>
            <a:off x="762000" y="1524000"/>
            <a:ext cx="2476500" cy="171450"/>
          </a:xfrm>
          <a:prstGeom prst="rect">
            <a:avLst/>
          </a:prstGeom>
          <a:noFill/>
          <a:ln w="0">
            <a:noFill/>
          </a:ln>
        </p:spPr>
        <p:txBody>
          <a:bodyPr>
            <a:noAutofit/>
          </a:bodyPr>
          <a:lstStyle/>
          <a:p>
            <a:pPr algn="l">
              <a:defRPr sz="900" b="1" i="0">
                <a:solidFill>
                  <a:srgbClr val="A8BDCC"/>
                </a:solidFill>
                <a:latin typeface="Bitstream Charter"/>
                <a:ea typeface="Bitstream Charter"/>
                <a:cs typeface="Bitstream Charter"/>
              </a:defRPr>
            </a:pPr>
            <a:r>
              <a:rPr sz="900" b="1" i="0">
                <a:solidFill>
                  <a:srgbClr val="A8BDCC"/>
                </a:solidFill>
                <a:latin typeface="Bitstream Charter"/>
                <a:ea typeface="Bitstream Charter"/>
                <a:cs typeface="Bitstream Charter"/>
              </a:rPr>
              <a:t>HIDDEN APPLICATION BURST</a:t>
            </a:r>
          </a:p>
        </p:txBody>
      </p:sp>
      <p:sp>
        <p:nvSpPr>
          <p:cNvPr id="5" name="Straight Connector 4">
            <a:extLst>
              <a:ext uri="{FF2B5EF4-FFF2-40B4-BE49-F238E27FC236}">
                <a16:creationId xmlns:a16="http://schemas.microsoft.com/office/drawing/2014/main" id="{F34907EC-70B9-4975-A9C8-2791994A23CF}"/>
              </a:ext>
            </a:extLst>
          </p:cNvPr>
          <p:cNvSpPr>
            <a:spLocks noGrp="1"/>
          </p:cNvSpPr>
          <p:nvPr/>
        </p:nvSpPr>
        <p:spPr>
          <a:xfrm>
            <a:off x="876300" y="2095500"/>
            <a:ext cx="9715500" cy="0"/>
          </a:xfrm>
          <a:prstGeom prst="line">
            <a:avLst/>
          </a:prstGeom>
          <a:noFill/>
          <a:ln w="19050">
            <a:solidFill>
              <a:srgbClr val="345267"/>
            </a:solidFill>
            <a:prstDash val="solid"/>
          </a:ln>
        </p:spPr>
        <p:txBody>
          <a:bodyPr/>
          <a:lstStyle/>
          <a:p>
            <a:endParaRPr lang="en-US"/>
          </a:p>
        </p:txBody>
      </p:sp>
      <p:sp>
        <p:nvSpPr>
          <p:cNvPr id="6" name="Rounded Rectangle 5">
            <a:extLst>
              <a:ext uri="{FF2B5EF4-FFF2-40B4-BE49-F238E27FC236}">
                <a16:creationId xmlns:a16="http://schemas.microsoft.com/office/drawing/2014/main" id="{7FCE5220-DC61-46D2-B42B-2F4C0A43E8C7}"/>
              </a:ext>
            </a:extLst>
          </p:cNvPr>
          <p:cNvSpPr>
            <a:spLocks noGrp="1"/>
          </p:cNvSpPr>
          <p:nvPr/>
        </p:nvSpPr>
        <p:spPr>
          <a:xfrm>
            <a:off x="1428750" y="1876425"/>
            <a:ext cx="171450" cy="428625"/>
          </a:xfrm>
          <a:prstGeom prst="roundRect">
            <a:avLst>
              <a:gd name="adj" fmla="val 38889"/>
            </a:avLst>
          </a:prstGeom>
          <a:solidFill>
            <a:srgbClr val="57D18C"/>
          </a:solidFill>
          <a:ln w="0">
            <a:solidFill>
              <a:srgbClr val="57D18C"/>
            </a:solidFill>
            <a:prstDash val="solid"/>
          </a:ln>
        </p:spPr>
        <p:txBody>
          <a:bodyPr/>
          <a:lstStyle/>
          <a:p>
            <a:endParaRPr lang="en-US"/>
          </a:p>
        </p:txBody>
      </p:sp>
      <p:sp>
        <p:nvSpPr>
          <p:cNvPr id="7" name="Rounded Rectangle 6">
            <a:extLst>
              <a:ext uri="{FF2B5EF4-FFF2-40B4-BE49-F238E27FC236}">
                <a16:creationId xmlns:a16="http://schemas.microsoft.com/office/drawing/2014/main" id="{BE558AD9-CBAC-44C1-BF0B-A748B98FB3FC}"/>
              </a:ext>
            </a:extLst>
          </p:cNvPr>
          <p:cNvSpPr>
            <a:spLocks noGrp="1"/>
          </p:cNvSpPr>
          <p:nvPr/>
        </p:nvSpPr>
        <p:spPr>
          <a:xfrm>
            <a:off x="1571625" y="1800225"/>
            <a:ext cx="171450" cy="581025"/>
          </a:xfrm>
          <a:prstGeom prst="roundRect">
            <a:avLst>
              <a:gd name="adj" fmla="val 38889"/>
            </a:avLst>
          </a:prstGeom>
          <a:solidFill>
            <a:srgbClr val="57D18C"/>
          </a:solidFill>
          <a:ln w="0">
            <a:solidFill>
              <a:srgbClr val="57D18C"/>
            </a:solidFill>
            <a:prstDash val="solid"/>
          </a:ln>
        </p:spPr>
        <p:txBody>
          <a:bodyPr/>
          <a:lstStyle/>
          <a:p>
            <a:endParaRPr lang="en-US"/>
          </a:p>
        </p:txBody>
      </p:sp>
      <p:sp>
        <p:nvSpPr>
          <p:cNvPr id="8" name="Rounded Rectangle 7">
            <a:extLst>
              <a:ext uri="{FF2B5EF4-FFF2-40B4-BE49-F238E27FC236}">
                <a16:creationId xmlns:a16="http://schemas.microsoft.com/office/drawing/2014/main" id="{B26C0EDA-5C66-43E9-9D55-4C7C1B4BA0A1}"/>
              </a:ext>
            </a:extLst>
          </p:cNvPr>
          <p:cNvSpPr>
            <a:spLocks noGrp="1"/>
          </p:cNvSpPr>
          <p:nvPr/>
        </p:nvSpPr>
        <p:spPr>
          <a:xfrm>
            <a:off x="1695450" y="1876425"/>
            <a:ext cx="171450" cy="428625"/>
          </a:xfrm>
          <a:prstGeom prst="roundRect">
            <a:avLst>
              <a:gd name="adj" fmla="val 38889"/>
            </a:avLst>
          </a:prstGeom>
          <a:solidFill>
            <a:srgbClr val="57D18C"/>
          </a:solidFill>
          <a:ln w="0">
            <a:solidFill>
              <a:srgbClr val="57D18C"/>
            </a:solidFill>
            <a:prstDash val="solid"/>
          </a:ln>
        </p:spPr>
        <p:txBody>
          <a:bodyPr/>
          <a:lstStyle/>
          <a:p>
            <a:endParaRPr lang="en-US"/>
          </a:p>
        </p:txBody>
      </p:sp>
      <p:sp>
        <p:nvSpPr>
          <p:cNvPr id="9" name="Rounded Rectangle 8">
            <a:extLst>
              <a:ext uri="{FF2B5EF4-FFF2-40B4-BE49-F238E27FC236}">
                <a16:creationId xmlns:a16="http://schemas.microsoft.com/office/drawing/2014/main" id="{880418DE-FC07-49AA-9074-C59BAE08C26C}"/>
              </a:ext>
            </a:extLst>
          </p:cNvPr>
          <p:cNvSpPr>
            <a:spLocks noGrp="1"/>
          </p:cNvSpPr>
          <p:nvPr/>
        </p:nvSpPr>
        <p:spPr>
          <a:xfrm>
            <a:off x="1819275" y="1800225"/>
            <a:ext cx="171450" cy="581025"/>
          </a:xfrm>
          <a:prstGeom prst="roundRect">
            <a:avLst>
              <a:gd name="adj" fmla="val 38889"/>
            </a:avLst>
          </a:prstGeom>
          <a:solidFill>
            <a:srgbClr val="57D18C"/>
          </a:solidFill>
          <a:ln w="0">
            <a:solidFill>
              <a:srgbClr val="57D18C"/>
            </a:solidFill>
            <a:prstDash val="solid"/>
          </a:ln>
        </p:spPr>
        <p:txBody>
          <a:bodyPr/>
          <a:lstStyle/>
          <a:p>
            <a:endParaRPr lang="en-US"/>
          </a:p>
        </p:txBody>
      </p:sp>
      <p:sp>
        <p:nvSpPr>
          <p:cNvPr id="10" name="Rounded Rectangle 9">
            <a:extLst>
              <a:ext uri="{FF2B5EF4-FFF2-40B4-BE49-F238E27FC236}">
                <a16:creationId xmlns:a16="http://schemas.microsoft.com/office/drawing/2014/main" id="{0DB456E1-022E-4063-8CCB-A6790D8ECE95}"/>
              </a:ext>
            </a:extLst>
          </p:cNvPr>
          <p:cNvSpPr>
            <a:spLocks noGrp="1"/>
          </p:cNvSpPr>
          <p:nvPr/>
        </p:nvSpPr>
        <p:spPr>
          <a:xfrm>
            <a:off x="1943100" y="1876425"/>
            <a:ext cx="171450" cy="428625"/>
          </a:xfrm>
          <a:prstGeom prst="roundRect">
            <a:avLst>
              <a:gd name="adj" fmla="val 38889"/>
            </a:avLst>
          </a:prstGeom>
          <a:solidFill>
            <a:srgbClr val="57D18C"/>
          </a:solidFill>
          <a:ln w="0">
            <a:solidFill>
              <a:srgbClr val="57D18C"/>
            </a:solidFill>
            <a:prstDash val="solid"/>
          </a:ln>
        </p:spPr>
        <p:txBody>
          <a:bodyPr/>
          <a:lstStyle/>
          <a:p>
            <a:endParaRPr lang="en-US"/>
          </a:p>
        </p:txBody>
      </p:sp>
      <p:sp>
        <p:nvSpPr>
          <p:cNvPr id="11" name="Rectangle 10">
            <a:extLst>
              <a:ext uri="{FF2B5EF4-FFF2-40B4-BE49-F238E27FC236}">
                <a16:creationId xmlns:a16="http://schemas.microsoft.com/office/drawing/2014/main" id="{57381C55-5925-400A-B2EA-0E0311156E60}"/>
              </a:ext>
            </a:extLst>
          </p:cNvPr>
          <p:cNvSpPr>
            <a:spLocks noGrp="1"/>
          </p:cNvSpPr>
          <p:nvPr/>
        </p:nvSpPr>
        <p:spPr>
          <a:xfrm>
            <a:off x="2286000" y="1838325"/>
            <a:ext cx="2667000" cy="285750"/>
          </a:xfrm>
          <a:prstGeom prst="rect">
            <a:avLst/>
          </a:prstGeom>
          <a:noFill/>
          <a:ln w="0">
            <a:noFill/>
          </a:ln>
        </p:spPr>
        <p:txBody>
          <a:bodyPr>
            <a:noAutofit/>
          </a:bodyPr>
          <a:lstStyle/>
          <a:p>
            <a:pPr algn="l">
              <a:defRPr sz="1350" b="1" i="0">
                <a:solidFill>
                  <a:srgbClr val="57D18C"/>
                </a:solidFill>
                <a:latin typeface="Bitstream Charter"/>
                <a:ea typeface="Bitstream Charter"/>
                <a:cs typeface="Bitstream Charter"/>
              </a:defRPr>
            </a:pPr>
            <a:r>
              <a:rPr sz="1350" b="1" i="0">
                <a:solidFill>
                  <a:srgbClr val="57D18C"/>
                </a:solidFill>
                <a:latin typeface="Bitstream Charter"/>
                <a:ea typeface="Bitstream Charter"/>
                <a:cs typeface="Bitstream Charter"/>
              </a:rPr>
              <a:t>one video frame / sensor burst</a:t>
            </a:r>
          </a:p>
        </p:txBody>
      </p:sp>
      <p:sp>
        <p:nvSpPr>
          <p:cNvPr id="12" name="Rectangle 11">
            <a:extLst>
              <a:ext uri="{FF2B5EF4-FFF2-40B4-BE49-F238E27FC236}">
                <a16:creationId xmlns:a16="http://schemas.microsoft.com/office/drawing/2014/main" id="{BA7C0801-A9C5-457E-A911-3CF6B4001AE4}"/>
              </a:ext>
            </a:extLst>
          </p:cNvPr>
          <p:cNvSpPr>
            <a:spLocks noGrp="1"/>
          </p:cNvSpPr>
          <p:nvPr/>
        </p:nvSpPr>
        <p:spPr>
          <a:xfrm>
            <a:off x="762000" y="2714625"/>
            <a:ext cx="2476500" cy="171450"/>
          </a:xfrm>
          <a:prstGeom prst="rect">
            <a:avLst/>
          </a:prstGeom>
          <a:noFill/>
          <a:ln w="0">
            <a:noFill/>
          </a:ln>
        </p:spPr>
        <p:txBody>
          <a:bodyPr>
            <a:noAutofit/>
          </a:bodyPr>
          <a:lstStyle/>
          <a:p>
            <a:pPr algn="l">
              <a:defRPr sz="900" b="1" i="0">
                <a:solidFill>
                  <a:srgbClr val="FFC857"/>
                </a:solidFill>
                <a:latin typeface="Bitstream Charter"/>
                <a:ea typeface="Bitstream Charter"/>
                <a:cs typeface="Bitstream Charter"/>
              </a:defRPr>
            </a:pPr>
            <a:r>
              <a:rPr sz="900" b="1" i="0">
                <a:solidFill>
                  <a:srgbClr val="FFC857"/>
                </a:solidFill>
                <a:latin typeface="Bitstream Charter"/>
                <a:ea typeface="Bitstream Charter"/>
                <a:cs typeface="Bitstream Charter"/>
              </a:rPr>
              <a:t>WHAT THE GNB OBSERVES</a:t>
            </a:r>
          </a:p>
        </p:txBody>
      </p:sp>
      <p:sp>
        <p:nvSpPr>
          <p:cNvPr id="13" name="Straight Connector 12">
            <a:extLst>
              <a:ext uri="{FF2B5EF4-FFF2-40B4-BE49-F238E27FC236}">
                <a16:creationId xmlns:a16="http://schemas.microsoft.com/office/drawing/2014/main" id="{DABC2796-2FA3-4419-8D81-70184F7B4465}"/>
              </a:ext>
            </a:extLst>
          </p:cNvPr>
          <p:cNvSpPr>
            <a:spLocks noGrp="1"/>
          </p:cNvSpPr>
          <p:nvPr/>
        </p:nvSpPr>
        <p:spPr>
          <a:xfrm>
            <a:off x="876300" y="3286125"/>
            <a:ext cx="9715500" cy="0"/>
          </a:xfrm>
          <a:prstGeom prst="line">
            <a:avLst/>
          </a:prstGeom>
          <a:noFill/>
          <a:ln w="19050">
            <a:solidFill>
              <a:srgbClr val="345267"/>
            </a:solidFill>
            <a:prstDash val="solid"/>
          </a:ln>
        </p:spPr>
        <p:txBody>
          <a:bodyPr/>
          <a:lstStyle/>
          <a:p>
            <a:endParaRPr lang="en-US"/>
          </a:p>
        </p:txBody>
      </p:sp>
      <p:sp>
        <p:nvSpPr>
          <p:cNvPr id="14" name="Rounded Rectangle 13">
            <a:extLst>
              <a:ext uri="{FF2B5EF4-FFF2-40B4-BE49-F238E27FC236}">
                <a16:creationId xmlns:a16="http://schemas.microsoft.com/office/drawing/2014/main" id="{1222D2A9-0668-4F22-B83C-565AF664CFDA}"/>
              </a:ext>
            </a:extLst>
          </p:cNvPr>
          <p:cNvSpPr>
            <a:spLocks noGrp="1"/>
          </p:cNvSpPr>
          <p:nvPr/>
        </p:nvSpPr>
        <p:spPr>
          <a:xfrm>
            <a:off x="1428750" y="3133725"/>
            <a:ext cx="171450" cy="238125"/>
          </a:xfrm>
          <a:prstGeom prst="roundRect">
            <a:avLst>
              <a:gd name="adj" fmla="val 33333"/>
            </a:avLst>
          </a:prstGeom>
          <a:solidFill>
            <a:srgbClr val="FFC857"/>
          </a:solidFill>
          <a:ln w="0">
            <a:solidFill>
              <a:srgbClr val="FFC857"/>
            </a:solidFill>
            <a:prstDash val="solid"/>
          </a:ln>
        </p:spPr>
        <p:txBody>
          <a:bodyPr/>
          <a:lstStyle/>
          <a:p>
            <a:endParaRPr lang="en-US"/>
          </a:p>
        </p:txBody>
      </p:sp>
      <p:sp>
        <p:nvSpPr>
          <p:cNvPr id="15" name="Rounded Rectangle 14">
            <a:extLst>
              <a:ext uri="{FF2B5EF4-FFF2-40B4-BE49-F238E27FC236}">
                <a16:creationId xmlns:a16="http://schemas.microsoft.com/office/drawing/2014/main" id="{444138A2-4DE8-4FC8-98FE-3208208A8D26}"/>
              </a:ext>
            </a:extLst>
          </p:cNvPr>
          <p:cNvSpPr>
            <a:spLocks noGrp="1"/>
          </p:cNvSpPr>
          <p:nvPr/>
        </p:nvSpPr>
        <p:spPr>
          <a:xfrm>
            <a:off x="2133600" y="3276600"/>
            <a:ext cx="171450" cy="152400"/>
          </a:xfrm>
          <a:prstGeom prst="roundRect">
            <a:avLst>
              <a:gd name="adj" fmla="val 37500"/>
            </a:avLst>
          </a:prstGeom>
          <a:solidFill>
            <a:srgbClr val="FFC857"/>
          </a:solidFill>
          <a:ln w="0">
            <a:solidFill>
              <a:srgbClr val="FFC857"/>
            </a:solidFill>
            <a:prstDash val="solid"/>
          </a:ln>
        </p:spPr>
        <p:txBody>
          <a:bodyPr/>
          <a:lstStyle/>
          <a:p>
            <a:endParaRPr lang="en-US"/>
          </a:p>
        </p:txBody>
      </p:sp>
      <p:sp>
        <p:nvSpPr>
          <p:cNvPr id="16" name="Rounded Rectangle 15">
            <a:extLst>
              <a:ext uri="{FF2B5EF4-FFF2-40B4-BE49-F238E27FC236}">
                <a16:creationId xmlns:a16="http://schemas.microsoft.com/office/drawing/2014/main" id="{2D3C2249-CD17-4F11-81D8-49A0AA0CA845}"/>
              </a:ext>
            </a:extLst>
          </p:cNvPr>
          <p:cNvSpPr>
            <a:spLocks noGrp="1"/>
          </p:cNvSpPr>
          <p:nvPr/>
        </p:nvSpPr>
        <p:spPr>
          <a:xfrm>
            <a:off x="2762250" y="3095625"/>
            <a:ext cx="171450" cy="361950"/>
          </a:xfrm>
          <a:prstGeom prst="roundRect">
            <a:avLst>
              <a:gd name="adj" fmla="val 33333"/>
            </a:avLst>
          </a:prstGeom>
          <a:solidFill>
            <a:srgbClr val="FFC857"/>
          </a:solidFill>
          <a:ln w="0">
            <a:solidFill>
              <a:srgbClr val="FFC857"/>
            </a:solidFill>
            <a:prstDash val="solid"/>
          </a:ln>
        </p:spPr>
        <p:txBody>
          <a:bodyPr/>
          <a:lstStyle/>
          <a:p>
            <a:endParaRPr lang="en-US"/>
          </a:p>
        </p:txBody>
      </p:sp>
      <p:sp>
        <p:nvSpPr>
          <p:cNvPr id="17" name="Rounded Rectangle 16">
            <a:extLst>
              <a:ext uri="{FF2B5EF4-FFF2-40B4-BE49-F238E27FC236}">
                <a16:creationId xmlns:a16="http://schemas.microsoft.com/office/drawing/2014/main" id="{EE6E408C-7DD7-443A-A237-27B572DC8B56}"/>
              </a:ext>
            </a:extLst>
          </p:cNvPr>
          <p:cNvSpPr>
            <a:spLocks noGrp="1"/>
          </p:cNvSpPr>
          <p:nvPr/>
        </p:nvSpPr>
        <p:spPr>
          <a:xfrm>
            <a:off x="3790950" y="3343275"/>
            <a:ext cx="171450" cy="123825"/>
          </a:xfrm>
          <a:prstGeom prst="roundRect">
            <a:avLst>
              <a:gd name="adj" fmla="val 46154"/>
            </a:avLst>
          </a:prstGeom>
          <a:solidFill>
            <a:srgbClr val="FFC857"/>
          </a:solidFill>
          <a:ln w="0">
            <a:solidFill>
              <a:srgbClr val="FFC857"/>
            </a:solidFill>
            <a:prstDash val="solid"/>
          </a:ln>
        </p:spPr>
        <p:txBody>
          <a:bodyPr/>
          <a:lstStyle/>
          <a:p>
            <a:endParaRPr lang="en-US"/>
          </a:p>
        </p:txBody>
      </p:sp>
      <p:sp>
        <p:nvSpPr>
          <p:cNvPr id="18" name="Rounded Rectangle 17">
            <a:extLst>
              <a:ext uri="{FF2B5EF4-FFF2-40B4-BE49-F238E27FC236}">
                <a16:creationId xmlns:a16="http://schemas.microsoft.com/office/drawing/2014/main" id="{33C24BFC-F08D-4202-A659-ADD683D22E37}"/>
              </a:ext>
            </a:extLst>
          </p:cNvPr>
          <p:cNvSpPr>
            <a:spLocks noGrp="1"/>
          </p:cNvSpPr>
          <p:nvPr/>
        </p:nvSpPr>
        <p:spPr>
          <a:xfrm>
            <a:off x="4524375" y="3133725"/>
            <a:ext cx="171450" cy="228600"/>
          </a:xfrm>
          <a:prstGeom prst="roundRect">
            <a:avLst>
              <a:gd name="adj" fmla="val 33333"/>
            </a:avLst>
          </a:prstGeom>
          <a:solidFill>
            <a:srgbClr val="FFC857"/>
          </a:solidFill>
          <a:ln w="0">
            <a:solidFill>
              <a:srgbClr val="FFC857"/>
            </a:solidFill>
            <a:prstDash val="solid"/>
          </a:ln>
        </p:spPr>
        <p:txBody>
          <a:bodyPr/>
          <a:lstStyle/>
          <a:p>
            <a:endParaRPr lang="en-US"/>
          </a:p>
        </p:txBody>
      </p:sp>
      <p:sp>
        <p:nvSpPr>
          <p:cNvPr id="19" name="Rounded Rectangle 18">
            <a:extLst>
              <a:ext uri="{FF2B5EF4-FFF2-40B4-BE49-F238E27FC236}">
                <a16:creationId xmlns:a16="http://schemas.microsoft.com/office/drawing/2014/main" id="{98E111C5-5FC5-43F3-8596-D95500D1C18E}"/>
              </a:ext>
            </a:extLst>
          </p:cNvPr>
          <p:cNvSpPr>
            <a:spLocks noGrp="1"/>
          </p:cNvSpPr>
          <p:nvPr/>
        </p:nvSpPr>
        <p:spPr>
          <a:xfrm>
            <a:off x="5715000" y="3276600"/>
            <a:ext cx="171450" cy="323850"/>
          </a:xfrm>
          <a:prstGeom prst="roundRect">
            <a:avLst>
              <a:gd name="adj" fmla="val 33333"/>
            </a:avLst>
          </a:prstGeom>
          <a:solidFill>
            <a:srgbClr val="FFC857"/>
          </a:solidFill>
          <a:ln w="0">
            <a:solidFill>
              <a:srgbClr val="FFC857"/>
            </a:solidFill>
            <a:prstDash val="solid"/>
          </a:ln>
        </p:spPr>
        <p:txBody>
          <a:bodyPr/>
          <a:lstStyle/>
          <a:p>
            <a:endParaRPr lang="en-US"/>
          </a:p>
        </p:txBody>
      </p:sp>
      <p:sp>
        <p:nvSpPr>
          <p:cNvPr id="20" name="Rounded Rectangle 19">
            <a:extLst>
              <a:ext uri="{FF2B5EF4-FFF2-40B4-BE49-F238E27FC236}">
                <a16:creationId xmlns:a16="http://schemas.microsoft.com/office/drawing/2014/main" id="{04A8B68A-AE80-4F18-965D-312338C60A60}"/>
              </a:ext>
            </a:extLst>
          </p:cNvPr>
          <p:cNvSpPr>
            <a:spLocks noGrp="1"/>
          </p:cNvSpPr>
          <p:nvPr/>
        </p:nvSpPr>
        <p:spPr>
          <a:xfrm>
            <a:off x="7000875" y="3086100"/>
            <a:ext cx="171450" cy="200025"/>
          </a:xfrm>
          <a:prstGeom prst="roundRect">
            <a:avLst>
              <a:gd name="adj" fmla="val 33333"/>
            </a:avLst>
          </a:prstGeom>
          <a:solidFill>
            <a:srgbClr val="FFC857"/>
          </a:solidFill>
          <a:ln w="0">
            <a:solidFill>
              <a:srgbClr val="FFC857"/>
            </a:solidFill>
            <a:prstDash val="solid"/>
          </a:ln>
        </p:spPr>
        <p:txBody>
          <a:bodyPr/>
          <a:lstStyle/>
          <a:p>
            <a:endParaRPr lang="en-US"/>
          </a:p>
        </p:txBody>
      </p:sp>
      <p:sp>
        <p:nvSpPr>
          <p:cNvPr id="21" name="Rounded Rectangle 20">
            <a:extLst>
              <a:ext uri="{FF2B5EF4-FFF2-40B4-BE49-F238E27FC236}">
                <a16:creationId xmlns:a16="http://schemas.microsoft.com/office/drawing/2014/main" id="{CE89E2D9-BE0E-4C4F-91BF-641659B7858C}"/>
              </a:ext>
            </a:extLst>
          </p:cNvPr>
          <p:cNvSpPr>
            <a:spLocks noGrp="1"/>
          </p:cNvSpPr>
          <p:nvPr/>
        </p:nvSpPr>
        <p:spPr>
          <a:xfrm>
            <a:off x="8001000" y="3324225"/>
            <a:ext cx="171450" cy="238125"/>
          </a:xfrm>
          <a:prstGeom prst="roundRect">
            <a:avLst>
              <a:gd name="adj" fmla="val 33333"/>
            </a:avLst>
          </a:prstGeom>
          <a:solidFill>
            <a:srgbClr val="FFC857"/>
          </a:solidFill>
          <a:ln w="0">
            <a:solidFill>
              <a:srgbClr val="FFC857"/>
            </a:solidFill>
            <a:prstDash val="solid"/>
          </a:ln>
        </p:spPr>
        <p:txBody>
          <a:bodyPr/>
          <a:lstStyle/>
          <a:p>
            <a:endParaRPr lang="en-US"/>
          </a:p>
        </p:txBody>
      </p:sp>
      <p:sp>
        <p:nvSpPr>
          <p:cNvPr id="22" name="Rounded Rectangle 21">
            <a:extLst>
              <a:ext uri="{FF2B5EF4-FFF2-40B4-BE49-F238E27FC236}">
                <a16:creationId xmlns:a16="http://schemas.microsoft.com/office/drawing/2014/main" id="{7E88B96C-4CF1-4635-A9E4-EE6BF9DCE88A}"/>
              </a:ext>
            </a:extLst>
          </p:cNvPr>
          <p:cNvSpPr>
            <a:spLocks noGrp="1"/>
          </p:cNvSpPr>
          <p:nvPr/>
        </p:nvSpPr>
        <p:spPr>
          <a:xfrm>
            <a:off x="9239250" y="3124200"/>
            <a:ext cx="171450" cy="152400"/>
          </a:xfrm>
          <a:prstGeom prst="roundRect">
            <a:avLst>
              <a:gd name="adj" fmla="val 37500"/>
            </a:avLst>
          </a:prstGeom>
          <a:solidFill>
            <a:srgbClr val="FFC857"/>
          </a:solidFill>
          <a:ln w="0">
            <a:solidFill>
              <a:srgbClr val="FFC857"/>
            </a:solidFill>
            <a:prstDash val="solid"/>
          </a:ln>
        </p:spPr>
        <p:txBody>
          <a:bodyPr/>
          <a:lstStyle/>
          <a:p>
            <a:endParaRPr lang="en-US"/>
          </a:p>
        </p:txBody>
      </p:sp>
      <p:sp>
        <p:nvSpPr>
          <p:cNvPr id="23" name="Rectangle 22">
            <a:extLst>
              <a:ext uri="{FF2B5EF4-FFF2-40B4-BE49-F238E27FC236}">
                <a16:creationId xmlns:a16="http://schemas.microsoft.com/office/drawing/2014/main" id="{E891F5DF-43E6-460B-BDB9-D07EE1335066}"/>
              </a:ext>
            </a:extLst>
          </p:cNvPr>
          <p:cNvSpPr>
            <a:spLocks noGrp="1"/>
          </p:cNvSpPr>
          <p:nvPr/>
        </p:nvSpPr>
        <p:spPr>
          <a:xfrm>
            <a:off x="2286000" y="2857500"/>
            <a:ext cx="3048000" cy="285750"/>
          </a:xfrm>
          <a:prstGeom prst="rect">
            <a:avLst/>
          </a:prstGeom>
          <a:noFill/>
          <a:ln w="0">
            <a:noFill/>
          </a:ln>
        </p:spPr>
        <p:txBody>
          <a:bodyPr>
            <a:noAutofit/>
          </a:bodyPr>
          <a:lstStyle/>
          <a:p>
            <a:pPr algn="l">
              <a:defRPr sz="1350" b="1" i="0">
                <a:solidFill>
                  <a:srgbClr val="FFC857"/>
                </a:solidFill>
                <a:latin typeface="Bitstream Charter"/>
                <a:ea typeface="Bitstream Charter"/>
                <a:cs typeface="Bitstream Charter"/>
              </a:defRPr>
            </a:pPr>
            <a:r>
              <a:rPr sz="1350" b="1" i="0">
                <a:solidFill>
                  <a:srgbClr val="FFC857"/>
                </a:solidFill>
                <a:latin typeface="Bitstream Charter"/>
                <a:ea typeface="Bitstream Charter"/>
                <a:cs typeface="Bitstream Charter"/>
              </a:rPr>
              <a:t>fragments arrive at different times</a:t>
            </a:r>
          </a:p>
        </p:txBody>
      </p:sp>
      <p:sp>
        <p:nvSpPr>
          <p:cNvPr id="24" name="Rectangle 23">
            <a:extLst>
              <a:ext uri="{FF2B5EF4-FFF2-40B4-BE49-F238E27FC236}">
                <a16:creationId xmlns:a16="http://schemas.microsoft.com/office/drawing/2014/main" id="{D5465C88-D6F7-4815-A3DA-42ED3E9D30D7}"/>
              </a:ext>
            </a:extLst>
          </p:cNvPr>
          <p:cNvSpPr>
            <a:spLocks noGrp="1"/>
          </p:cNvSpPr>
          <p:nvPr/>
        </p:nvSpPr>
        <p:spPr>
          <a:xfrm>
            <a:off x="762000" y="4048125"/>
            <a:ext cx="2476500" cy="171450"/>
          </a:xfrm>
          <a:prstGeom prst="rect">
            <a:avLst/>
          </a:prstGeom>
          <a:noFill/>
          <a:ln w="0">
            <a:noFill/>
          </a:ln>
        </p:spPr>
        <p:txBody>
          <a:bodyPr>
            <a:noAutofit/>
          </a:bodyPr>
          <a:lstStyle/>
          <a:p>
            <a:pPr algn="l">
              <a:defRPr sz="900" b="1" i="0">
                <a:solidFill>
                  <a:srgbClr val="47D7FF"/>
                </a:solidFill>
                <a:latin typeface="Bitstream Charter"/>
                <a:ea typeface="Bitstream Charter"/>
                <a:cs typeface="Bitstream Charter"/>
              </a:defRPr>
            </a:pPr>
            <a:r>
              <a:rPr sz="900" b="1" i="0">
                <a:solidFill>
                  <a:srgbClr val="47D7FF"/>
                </a:solidFill>
                <a:latin typeface="Bitstream Charter"/>
                <a:ea typeface="Bitstream Charter"/>
                <a:cs typeface="Bitstream Charter"/>
              </a:rPr>
              <a:t>TRAFFIC TRAIN ABSTRACTION</a:t>
            </a:r>
          </a:p>
        </p:txBody>
      </p:sp>
      <p:sp>
        <p:nvSpPr>
          <p:cNvPr id="25" name="Rounded Rectangle 24">
            <a:extLst>
              <a:ext uri="{FF2B5EF4-FFF2-40B4-BE49-F238E27FC236}">
                <a16:creationId xmlns:a16="http://schemas.microsoft.com/office/drawing/2014/main" id="{DA10C988-942F-421F-AA13-423DFEFCDCB3}"/>
              </a:ext>
            </a:extLst>
          </p:cNvPr>
          <p:cNvSpPr>
            <a:spLocks noGrp="1"/>
          </p:cNvSpPr>
          <p:nvPr/>
        </p:nvSpPr>
        <p:spPr>
          <a:xfrm>
            <a:off x="1381125" y="4619625"/>
            <a:ext cx="5334000" cy="552450"/>
          </a:xfrm>
          <a:prstGeom prst="roundRect">
            <a:avLst>
              <a:gd name="adj" fmla="val 31034"/>
            </a:avLst>
          </a:prstGeom>
          <a:solidFill>
            <a:srgbClr val="0E9FC2"/>
          </a:solidFill>
          <a:ln w="0">
            <a:solidFill>
              <a:srgbClr val="0E9FC2"/>
            </a:solidFill>
            <a:prstDash val="solid"/>
          </a:ln>
        </p:spPr>
        <p:txBody>
          <a:bodyPr/>
          <a:lstStyle/>
          <a:p>
            <a:endParaRPr lang="en-US"/>
          </a:p>
        </p:txBody>
      </p:sp>
      <p:sp>
        <p:nvSpPr>
          <p:cNvPr id="26" name="Rectangle 25">
            <a:extLst>
              <a:ext uri="{FF2B5EF4-FFF2-40B4-BE49-F238E27FC236}">
                <a16:creationId xmlns:a16="http://schemas.microsoft.com/office/drawing/2014/main" id="{2138D59D-23DE-4243-88DE-BBC36B5029ED}"/>
              </a:ext>
            </a:extLst>
          </p:cNvPr>
          <p:cNvSpPr>
            <a:spLocks noGrp="1"/>
          </p:cNvSpPr>
          <p:nvPr/>
        </p:nvSpPr>
        <p:spPr>
          <a:xfrm>
            <a:off x="1666875" y="4772025"/>
            <a:ext cx="4762500" cy="247650"/>
          </a:xfrm>
          <a:prstGeom prst="rect">
            <a:avLst/>
          </a:prstGeom>
          <a:noFill/>
          <a:ln w="0">
            <a:noFill/>
          </a:ln>
        </p:spPr>
        <p:txBody>
          <a:bodyPr>
            <a:noAutofit/>
          </a:bodyPr>
          <a:lstStyle/>
          <a:p>
            <a:pPr algn="ctr">
              <a:defRPr sz="1500" b="1" i="0">
                <a:solidFill>
                  <a:srgbClr val="F4F8FB"/>
                </a:solidFill>
                <a:latin typeface="Bitstream Charter"/>
                <a:ea typeface="Bitstream Charter"/>
                <a:cs typeface="Bitstream Charter"/>
              </a:defRPr>
            </a:pPr>
            <a:r>
              <a:rPr sz="1500" b="1" i="0">
                <a:solidFill>
                  <a:srgbClr val="F4F8FB"/>
                </a:solidFill>
                <a:latin typeface="Bitstream Charter"/>
                <a:ea typeface="Bitstream Charter"/>
                <a:cs typeface="Bitstream Charter"/>
              </a:rPr>
              <a:t>group nearby observations into one predicted burst</a:t>
            </a:r>
          </a:p>
        </p:txBody>
      </p:sp>
      <p:sp>
        <p:nvSpPr>
          <p:cNvPr id="27" name="Rounded Rectangle 26">
            <a:extLst>
              <a:ext uri="{FF2B5EF4-FFF2-40B4-BE49-F238E27FC236}">
                <a16:creationId xmlns:a16="http://schemas.microsoft.com/office/drawing/2014/main" id="{D8F2C1C4-2EE9-45FE-B30F-C02A6569A15B}"/>
              </a:ext>
            </a:extLst>
          </p:cNvPr>
          <p:cNvSpPr>
            <a:spLocks noGrp="1"/>
          </p:cNvSpPr>
          <p:nvPr/>
        </p:nvSpPr>
        <p:spPr>
          <a:xfrm>
            <a:off x="8572500" y="4476750"/>
            <a:ext cx="1809750" cy="819150"/>
          </a:xfrm>
          <a:prstGeom prst="roundRect">
            <a:avLst>
              <a:gd name="adj" fmla="val 20930"/>
            </a:avLst>
          </a:prstGeom>
          <a:solidFill>
            <a:srgbClr val="57D18C"/>
          </a:solidFill>
          <a:ln w="0">
            <a:solidFill>
              <a:srgbClr val="57D18C"/>
            </a:solidFill>
            <a:prstDash val="solid"/>
          </a:ln>
        </p:spPr>
        <p:txBody>
          <a:bodyPr/>
          <a:lstStyle/>
          <a:p>
            <a:endParaRPr lang="en-US"/>
          </a:p>
        </p:txBody>
      </p:sp>
      <p:cxnSp>
        <p:nvCxnSpPr>
          <p:cNvPr id="61" name="Straight Arrow Connector 60"/>
          <p:cNvCxnSpPr>
            <a:stCxn id="25" idx="3"/>
            <a:endCxn id="27" idx="1"/>
          </p:cNvCxnSpPr>
          <p:nvPr/>
        </p:nvCxnSpPr>
        <p:spPr>
          <a:xfrm flipV="1">
            <a:off x="6715125" y="4886325"/>
            <a:ext cx="1857375" cy="9525"/>
          </a:xfrm>
          <a:prstGeom prst="straightConnector1">
            <a:avLst/>
          </a:prstGeom>
          <a:ln w="23813">
            <a:solidFill>
              <a:srgbClr val="47D7FF"/>
            </a:solidFill>
            <a:prstDash val="solid"/>
            <a:headEnd type="arrow" w="med" len="med"/>
            <a:tailEnd type="none" w="med" len="med"/>
          </a:ln>
        </p:spPr>
      </p:cxnSp>
      <p:sp>
        <p:nvSpPr>
          <p:cNvPr id="29" name="Rectangle 28">
            <a:extLst>
              <a:ext uri="{FF2B5EF4-FFF2-40B4-BE49-F238E27FC236}">
                <a16:creationId xmlns:a16="http://schemas.microsoft.com/office/drawing/2014/main" id="{F80285DB-EC41-41FE-9A34-8EFB3290E1C6}"/>
              </a:ext>
            </a:extLst>
          </p:cNvPr>
          <p:cNvSpPr>
            <a:spLocks noGrp="1"/>
          </p:cNvSpPr>
          <p:nvPr/>
        </p:nvSpPr>
        <p:spPr>
          <a:xfrm>
            <a:off x="8877300" y="4591050"/>
            <a:ext cx="1190625" cy="228600"/>
          </a:xfrm>
          <a:prstGeom prst="rect">
            <a:avLst/>
          </a:prstGeom>
          <a:noFill/>
          <a:ln w="0">
            <a:noFill/>
          </a:ln>
        </p:spPr>
        <p:txBody>
          <a:bodyPr>
            <a:noAutofit/>
          </a:bodyPr>
          <a:lstStyle/>
          <a:p>
            <a:pPr algn="ctr">
              <a:defRPr sz="1200" b="1" i="0">
                <a:solidFill>
                  <a:srgbClr val="071A2B"/>
                </a:solidFill>
                <a:latin typeface="Bitstream Charter"/>
                <a:ea typeface="Bitstream Charter"/>
                <a:cs typeface="Bitstream Charter"/>
              </a:defRPr>
            </a:pPr>
            <a:r>
              <a:rPr sz="1200" b="1" i="0">
                <a:solidFill>
                  <a:srgbClr val="071A2B"/>
                </a:solidFill>
                <a:latin typeface="Bitstream Charter"/>
                <a:ea typeface="Bitstream Charter"/>
                <a:cs typeface="Bitstream Charter"/>
              </a:rPr>
              <a:t>next burst</a:t>
            </a:r>
          </a:p>
        </p:txBody>
      </p:sp>
      <p:sp>
        <p:nvSpPr>
          <p:cNvPr id="30" name="Rectangle 29">
            <a:extLst>
              <a:ext uri="{FF2B5EF4-FFF2-40B4-BE49-F238E27FC236}">
                <a16:creationId xmlns:a16="http://schemas.microsoft.com/office/drawing/2014/main" id="{1EA22182-9909-4326-AEAC-4247EA179D24}"/>
              </a:ext>
            </a:extLst>
          </p:cNvPr>
          <p:cNvSpPr>
            <a:spLocks noGrp="1"/>
          </p:cNvSpPr>
          <p:nvPr/>
        </p:nvSpPr>
        <p:spPr>
          <a:xfrm>
            <a:off x="8877300" y="4905375"/>
            <a:ext cx="1190625" cy="209550"/>
          </a:xfrm>
          <a:prstGeom prst="rect">
            <a:avLst/>
          </a:prstGeom>
          <a:noFill/>
          <a:ln w="0">
            <a:noFill/>
          </a:ln>
        </p:spPr>
        <p:txBody>
          <a:bodyPr>
            <a:noAutofit/>
          </a:bodyPr>
          <a:lstStyle/>
          <a:p>
            <a:pPr algn="ctr">
              <a:defRPr sz="1125" b="0" i="0">
                <a:solidFill>
                  <a:srgbClr val="071A2B"/>
                </a:solidFill>
                <a:latin typeface="Bitstream Charter"/>
                <a:ea typeface="Bitstream Charter"/>
                <a:cs typeface="Bitstream Charter"/>
              </a:defRPr>
            </a:pPr>
            <a:r>
              <a:rPr sz="1125" b="0" i="0">
                <a:solidFill>
                  <a:srgbClr val="071A2B"/>
                </a:solidFill>
                <a:latin typeface="Bitstream Charter"/>
                <a:ea typeface="Bitstream Charter"/>
                <a:cs typeface="Bitstream Charter"/>
              </a:rPr>
              <a:t>time + size</a:t>
            </a:r>
          </a:p>
        </p:txBody>
      </p:sp>
      <p:sp>
        <p:nvSpPr>
          <p:cNvPr id="31" name="Rectangle 30">
            <a:extLst>
              <a:ext uri="{FF2B5EF4-FFF2-40B4-BE49-F238E27FC236}">
                <a16:creationId xmlns:a16="http://schemas.microsoft.com/office/drawing/2014/main" id="{4D5E6731-1A2B-4736-9306-DA8FFE5FF8B1}"/>
              </a:ext>
            </a:extLst>
          </p:cNvPr>
          <p:cNvSpPr>
            <a:spLocks noGrp="1"/>
          </p:cNvSpPr>
          <p:nvPr/>
        </p:nvSpPr>
        <p:spPr>
          <a:xfrm>
            <a:off x="742950" y="5743575"/>
            <a:ext cx="7620000" cy="285750"/>
          </a:xfrm>
          <a:prstGeom prst="rect">
            <a:avLst/>
          </a:prstGeom>
          <a:noFill/>
          <a:ln w="0">
            <a:noFill/>
          </a:ln>
        </p:spPr>
        <p:txBody>
          <a:bodyPr>
            <a:noAutofit/>
          </a:bodyPr>
          <a:lstStyle/>
          <a:p>
            <a:pPr algn="l">
              <a:defRPr sz="1650" b="1" i="0">
                <a:solidFill>
                  <a:srgbClr val="F4F8FB"/>
                </a:solidFill>
                <a:latin typeface="Bitstream Charter"/>
                <a:ea typeface="Bitstream Charter"/>
                <a:cs typeface="Bitstream Charter"/>
              </a:defRPr>
            </a:pPr>
            <a:r>
              <a:rPr sz="1650" b="1" i="0">
                <a:solidFill>
                  <a:srgbClr val="F4F8FB"/>
                </a:solidFill>
                <a:latin typeface="Bitstream Charter"/>
                <a:ea typeface="Bitstream Charter"/>
                <a:cs typeface="Bitstream Charter"/>
              </a:rPr>
              <a:t>A better representation gives the model something meaningful to predict.</a:t>
            </a:r>
          </a:p>
        </p:txBody>
      </p:sp>
      <p:sp>
        <p:nvSpPr>
          <p:cNvPr id="32" name="Rectangle 31">
            <a:extLst>
              <a:ext uri="{FF2B5EF4-FFF2-40B4-BE49-F238E27FC236}">
                <a16:creationId xmlns:a16="http://schemas.microsoft.com/office/drawing/2014/main" id="{567A3CAC-AD58-476E-BA84-2B9BCF0E1275}"/>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07</a:t>
            </a:r>
          </a:p>
        </p:txBody>
      </p:sp>
      <p:sp>
        <p:nvSpPr>
          <p:cNvPr id="33" name="Rectangle 32">
            <a:extLst>
              <a:ext uri="{FF2B5EF4-FFF2-40B4-BE49-F238E27FC236}">
                <a16:creationId xmlns:a16="http://schemas.microsoft.com/office/drawing/2014/main" id="{5D6E5274-4DFE-47C7-951C-167C1BB6B77A}"/>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Paper §3, Figs. 2–5; author slides 15–33</a:t>
            </a:r>
          </a:p>
        </p:txBody>
      </p:sp>
    </p:spTree>
    <p:extLst>
      <p:ext uri="{BB962C8B-B14F-4D97-AF65-F5344CB8AC3E}">
        <p14:creationId xmlns:p14="http://schemas.microsoft.com/office/powerpoint/2010/main" val="1946324702"/>
      </p:ext>
    </p:extLst>
  </p:cSld>
  <p:clrMapOvr>
    <a:masterClrMapping/>
  </p:clrMapOvr>
  <mc:AlternateContent xmlns:mc="http://schemas.openxmlformats.org/markup-compatibility/2006">
    <mc:Choice xmlns:p14="http://schemas.microsoft.com/office/powerpoint/2010/main" Requires="p14">
      <p:transition spd="slow" p14:dur="2000" advTm="57995"/>
    </mc:Choice>
    <mc:Fallback>
      <p:transition spd="slow" advTm="5799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D836370-6B69-4BF4-9BB5-836128635DCE}"/>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Sage is a complete control loop</a:t>
            </a:r>
          </a:p>
        </p:txBody>
      </p:sp>
      <p:sp>
        <p:nvSpPr>
          <p:cNvPr id="2" name="Rectangle 1">
            <a:extLst>
              <a:ext uri="{FF2B5EF4-FFF2-40B4-BE49-F238E27FC236}">
                <a16:creationId xmlns:a16="http://schemas.microsoft.com/office/drawing/2014/main" id="{93E6A3A2-DB55-4C28-AFFF-55252FE8FB61}"/>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Prediction matters only when it reaches the scheduler in time and knows when to back off</a:t>
            </a:r>
          </a:p>
        </p:txBody>
      </p:sp>
      <p:sp>
        <p:nvSpPr>
          <p:cNvPr id="3" name="Straight Connector 2">
            <a:extLst>
              <a:ext uri="{FF2B5EF4-FFF2-40B4-BE49-F238E27FC236}">
                <a16:creationId xmlns:a16="http://schemas.microsoft.com/office/drawing/2014/main" id="{9E04A372-7D4A-49A2-96CA-FE31530BBFBE}"/>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ounded Rectangle 3">
            <a:extLst>
              <a:ext uri="{FF2B5EF4-FFF2-40B4-BE49-F238E27FC236}">
                <a16:creationId xmlns:a16="http://schemas.microsoft.com/office/drawing/2014/main" id="{756D3F25-CB4E-4CF0-B8D5-26F310534A26}"/>
              </a:ext>
            </a:extLst>
          </p:cNvPr>
          <p:cNvSpPr>
            <a:spLocks noGrp="1"/>
          </p:cNvSpPr>
          <p:nvPr/>
        </p:nvSpPr>
        <p:spPr>
          <a:xfrm>
            <a:off x="4667250" y="2667000"/>
            <a:ext cx="2857500" cy="1200150"/>
          </a:xfrm>
          <a:prstGeom prst="roundRect">
            <a:avLst>
              <a:gd name="adj" fmla="val 19048"/>
            </a:avLst>
          </a:prstGeom>
          <a:solidFill>
            <a:srgbClr val="0E9FC2"/>
          </a:solidFill>
          <a:ln w="14288">
            <a:solidFill>
              <a:srgbClr val="47D7FF"/>
            </a:solidFill>
            <a:prstDash val="solid"/>
          </a:ln>
        </p:spPr>
        <p:txBody>
          <a:bodyPr/>
          <a:lstStyle/>
          <a:p>
            <a:endParaRPr lang="en-US"/>
          </a:p>
        </p:txBody>
      </p:sp>
      <p:sp>
        <p:nvSpPr>
          <p:cNvPr id="5" name="Rectangle 4">
            <a:extLst>
              <a:ext uri="{FF2B5EF4-FFF2-40B4-BE49-F238E27FC236}">
                <a16:creationId xmlns:a16="http://schemas.microsoft.com/office/drawing/2014/main" id="{71E4CBBC-13BA-4CB9-BE84-D863880D3C96}"/>
              </a:ext>
            </a:extLst>
          </p:cNvPr>
          <p:cNvSpPr>
            <a:spLocks noGrp="1"/>
          </p:cNvSpPr>
          <p:nvPr/>
        </p:nvSpPr>
        <p:spPr>
          <a:xfrm>
            <a:off x="5286375" y="2809875"/>
            <a:ext cx="1619250" cy="361950"/>
          </a:xfrm>
          <a:prstGeom prst="rect">
            <a:avLst/>
          </a:prstGeom>
          <a:noFill/>
          <a:ln w="0">
            <a:noFill/>
          </a:ln>
        </p:spPr>
        <p:txBody>
          <a:bodyPr>
            <a:noAutofit/>
          </a:bodyPr>
          <a:lstStyle/>
          <a:p>
            <a:pPr algn="ctr">
              <a:defRPr sz="2400" b="1" i="0">
                <a:solidFill>
                  <a:srgbClr val="F4F8FB"/>
                </a:solidFill>
                <a:latin typeface="Bitstream Charter"/>
                <a:ea typeface="Bitstream Charter"/>
                <a:cs typeface="Bitstream Charter"/>
              </a:defRPr>
            </a:pPr>
            <a:r>
              <a:rPr sz="2400" b="1" i="0">
                <a:solidFill>
                  <a:srgbClr val="F4F8FB"/>
                </a:solidFill>
                <a:latin typeface="Bitstream Charter"/>
                <a:ea typeface="Bitstream Charter"/>
                <a:cs typeface="Bitstream Charter"/>
              </a:rPr>
              <a:t>Sage</a:t>
            </a:r>
          </a:p>
        </p:txBody>
      </p:sp>
      <p:sp>
        <p:nvSpPr>
          <p:cNvPr id="6" name="Rectangle 5">
            <a:extLst>
              <a:ext uri="{FF2B5EF4-FFF2-40B4-BE49-F238E27FC236}">
                <a16:creationId xmlns:a16="http://schemas.microsoft.com/office/drawing/2014/main" id="{5267D766-666C-4777-B653-134F9E3737F2}"/>
              </a:ext>
            </a:extLst>
          </p:cNvPr>
          <p:cNvSpPr>
            <a:spLocks noGrp="1"/>
          </p:cNvSpPr>
          <p:nvPr/>
        </p:nvSpPr>
        <p:spPr>
          <a:xfrm>
            <a:off x="5048250" y="3305175"/>
            <a:ext cx="2095500" cy="247650"/>
          </a:xfrm>
          <a:prstGeom prst="rect">
            <a:avLst/>
          </a:prstGeom>
          <a:noFill/>
          <a:ln w="0">
            <a:noFill/>
          </a:ln>
        </p:spPr>
        <p:txBody>
          <a:bodyPr>
            <a:noAutofit/>
          </a:bodyPr>
          <a:lstStyle/>
          <a:p>
            <a:pPr algn="ctr">
              <a:defRPr sz="1350" b="0" i="0">
                <a:solidFill>
                  <a:srgbClr val="DDEBF2"/>
                </a:solidFill>
                <a:latin typeface="Bitstream Charter"/>
                <a:ea typeface="Bitstream Charter"/>
                <a:cs typeface="Bitstream Charter"/>
              </a:defRPr>
            </a:pPr>
            <a:r>
              <a:rPr sz="1350" b="0" i="0">
                <a:solidFill>
                  <a:srgbClr val="DDEBF2"/>
                </a:solidFill>
                <a:latin typeface="Bitstream Charter"/>
                <a:ea typeface="Bitstream Charter"/>
                <a:cs typeface="Bitstream Charter"/>
              </a:rPr>
              <a:t>predict → allocate → learn</a:t>
            </a:r>
          </a:p>
        </p:txBody>
      </p:sp>
      <p:sp>
        <p:nvSpPr>
          <p:cNvPr id="7" name="Rounded Rectangle 6">
            <a:extLst>
              <a:ext uri="{FF2B5EF4-FFF2-40B4-BE49-F238E27FC236}">
                <a16:creationId xmlns:a16="http://schemas.microsoft.com/office/drawing/2014/main" id="{7EC3BE34-6ECF-4188-871B-39FBD2DD0B87}"/>
              </a:ext>
            </a:extLst>
          </p:cNvPr>
          <p:cNvSpPr>
            <a:spLocks noGrp="1"/>
          </p:cNvSpPr>
          <p:nvPr/>
        </p:nvSpPr>
        <p:spPr>
          <a:xfrm>
            <a:off x="781050" y="1809750"/>
            <a:ext cx="2571750" cy="742950"/>
          </a:xfrm>
          <a:prstGeom prst="roundRect">
            <a:avLst>
              <a:gd name="adj" fmla="val 23077"/>
            </a:avLst>
          </a:prstGeom>
          <a:solidFill>
            <a:srgbClr val="0D2940"/>
          </a:solidFill>
          <a:ln w="14288">
            <a:solidFill>
              <a:srgbClr val="345267"/>
            </a:solidFill>
            <a:prstDash val="solid"/>
          </a:ln>
        </p:spPr>
        <p:txBody>
          <a:bodyPr/>
          <a:lstStyle/>
          <a:p>
            <a:endParaRPr lang="en-US"/>
          </a:p>
        </p:txBody>
      </p:sp>
      <p:sp>
        <p:nvSpPr>
          <p:cNvPr id="8" name="Rectangle 7">
            <a:extLst>
              <a:ext uri="{FF2B5EF4-FFF2-40B4-BE49-F238E27FC236}">
                <a16:creationId xmlns:a16="http://schemas.microsoft.com/office/drawing/2014/main" id="{7E632B84-B056-4488-A93A-D1F22CF5F23B}"/>
              </a:ext>
            </a:extLst>
          </p:cNvPr>
          <p:cNvSpPr>
            <a:spLocks noGrp="1"/>
          </p:cNvSpPr>
          <p:nvPr/>
        </p:nvSpPr>
        <p:spPr>
          <a:xfrm>
            <a:off x="971550" y="1890713"/>
            <a:ext cx="2190750" cy="514350"/>
          </a:xfrm>
          <a:prstGeom prst="rect">
            <a:avLst/>
          </a:prstGeom>
          <a:noFill/>
          <a:ln w="0">
            <a:noFill/>
          </a:ln>
        </p:spPr>
        <p:txBody>
          <a:bodyPr>
            <a:noAutofit/>
          </a:bodyPr>
          <a:lstStyle/>
          <a:p>
            <a:pPr algn="ctr">
              <a:defRPr sz="1425" b="1" i="0">
                <a:solidFill>
                  <a:srgbClr val="F4F8FB"/>
                </a:solidFill>
                <a:latin typeface="Bitstream Charter"/>
                <a:ea typeface="Bitstream Charter"/>
                <a:cs typeface="Bitstream Charter"/>
              </a:defRPr>
            </a:pPr>
            <a:r>
              <a:rPr sz="1425" b="1" i="0" dirty="0">
                <a:solidFill>
                  <a:srgbClr val="F4F8FB"/>
                </a:solidFill>
                <a:latin typeface="Bitstream Charter"/>
                <a:ea typeface="Bitstream Charter"/>
                <a:cs typeface="Bitstream Charter"/>
              </a:rPr>
              <a:t>Traffic</a:t>
            </a:r>
          </a:p>
          <a:p>
            <a:pPr algn="ctr">
              <a:defRPr sz="1425" b="1" i="0">
                <a:solidFill>
                  <a:srgbClr val="F4F8FB"/>
                </a:solidFill>
                <a:latin typeface="Bitstream Charter"/>
                <a:ea typeface="Bitstream Charter"/>
                <a:cs typeface="Bitstream Charter"/>
              </a:defRPr>
            </a:pPr>
            <a:r>
              <a:rPr sz="1425" b="1" i="0" dirty="0">
                <a:solidFill>
                  <a:srgbClr val="F4F8FB"/>
                </a:solidFill>
                <a:latin typeface="Bitstream Charter"/>
                <a:ea typeface="Bitstream Charter"/>
                <a:cs typeface="Bitstream Charter"/>
              </a:rPr>
              <a:t>characterization</a:t>
            </a:r>
          </a:p>
        </p:txBody>
      </p:sp>
      <p:sp>
        <p:nvSpPr>
          <p:cNvPr id="9" name="Rounded Rectangle 8">
            <a:extLst>
              <a:ext uri="{FF2B5EF4-FFF2-40B4-BE49-F238E27FC236}">
                <a16:creationId xmlns:a16="http://schemas.microsoft.com/office/drawing/2014/main" id="{029A8472-B633-4CDA-91D0-E0D0C04087FA}"/>
              </a:ext>
            </a:extLst>
          </p:cNvPr>
          <p:cNvSpPr>
            <a:spLocks noGrp="1"/>
          </p:cNvSpPr>
          <p:nvPr/>
        </p:nvSpPr>
        <p:spPr>
          <a:xfrm>
            <a:off x="8839200" y="1809750"/>
            <a:ext cx="2571750" cy="742950"/>
          </a:xfrm>
          <a:prstGeom prst="roundRect">
            <a:avLst>
              <a:gd name="adj" fmla="val 23077"/>
            </a:avLst>
          </a:prstGeom>
          <a:solidFill>
            <a:srgbClr val="0D2940"/>
          </a:solidFill>
          <a:ln w="14288">
            <a:solidFill>
              <a:srgbClr val="345267"/>
            </a:solidFill>
            <a:prstDash val="solid"/>
          </a:ln>
        </p:spPr>
        <p:txBody>
          <a:bodyPr/>
          <a:lstStyle/>
          <a:p>
            <a:endParaRPr lang="en-US"/>
          </a:p>
        </p:txBody>
      </p:sp>
      <p:sp>
        <p:nvSpPr>
          <p:cNvPr id="10" name="Rectangle 9">
            <a:extLst>
              <a:ext uri="{FF2B5EF4-FFF2-40B4-BE49-F238E27FC236}">
                <a16:creationId xmlns:a16="http://schemas.microsoft.com/office/drawing/2014/main" id="{25855F25-58DD-4C63-8664-138ACA18DD6E}"/>
              </a:ext>
            </a:extLst>
          </p:cNvPr>
          <p:cNvSpPr>
            <a:spLocks noGrp="1"/>
          </p:cNvSpPr>
          <p:nvPr/>
        </p:nvSpPr>
        <p:spPr>
          <a:xfrm>
            <a:off x="9029700" y="1890713"/>
            <a:ext cx="2190750" cy="514350"/>
          </a:xfrm>
          <a:prstGeom prst="rect">
            <a:avLst/>
          </a:prstGeom>
          <a:noFill/>
          <a:ln w="0">
            <a:noFill/>
          </a:ln>
        </p:spPr>
        <p:txBody>
          <a:bodyPr>
            <a:noAutofit/>
          </a:bodyPr>
          <a:lstStyle/>
          <a:p>
            <a:pPr algn="ctr">
              <a:defRPr sz="1425" b="1" i="0">
                <a:solidFill>
                  <a:srgbClr val="F4F8FB"/>
                </a:solidFill>
                <a:latin typeface="Bitstream Charter"/>
                <a:ea typeface="Bitstream Charter"/>
                <a:cs typeface="Bitstream Charter"/>
              </a:defRPr>
            </a:pPr>
            <a:r>
              <a:rPr sz="1425" b="1" i="0" dirty="0">
                <a:solidFill>
                  <a:srgbClr val="F4F8FB"/>
                </a:solidFill>
                <a:latin typeface="Bitstream Charter"/>
                <a:ea typeface="Bitstream Charter"/>
                <a:cs typeface="Bitstream Charter"/>
              </a:rPr>
              <a:t>Model selection</a:t>
            </a:r>
          </a:p>
          <a:p>
            <a:pPr algn="ctr">
              <a:defRPr sz="1425" b="1" i="0">
                <a:solidFill>
                  <a:srgbClr val="F4F8FB"/>
                </a:solidFill>
                <a:latin typeface="Bitstream Charter"/>
                <a:ea typeface="Bitstream Charter"/>
                <a:cs typeface="Bitstream Charter"/>
              </a:defRPr>
            </a:pPr>
            <a:r>
              <a:rPr sz="1425" b="1" i="0" dirty="0">
                <a:solidFill>
                  <a:srgbClr val="F4F8FB"/>
                </a:solidFill>
                <a:latin typeface="Bitstream Charter"/>
                <a:ea typeface="Bitstream Charter"/>
                <a:cs typeface="Bitstream Charter"/>
              </a:rPr>
              <a:t>and verification</a:t>
            </a:r>
          </a:p>
        </p:txBody>
      </p:sp>
      <p:sp>
        <p:nvSpPr>
          <p:cNvPr id="11" name="Rounded Rectangle 10">
            <a:extLst>
              <a:ext uri="{FF2B5EF4-FFF2-40B4-BE49-F238E27FC236}">
                <a16:creationId xmlns:a16="http://schemas.microsoft.com/office/drawing/2014/main" id="{138D0A87-959A-4519-83D0-9260EC481972}"/>
              </a:ext>
            </a:extLst>
          </p:cNvPr>
          <p:cNvSpPr>
            <a:spLocks noGrp="1"/>
          </p:cNvSpPr>
          <p:nvPr/>
        </p:nvSpPr>
        <p:spPr>
          <a:xfrm>
            <a:off x="781050" y="4524375"/>
            <a:ext cx="2571750" cy="742950"/>
          </a:xfrm>
          <a:prstGeom prst="roundRect">
            <a:avLst>
              <a:gd name="adj" fmla="val 23077"/>
            </a:avLst>
          </a:prstGeom>
          <a:solidFill>
            <a:srgbClr val="0D2940"/>
          </a:solidFill>
          <a:ln w="14288">
            <a:solidFill>
              <a:srgbClr val="FF7185"/>
            </a:solidFill>
            <a:prstDash val="solid"/>
          </a:ln>
        </p:spPr>
        <p:txBody>
          <a:bodyPr/>
          <a:lstStyle/>
          <a:p>
            <a:endParaRPr lang="en-US"/>
          </a:p>
        </p:txBody>
      </p:sp>
      <p:sp>
        <p:nvSpPr>
          <p:cNvPr id="12" name="Rectangle 11">
            <a:extLst>
              <a:ext uri="{FF2B5EF4-FFF2-40B4-BE49-F238E27FC236}">
                <a16:creationId xmlns:a16="http://schemas.microsoft.com/office/drawing/2014/main" id="{318938E7-8056-4364-A693-4A644CF7B29D}"/>
              </a:ext>
            </a:extLst>
          </p:cNvPr>
          <p:cNvSpPr>
            <a:spLocks noGrp="1"/>
          </p:cNvSpPr>
          <p:nvPr/>
        </p:nvSpPr>
        <p:spPr>
          <a:xfrm>
            <a:off x="971550" y="4595132"/>
            <a:ext cx="2190750" cy="514350"/>
          </a:xfrm>
          <a:prstGeom prst="rect">
            <a:avLst/>
          </a:prstGeom>
          <a:noFill/>
          <a:ln w="0">
            <a:noFill/>
          </a:ln>
        </p:spPr>
        <p:txBody>
          <a:bodyPr>
            <a:noAutofit/>
          </a:bodyPr>
          <a:lstStyle/>
          <a:p>
            <a:pPr algn="ctr">
              <a:defRPr sz="1425" b="1" i="0">
                <a:solidFill>
                  <a:srgbClr val="F4F8FB"/>
                </a:solidFill>
                <a:latin typeface="Bitstream Charter"/>
                <a:ea typeface="Bitstream Charter"/>
                <a:cs typeface="Bitstream Charter"/>
              </a:defRPr>
            </a:pPr>
            <a:r>
              <a:rPr sz="1425" b="1" i="0" dirty="0">
                <a:solidFill>
                  <a:srgbClr val="F4F8FB"/>
                </a:solidFill>
                <a:latin typeface="Bitstream Charter"/>
                <a:ea typeface="Bitstream Charter"/>
                <a:cs typeface="Bitstream Charter"/>
              </a:rPr>
              <a:t>Error monitoring</a:t>
            </a:r>
          </a:p>
          <a:p>
            <a:pPr algn="ctr">
              <a:defRPr sz="1425" b="1" i="0">
                <a:solidFill>
                  <a:srgbClr val="F4F8FB"/>
                </a:solidFill>
                <a:latin typeface="Bitstream Charter"/>
                <a:ea typeface="Bitstream Charter"/>
                <a:cs typeface="Bitstream Charter"/>
              </a:defRPr>
            </a:pPr>
            <a:r>
              <a:rPr sz="1425" b="1" i="0" dirty="0">
                <a:solidFill>
                  <a:srgbClr val="F4F8FB"/>
                </a:solidFill>
                <a:latin typeface="Bitstream Charter"/>
                <a:ea typeface="Bitstream Charter"/>
                <a:cs typeface="Bitstream Charter"/>
              </a:rPr>
              <a:t>and fallback</a:t>
            </a:r>
          </a:p>
        </p:txBody>
      </p:sp>
      <p:sp>
        <p:nvSpPr>
          <p:cNvPr id="13" name="Rounded Rectangle 12">
            <a:extLst>
              <a:ext uri="{FF2B5EF4-FFF2-40B4-BE49-F238E27FC236}">
                <a16:creationId xmlns:a16="http://schemas.microsoft.com/office/drawing/2014/main" id="{6697E69E-7BA5-4A34-832C-4D271BB93101}"/>
              </a:ext>
            </a:extLst>
          </p:cNvPr>
          <p:cNvSpPr>
            <a:spLocks noGrp="1"/>
          </p:cNvSpPr>
          <p:nvPr/>
        </p:nvSpPr>
        <p:spPr>
          <a:xfrm>
            <a:off x="8839200" y="4524375"/>
            <a:ext cx="2571750" cy="742950"/>
          </a:xfrm>
          <a:prstGeom prst="roundRect">
            <a:avLst>
              <a:gd name="adj" fmla="val 23077"/>
            </a:avLst>
          </a:prstGeom>
          <a:solidFill>
            <a:srgbClr val="0D2940"/>
          </a:solidFill>
          <a:ln w="14288">
            <a:solidFill>
              <a:srgbClr val="57D18C"/>
            </a:solidFill>
            <a:prstDash val="solid"/>
          </a:ln>
        </p:spPr>
        <p:txBody>
          <a:bodyPr/>
          <a:lstStyle/>
          <a:p>
            <a:endParaRPr lang="en-US"/>
          </a:p>
        </p:txBody>
      </p:sp>
      <p:sp>
        <p:nvSpPr>
          <p:cNvPr id="14" name="Rectangle 13">
            <a:extLst>
              <a:ext uri="{FF2B5EF4-FFF2-40B4-BE49-F238E27FC236}">
                <a16:creationId xmlns:a16="http://schemas.microsoft.com/office/drawing/2014/main" id="{C5587211-EAE7-4011-BF86-40B6131FEC00}"/>
              </a:ext>
            </a:extLst>
          </p:cNvPr>
          <p:cNvSpPr>
            <a:spLocks noGrp="1"/>
          </p:cNvSpPr>
          <p:nvPr/>
        </p:nvSpPr>
        <p:spPr>
          <a:xfrm>
            <a:off x="9029700" y="4608399"/>
            <a:ext cx="2190750" cy="514350"/>
          </a:xfrm>
          <a:prstGeom prst="rect">
            <a:avLst/>
          </a:prstGeom>
          <a:noFill/>
          <a:ln w="0">
            <a:noFill/>
          </a:ln>
        </p:spPr>
        <p:txBody>
          <a:bodyPr>
            <a:noAutofit/>
          </a:bodyPr>
          <a:lstStyle/>
          <a:p>
            <a:pPr algn="ctr">
              <a:defRPr sz="1425" b="1" i="0">
                <a:solidFill>
                  <a:srgbClr val="F4F8FB"/>
                </a:solidFill>
                <a:latin typeface="Bitstream Charter"/>
                <a:ea typeface="Bitstream Charter"/>
                <a:cs typeface="Bitstream Charter"/>
              </a:defRPr>
            </a:pPr>
            <a:r>
              <a:rPr sz="1425" b="1" i="0" dirty="0">
                <a:solidFill>
                  <a:srgbClr val="F4F8FB"/>
                </a:solidFill>
                <a:latin typeface="Bitstream Charter"/>
                <a:ea typeface="Bitstream Charter"/>
                <a:cs typeface="Bitstream Charter"/>
              </a:rPr>
              <a:t>Continual learning</a:t>
            </a:r>
          </a:p>
          <a:p>
            <a:pPr algn="ctr">
              <a:defRPr sz="1425" b="1" i="0">
                <a:solidFill>
                  <a:srgbClr val="F4F8FB"/>
                </a:solidFill>
                <a:latin typeface="Bitstream Charter"/>
                <a:ea typeface="Bitstream Charter"/>
                <a:cs typeface="Bitstream Charter"/>
              </a:defRPr>
            </a:pPr>
            <a:r>
              <a:rPr sz="1425" b="1" i="0" dirty="0">
                <a:solidFill>
                  <a:srgbClr val="F4F8FB"/>
                </a:solidFill>
                <a:latin typeface="Bitstream Charter"/>
                <a:ea typeface="Bitstream Charter"/>
                <a:cs typeface="Bitstream Charter"/>
              </a:rPr>
              <a:t>and database</a:t>
            </a:r>
          </a:p>
        </p:txBody>
      </p:sp>
      <p:cxnSp>
        <p:nvCxnSpPr>
          <p:cNvPr id="41" name="Elbow Connector 40"/>
          <p:cNvCxnSpPr>
            <a:stCxn id="7" idx="3"/>
            <a:endCxn id="4" idx="1"/>
          </p:cNvCxnSpPr>
          <p:nvPr/>
        </p:nvCxnSpPr>
        <p:spPr>
          <a:xfrm>
            <a:off x="3352800" y="2181225"/>
            <a:ext cx="1314450" cy="1085850"/>
          </a:xfrm>
          <a:prstGeom prst="bentConnector3">
            <a:avLst>
              <a:gd name="adj1" fmla="val 50000"/>
            </a:avLst>
          </a:prstGeom>
          <a:ln w="19050">
            <a:solidFill>
              <a:srgbClr val="A8BDCC"/>
            </a:solidFill>
            <a:prstDash val="solid"/>
            <a:headEnd type="none" w="med" len="med"/>
            <a:tailEnd type="none" w="med" len="med"/>
          </a:ln>
        </p:spPr>
      </p:cxnSp>
      <p:cxnSp>
        <p:nvCxnSpPr>
          <p:cNvPr id="42" name="Elbow Connector 41"/>
          <p:cNvCxnSpPr>
            <a:stCxn id="9" idx="1"/>
            <a:endCxn id="4" idx="3"/>
          </p:cNvCxnSpPr>
          <p:nvPr/>
        </p:nvCxnSpPr>
        <p:spPr>
          <a:xfrm flipH="1">
            <a:off x="7524750" y="2181225"/>
            <a:ext cx="1314450" cy="1085850"/>
          </a:xfrm>
          <a:prstGeom prst="bentConnector3">
            <a:avLst>
              <a:gd name="adj1" fmla="val 50000"/>
            </a:avLst>
          </a:prstGeom>
          <a:ln w="19050">
            <a:solidFill>
              <a:srgbClr val="A8BDCC"/>
            </a:solidFill>
            <a:prstDash val="solid"/>
            <a:headEnd type="none" w="med" len="med"/>
            <a:tailEnd type="none" w="med" len="med"/>
          </a:ln>
        </p:spPr>
      </p:cxnSp>
      <p:cxnSp>
        <p:nvCxnSpPr>
          <p:cNvPr id="43" name="Elbow Connector 42"/>
          <p:cNvCxnSpPr>
            <a:stCxn id="11" idx="3"/>
            <a:endCxn id="4" idx="1"/>
          </p:cNvCxnSpPr>
          <p:nvPr/>
        </p:nvCxnSpPr>
        <p:spPr>
          <a:xfrm flipV="1">
            <a:off x="3352800" y="3267075"/>
            <a:ext cx="1314450" cy="1628775"/>
          </a:xfrm>
          <a:prstGeom prst="bentConnector3">
            <a:avLst>
              <a:gd name="adj1" fmla="val 17391"/>
            </a:avLst>
          </a:prstGeom>
          <a:ln w="19050">
            <a:solidFill>
              <a:srgbClr val="A8BDCC"/>
            </a:solidFill>
            <a:prstDash val="solid"/>
            <a:headEnd type="none" w="med" len="med"/>
            <a:tailEnd type="none" w="med" len="med"/>
          </a:ln>
        </p:spPr>
      </p:cxnSp>
      <p:cxnSp>
        <p:nvCxnSpPr>
          <p:cNvPr id="44" name="Elbow Connector 43"/>
          <p:cNvCxnSpPr>
            <a:stCxn id="13" idx="1"/>
            <a:endCxn id="4" idx="3"/>
          </p:cNvCxnSpPr>
          <p:nvPr/>
        </p:nvCxnSpPr>
        <p:spPr>
          <a:xfrm flipH="1" flipV="1">
            <a:off x="7524750" y="3267075"/>
            <a:ext cx="1314450" cy="1628775"/>
          </a:xfrm>
          <a:prstGeom prst="bentConnector3">
            <a:avLst>
              <a:gd name="adj1" fmla="val 50000"/>
            </a:avLst>
          </a:prstGeom>
          <a:ln w="19050">
            <a:solidFill>
              <a:srgbClr val="A8BDCC"/>
            </a:solidFill>
            <a:prstDash val="solid"/>
            <a:headEnd type="none" w="med" len="med"/>
            <a:tailEnd type="none" w="med" len="med"/>
          </a:ln>
        </p:spPr>
      </p:cxnSp>
      <p:sp>
        <p:nvSpPr>
          <p:cNvPr id="19" name="Rounded Rectangle 18">
            <a:extLst>
              <a:ext uri="{FF2B5EF4-FFF2-40B4-BE49-F238E27FC236}">
                <a16:creationId xmlns:a16="http://schemas.microsoft.com/office/drawing/2014/main" id="{7DBD8C5E-E826-4D64-A955-0A0BD00EE2E4}"/>
              </a:ext>
            </a:extLst>
          </p:cNvPr>
          <p:cNvSpPr>
            <a:spLocks noGrp="1"/>
          </p:cNvSpPr>
          <p:nvPr/>
        </p:nvSpPr>
        <p:spPr>
          <a:xfrm>
            <a:off x="4857750" y="4476750"/>
            <a:ext cx="2476500" cy="609600"/>
          </a:xfrm>
          <a:prstGeom prst="roundRect">
            <a:avLst>
              <a:gd name="adj" fmla="val 25000"/>
            </a:avLst>
          </a:prstGeom>
          <a:solidFill>
            <a:srgbClr val="FFC857"/>
          </a:solidFill>
          <a:ln w="0">
            <a:solidFill>
              <a:srgbClr val="FFC857"/>
            </a:solidFill>
            <a:prstDash val="solid"/>
          </a:ln>
        </p:spPr>
        <p:txBody>
          <a:bodyPr/>
          <a:lstStyle/>
          <a:p>
            <a:endParaRPr lang="en-US"/>
          </a:p>
        </p:txBody>
      </p:sp>
      <p:sp>
        <p:nvSpPr>
          <p:cNvPr id="20" name="Rectangle 19">
            <a:extLst>
              <a:ext uri="{FF2B5EF4-FFF2-40B4-BE49-F238E27FC236}">
                <a16:creationId xmlns:a16="http://schemas.microsoft.com/office/drawing/2014/main" id="{B9CA7691-AC74-4F09-945F-17DD4143424A}"/>
              </a:ext>
            </a:extLst>
          </p:cNvPr>
          <p:cNvSpPr>
            <a:spLocks noGrp="1"/>
          </p:cNvSpPr>
          <p:nvPr/>
        </p:nvSpPr>
        <p:spPr>
          <a:xfrm>
            <a:off x="5048250" y="4657725"/>
            <a:ext cx="2095500" cy="228600"/>
          </a:xfrm>
          <a:prstGeom prst="rect">
            <a:avLst/>
          </a:prstGeom>
          <a:noFill/>
          <a:ln w="0">
            <a:noFill/>
          </a:ln>
        </p:spPr>
        <p:txBody>
          <a:bodyPr>
            <a:noAutofit/>
          </a:bodyPr>
          <a:lstStyle/>
          <a:p>
            <a:pPr algn="ctr">
              <a:defRPr sz="1350" b="1" i="0">
                <a:solidFill>
                  <a:srgbClr val="071A2B"/>
                </a:solidFill>
                <a:latin typeface="Bitstream Charter"/>
                <a:ea typeface="Bitstream Charter"/>
                <a:cs typeface="Bitstream Charter"/>
              </a:defRPr>
            </a:pPr>
            <a:r>
              <a:rPr sz="1350" b="1" i="0">
                <a:solidFill>
                  <a:srgbClr val="071A2B"/>
                </a:solidFill>
                <a:latin typeface="Bitstream Charter"/>
                <a:ea typeface="Bitstream Charter"/>
                <a:cs typeface="Bitstream Charter"/>
              </a:rPr>
              <a:t>real-time RIC near gNB</a:t>
            </a:r>
          </a:p>
        </p:txBody>
      </p:sp>
      <p:cxnSp>
        <p:nvCxnSpPr>
          <p:cNvPr id="47" name="Straight Arrow Connector 46"/>
          <p:cNvCxnSpPr>
            <a:stCxn id="4" idx="2"/>
            <a:endCxn id="19" idx="0"/>
          </p:cNvCxnSpPr>
          <p:nvPr/>
        </p:nvCxnSpPr>
        <p:spPr>
          <a:xfrm>
            <a:off x="6096000" y="3867150"/>
            <a:ext cx="0" cy="609600"/>
          </a:xfrm>
          <a:prstGeom prst="straightConnector1">
            <a:avLst/>
          </a:prstGeom>
          <a:ln w="23813">
            <a:solidFill>
              <a:srgbClr val="FFC857"/>
            </a:solidFill>
            <a:prstDash val="solid"/>
            <a:headEnd type="none" w="med" len="med"/>
            <a:tailEnd type="none" w="med" len="med"/>
          </a:ln>
        </p:spPr>
      </p:cxnSp>
      <p:sp>
        <p:nvSpPr>
          <p:cNvPr id="22" name="Rectangle 21">
            <a:extLst>
              <a:ext uri="{FF2B5EF4-FFF2-40B4-BE49-F238E27FC236}">
                <a16:creationId xmlns:a16="http://schemas.microsoft.com/office/drawing/2014/main" id="{326A82F4-78FC-49B0-BBEA-CC43C374240B}"/>
              </a:ext>
            </a:extLst>
          </p:cNvPr>
          <p:cNvSpPr>
            <a:spLocks noGrp="1"/>
          </p:cNvSpPr>
          <p:nvPr/>
        </p:nvSpPr>
        <p:spPr>
          <a:xfrm>
            <a:off x="3857625" y="4714875"/>
            <a:ext cx="904875" cy="190500"/>
          </a:xfrm>
          <a:prstGeom prst="rect">
            <a:avLst/>
          </a:prstGeom>
          <a:noFill/>
          <a:ln w="0">
            <a:noFill/>
          </a:ln>
        </p:spPr>
        <p:txBody>
          <a:bodyPr>
            <a:noAutofit/>
          </a:bodyPr>
          <a:lstStyle/>
          <a:p>
            <a:pPr algn="r">
              <a:defRPr sz="1125" b="1" i="0">
                <a:solidFill>
                  <a:srgbClr val="FFC857"/>
                </a:solidFill>
                <a:latin typeface="Bitstream Charter"/>
                <a:ea typeface="Bitstream Charter"/>
                <a:cs typeface="Bitstream Charter"/>
              </a:defRPr>
            </a:pPr>
            <a:r>
              <a:rPr sz="1125" b="1" i="0">
                <a:solidFill>
                  <a:srgbClr val="FFC857"/>
                </a:solidFill>
                <a:latin typeface="Bitstream Charter"/>
                <a:ea typeface="Bitstream Charter"/>
                <a:cs typeface="Bitstream Charter"/>
              </a:rPr>
              <a:t>fast loop</a:t>
            </a:r>
          </a:p>
        </p:txBody>
      </p:sp>
      <p:sp>
        <p:nvSpPr>
          <p:cNvPr id="23" name="Rectangle 22">
            <a:extLst>
              <a:ext uri="{FF2B5EF4-FFF2-40B4-BE49-F238E27FC236}">
                <a16:creationId xmlns:a16="http://schemas.microsoft.com/office/drawing/2014/main" id="{176CD093-88DC-4F85-82C6-1C221282EB77}"/>
              </a:ext>
            </a:extLst>
          </p:cNvPr>
          <p:cNvSpPr>
            <a:spLocks noGrp="1"/>
          </p:cNvSpPr>
          <p:nvPr/>
        </p:nvSpPr>
        <p:spPr>
          <a:xfrm>
            <a:off x="7406367" y="4605337"/>
            <a:ext cx="823233" cy="381000"/>
          </a:xfrm>
          <a:prstGeom prst="rect">
            <a:avLst/>
          </a:prstGeom>
          <a:noFill/>
          <a:ln w="0">
            <a:noFill/>
          </a:ln>
        </p:spPr>
        <p:txBody>
          <a:bodyPr>
            <a:noAutofit/>
          </a:bodyPr>
          <a:lstStyle/>
          <a:p>
            <a:pPr algn="l">
              <a:defRPr sz="1125" b="1" i="0">
                <a:solidFill>
                  <a:srgbClr val="57D18C"/>
                </a:solidFill>
                <a:latin typeface="Bitstream Charter"/>
                <a:ea typeface="Bitstream Charter"/>
                <a:cs typeface="Bitstream Charter"/>
              </a:defRPr>
            </a:pPr>
            <a:r>
              <a:rPr sz="1125" b="1" i="0" dirty="0">
                <a:solidFill>
                  <a:srgbClr val="57D18C"/>
                </a:solidFill>
                <a:latin typeface="Bitstream Charter"/>
                <a:ea typeface="Bitstream Charter"/>
                <a:cs typeface="Bitstream Charter"/>
              </a:rPr>
              <a:t>near-real-time loop</a:t>
            </a:r>
          </a:p>
        </p:txBody>
      </p:sp>
      <p:sp>
        <p:nvSpPr>
          <p:cNvPr id="24" name="Rectangle 23">
            <a:extLst>
              <a:ext uri="{FF2B5EF4-FFF2-40B4-BE49-F238E27FC236}">
                <a16:creationId xmlns:a16="http://schemas.microsoft.com/office/drawing/2014/main" id="{1A28809E-36BC-4BB9-89ED-5557EFDDDB82}"/>
              </a:ext>
            </a:extLst>
          </p:cNvPr>
          <p:cNvSpPr>
            <a:spLocks noGrp="1"/>
          </p:cNvSpPr>
          <p:nvPr/>
        </p:nvSpPr>
        <p:spPr>
          <a:xfrm>
            <a:off x="1571625" y="5743575"/>
            <a:ext cx="9048750" cy="285750"/>
          </a:xfrm>
          <a:prstGeom prst="rect">
            <a:avLst/>
          </a:prstGeom>
          <a:noFill/>
          <a:ln w="0">
            <a:noFill/>
          </a:ln>
        </p:spPr>
        <p:txBody>
          <a:bodyPr>
            <a:noAutofit/>
          </a:bodyPr>
          <a:lstStyle/>
          <a:p>
            <a:pPr algn="ctr">
              <a:defRPr sz="1575" b="1" i="0">
                <a:solidFill>
                  <a:srgbClr val="F4F8FB"/>
                </a:solidFill>
                <a:latin typeface="Bitstream Charter"/>
                <a:ea typeface="Bitstream Charter"/>
                <a:cs typeface="Bitstream Charter"/>
              </a:defRPr>
            </a:pPr>
            <a:r>
              <a:rPr sz="1575" b="1" i="0">
                <a:solidFill>
                  <a:srgbClr val="F4F8FB"/>
                </a:solidFill>
                <a:latin typeface="Bitstream Charter"/>
                <a:ea typeface="Bitstream Charter"/>
                <a:cs typeface="Bitstream Charter"/>
              </a:rPr>
              <a:t>Immediate decisions stay local. Heavier model selection and updates can use a slower control loop.</a:t>
            </a:r>
          </a:p>
        </p:txBody>
      </p:sp>
      <p:sp>
        <p:nvSpPr>
          <p:cNvPr id="25" name="Rectangle 24">
            <a:extLst>
              <a:ext uri="{FF2B5EF4-FFF2-40B4-BE49-F238E27FC236}">
                <a16:creationId xmlns:a16="http://schemas.microsoft.com/office/drawing/2014/main" id="{AE51A8F7-DC84-4776-A001-653BD55DB538}"/>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08</a:t>
            </a:r>
          </a:p>
        </p:txBody>
      </p:sp>
      <p:sp>
        <p:nvSpPr>
          <p:cNvPr id="26" name="Rectangle 25">
            <a:extLst>
              <a:ext uri="{FF2B5EF4-FFF2-40B4-BE49-F238E27FC236}">
                <a16:creationId xmlns:a16="http://schemas.microsoft.com/office/drawing/2014/main" id="{F664B1DF-452B-4B18-85CE-51BE12DF18E2}"/>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Paper §§4–6, Fig. 6; author slides 39–44</a:t>
            </a:r>
          </a:p>
        </p:txBody>
      </p:sp>
    </p:spTree>
    <p:extLst>
      <p:ext uri="{BB962C8B-B14F-4D97-AF65-F5344CB8AC3E}">
        <p14:creationId xmlns:p14="http://schemas.microsoft.com/office/powerpoint/2010/main" val="1460476193"/>
      </p:ext>
    </p:extLst>
  </p:cSld>
  <p:clrMapOvr>
    <a:masterClrMapping/>
  </p:clrMapOvr>
  <mc:AlternateContent xmlns:mc="http://schemas.openxmlformats.org/markup-compatibility/2006">
    <mc:Choice xmlns:p14="http://schemas.microsoft.com/office/powerpoint/2010/main" Requires="p14">
      <p:transition spd="slow" p14:dur="2000" advTm="58125"/>
    </mc:Choice>
    <mc:Fallback>
      <p:transition spd="slow" advTm="5812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BCF5775E-6F87-4D4C-A833-199F7CD62582}"/>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A useful analogy: radio resources behave like data-center power</a:t>
            </a:r>
          </a:p>
        </p:txBody>
      </p:sp>
      <p:sp>
        <p:nvSpPr>
          <p:cNvPr id="2" name="Rectangle 1">
            <a:extLst>
              <a:ext uri="{FF2B5EF4-FFF2-40B4-BE49-F238E27FC236}">
                <a16:creationId xmlns:a16="http://schemas.microsoft.com/office/drawing/2014/main" id="{139D54CC-B137-4059-B1C9-E34E78E54C0A}"/>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Better forecasts can reduce both waiting and waste, but the analogy is conceptual rather than a measured energy result</a:t>
            </a:r>
          </a:p>
        </p:txBody>
      </p:sp>
      <p:sp>
        <p:nvSpPr>
          <p:cNvPr id="3" name="Straight Connector 2">
            <a:extLst>
              <a:ext uri="{FF2B5EF4-FFF2-40B4-BE49-F238E27FC236}">
                <a16:creationId xmlns:a16="http://schemas.microsoft.com/office/drawing/2014/main" id="{DD096E4A-266C-4221-A128-A0D360192ABB}"/>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ectangle 3">
            <a:extLst>
              <a:ext uri="{FF2B5EF4-FFF2-40B4-BE49-F238E27FC236}">
                <a16:creationId xmlns:a16="http://schemas.microsoft.com/office/drawing/2014/main" id="{693D5EF7-2D64-41CA-AF58-49D8C6CA833C}"/>
              </a:ext>
            </a:extLst>
          </p:cNvPr>
          <p:cNvSpPr>
            <a:spLocks noGrp="1"/>
          </p:cNvSpPr>
          <p:nvPr/>
        </p:nvSpPr>
        <p:spPr>
          <a:xfrm>
            <a:off x="857250" y="1476375"/>
            <a:ext cx="2476500" cy="171450"/>
          </a:xfrm>
          <a:prstGeom prst="rect">
            <a:avLst/>
          </a:prstGeom>
          <a:noFill/>
          <a:ln w="0">
            <a:noFill/>
          </a:ln>
        </p:spPr>
        <p:txBody>
          <a:bodyPr>
            <a:noAutofit/>
          </a:bodyPr>
          <a:lstStyle/>
          <a:p>
            <a:pPr algn="l">
              <a:defRPr sz="900" b="1" i="0">
                <a:solidFill>
                  <a:srgbClr val="47D7FF"/>
                </a:solidFill>
                <a:latin typeface="Bitstream Charter"/>
                <a:ea typeface="Bitstream Charter"/>
                <a:cs typeface="Bitstream Charter"/>
              </a:defRPr>
            </a:pPr>
            <a:r>
              <a:rPr sz="900" b="1" i="0">
                <a:solidFill>
                  <a:srgbClr val="47D7FF"/>
                </a:solidFill>
                <a:latin typeface="Bitstream Charter"/>
                <a:ea typeface="Bitstream Charter"/>
                <a:cs typeface="Bitstream Charter"/>
              </a:rPr>
              <a:t>NETWORK SCHEDULING</a:t>
            </a:r>
          </a:p>
        </p:txBody>
      </p:sp>
      <p:sp>
        <p:nvSpPr>
          <p:cNvPr id="5" name="Rectangle 4">
            <a:extLst>
              <a:ext uri="{FF2B5EF4-FFF2-40B4-BE49-F238E27FC236}">
                <a16:creationId xmlns:a16="http://schemas.microsoft.com/office/drawing/2014/main" id="{9EAB2D79-68AB-4209-AEEC-E7F3D22D41C8}"/>
              </a:ext>
            </a:extLst>
          </p:cNvPr>
          <p:cNvSpPr>
            <a:spLocks noGrp="1"/>
          </p:cNvSpPr>
          <p:nvPr/>
        </p:nvSpPr>
        <p:spPr>
          <a:xfrm>
            <a:off x="6667500" y="1476375"/>
            <a:ext cx="3048000" cy="171450"/>
          </a:xfrm>
          <a:prstGeom prst="rect">
            <a:avLst/>
          </a:prstGeom>
          <a:noFill/>
          <a:ln w="0">
            <a:noFill/>
          </a:ln>
        </p:spPr>
        <p:txBody>
          <a:bodyPr>
            <a:noAutofit/>
          </a:bodyPr>
          <a:lstStyle/>
          <a:p>
            <a:pPr algn="l">
              <a:defRPr sz="900" b="1" i="0">
                <a:solidFill>
                  <a:srgbClr val="57D18C"/>
                </a:solidFill>
                <a:latin typeface="Bitstream Charter"/>
                <a:ea typeface="Bitstream Charter"/>
                <a:cs typeface="Bitstream Charter"/>
              </a:defRPr>
            </a:pPr>
            <a:r>
              <a:rPr sz="900" b="1" i="0">
                <a:solidFill>
                  <a:srgbClr val="57D18C"/>
                </a:solidFill>
                <a:latin typeface="Bitstream Charter"/>
                <a:ea typeface="Bitstream Charter"/>
                <a:cs typeface="Bitstream Charter"/>
              </a:rPr>
              <a:t>DATA-CENTER OPERATIONS</a:t>
            </a:r>
          </a:p>
        </p:txBody>
      </p:sp>
      <p:sp>
        <p:nvSpPr>
          <p:cNvPr id="6" name="Rounded Rectangle 5">
            <a:extLst>
              <a:ext uri="{FF2B5EF4-FFF2-40B4-BE49-F238E27FC236}">
                <a16:creationId xmlns:a16="http://schemas.microsoft.com/office/drawing/2014/main" id="{CC9FA6CB-B9FE-4B48-90E5-B3198CB23B94}"/>
              </a:ext>
            </a:extLst>
          </p:cNvPr>
          <p:cNvSpPr>
            <a:spLocks noGrp="1"/>
          </p:cNvSpPr>
          <p:nvPr/>
        </p:nvSpPr>
        <p:spPr>
          <a:xfrm>
            <a:off x="781050" y="2000250"/>
            <a:ext cx="4381500" cy="514350"/>
          </a:xfrm>
          <a:prstGeom prst="roundRect">
            <a:avLst>
              <a:gd name="adj" fmla="val 25926"/>
            </a:avLst>
          </a:prstGeom>
          <a:solidFill>
            <a:srgbClr val="0D2940"/>
          </a:solidFill>
          <a:ln w="14288">
            <a:solidFill>
              <a:srgbClr val="345267"/>
            </a:solidFill>
            <a:prstDash val="solid"/>
          </a:ln>
        </p:spPr>
        <p:txBody>
          <a:bodyPr/>
          <a:lstStyle/>
          <a:p>
            <a:endParaRPr lang="en-US"/>
          </a:p>
        </p:txBody>
      </p:sp>
      <p:sp>
        <p:nvSpPr>
          <p:cNvPr id="7" name="Rounded Rectangle 6">
            <a:extLst>
              <a:ext uri="{FF2B5EF4-FFF2-40B4-BE49-F238E27FC236}">
                <a16:creationId xmlns:a16="http://schemas.microsoft.com/office/drawing/2014/main" id="{9688C683-3041-49D1-B235-61E27E28B9A1}"/>
              </a:ext>
            </a:extLst>
          </p:cNvPr>
          <p:cNvSpPr>
            <a:spLocks noGrp="1"/>
          </p:cNvSpPr>
          <p:nvPr/>
        </p:nvSpPr>
        <p:spPr>
          <a:xfrm>
            <a:off x="6858000" y="2000250"/>
            <a:ext cx="4381500" cy="514350"/>
          </a:xfrm>
          <a:prstGeom prst="roundRect">
            <a:avLst>
              <a:gd name="adj" fmla="val 25926"/>
            </a:avLst>
          </a:prstGeom>
          <a:solidFill>
            <a:srgbClr val="0D2940"/>
          </a:solidFill>
          <a:ln w="14288">
            <a:solidFill>
              <a:srgbClr val="345267"/>
            </a:solidFill>
            <a:prstDash val="solid"/>
          </a:ln>
        </p:spPr>
        <p:txBody>
          <a:bodyPr/>
          <a:lstStyle/>
          <a:p>
            <a:endParaRPr lang="en-US"/>
          </a:p>
        </p:txBody>
      </p:sp>
      <p:sp>
        <p:nvSpPr>
          <p:cNvPr id="8" name="Rectangle 7">
            <a:extLst>
              <a:ext uri="{FF2B5EF4-FFF2-40B4-BE49-F238E27FC236}">
                <a16:creationId xmlns:a16="http://schemas.microsoft.com/office/drawing/2014/main" id="{4B4A43A1-7170-4D89-9401-8515B90629EE}"/>
              </a:ext>
            </a:extLst>
          </p:cNvPr>
          <p:cNvSpPr>
            <a:spLocks noGrp="1"/>
          </p:cNvSpPr>
          <p:nvPr/>
        </p:nvSpPr>
        <p:spPr>
          <a:xfrm>
            <a:off x="1000125" y="2133600"/>
            <a:ext cx="3905250" cy="238125"/>
          </a:xfrm>
          <a:prstGeom prst="rect">
            <a:avLst/>
          </a:prstGeom>
          <a:noFill/>
          <a:ln w="0">
            <a:noFill/>
          </a:ln>
        </p:spPr>
        <p:txBody>
          <a:bodyPr>
            <a:noAutofit/>
          </a:bodyPr>
          <a:lstStyle/>
          <a:p>
            <a:pPr algn="l">
              <a:defRPr sz="1350" b="0" i="0">
                <a:solidFill>
                  <a:srgbClr val="F4F8FB"/>
                </a:solidFill>
                <a:latin typeface="Bitstream Charter"/>
                <a:ea typeface="Bitstream Charter"/>
                <a:cs typeface="Bitstream Charter"/>
              </a:defRPr>
            </a:pPr>
            <a:r>
              <a:rPr sz="1350" b="0" i="0">
                <a:solidFill>
                  <a:srgbClr val="F4F8FB"/>
                </a:solidFill>
                <a:latin typeface="Bitstream Charter"/>
                <a:ea typeface="Bitstream Charter"/>
                <a:cs typeface="Bitstream Charter"/>
              </a:rPr>
              <a:t>Demand arrives in bursts</a:t>
            </a:r>
          </a:p>
        </p:txBody>
      </p:sp>
      <p:sp>
        <p:nvSpPr>
          <p:cNvPr id="9" name="Rectangle 8">
            <a:extLst>
              <a:ext uri="{FF2B5EF4-FFF2-40B4-BE49-F238E27FC236}">
                <a16:creationId xmlns:a16="http://schemas.microsoft.com/office/drawing/2014/main" id="{50BF4D58-4E1B-46CA-9EFD-207BF1DC04BD}"/>
              </a:ext>
            </a:extLst>
          </p:cNvPr>
          <p:cNvSpPr>
            <a:spLocks noGrp="1"/>
          </p:cNvSpPr>
          <p:nvPr/>
        </p:nvSpPr>
        <p:spPr>
          <a:xfrm>
            <a:off x="7077075" y="2133600"/>
            <a:ext cx="3905250" cy="238125"/>
          </a:xfrm>
          <a:prstGeom prst="rect">
            <a:avLst/>
          </a:prstGeom>
          <a:noFill/>
          <a:ln w="0">
            <a:noFill/>
          </a:ln>
        </p:spPr>
        <p:txBody>
          <a:bodyPr>
            <a:noAutofit/>
          </a:bodyPr>
          <a:lstStyle/>
          <a:p>
            <a:pPr algn="l">
              <a:defRPr sz="1350" b="0" i="0">
                <a:solidFill>
                  <a:srgbClr val="F4F8FB"/>
                </a:solidFill>
                <a:latin typeface="Bitstream Charter"/>
                <a:ea typeface="Bitstream Charter"/>
                <a:cs typeface="Bitstream Charter"/>
              </a:defRPr>
            </a:pPr>
            <a:r>
              <a:rPr sz="1350" b="0" i="0">
                <a:solidFill>
                  <a:srgbClr val="F4F8FB"/>
                </a:solidFill>
                <a:latin typeface="Bitstream Charter"/>
                <a:ea typeface="Bitstream Charter"/>
                <a:cs typeface="Bitstream Charter"/>
              </a:rPr>
              <a:t>Jobs spike with user traffic</a:t>
            </a:r>
          </a:p>
        </p:txBody>
      </p:sp>
      <p:sp>
        <p:nvSpPr>
          <p:cNvPr id="10" name="Rounded Rectangle 9">
            <a:extLst>
              <a:ext uri="{FF2B5EF4-FFF2-40B4-BE49-F238E27FC236}">
                <a16:creationId xmlns:a16="http://schemas.microsoft.com/office/drawing/2014/main" id="{E7134976-D39E-4F3F-9D24-D5E025BE8DDB}"/>
              </a:ext>
            </a:extLst>
          </p:cNvPr>
          <p:cNvSpPr>
            <a:spLocks noGrp="1"/>
          </p:cNvSpPr>
          <p:nvPr/>
        </p:nvSpPr>
        <p:spPr>
          <a:xfrm>
            <a:off x="5362575" y="2238375"/>
            <a:ext cx="1047750" cy="38100"/>
          </a:xfrm>
          <a:prstGeom prst="roundRect">
            <a:avLst>
              <a:gd name="adj" fmla="val 50000"/>
            </a:avLst>
          </a:prstGeom>
          <a:solidFill>
            <a:srgbClr val="345267"/>
          </a:solidFill>
          <a:ln w="0">
            <a:solidFill>
              <a:srgbClr val="345267"/>
            </a:solidFill>
            <a:prstDash val="solid"/>
          </a:ln>
        </p:spPr>
        <p:txBody>
          <a:bodyPr/>
          <a:lstStyle/>
          <a:p>
            <a:endParaRPr lang="en-US"/>
          </a:p>
        </p:txBody>
      </p:sp>
      <p:sp>
        <p:nvSpPr>
          <p:cNvPr id="11" name="Rounded Rectangle 10">
            <a:extLst>
              <a:ext uri="{FF2B5EF4-FFF2-40B4-BE49-F238E27FC236}">
                <a16:creationId xmlns:a16="http://schemas.microsoft.com/office/drawing/2014/main" id="{0513E3FD-FF4D-4424-B992-3ADFB144AC64}"/>
              </a:ext>
            </a:extLst>
          </p:cNvPr>
          <p:cNvSpPr>
            <a:spLocks noGrp="1"/>
          </p:cNvSpPr>
          <p:nvPr/>
        </p:nvSpPr>
        <p:spPr>
          <a:xfrm>
            <a:off x="5362575" y="2238375"/>
            <a:ext cx="1047750" cy="38100"/>
          </a:xfrm>
          <a:prstGeom prst="roundRect">
            <a:avLst>
              <a:gd name="adj" fmla="val 50000"/>
            </a:avLst>
          </a:prstGeom>
          <a:solidFill>
            <a:srgbClr val="345267"/>
          </a:solidFill>
          <a:ln w="0">
            <a:solidFill>
              <a:srgbClr val="345267"/>
            </a:solidFill>
            <a:prstDash val="solid"/>
          </a:ln>
        </p:spPr>
        <p:txBody>
          <a:bodyPr/>
          <a:lstStyle/>
          <a:p>
            <a:endParaRPr lang="en-US"/>
          </a:p>
        </p:txBody>
      </p:sp>
      <p:cxnSp>
        <p:nvCxnSpPr>
          <p:cNvPr id="52" name="Straight Arrow Connector 51"/>
          <p:cNvCxnSpPr>
            <a:stCxn id="10" idx="0"/>
            <a:endCxn id="11" idx="0"/>
          </p:cNvCxnSpPr>
          <p:nvPr/>
        </p:nvCxnSpPr>
        <p:spPr>
          <a:prstGeom prst="straightConnector1">
            <a:avLst/>
          </a:prstGeom>
          <a:ln w="23813">
            <a:solidFill>
              <a:srgbClr val="345267"/>
            </a:solidFill>
            <a:prstDash val="solid"/>
            <a:headEnd type="none" w="med" len="med"/>
            <a:tailEnd type="none" w="med" len="med"/>
          </a:ln>
        </p:spPr>
      </p:cxnSp>
      <p:sp>
        <p:nvSpPr>
          <p:cNvPr id="13" name="Rounded Rectangle 12">
            <a:extLst>
              <a:ext uri="{FF2B5EF4-FFF2-40B4-BE49-F238E27FC236}">
                <a16:creationId xmlns:a16="http://schemas.microsoft.com/office/drawing/2014/main" id="{7A83A0A9-29E7-4105-BC51-388AD928F395}"/>
              </a:ext>
            </a:extLst>
          </p:cNvPr>
          <p:cNvSpPr>
            <a:spLocks noGrp="1"/>
          </p:cNvSpPr>
          <p:nvPr/>
        </p:nvSpPr>
        <p:spPr>
          <a:xfrm>
            <a:off x="781050" y="2724150"/>
            <a:ext cx="4381500" cy="514350"/>
          </a:xfrm>
          <a:prstGeom prst="roundRect">
            <a:avLst>
              <a:gd name="adj" fmla="val 25926"/>
            </a:avLst>
          </a:prstGeom>
          <a:solidFill>
            <a:srgbClr val="0D2940"/>
          </a:solidFill>
          <a:ln w="14288">
            <a:solidFill>
              <a:srgbClr val="345267"/>
            </a:solidFill>
            <a:prstDash val="solid"/>
          </a:ln>
        </p:spPr>
        <p:txBody>
          <a:bodyPr/>
          <a:lstStyle/>
          <a:p>
            <a:endParaRPr lang="en-US"/>
          </a:p>
        </p:txBody>
      </p:sp>
      <p:sp>
        <p:nvSpPr>
          <p:cNvPr id="14" name="Rounded Rectangle 13">
            <a:extLst>
              <a:ext uri="{FF2B5EF4-FFF2-40B4-BE49-F238E27FC236}">
                <a16:creationId xmlns:a16="http://schemas.microsoft.com/office/drawing/2014/main" id="{B2281A10-B428-4198-8911-4718133FA542}"/>
              </a:ext>
            </a:extLst>
          </p:cNvPr>
          <p:cNvSpPr>
            <a:spLocks noGrp="1"/>
          </p:cNvSpPr>
          <p:nvPr/>
        </p:nvSpPr>
        <p:spPr>
          <a:xfrm>
            <a:off x="6858000" y="2724150"/>
            <a:ext cx="4381500" cy="514350"/>
          </a:xfrm>
          <a:prstGeom prst="roundRect">
            <a:avLst>
              <a:gd name="adj" fmla="val 25926"/>
            </a:avLst>
          </a:prstGeom>
          <a:solidFill>
            <a:srgbClr val="0D2940"/>
          </a:solidFill>
          <a:ln w="14288">
            <a:solidFill>
              <a:srgbClr val="345267"/>
            </a:solidFill>
            <a:prstDash val="solid"/>
          </a:ln>
        </p:spPr>
        <p:txBody>
          <a:bodyPr/>
          <a:lstStyle/>
          <a:p>
            <a:endParaRPr lang="en-US"/>
          </a:p>
        </p:txBody>
      </p:sp>
      <p:sp>
        <p:nvSpPr>
          <p:cNvPr id="15" name="Rectangle 14">
            <a:extLst>
              <a:ext uri="{FF2B5EF4-FFF2-40B4-BE49-F238E27FC236}">
                <a16:creationId xmlns:a16="http://schemas.microsoft.com/office/drawing/2014/main" id="{CE48A538-9257-4021-AC95-2C8DF427E090}"/>
              </a:ext>
            </a:extLst>
          </p:cNvPr>
          <p:cNvSpPr>
            <a:spLocks noGrp="1"/>
          </p:cNvSpPr>
          <p:nvPr/>
        </p:nvSpPr>
        <p:spPr>
          <a:xfrm>
            <a:off x="1000125" y="2857500"/>
            <a:ext cx="3905250" cy="238125"/>
          </a:xfrm>
          <a:prstGeom prst="rect">
            <a:avLst/>
          </a:prstGeom>
          <a:noFill/>
          <a:ln w="0">
            <a:noFill/>
          </a:ln>
        </p:spPr>
        <p:txBody>
          <a:bodyPr>
            <a:noAutofit/>
          </a:bodyPr>
          <a:lstStyle/>
          <a:p>
            <a:pPr algn="l">
              <a:defRPr sz="1350" b="0" i="0">
                <a:solidFill>
                  <a:srgbClr val="F4F8FB"/>
                </a:solidFill>
                <a:latin typeface="Bitstream Charter"/>
                <a:ea typeface="Bitstream Charter"/>
                <a:cs typeface="Bitstream Charter"/>
              </a:defRPr>
            </a:pPr>
            <a:r>
              <a:rPr sz="1350" b="0" i="0">
                <a:solidFill>
                  <a:srgbClr val="F4F8FB"/>
                </a:solidFill>
                <a:latin typeface="Bitstream Charter"/>
                <a:ea typeface="Bitstream Charter"/>
                <a:cs typeface="Bitstream Charter"/>
              </a:rPr>
              <a:t>Reserve resource blocks</a:t>
            </a:r>
          </a:p>
        </p:txBody>
      </p:sp>
      <p:sp>
        <p:nvSpPr>
          <p:cNvPr id="16" name="Rectangle 15">
            <a:extLst>
              <a:ext uri="{FF2B5EF4-FFF2-40B4-BE49-F238E27FC236}">
                <a16:creationId xmlns:a16="http://schemas.microsoft.com/office/drawing/2014/main" id="{5CF24CCC-3E02-4A20-A284-FF24A38D5F4D}"/>
              </a:ext>
            </a:extLst>
          </p:cNvPr>
          <p:cNvSpPr>
            <a:spLocks noGrp="1"/>
          </p:cNvSpPr>
          <p:nvPr/>
        </p:nvSpPr>
        <p:spPr>
          <a:xfrm>
            <a:off x="7077075" y="2857500"/>
            <a:ext cx="3905250" cy="238125"/>
          </a:xfrm>
          <a:prstGeom prst="rect">
            <a:avLst/>
          </a:prstGeom>
          <a:noFill/>
          <a:ln w="0">
            <a:noFill/>
          </a:ln>
        </p:spPr>
        <p:txBody>
          <a:bodyPr>
            <a:noAutofit/>
          </a:bodyPr>
          <a:lstStyle/>
          <a:p>
            <a:pPr algn="l">
              <a:defRPr sz="1350" b="0" i="0">
                <a:solidFill>
                  <a:srgbClr val="F4F8FB"/>
                </a:solidFill>
                <a:latin typeface="Bitstream Charter"/>
                <a:ea typeface="Bitstream Charter"/>
                <a:cs typeface="Bitstream Charter"/>
              </a:defRPr>
            </a:pPr>
            <a:r>
              <a:rPr sz="1350" b="0" i="0">
                <a:solidFill>
                  <a:srgbClr val="F4F8FB"/>
                </a:solidFill>
                <a:latin typeface="Bitstream Charter"/>
                <a:ea typeface="Bitstream Charter"/>
                <a:cs typeface="Bitstream Charter"/>
              </a:rPr>
              <a:t>Reserve servers / power / cooling</a:t>
            </a:r>
          </a:p>
        </p:txBody>
      </p:sp>
      <p:sp>
        <p:nvSpPr>
          <p:cNvPr id="17" name="Rounded Rectangle 16">
            <a:extLst>
              <a:ext uri="{FF2B5EF4-FFF2-40B4-BE49-F238E27FC236}">
                <a16:creationId xmlns:a16="http://schemas.microsoft.com/office/drawing/2014/main" id="{569DB366-E170-456E-BFB8-6344FD487E83}"/>
              </a:ext>
            </a:extLst>
          </p:cNvPr>
          <p:cNvSpPr>
            <a:spLocks noGrp="1"/>
          </p:cNvSpPr>
          <p:nvPr/>
        </p:nvSpPr>
        <p:spPr>
          <a:xfrm>
            <a:off x="5362575" y="2962275"/>
            <a:ext cx="1047750" cy="38100"/>
          </a:xfrm>
          <a:prstGeom prst="roundRect">
            <a:avLst>
              <a:gd name="adj" fmla="val 50000"/>
            </a:avLst>
          </a:prstGeom>
          <a:solidFill>
            <a:srgbClr val="345267"/>
          </a:solidFill>
          <a:ln w="0">
            <a:solidFill>
              <a:srgbClr val="345267"/>
            </a:solidFill>
            <a:prstDash val="solid"/>
          </a:ln>
        </p:spPr>
        <p:txBody>
          <a:bodyPr/>
          <a:lstStyle/>
          <a:p>
            <a:endParaRPr lang="en-US"/>
          </a:p>
        </p:txBody>
      </p:sp>
      <p:sp>
        <p:nvSpPr>
          <p:cNvPr id="18" name="Rounded Rectangle 17">
            <a:extLst>
              <a:ext uri="{FF2B5EF4-FFF2-40B4-BE49-F238E27FC236}">
                <a16:creationId xmlns:a16="http://schemas.microsoft.com/office/drawing/2014/main" id="{88FC8ACD-9C8E-4F68-A74D-CCF5DED8C5C9}"/>
              </a:ext>
            </a:extLst>
          </p:cNvPr>
          <p:cNvSpPr>
            <a:spLocks noGrp="1"/>
          </p:cNvSpPr>
          <p:nvPr/>
        </p:nvSpPr>
        <p:spPr>
          <a:xfrm>
            <a:off x="5362575" y="2962275"/>
            <a:ext cx="1047750" cy="38100"/>
          </a:xfrm>
          <a:prstGeom prst="roundRect">
            <a:avLst>
              <a:gd name="adj" fmla="val 50000"/>
            </a:avLst>
          </a:prstGeom>
          <a:solidFill>
            <a:srgbClr val="345267"/>
          </a:solidFill>
          <a:ln w="0">
            <a:solidFill>
              <a:srgbClr val="345267"/>
            </a:solidFill>
            <a:prstDash val="solid"/>
          </a:ln>
        </p:spPr>
        <p:txBody>
          <a:bodyPr/>
          <a:lstStyle/>
          <a:p>
            <a:endParaRPr lang="en-US"/>
          </a:p>
        </p:txBody>
      </p:sp>
      <p:cxnSp>
        <p:nvCxnSpPr>
          <p:cNvPr id="59" name="Straight Arrow Connector 58"/>
          <p:cNvCxnSpPr>
            <a:stCxn id="17" idx="0"/>
            <a:endCxn id="18" idx="0"/>
          </p:cNvCxnSpPr>
          <p:nvPr/>
        </p:nvCxnSpPr>
        <p:spPr>
          <a:prstGeom prst="straightConnector1">
            <a:avLst/>
          </a:prstGeom>
          <a:ln w="23813">
            <a:solidFill>
              <a:srgbClr val="345267"/>
            </a:solidFill>
            <a:prstDash val="solid"/>
            <a:headEnd type="none" w="med" len="med"/>
            <a:tailEnd type="none" w="med" len="med"/>
          </a:ln>
        </p:spPr>
      </p:cxnSp>
      <p:sp>
        <p:nvSpPr>
          <p:cNvPr id="20" name="Rounded Rectangle 19">
            <a:extLst>
              <a:ext uri="{FF2B5EF4-FFF2-40B4-BE49-F238E27FC236}">
                <a16:creationId xmlns:a16="http://schemas.microsoft.com/office/drawing/2014/main" id="{D9644FB2-92B6-40E1-A79D-29FCDEF6914F}"/>
              </a:ext>
            </a:extLst>
          </p:cNvPr>
          <p:cNvSpPr>
            <a:spLocks noGrp="1"/>
          </p:cNvSpPr>
          <p:nvPr/>
        </p:nvSpPr>
        <p:spPr>
          <a:xfrm>
            <a:off x="781050" y="3448050"/>
            <a:ext cx="4381500" cy="514350"/>
          </a:xfrm>
          <a:prstGeom prst="roundRect">
            <a:avLst>
              <a:gd name="adj" fmla="val 25926"/>
            </a:avLst>
          </a:prstGeom>
          <a:solidFill>
            <a:srgbClr val="0D2940"/>
          </a:solidFill>
          <a:ln w="14288">
            <a:solidFill>
              <a:srgbClr val="345267"/>
            </a:solidFill>
            <a:prstDash val="solid"/>
          </a:ln>
        </p:spPr>
        <p:txBody>
          <a:bodyPr/>
          <a:lstStyle/>
          <a:p>
            <a:endParaRPr lang="en-US"/>
          </a:p>
        </p:txBody>
      </p:sp>
      <p:sp>
        <p:nvSpPr>
          <p:cNvPr id="21" name="Rounded Rectangle 20">
            <a:extLst>
              <a:ext uri="{FF2B5EF4-FFF2-40B4-BE49-F238E27FC236}">
                <a16:creationId xmlns:a16="http://schemas.microsoft.com/office/drawing/2014/main" id="{A3E05F1F-112F-4E78-8D53-53EFDEDC6681}"/>
              </a:ext>
            </a:extLst>
          </p:cNvPr>
          <p:cNvSpPr>
            <a:spLocks noGrp="1"/>
          </p:cNvSpPr>
          <p:nvPr/>
        </p:nvSpPr>
        <p:spPr>
          <a:xfrm>
            <a:off x="6858000" y="3448050"/>
            <a:ext cx="4381500" cy="514350"/>
          </a:xfrm>
          <a:prstGeom prst="roundRect">
            <a:avLst>
              <a:gd name="adj" fmla="val 25926"/>
            </a:avLst>
          </a:prstGeom>
          <a:solidFill>
            <a:srgbClr val="0D2940"/>
          </a:solidFill>
          <a:ln w="14288">
            <a:solidFill>
              <a:srgbClr val="345267"/>
            </a:solidFill>
            <a:prstDash val="solid"/>
          </a:ln>
        </p:spPr>
        <p:txBody>
          <a:bodyPr/>
          <a:lstStyle/>
          <a:p>
            <a:endParaRPr lang="en-US"/>
          </a:p>
        </p:txBody>
      </p:sp>
      <p:sp>
        <p:nvSpPr>
          <p:cNvPr id="22" name="Rectangle 21">
            <a:extLst>
              <a:ext uri="{FF2B5EF4-FFF2-40B4-BE49-F238E27FC236}">
                <a16:creationId xmlns:a16="http://schemas.microsoft.com/office/drawing/2014/main" id="{092D6889-8BF3-4DD8-BA19-20B58E252047}"/>
              </a:ext>
            </a:extLst>
          </p:cNvPr>
          <p:cNvSpPr>
            <a:spLocks noGrp="1"/>
          </p:cNvSpPr>
          <p:nvPr/>
        </p:nvSpPr>
        <p:spPr>
          <a:xfrm>
            <a:off x="1000125" y="3581400"/>
            <a:ext cx="3905250" cy="238125"/>
          </a:xfrm>
          <a:prstGeom prst="rect">
            <a:avLst/>
          </a:prstGeom>
          <a:noFill/>
          <a:ln w="0">
            <a:noFill/>
          </a:ln>
        </p:spPr>
        <p:txBody>
          <a:bodyPr>
            <a:noAutofit/>
          </a:bodyPr>
          <a:lstStyle/>
          <a:p>
            <a:pPr algn="l">
              <a:defRPr sz="1350" b="0" i="0">
                <a:solidFill>
                  <a:srgbClr val="F4F8FB"/>
                </a:solidFill>
                <a:latin typeface="Bitstream Charter"/>
                <a:ea typeface="Bitstream Charter"/>
                <a:cs typeface="Bitstream Charter"/>
              </a:defRPr>
            </a:pPr>
            <a:r>
              <a:rPr sz="1350" b="0" i="0">
                <a:solidFill>
                  <a:srgbClr val="F4F8FB"/>
                </a:solidFill>
                <a:latin typeface="Bitstream Charter"/>
                <a:ea typeface="Bitstream Charter"/>
                <a:cs typeface="Bitstream Charter"/>
              </a:rPr>
              <a:t>Too little allocation</a:t>
            </a:r>
          </a:p>
        </p:txBody>
      </p:sp>
      <p:sp>
        <p:nvSpPr>
          <p:cNvPr id="23" name="Rectangle 22">
            <a:extLst>
              <a:ext uri="{FF2B5EF4-FFF2-40B4-BE49-F238E27FC236}">
                <a16:creationId xmlns:a16="http://schemas.microsoft.com/office/drawing/2014/main" id="{8B491BF2-0620-40B7-9179-0375CEB32D63}"/>
              </a:ext>
            </a:extLst>
          </p:cNvPr>
          <p:cNvSpPr>
            <a:spLocks noGrp="1"/>
          </p:cNvSpPr>
          <p:nvPr/>
        </p:nvSpPr>
        <p:spPr>
          <a:xfrm>
            <a:off x="7077075" y="3581400"/>
            <a:ext cx="3905250" cy="238125"/>
          </a:xfrm>
          <a:prstGeom prst="rect">
            <a:avLst/>
          </a:prstGeom>
          <a:noFill/>
          <a:ln w="0">
            <a:noFill/>
          </a:ln>
        </p:spPr>
        <p:txBody>
          <a:bodyPr>
            <a:noAutofit/>
          </a:bodyPr>
          <a:lstStyle/>
          <a:p>
            <a:pPr algn="l">
              <a:defRPr sz="1350" b="0" i="0">
                <a:solidFill>
                  <a:srgbClr val="F4F8FB"/>
                </a:solidFill>
                <a:latin typeface="Bitstream Charter"/>
                <a:ea typeface="Bitstream Charter"/>
                <a:cs typeface="Bitstream Charter"/>
              </a:defRPr>
            </a:pPr>
            <a:r>
              <a:rPr sz="1350" b="0" i="0">
                <a:solidFill>
                  <a:srgbClr val="F4F8FB"/>
                </a:solidFill>
                <a:latin typeface="Bitstream Charter"/>
                <a:ea typeface="Bitstream Charter"/>
                <a:cs typeface="Bitstream Charter"/>
              </a:rPr>
              <a:t>Queueing and missed deadlines</a:t>
            </a:r>
          </a:p>
        </p:txBody>
      </p:sp>
      <p:sp>
        <p:nvSpPr>
          <p:cNvPr id="24" name="Rounded Rectangle 23">
            <a:extLst>
              <a:ext uri="{FF2B5EF4-FFF2-40B4-BE49-F238E27FC236}">
                <a16:creationId xmlns:a16="http://schemas.microsoft.com/office/drawing/2014/main" id="{9D84D809-ABD8-4538-865F-5F83E27BEB18}"/>
              </a:ext>
            </a:extLst>
          </p:cNvPr>
          <p:cNvSpPr>
            <a:spLocks noGrp="1"/>
          </p:cNvSpPr>
          <p:nvPr/>
        </p:nvSpPr>
        <p:spPr>
          <a:xfrm>
            <a:off x="5362575" y="3686175"/>
            <a:ext cx="1047750" cy="38100"/>
          </a:xfrm>
          <a:prstGeom prst="roundRect">
            <a:avLst>
              <a:gd name="adj" fmla="val 50000"/>
            </a:avLst>
          </a:prstGeom>
          <a:solidFill>
            <a:srgbClr val="345267"/>
          </a:solidFill>
          <a:ln w="0">
            <a:solidFill>
              <a:srgbClr val="345267"/>
            </a:solidFill>
            <a:prstDash val="solid"/>
          </a:ln>
        </p:spPr>
        <p:txBody>
          <a:bodyPr/>
          <a:lstStyle/>
          <a:p>
            <a:endParaRPr lang="en-US"/>
          </a:p>
        </p:txBody>
      </p:sp>
      <p:sp>
        <p:nvSpPr>
          <p:cNvPr id="25" name="Rounded Rectangle 24">
            <a:extLst>
              <a:ext uri="{FF2B5EF4-FFF2-40B4-BE49-F238E27FC236}">
                <a16:creationId xmlns:a16="http://schemas.microsoft.com/office/drawing/2014/main" id="{D51401DB-B089-4266-9BC4-0028D1F70888}"/>
              </a:ext>
            </a:extLst>
          </p:cNvPr>
          <p:cNvSpPr>
            <a:spLocks noGrp="1"/>
          </p:cNvSpPr>
          <p:nvPr/>
        </p:nvSpPr>
        <p:spPr>
          <a:xfrm>
            <a:off x="5362575" y="3686175"/>
            <a:ext cx="1047750" cy="38100"/>
          </a:xfrm>
          <a:prstGeom prst="roundRect">
            <a:avLst>
              <a:gd name="adj" fmla="val 50000"/>
            </a:avLst>
          </a:prstGeom>
          <a:solidFill>
            <a:srgbClr val="345267"/>
          </a:solidFill>
          <a:ln w="0">
            <a:solidFill>
              <a:srgbClr val="345267"/>
            </a:solidFill>
            <a:prstDash val="solid"/>
          </a:ln>
        </p:spPr>
        <p:txBody>
          <a:bodyPr/>
          <a:lstStyle/>
          <a:p>
            <a:endParaRPr lang="en-US"/>
          </a:p>
        </p:txBody>
      </p:sp>
      <p:cxnSp>
        <p:nvCxnSpPr>
          <p:cNvPr id="66" name="Straight Arrow Connector 65"/>
          <p:cNvCxnSpPr>
            <a:stCxn id="24" idx="0"/>
            <a:endCxn id="25" idx="0"/>
          </p:cNvCxnSpPr>
          <p:nvPr/>
        </p:nvCxnSpPr>
        <p:spPr>
          <a:prstGeom prst="straightConnector1">
            <a:avLst/>
          </a:prstGeom>
          <a:ln w="23813">
            <a:solidFill>
              <a:srgbClr val="345267"/>
            </a:solidFill>
            <a:prstDash val="solid"/>
            <a:headEnd type="none" w="med" len="med"/>
            <a:tailEnd type="none" w="med" len="med"/>
          </a:ln>
        </p:spPr>
      </p:cxnSp>
      <p:sp>
        <p:nvSpPr>
          <p:cNvPr id="27" name="Rounded Rectangle 26">
            <a:extLst>
              <a:ext uri="{FF2B5EF4-FFF2-40B4-BE49-F238E27FC236}">
                <a16:creationId xmlns:a16="http://schemas.microsoft.com/office/drawing/2014/main" id="{A51BBC4E-357E-480C-BB5A-09DB93AD41A3}"/>
              </a:ext>
            </a:extLst>
          </p:cNvPr>
          <p:cNvSpPr>
            <a:spLocks noGrp="1"/>
          </p:cNvSpPr>
          <p:nvPr/>
        </p:nvSpPr>
        <p:spPr>
          <a:xfrm>
            <a:off x="781050" y="4171950"/>
            <a:ext cx="4381500" cy="514350"/>
          </a:xfrm>
          <a:prstGeom prst="roundRect">
            <a:avLst>
              <a:gd name="adj" fmla="val 25926"/>
            </a:avLst>
          </a:prstGeom>
          <a:solidFill>
            <a:srgbClr val="0D2940"/>
          </a:solidFill>
          <a:ln w="14288">
            <a:solidFill>
              <a:srgbClr val="345267"/>
            </a:solidFill>
            <a:prstDash val="solid"/>
          </a:ln>
        </p:spPr>
        <p:txBody>
          <a:bodyPr/>
          <a:lstStyle/>
          <a:p>
            <a:endParaRPr lang="en-US"/>
          </a:p>
        </p:txBody>
      </p:sp>
      <p:sp>
        <p:nvSpPr>
          <p:cNvPr id="28" name="Rounded Rectangle 27">
            <a:extLst>
              <a:ext uri="{FF2B5EF4-FFF2-40B4-BE49-F238E27FC236}">
                <a16:creationId xmlns:a16="http://schemas.microsoft.com/office/drawing/2014/main" id="{59A1125D-709D-4220-A9F8-D0C0201A2379}"/>
              </a:ext>
            </a:extLst>
          </p:cNvPr>
          <p:cNvSpPr>
            <a:spLocks noGrp="1"/>
          </p:cNvSpPr>
          <p:nvPr/>
        </p:nvSpPr>
        <p:spPr>
          <a:xfrm>
            <a:off x="6858000" y="4171950"/>
            <a:ext cx="4381500" cy="514350"/>
          </a:xfrm>
          <a:prstGeom prst="roundRect">
            <a:avLst>
              <a:gd name="adj" fmla="val 25926"/>
            </a:avLst>
          </a:prstGeom>
          <a:solidFill>
            <a:srgbClr val="0D2940"/>
          </a:solidFill>
          <a:ln w="14288">
            <a:solidFill>
              <a:srgbClr val="345267"/>
            </a:solidFill>
            <a:prstDash val="solid"/>
          </a:ln>
        </p:spPr>
        <p:txBody>
          <a:bodyPr/>
          <a:lstStyle/>
          <a:p>
            <a:endParaRPr lang="en-US"/>
          </a:p>
        </p:txBody>
      </p:sp>
      <p:sp>
        <p:nvSpPr>
          <p:cNvPr id="29" name="Rectangle 28">
            <a:extLst>
              <a:ext uri="{FF2B5EF4-FFF2-40B4-BE49-F238E27FC236}">
                <a16:creationId xmlns:a16="http://schemas.microsoft.com/office/drawing/2014/main" id="{27316AEC-2281-4924-8FFC-80FF23933CC1}"/>
              </a:ext>
            </a:extLst>
          </p:cNvPr>
          <p:cNvSpPr>
            <a:spLocks noGrp="1"/>
          </p:cNvSpPr>
          <p:nvPr/>
        </p:nvSpPr>
        <p:spPr>
          <a:xfrm>
            <a:off x="1000125" y="4305300"/>
            <a:ext cx="3905250" cy="238125"/>
          </a:xfrm>
          <a:prstGeom prst="rect">
            <a:avLst/>
          </a:prstGeom>
          <a:noFill/>
          <a:ln w="0">
            <a:noFill/>
          </a:ln>
        </p:spPr>
        <p:txBody>
          <a:bodyPr>
            <a:noAutofit/>
          </a:bodyPr>
          <a:lstStyle/>
          <a:p>
            <a:pPr algn="l">
              <a:defRPr sz="1350" b="0" i="0">
                <a:solidFill>
                  <a:srgbClr val="F4F8FB"/>
                </a:solidFill>
                <a:latin typeface="Bitstream Charter"/>
                <a:ea typeface="Bitstream Charter"/>
                <a:cs typeface="Bitstream Charter"/>
              </a:defRPr>
            </a:pPr>
            <a:r>
              <a:rPr sz="1350" b="0" i="0">
                <a:solidFill>
                  <a:srgbClr val="F4F8FB"/>
                </a:solidFill>
                <a:latin typeface="Bitstream Charter"/>
                <a:ea typeface="Bitstream Charter"/>
                <a:cs typeface="Bitstream Charter"/>
              </a:rPr>
              <a:t>Too much allocation</a:t>
            </a:r>
          </a:p>
        </p:txBody>
      </p:sp>
      <p:sp>
        <p:nvSpPr>
          <p:cNvPr id="30" name="Rectangle 29">
            <a:extLst>
              <a:ext uri="{FF2B5EF4-FFF2-40B4-BE49-F238E27FC236}">
                <a16:creationId xmlns:a16="http://schemas.microsoft.com/office/drawing/2014/main" id="{13EDA91D-58A9-4514-9419-E3FE47639FD3}"/>
              </a:ext>
            </a:extLst>
          </p:cNvPr>
          <p:cNvSpPr>
            <a:spLocks noGrp="1"/>
          </p:cNvSpPr>
          <p:nvPr/>
        </p:nvSpPr>
        <p:spPr>
          <a:xfrm>
            <a:off x="7077075" y="4305300"/>
            <a:ext cx="3905250" cy="238125"/>
          </a:xfrm>
          <a:prstGeom prst="rect">
            <a:avLst/>
          </a:prstGeom>
          <a:noFill/>
          <a:ln w="0">
            <a:noFill/>
          </a:ln>
        </p:spPr>
        <p:txBody>
          <a:bodyPr>
            <a:noAutofit/>
          </a:bodyPr>
          <a:lstStyle/>
          <a:p>
            <a:pPr algn="l">
              <a:defRPr sz="1350" b="0" i="0">
                <a:solidFill>
                  <a:srgbClr val="F4F8FB"/>
                </a:solidFill>
                <a:latin typeface="Bitstream Charter"/>
                <a:ea typeface="Bitstream Charter"/>
                <a:cs typeface="Bitstream Charter"/>
              </a:defRPr>
            </a:pPr>
            <a:r>
              <a:rPr sz="1350" b="0" i="0">
                <a:solidFill>
                  <a:srgbClr val="F4F8FB"/>
                </a:solidFill>
                <a:latin typeface="Bitstream Charter"/>
                <a:ea typeface="Bitstream Charter"/>
                <a:cs typeface="Bitstream Charter"/>
              </a:rPr>
              <a:t>Idle capacity and wasted energy</a:t>
            </a:r>
          </a:p>
        </p:txBody>
      </p:sp>
      <p:sp>
        <p:nvSpPr>
          <p:cNvPr id="31" name="Rounded Rectangle 30">
            <a:extLst>
              <a:ext uri="{FF2B5EF4-FFF2-40B4-BE49-F238E27FC236}">
                <a16:creationId xmlns:a16="http://schemas.microsoft.com/office/drawing/2014/main" id="{628D998A-2F05-4EF2-A0AF-D9C0A37E58A3}"/>
              </a:ext>
            </a:extLst>
          </p:cNvPr>
          <p:cNvSpPr>
            <a:spLocks noGrp="1"/>
          </p:cNvSpPr>
          <p:nvPr/>
        </p:nvSpPr>
        <p:spPr>
          <a:xfrm>
            <a:off x="5362575" y="4410075"/>
            <a:ext cx="1047750" cy="38100"/>
          </a:xfrm>
          <a:prstGeom prst="roundRect">
            <a:avLst>
              <a:gd name="adj" fmla="val 50000"/>
            </a:avLst>
          </a:prstGeom>
          <a:solidFill>
            <a:srgbClr val="345267"/>
          </a:solidFill>
          <a:ln w="0">
            <a:solidFill>
              <a:srgbClr val="345267"/>
            </a:solidFill>
            <a:prstDash val="solid"/>
          </a:ln>
        </p:spPr>
        <p:txBody>
          <a:bodyPr/>
          <a:lstStyle/>
          <a:p>
            <a:endParaRPr lang="en-US"/>
          </a:p>
        </p:txBody>
      </p:sp>
      <p:sp>
        <p:nvSpPr>
          <p:cNvPr id="32" name="Rounded Rectangle 31">
            <a:extLst>
              <a:ext uri="{FF2B5EF4-FFF2-40B4-BE49-F238E27FC236}">
                <a16:creationId xmlns:a16="http://schemas.microsoft.com/office/drawing/2014/main" id="{A87B0BCD-C67F-4179-BF8E-E2901F176B4E}"/>
              </a:ext>
            </a:extLst>
          </p:cNvPr>
          <p:cNvSpPr>
            <a:spLocks noGrp="1"/>
          </p:cNvSpPr>
          <p:nvPr/>
        </p:nvSpPr>
        <p:spPr>
          <a:xfrm>
            <a:off x="5362575" y="4410075"/>
            <a:ext cx="1047750" cy="38100"/>
          </a:xfrm>
          <a:prstGeom prst="roundRect">
            <a:avLst>
              <a:gd name="adj" fmla="val 50000"/>
            </a:avLst>
          </a:prstGeom>
          <a:solidFill>
            <a:srgbClr val="345267"/>
          </a:solidFill>
          <a:ln w="0">
            <a:solidFill>
              <a:srgbClr val="345267"/>
            </a:solidFill>
            <a:prstDash val="solid"/>
          </a:ln>
        </p:spPr>
        <p:txBody>
          <a:bodyPr/>
          <a:lstStyle/>
          <a:p>
            <a:endParaRPr lang="en-US"/>
          </a:p>
        </p:txBody>
      </p:sp>
      <p:cxnSp>
        <p:nvCxnSpPr>
          <p:cNvPr id="73" name="Straight Arrow Connector 72"/>
          <p:cNvCxnSpPr>
            <a:stCxn id="31" idx="0"/>
            <a:endCxn id="32" idx="0"/>
          </p:cNvCxnSpPr>
          <p:nvPr/>
        </p:nvCxnSpPr>
        <p:spPr>
          <a:prstGeom prst="straightConnector1">
            <a:avLst/>
          </a:prstGeom>
          <a:ln w="23813">
            <a:solidFill>
              <a:srgbClr val="345267"/>
            </a:solidFill>
            <a:prstDash val="solid"/>
            <a:headEnd type="none" w="med" len="med"/>
            <a:tailEnd type="none" w="med" len="med"/>
          </a:ln>
        </p:spPr>
      </p:cxnSp>
      <p:sp>
        <p:nvSpPr>
          <p:cNvPr id="34" name="Rounded Rectangle 33">
            <a:extLst>
              <a:ext uri="{FF2B5EF4-FFF2-40B4-BE49-F238E27FC236}">
                <a16:creationId xmlns:a16="http://schemas.microsoft.com/office/drawing/2014/main" id="{FE59F314-02A1-4CD5-967C-AB12F846C850}"/>
              </a:ext>
            </a:extLst>
          </p:cNvPr>
          <p:cNvSpPr>
            <a:spLocks noGrp="1"/>
          </p:cNvSpPr>
          <p:nvPr/>
        </p:nvSpPr>
        <p:spPr>
          <a:xfrm>
            <a:off x="781050" y="4895850"/>
            <a:ext cx="4381500" cy="514350"/>
          </a:xfrm>
          <a:prstGeom prst="roundRect">
            <a:avLst>
              <a:gd name="adj" fmla="val 25926"/>
            </a:avLst>
          </a:prstGeom>
          <a:solidFill>
            <a:srgbClr val="0E9FC2"/>
          </a:solidFill>
          <a:ln w="14288">
            <a:solidFill>
              <a:srgbClr val="47D7FF"/>
            </a:solidFill>
            <a:prstDash val="solid"/>
          </a:ln>
        </p:spPr>
        <p:txBody>
          <a:bodyPr/>
          <a:lstStyle/>
          <a:p>
            <a:endParaRPr lang="en-US"/>
          </a:p>
        </p:txBody>
      </p:sp>
      <p:sp>
        <p:nvSpPr>
          <p:cNvPr id="35" name="Rounded Rectangle 34">
            <a:extLst>
              <a:ext uri="{FF2B5EF4-FFF2-40B4-BE49-F238E27FC236}">
                <a16:creationId xmlns:a16="http://schemas.microsoft.com/office/drawing/2014/main" id="{12969644-4ACC-4935-BA03-CA3CED472303}"/>
              </a:ext>
            </a:extLst>
          </p:cNvPr>
          <p:cNvSpPr>
            <a:spLocks noGrp="1"/>
          </p:cNvSpPr>
          <p:nvPr/>
        </p:nvSpPr>
        <p:spPr>
          <a:xfrm>
            <a:off x="6858000" y="4895850"/>
            <a:ext cx="4381500" cy="514350"/>
          </a:xfrm>
          <a:prstGeom prst="roundRect">
            <a:avLst>
              <a:gd name="adj" fmla="val 25926"/>
            </a:avLst>
          </a:prstGeom>
          <a:solidFill>
            <a:srgbClr val="57D18C"/>
          </a:solidFill>
          <a:ln w="0">
            <a:solidFill>
              <a:srgbClr val="57D18C"/>
            </a:solidFill>
            <a:prstDash val="solid"/>
          </a:ln>
        </p:spPr>
        <p:txBody>
          <a:bodyPr/>
          <a:lstStyle/>
          <a:p>
            <a:endParaRPr lang="en-US"/>
          </a:p>
        </p:txBody>
      </p:sp>
      <p:sp>
        <p:nvSpPr>
          <p:cNvPr id="36" name="Rectangle 35">
            <a:extLst>
              <a:ext uri="{FF2B5EF4-FFF2-40B4-BE49-F238E27FC236}">
                <a16:creationId xmlns:a16="http://schemas.microsoft.com/office/drawing/2014/main" id="{6FA75589-6593-4ADF-A141-848ADB6B816B}"/>
              </a:ext>
            </a:extLst>
          </p:cNvPr>
          <p:cNvSpPr>
            <a:spLocks noGrp="1"/>
          </p:cNvSpPr>
          <p:nvPr/>
        </p:nvSpPr>
        <p:spPr>
          <a:xfrm>
            <a:off x="1000125" y="5029200"/>
            <a:ext cx="3905250" cy="238125"/>
          </a:xfrm>
          <a:prstGeom prst="rect">
            <a:avLst/>
          </a:prstGeom>
          <a:noFill/>
          <a:ln w="0">
            <a:noFill/>
          </a:ln>
        </p:spPr>
        <p:txBody>
          <a:bodyPr>
            <a:noAutofit/>
          </a:bodyPr>
          <a:lstStyle/>
          <a:p>
            <a:pPr algn="l">
              <a:defRPr sz="1350" b="1" i="0">
                <a:solidFill>
                  <a:srgbClr val="F4F8FB"/>
                </a:solidFill>
                <a:latin typeface="Bitstream Charter"/>
                <a:ea typeface="Bitstream Charter"/>
                <a:cs typeface="Bitstream Charter"/>
              </a:defRPr>
            </a:pPr>
            <a:r>
              <a:rPr sz="1350" b="1" i="0">
                <a:solidFill>
                  <a:srgbClr val="F4F8FB"/>
                </a:solidFill>
                <a:latin typeface="Bitstream Charter"/>
                <a:ea typeface="Bitstream Charter"/>
                <a:cs typeface="Bitstream Charter"/>
              </a:rPr>
              <a:t>Predict time + size</a:t>
            </a:r>
          </a:p>
        </p:txBody>
      </p:sp>
      <p:sp>
        <p:nvSpPr>
          <p:cNvPr id="37" name="Rectangle 36">
            <a:extLst>
              <a:ext uri="{FF2B5EF4-FFF2-40B4-BE49-F238E27FC236}">
                <a16:creationId xmlns:a16="http://schemas.microsoft.com/office/drawing/2014/main" id="{3069E530-F73A-4937-8511-EE5E2E341689}"/>
              </a:ext>
            </a:extLst>
          </p:cNvPr>
          <p:cNvSpPr>
            <a:spLocks noGrp="1"/>
          </p:cNvSpPr>
          <p:nvPr/>
        </p:nvSpPr>
        <p:spPr>
          <a:xfrm>
            <a:off x="7077075" y="5029200"/>
            <a:ext cx="3905250" cy="238125"/>
          </a:xfrm>
          <a:prstGeom prst="rect">
            <a:avLst/>
          </a:prstGeom>
          <a:noFill/>
          <a:ln w="0">
            <a:noFill/>
          </a:ln>
        </p:spPr>
        <p:txBody>
          <a:bodyPr>
            <a:noAutofit/>
          </a:bodyPr>
          <a:lstStyle/>
          <a:p>
            <a:pPr algn="l">
              <a:defRPr sz="1350" b="1" i="0">
                <a:solidFill>
                  <a:srgbClr val="F4F8FB"/>
                </a:solidFill>
                <a:latin typeface="Bitstream Charter"/>
                <a:ea typeface="Bitstream Charter"/>
                <a:cs typeface="Bitstream Charter"/>
              </a:defRPr>
            </a:pPr>
            <a:r>
              <a:rPr sz="1350" b="1" i="0">
                <a:solidFill>
                  <a:srgbClr val="F4F8FB"/>
                </a:solidFill>
                <a:latin typeface="Bitstream Charter"/>
                <a:ea typeface="Bitstream Charter"/>
                <a:cs typeface="Bitstream Charter"/>
              </a:rPr>
              <a:t>Forecast load before the spike</a:t>
            </a:r>
          </a:p>
        </p:txBody>
      </p:sp>
      <p:sp>
        <p:nvSpPr>
          <p:cNvPr id="38" name="Rectangle 37">
            <a:extLst>
              <a:ext uri="{FF2B5EF4-FFF2-40B4-BE49-F238E27FC236}">
                <a16:creationId xmlns:a16="http://schemas.microsoft.com/office/drawing/2014/main" id="{84945EBF-28AE-4FFD-8A99-F997AC4EC909}"/>
              </a:ext>
            </a:extLst>
          </p:cNvPr>
          <p:cNvSpPr>
            <a:spLocks noGrp="1"/>
          </p:cNvSpPr>
          <p:nvPr/>
        </p:nvSpPr>
        <p:spPr>
          <a:xfrm>
            <a:off x="1047750" y="5905500"/>
            <a:ext cx="10096500" cy="285750"/>
          </a:xfrm>
          <a:prstGeom prst="rect">
            <a:avLst/>
          </a:prstGeom>
          <a:noFill/>
          <a:ln w="0">
            <a:noFill/>
          </a:ln>
        </p:spPr>
        <p:txBody>
          <a:bodyPr>
            <a:noAutofit/>
          </a:bodyPr>
          <a:lstStyle/>
          <a:p>
            <a:pPr algn="ctr">
              <a:defRPr sz="1575" b="1" i="0">
                <a:solidFill>
                  <a:srgbClr val="F4F8FB"/>
                </a:solidFill>
                <a:latin typeface="Bitstream Charter"/>
                <a:ea typeface="Bitstream Charter"/>
                <a:cs typeface="Bitstream Charter"/>
              </a:defRPr>
            </a:pPr>
            <a:r>
              <a:rPr sz="1575" b="1" i="0">
                <a:solidFill>
                  <a:srgbClr val="F4F8FB"/>
                </a:solidFill>
                <a:latin typeface="Bitstream Charter"/>
                <a:ea typeface="Bitstream Charter"/>
                <a:cs typeface="Bitstream Charter"/>
              </a:rPr>
              <a:t>The research question scales beyond 5G: how early must a system predict demand to allocate only what it needs?</a:t>
            </a:r>
          </a:p>
        </p:txBody>
      </p:sp>
      <p:sp>
        <p:nvSpPr>
          <p:cNvPr id="39" name="Rectangle 38">
            <a:extLst>
              <a:ext uri="{FF2B5EF4-FFF2-40B4-BE49-F238E27FC236}">
                <a16:creationId xmlns:a16="http://schemas.microsoft.com/office/drawing/2014/main" id="{45E8D352-9F9B-4075-861E-77CF64FD7B91}"/>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09</a:t>
            </a:r>
          </a:p>
        </p:txBody>
      </p:sp>
      <p:sp>
        <p:nvSpPr>
          <p:cNvPr id="40" name="Rectangle 39">
            <a:extLst>
              <a:ext uri="{FF2B5EF4-FFF2-40B4-BE49-F238E27FC236}">
                <a16:creationId xmlns:a16="http://schemas.microsoft.com/office/drawing/2014/main" id="{79877F96-9043-4180-95E9-6EE93CD75422}"/>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Conceptual analogy proposed for this presentation; Sage paper §§1, 7</a:t>
            </a:r>
          </a:p>
        </p:txBody>
      </p:sp>
    </p:spTree>
    <p:extLst>
      <p:ext uri="{BB962C8B-B14F-4D97-AF65-F5344CB8AC3E}">
        <p14:creationId xmlns:p14="http://schemas.microsoft.com/office/powerpoint/2010/main" val="605180941"/>
      </p:ext>
    </p:extLst>
  </p:cSld>
  <p:clrMapOvr>
    <a:masterClrMapping/>
  </p:clrMapOvr>
  <mc:AlternateContent xmlns:mc="http://schemas.openxmlformats.org/markup-compatibility/2006">
    <mc:Choice xmlns:p14="http://schemas.microsoft.com/office/powerpoint/2010/main" Requires="p14">
      <p:transition spd="slow" p14:dur="2000" advTm="13438"/>
    </mc:Choice>
    <mc:Fallback>
      <p:transition spd="slow" advTm="1343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FEB6521-C8DC-497C-AF91-3A2E35FC3A67}"/>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The result is a better tradeoff, with a measurable cost</a:t>
            </a:r>
          </a:p>
        </p:txBody>
      </p:sp>
      <p:sp>
        <p:nvSpPr>
          <p:cNvPr id="2" name="Rectangle 1">
            <a:extLst>
              <a:ext uri="{FF2B5EF4-FFF2-40B4-BE49-F238E27FC236}">
                <a16:creationId xmlns:a16="http://schemas.microsoft.com/office/drawing/2014/main" id="{F422DCE5-FB41-45CF-B895-D2852A8F1EA5}"/>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Keep each headline attached to its comparison baseline</a:t>
            </a:r>
          </a:p>
        </p:txBody>
      </p:sp>
      <p:sp>
        <p:nvSpPr>
          <p:cNvPr id="3" name="Straight Connector 2">
            <a:extLst>
              <a:ext uri="{FF2B5EF4-FFF2-40B4-BE49-F238E27FC236}">
                <a16:creationId xmlns:a16="http://schemas.microsoft.com/office/drawing/2014/main" id="{7F38281B-FFDC-4CBA-8206-AE8E98BED2FB}"/>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ectangle 3">
            <a:extLst>
              <a:ext uri="{FF2B5EF4-FFF2-40B4-BE49-F238E27FC236}">
                <a16:creationId xmlns:a16="http://schemas.microsoft.com/office/drawing/2014/main" id="{0AF2CFB5-BB60-4207-8594-C08508E9B48D}"/>
              </a:ext>
            </a:extLst>
          </p:cNvPr>
          <p:cNvSpPr>
            <a:spLocks noGrp="1"/>
          </p:cNvSpPr>
          <p:nvPr/>
        </p:nvSpPr>
        <p:spPr>
          <a:xfrm>
            <a:off x="781050" y="1552575"/>
            <a:ext cx="3238500" cy="171450"/>
          </a:xfrm>
          <a:prstGeom prst="rect">
            <a:avLst/>
          </a:prstGeom>
          <a:noFill/>
          <a:ln w="0">
            <a:noFill/>
          </a:ln>
        </p:spPr>
        <p:txBody>
          <a:bodyPr>
            <a:noAutofit/>
          </a:bodyPr>
          <a:lstStyle/>
          <a:p>
            <a:pPr algn="l">
              <a:defRPr sz="900" b="1" i="0">
                <a:solidFill>
                  <a:srgbClr val="A8BDCC"/>
                </a:solidFill>
                <a:latin typeface="Bitstream Charter"/>
                <a:ea typeface="Bitstream Charter"/>
                <a:cs typeface="Bitstream Charter"/>
              </a:defRPr>
            </a:pPr>
            <a:r>
              <a:rPr sz="900" b="1" i="0">
                <a:solidFill>
                  <a:srgbClr val="A8BDCC"/>
                </a:solidFill>
                <a:latin typeface="Bitstream Charter"/>
                <a:ea typeface="Bitstream Charter"/>
                <a:cs typeface="Bitstream Charter"/>
              </a:rPr>
              <a:t>NORMALIZED TO 1.0× GRANT-BASED ACCESS</a:t>
            </a:r>
          </a:p>
        </p:txBody>
      </p:sp>
      <p:graphicFrame>
        <p:nvGraphicFramePr>
          <p:cNvPr id="20" name="Chart"/>
          <p:cNvGraphicFramePr/>
          <p:nvPr/>
        </p:nvGraphicFramePr>
        <p:xfrm>
          <a:off x="857250" y="1952625"/>
          <a:ext cx="6858000"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a:extLst>
              <a:ext uri="{FF2B5EF4-FFF2-40B4-BE49-F238E27FC236}">
                <a16:creationId xmlns:a16="http://schemas.microsoft.com/office/drawing/2014/main" id="{F4B216AF-52F0-4173-BF88-725EB2D142FA}"/>
              </a:ext>
            </a:extLst>
          </p:cNvPr>
          <p:cNvSpPr>
            <a:spLocks noGrp="1"/>
          </p:cNvSpPr>
          <p:nvPr/>
        </p:nvSpPr>
        <p:spPr>
          <a:xfrm>
            <a:off x="8334375" y="1981200"/>
            <a:ext cx="2905125" cy="1333500"/>
          </a:xfrm>
          <a:prstGeom prst="roundRect">
            <a:avLst>
              <a:gd name="adj" fmla="val 14286"/>
            </a:avLst>
          </a:prstGeom>
          <a:solidFill>
            <a:srgbClr val="0E9FC2"/>
          </a:solidFill>
          <a:ln w="14288">
            <a:solidFill>
              <a:srgbClr val="47D7FF"/>
            </a:solidFill>
            <a:prstDash val="solid"/>
          </a:ln>
        </p:spPr>
        <p:txBody>
          <a:bodyPr/>
          <a:lstStyle/>
          <a:p>
            <a:endParaRPr lang="en-US"/>
          </a:p>
        </p:txBody>
      </p:sp>
      <p:sp>
        <p:nvSpPr>
          <p:cNvPr id="7" name="Rectangle 6">
            <a:extLst>
              <a:ext uri="{FF2B5EF4-FFF2-40B4-BE49-F238E27FC236}">
                <a16:creationId xmlns:a16="http://schemas.microsoft.com/office/drawing/2014/main" id="{078D3933-87EB-4807-8373-E9C1F286F2DE}"/>
              </a:ext>
            </a:extLst>
          </p:cNvPr>
          <p:cNvSpPr>
            <a:spLocks noGrp="1"/>
          </p:cNvSpPr>
          <p:nvPr/>
        </p:nvSpPr>
        <p:spPr>
          <a:xfrm>
            <a:off x="8572500" y="2143125"/>
            <a:ext cx="2428875" cy="609600"/>
          </a:xfrm>
          <a:prstGeom prst="rect">
            <a:avLst/>
          </a:prstGeom>
          <a:noFill/>
          <a:ln w="0">
            <a:noFill/>
          </a:ln>
        </p:spPr>
        <p:txBody>
          <a:bodyPr>
            <a:noAutofit/>
          </a:bodyPr>
          <a:lstStyle/>
          <a:p>
            <a:pPr algn="l">
              <a:defRPr sz="3600" b="1" i="0">
                <a:solidFill>
                  <a:srgbClr val="F4F8FB"/>
                </a:solidFill>
                <a:latin typeface="Bitstream Charter"/>
                <a:ea typeface="Bitstream Charter"/>
                <a:cs typeface="Bitstream Charter"/>
              </a:defRPr>
            </a:pPr>
            <a:r>
              <a:rPr sz="3600" b="1" i="0">
                <a:solidFill>
                  <a:srgbClr val="F4F8FB"/>
                </a:solidFill>
                <a:latin typeface="Bitstream Charter"/>
                <a:ea typeface="Bitstream Charter"/>
                <a:cs typeface="Bitstream Charter"/>
              </a:rPr>
              <a:t>2.53×</a:t>
            </a:r>
          </a:p>
        </p:txBody>
      </p:sp>
      <p:sp>
        <p:nvSpPr>
          <p:cNvPr id="8" name="Rectangle 7">
            <a:extLst>
              <a:ext uri="{FF2B5EF4-FFF2-40B4-BE49-F238E27FC236}">
                <a16:creationId xmlns:a16="http://schemas.microsoft.com/office/drawing/2014/main" id="{AAFFDCC2-188B-4770-AC35-F88170E0B775}"/>
              </a:ext>
            </a:extLst>
          </p:cNvPr>
          <p:cNvSpPr>
            <a:spLocks noGrp="1"/>
          </p:cNvSpPr>
          <p:nvPr/>
        </p:nvSpPr>
        <p:spPr>
          <a:xfrm>
            <a:off x="8572500" y="2771775"/>
            <a:ext cx="2428875" cy="361950"/>
          </a:xfrm>
          <a:prstGeom prst="rect">
            <a:avLst/>
          </a:prstGeom>
          <a:noFill/>
          <a:ln w="0">
            <a:noFill/>
          </a:ln>
        </p:spPr>
        <p:txBody>
          <a:bodyPr>
            <a:noAutofit/>
          </a:bodyPr>
          <a:lstStyle/>
          <a:p>
            <a:pPr algn="l">
              <a:defRPr sz="1200" b="0" i="0">
                <a:solidFill>
                  <a:srgbClr val="DDEBF2"/>
                </a:solidFill>
                <a:latin typeface="Bitstream Charter"/>
                <a:ea typeface="Bitstream Charter"/>
                <a:cs typeface="Bitstream Charter"/>
              </a:defRPr>
            </a:pPr>
            <a:r>
              <a:rPr sz="1200" b="0" i="0">
                <a:solidFill>
                  <a:srgbClr val="DDEBF2"/>
                </a:solidFill>
                <a:latin typeface="Bitstream Charter"/>
                <a:ea typeface="Bitstream Charter"/>
                <a:cs typeface="Bitstream Charter"/>
              </a:rPr>
              <a:t>lower average uplink latency vs grant-based</a:t>
            </a:r>
          </a:p>
        </p:txBody>
      </p:sp>
      <p:sp>
        <p:nvSpPr>
          <p:cNvPr id="9" name="Rounded Rectangle 8">
            <a:extLst>
              <a:ext uri="{FF2B5EF4-FFF2-40B4-BE49-F238E27FC236}">
                <a16:creationId xmlns:a16="http://schemas.microsoft.com/office/drawing/2014/main" id="{A7046BA1-DA2F-4624-952D-FC75F4FB331C}"/>
              </a:ext>
            </a:extLst>
          </p:cNvPr>
          <p:cNvSpPr>
            <a:spLocks noGrp="1"/>
          </p:cNvSpPr>
          <p:nvPr/>
        </p:nvSpPr>
        <p:spPr>
          <a:xfrm>
            <a:off x="8334375" y="3524250"/>
            <a:ext cx="2905125" cy="1333500"/>
          </a:xfrm>
          <a:prstGeom prst="roundRect">
            <a:avLst>
              <a:gd name="adj" fmla="val 14286"/>
            </a:avLst>
          </a:prstGeom>
          <a:solidFill>
            <a:srgbClr val="FFC857"/>
          </a:solidFill>
          <a:ln w="0">
            <a:solidFill>
              <a:srgbClr val="FFC857"/>
            </a:solidFill>
            <a:prstDash val="solid"/>
          </a:ln>
        </p:spPr>
        <p:txBody>
          <a:bodyPr/>
          <a:lstStyle/>
          <a:p>
            <a:endParaRPr lang="en-US"/>
          </a:p>
        </p:txBody>
      </p:sp>
      <p:sp>
        <p:nvSpPr>
          <p:cNvPr id="10" name="Rectangle 9">
            <a:extLst>
              <a:ext uri="{FF2B5EF4-FFF2-40B4-BE49-F238E27FC236}">
                <a16:creationId xmlns:a16="http://schemas.microsoft.com/office/drawing/2014/main" id="{FACA14CF-CED5-46D2-B901-DE1631DDA836}"/>
              </a:ext>
            </a:extLst>
          </p:cNvPr>
          <p:cNvSpPr>
            <a:spLocks noGrp="1"/>
          </p:cNvSpPr>
          <p:nvPr/>
        </p:nvSpPr>
        <p:spPr>
          <a:xfrm>
            <a:off x="8572500" y="3686175"/>
            <a:ext cx="2428875" cy="609600"/>
          </a:xfrm>
          <a:prstGeom prst="rect">
            <a:avLst/>
          </a:prstGeom>
          <a:noFill/>
          <a:ln w="0">
            <a:noFill/>
          </a:ln>
        </p:spPr>
        <p:txBody>
          <a:bodyPr>
            <a:noAutofit/>
          </a:bodyPr>
          <a:lstStyle/>
          <a:p>
            <a:pPr algn="l">
              <a:defRPr sz="3600" b="1" i="0">
                <a:solidFill>
                  <a:srgbClr val="071A2B"/>
                </a:solidFill>
                <a:latin typeface="Bitstream Charter"/>
                <a:ea typeface="Bitstream Charter"/>
                <a:cs typeface="Bitstream Charter"/>
              </a:defRPr>
            </a:pPr>
            <a:r>
              <a:rPr sz="3600" b="1" i="0">
                <a:solidFill>
                  <a:srgbClr val="071A2B"/>
                </a:solidFill>
                <a:latin typeface="Bitstream Charter"/>
                <a:ea typeface="Bitstream Charter"/>
                <a:cs typeface="Bitstream Charter"/>
              </a:rPr>
              <a:t>1.59×</a:t>
            </a:r>
          </a:p>
        </p:txBody>
      </p:sp>
      <p:sp>
        <p:nvSpPr>
          <p:cNvPr id="11" name="Rectangle 10">
            <a:extLst>
              <a:ext uri="{FF2B5EF4-FFF2-40B4-BE49-F238E27FC236}">
                <a16:creationId xmlns:a16="http://schemas.microsoft.com/office/drawing/2014/main" id="{CED09DC4-629F-40F5-BA15-8556EEE4D9EF}"/>
              </a:ext>
            </a:extLst>
          </p:cNvPr>
          <p:cNvSpPr>
            <a:spLocks noGrp="1"/>
          </p:cNvSpPr>
          <p:nvPr/>
        </p:nvSpPr>
        <p:spPr>
          <a:xfrm>
            <a:off x="8572500" y="4314825"/>
            <a:ext cx="2428875" cy="361950"/>
          </a:xfrm>
          <a:prstGeom prst="rect">
            <a:avLst/>
          </a:prstGeom>
          <a:noFill/>
          <a:ln w="0">
            <a:noFill/>
          </a:ln>
        </p:spPr>
        <p:txBody>
          <a:bodyPr>
            <a:noAutofit/>
          </a:bodyPr>
          <a:lstStyle/>
          <a:p>
            <a:pPr algn="l">
              <a:defRPr sz="1200" b="0" i="0">
                <a:solidFill>
                  <a:srgbClr val="DDEBF2"/>
                </a:solidFill>
                <a:latin typeface="Bitstream Charter"/>
                <a:ea typeface="Bitstream Charter"/>
                <a:cs typeface="Bitstream Charter"/>
              </a:defRPr>
            </a:pPr>
            <a:r>
              <a:rPr sz="1200" b="0" i="0">
                <a:solidFill>
                  <a:srgbClr val="DDEBF2"/>
                </a:solidFill>
                <a:latin typeface="Bitstream Charter"/>
                <a:ea typeface="Bitstream Charter"/>
                <a:cs typeface="Bitstream Charter"/>
              </a:rPr>
              <a:t>allocated resources vs grant-based</a:t>
            </a:r>
          </a:p>
        </p:txBody>
      </p:sp>
      <p:sp>
        <p:nvSpPr>
          <p:cNvPr id="12" name="Rounded Rectangle 11">
            <a:extLst>
              <a:ext uri="{FF2B5EF4-FFF2-40B4-BE49-F238E27FC236}">
                <a16:creationId xmlns:a16="http://schemas.microsoft.com/office/drawing/2014/main" id="{8ADC171B-48F0-402E-A088-ACBD1113E3F2}"/>
              </a:ext>
            </a:extLst>
          </p:cNvPr>
          <p:cNvSpPr>
            <a:spLocks noGrp="1"/>
          </p:cNvSpPr>
          <p:nvPr/>
        </p:nvSpPr>
        <p:spPr>
          <a:xfrm>
            <a:off x="8334375" y="5048250"/>
            <a:ext cx="2905125" cy="781050"/>
          </a:xfrm>
          <a:prstGeom prst="roundRect">
            <a:avLst>
              <a:gd name="adj" fmla="val 21951"/>
            </a:avLst>
          </a:prstGeom>
          <a:solidFill>
            <a:srgbClr val="0D2940"/>
          </a:solidFill>
          <a:ln w="14288">
            <a:solidFill>
              <a:srgbClr val="345267"/>
            </a:solidFill>
            <a:prstDash val="solid"/>
          </a:ln>
        </p:spPr>
        <p:txBody>
          <a:bodyPr/>
          <a:lstStyle/>
          <a:p>
            <a:endParaRPr lang="en-US"/>
          </a:p>
        </p:txBody>
      </p:sp>
      <p:sp>
        <p:nvSpPr>
          <p:cNvPr id="13" name="Rectangle 12">
            <a:extLst>
              <a:ext uri="{FF2B5EF4-FFF2-40B4-BE49-F238E27FC236}">
                <a16:creationId xmlns:a16="http://schemas.microsoft.com/office/drawing/2014/main" id="{2D6CD0F6-02DA-4488-ABD5-EC510A476F0F}"/>
              </a:ext>
            </a:extLst>
          </p:cNvPr>
          <p:cNvSpPr>
            <a:spLocks noGrp="1"/>
          </p:cNvSpPr>
          <p:nvPr/>
        </p:nvSpPr>
        <p:spPr>
          <a:xfrm>
            <a:off x="8548687" y="5067300"/>
            <a:ext cx="2476500" cy="457200"/>
          </a:xfrm>
          <a:prstGeom prst="rect">
            <a:avLst/>
          </a:prstGeom>
          <a:noFill/>
          <a:ln w="0">
            <a:noFill/>
          </a:ln>
        </p:spPr>
        <p:txBody>
          <a:bodyPr>
            <a:noAutofit/>
          </a:bodyPr>
          <a:lstStyle/>
          <a:p>
            <a:pPr algn="ctr">
              <a:defRPr sz="1350" b="1" i="0">
                <a:solidFill>
                  <a:srgbClr val="57D18C"/>
                </a:solidFill>
                <a:latin typeface="Bitstream Charter"/>
                <a:ea typeface="Bitstream Charter"/>
                <a:cs typeface="Bitstream Charter"/>
              </a:defRPr>
            </a:pPr>
            <a:r>
              <a:rPr sz="1350" b="1" i="0" dirty="0">
                <a:solidFill>
                  <a:srgbClr val="57D18C"/>
                </a:solidFill>
                <a:latin typeface="Bitstream Charter"/>
                <a:ea typeface="Bitstream Charter"/>
                <a:cs typeface="Bitstream Charter"/>
              </a:rPr>
              <a:t>up to 37.5× fewer resources</a:t>
            </a:r>
          </a:p>
          <a:p>
            <a:pPr algn="ctr">
              <a:defRPr sz="1350" b="1" i="0">
                <a:solidFill>
                  <a:srgbClr val="57D18C"/>
                </a:solidFill>
                <a:latin typeface="Bitstream Charter"/>
                <a:ea typeface="Bitstream Charter"/>
                <a:cs typeface="Bitstream Charter"/>
              </a:defRPr>
            </a:pPr>
            <a:r>
              <a:rPr sz="1350" b="1" i="0" dirty="0">
                <a:solidFill>
                  <a:srgbClr val="57D18C"/>
                </a:solidFill>
                <a:latin typeface="Bitstream Charter"/>
                <a:ea typeface="Bitstream Charter"/>
                <a:cs typeface="Bitstream Charter"/>
              </a:rPr>
              <a:t>vs evaluated grant-free baselines</a:t>
            </a:r>
          </a:p>
        </p:txBody>
      </p:sp>
      <p:sp>
        <p:nvSpPr>
          <p:cNvPr id="14" name="Rectangle 13">
            <a:extLst>
              <a:ext uri="{FF2B5EF4-FFF2-40B4-BE49-F238E27FC236}">
                <a16:creationId xmlns:a16="http://schemas.microsoft.com/office/drawing/2014/main" id="{C76BA472-86CE-4AE9-86A9-E2896D0C901A}"/>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12</a:t>
            </a:r>
          </a:p>
        </p:txBody>
      </p:sp>
      <p:sp>
        <p:nvSpPr>
          <p:cNvPr id="15" name="Rectangle 14">
            <a:extLst>
              <a:ext uri="{FF2B5EF4-FFF2-40B4-BE49-F238E27FC236}">
                <a16:creationId xmlns:a16="http://schemas.microsoft.com/office/drawing/2014/main" id="{74E23A79-BC5E-4946-A4F7-321FE4479CF9}"/>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Paper abstract, §§1, 7A; author slide 50</a:t>
            </a:r>
          </a:p>
        </p:txBody>
      </p:sp>
    </p:spTree>
    <p:extLst>
      <p:ext uri="{BB962C8B-B14F-4D97-AF65-F5344CB8AC3E}">
        <p14:creationId xmlns:p14="http://schemas.microsoft.com/office/powerpoint/2010/main" val="1628226106"/>
      </p:ext>
    </p:extLst>
  </p:cSld>
  <p:clrMapOvr>
    <a:masterClrMapping/>
  </p:clrMapOvr>
  <mc:AlternateContent xmlns:mc="http://schemas.openxmlformats.org/markup-compatibility/2006">
    <mc:Choice xmlns:p14="http://schemas.microsoft.com/office/powerpoint/2010/main" Requires="p14">
      <p:transition spd="slow" p14:dur="2000" advTm="61120"/>
    </mc:Choice>
    <mc:Fallback>
      <p:transition spd="slow" advTm="6112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9709A83-E4A5-442A-AF60-68283DA47B80}"/>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Radio latency is only one stage of application latency</a:t>
            </a:r>
          </a:p>
        </p:txBody>
      </p:sp>
      <p:sp>
        <p:nvSpPr>
          <p:cNvPr id="2" name="Rectangle 1">
            <a:extLst>
              <a:ext uri="{FF2B5EF4-FFF2-40B4-BE49-F238E27FC236}">
                <a16:creationId xmlns:a16="http://schemas.microsoft.com/office/drawing/2014/main" id="{6B413E5F-FC44-4164-89DD-05EF7231B225}"/>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Sage improves the network path; decoding, processing, and display remain</a:t>
            </a:r>
          </a:p>
        </p:txBody>
      </p:sp>
      <p:sp>
        <p:nvSpPr>
          <p:cNvPr id="3" name="Straight Connector 2">
            <a:extLst>
              <a:ext uri="{FF2B5EF4-FFF2-40B4-BE49-F238E27FC236}">
                <a16:creationId xmlns:a16="http://schemas.microsoft.com/office/drawing/2014/main" id="{B7EA36A6-AC80-4C9A-9A84-45C3170E0CF5}"/>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ounded Rectangle 3">
            <a:extLst>
              <a:ext uri="{FF2B5EF4-FFF2-40B4-BE49-F238E27FC236}">
                <a16:creationId xmlns:a16="http://schemas.microsoft.com/office/drawing/2014/main" id="{81D98C6E-982D-4FA8-894F-16AAC8754482}"/>
              </a:ext>
            </a:extLst>
          </p:cNvPr>
          <p:cNvSpPr>
            <a:spLocks noGrp="1"/>
          </p:cNvSpPr>
          <p:nvPr/>
        </p:nvSpPr>
        <p:spPr>
          <a:xfrm>
            <a:off x="1047750" y="2190750"/>
            <a:ext cx="2476500" cy="1428750"/>
          </a:xfrm>
          <a:prstGeom prst="roundRect">
            <a:avLst>
              <a:gd name="adj" fmla="val 16000"/>
            </a:avLst>
          </a:prstGeom>
          <a:solidFill>
            <a:srgbClr val="0D2940"/>
          </a:solidFill>
          <a:ln w="14288">
            <a:solidFill>
              <a:srgbClr val="47D7FF"/>
            </a:solidFill>
            <a:prstDash val="solid"/>
          </a:ln>
        </p:spPr>
        <p:txBody>
          <a:bodyPr/>
          <a:lstStyle/>
          <a:p>
            <a:endParaRPr lang="en-US"/>
          </a:p>
        </p:txBody>
      </p:sp>
      <p:sp>
        <p:nvSpPr>
          <p:cNvPr id="5" name="Rectangle 4">
            <a:extLst>
              <a:ext uri="{FF2B5EF4-FFF2-40B4-BE49-F238E27FC236}">
                <a16:creationId xmlns:a16="http://schemas.microsoft.com/office/drawing/2014/main" id="{E2776FFA-3D2E-4908-8CCC-6FBEAC5BF47B}"/>
              </a:ext>
            </a:extLst>
          </p:cNvPr>
          <p:cNvSpPr>
            <a:spLocks noGrp="1"/>
          </p:cNvSpPr>
          <p:nvPr/>
        </p:nvSpPr>
        <p:spPr>
          <a:xfrm>
            <a:off x="1314450" y="2505075"/>
            <a:ext cx="1943100" cy="285750"/>
          </a:xfrm>
          <a:prstGeom prst="rect">
            <a:avLst/>
          </a:prstGeom>
          <a:noFill/>
          <a:ln w="0">
            <a:noFill/>
          </a:ln>
        </p:spPr>
        <p:txBody>
          <a:bodyPr>
            <a:noAutofit/>
          </a:bodyPr>
          <a:lstStyle/>
          <a:p>
            <a:pPr algn="ctr">
              <a:defRPr sz="1800" b="1" i="0">
                <a:solidFill>
                  <a:srgbClr val="47D7FF"/>
                </a:solidFill>
                <a:latin typeface="Bitstream Charter"/>
                <a:ea typeface="Bitstream Charter"/>
                <a:cs typeface="Bitstream Charter"/>
              </a:defRPr>
            </a:pPr>
            <a:r>
              <a:rPr sz="1800" b="1" i="0">
                <a:solidFill>
                  <a:srgbClr val="47D7FF"/>
                </a:solidFill>
                <a:latin typeface="Bitstream Charter"/>
                <a:ea typeface="Bitstream Charter"/>
                <a:cs typeface="Bitstream Charter"/>
              </a:rPr>
              <a:t>radio</a:t>
            </a:r>
          </a:p>
        </p:txBody>
      </p:sp>
      <p:sp>
        <p:nvSpPr>
          <p:cNvPr id="6" name="Rectangle 5">
            <a:extLst>
              <a:ext uri="{FF2B5EF4-FFF2-40B4-BE49-F238E27FC236}">
                <a16:creationId xmlns:a16="http://schemas.microsoft.com/office/drawing/2014/main" id="{E5E1CB27-17B7-4C25-B421-217757CEB134}"/>
              </a:ext>
            </a:extLst>
          </p:cNvPr>
          <p:cNvSpPr>
            <a:spLocks noGrp="1"/>
          </p:cNvSpPr>
          <p:nvPr/>
        </p:nvSpPr>
        <p:spPr>
          <a:xfrm>
            <a:off x="1314450" y="3048000"/>
            <a:ext cx="1943100" cy="266700"/>
          </a:xfrm>
          <a:prstGeom prst="rect">
            <a:avLst/>
          </a:prstGeom>
          <a:noFill/>
          <a:ln w="0">
            <a:noFill/>
          </a:ln>
        </p:spPr>
        <p:txBody>
          <a:bodyPr>
            <a:noAutofit/>
          </a:bodyPr>
          <a:lstStyle/>
          <a:p>
            <a:pPr algn="ctr">
              <a:defRPr sz="1350" b="0" i="0">
                <a:solidFill>
                  <a:srgbClr val="DDEBF2"/>
                </a:solidFill>
                <a:latin typeface="Bitstream Charter"/>
                <a:ea typeface="Bitstream Charter"/>
                <a:cs typeface="Bitstream Charter"/>
              </a:defRPr>
            </a:pPr>
            <a:r>
              <a:rPr sz="1350" b="0" i="0">
                <a:solidFill>
                  <a:srgbClr val="DDEBF2"/>
                </a:solidFill>
                <a:latin typeface="Bitstream Charter"/>
                <a:ea typeface="Bitstream Charter"/>
                <a:cs typeface="Bitstream Charter"/>
              </a:rPr>
              <a:t>uplink delivery</a:t>
            </a:r>
          </a:p>
        </p:txBody>
      </p:sp>
      <p:sp>
        <p:nvSpPr>
          <p:cNvPr id="7" name="Rounded Rectangle 6">
            <a:extLst>
              <a:ext uri="{FF2B5EF4-FFF2-40B4-BE49-F238E27FC236}">
                <a16:creationId xmlns:a16="http://schemas.microsoft.com/office/drawing/2014/main" id="{53DB7E3D-AD45-4A3D-BC30-2C3F919AC339}"/>
              </a:ext>
            </a:extLst>
          </p:cNvPr>
          <p:cNvSpPr>
            <a:spLocks noGrp="1"/>
          </p:cNvSpPr>
          <p:nvPr/>
        </p:nvSpPr>
        <p:spPr>
          <a:xfrm>
            <a:off x="4524375" y="2190750"/>
            <a:ext cx="2476500" cy="1428750"/>
          </a:xfrm>
          <a:prstGeom prst="roundRect">
            <a:avLst>
              <a:gd name="adj" fmla="val 16000"/>
            </a:avLst>
          </a:prstGeom>
          <a:solidFill>
            <a:srgbClr val="0D2940"/>
          </a:solidFill>
          <a:ln w="14288">
            <a:solidFill>
              <a:srgbClr val="FFC857"/>
            </a:solidFill>
            <a:prstDash val="solid"/>
          </a:ln>
        </p:spPr>
        <p:txBody>
          <a:bodyPr/>
          <a:lstStyle/>
          <a:p>
            <a:endParaRPr lang="en-US"/>
          </a:p>
        </p:txBody>
      </p:sp>
      <p:sp>
        <p:nvSpPr>
          <p:cNvPr id="8" name="Rectangle 7">
            <a:extLst>
              <a:ext uri="{FF2B5EF4-FFF2-40B4-BE49-F238E27FC236}">
                <a16:creationId xmlns:a16="http://schemas.microsoft.com/office/drawing/2014/main" id="{BB217147-ED1F-40B9-995F-141B50A7E99B}"/>
              </a:ext>
            </a:extLst>
          </p:cNvPr>
          <p:cNvSpPr>
            <a:spLocks noGrp="1"/>
          </p:cNvSpPr>
          <p:nvPr/>
        </p:nvSpPr>
        <p:spPr>
          <a:xfrm>
            <a:off x="4791075" y="2505075"/>
            <a:ext cx="1943100" cy="285750"/>
          </a:xfrm>
          <a:prstGeom prst="rect">
            <a:avLst/>
          </a:prstGeom>
          <a:noFill/>
          <a:ln w="0">
            <a:noFill/>
          </a:ln>
        </p:spPr>
        <p:txBody>
          <a:bodyPr>
            <a:noAutofit/>
          </a:bodyPr>
          <a:lstStyle/>
          <a:p>
            <a:pPr algn="ctr">
              <a:defRPr sz="1800" b="1" i="0">
                <a:solidFill>
                  <a:srgbClr val="FFC857"/>
                </a:solidFill>
                <a:latin typeface="Bitstream Charter"/>
                <a:ea typeface="Bitstream Charter"/>
                <a:cs typeface="Bitstream Charter"/>
              </a:defRPr>
            </a:pPr>
            <a:r>
              <a:rPr sz="1800" b="1" i="0">
                <a:solidFill>
                  <a:srgbClr val="FFC857"/>
                </a:solidFill>
                <a:latin typeface="Bitstream Charter"/>
                <a:ea typeface="Bitstream Charter"/>
                <a:cs typeface="Bitstream Charter"/>
              </a:rPr>
              <a:t>compute</a:t>
            </a:r>
          </a:p>
        </p:txBody>
      </p:sp>
      <p:sp>
        <p:nvSpPr>
          <p:cNvPr id="9" name="Rectangle 8">
            <a:extLst>
              <a:ext uri="{FF2B5EF4-FFF2-40B4-BE49-F238E27FC236}">
                <a16:creationId xmlns:a16="http://schemas.microsoft.com/office/drawing/2014/main" id="{8F7635A8-4AA9-4FB3-B471-CB00309EF5A2}"/>
              </a:ext>
            </a:extLst>
          </p:cNvPr>
          <p:cNvSpPr>
            <a:spLocks noGrp="1"/>
          </p:cNvSpPr>
          <p:nvPr/>
        </p:nvSpPr>
        <p:spPr>
          <a:xfrm>
            <a:off x="4791075" y="3048000"/>
            <a:ext cx="1943100" cy="266700"/>
          </a:xfrm>
          <a:prstGeom prst="rect">
            <a:avLst/>
          </a:prstGeom>
          <a:noFill/>
          <a:ln w="0">
            <a:noFill/>
          </a:ln>
        </p:spPr>
        <p:txBody>
          <a:bodyPr>
            <a:noAutofit/>
          </a:bodyPr>
          <a:lstStyle/>
          <a:p>
            <a:pPr algn="ctr">
              <a:defRPr sz="1350" b="0" i="0">
                <a:solidFill>
                  <a:srgbClr val="DDEBF2"/>
                </a:solidFill>
                <a:latin typeface="Bitstream Charter"/>
                <a:ea typeface="Bitstream Charter"/>
                <a:cs typeface="Bitstream Charter"/>
              </a:defRPr>
            </a:pPr>
            <a:r>
              <a:rPr sz="1350" b="0" i="0">
                <a:solidFill>
                  <a:srgbClr val="DDEBF2"/>
                </a:solidFill>
                <a:latin typeface="Bitstream Charter"/>
                <a:ea typeface="Bitstream Charter"/>
                <a:cs typeface="Bitstream Charter"/>
              </a:rPr>
              <a:t>decode / process</a:t>
            </a:r>
          </a:p>
        </p:txBody>
      </p:sp>
      <p:cxnSp>
        <p:nvCxnSpPr>
          <p:cNvPr id="33" name="Straight Arrow Connector 32"/>
          <p:cNvCxnSpPr>
            <a:stCxn id="4" idx="3"/>
            <a:endCxn id="7" idx="1"/>
          </p:cNvCxnSpPr>
          <p:nvPr/>
        </p:nvCxnSpPr>
        <p:spPr>
          <a:xfrm>
            <a:off x="3524250" y="2905125"/>
            <a:ext cx="1000125" cy="0"/>
          </a:xfrm>
          <a:prstGeom prst="straightConnector1">
            <a:avLst/>
          </a:prstGeom>
          <a:ln w="23813">
            <a:solidFill>
              <a:srgbClr val="A8BDCC"/>
            </a:solidFill>
            <a:prstDash val="solid"/>
            <a:headEnd type="arrow" w="med" len="med"/>
            <a:tailEnd type="none" w="med" len="med"/>
          </a:ln>
        </p:spPr>
      </p:cxnSp>
      <p:sp>
        <p:nvSpPr>
          <p:cNvPr id="11" name="Rounded Rectangle 10">
            <a:extLst>
              <a:ext uri="{FF2B5EF4-FFF2-40B4-BE49-F238E27FC236}">
                <a16:creationId xmlns:a16="http://schemas.microsoft.com/office/drawing/2014/main" id="{C223B09C-CF89-4670-B7E9-9D36D88E21F1}"/>
              </a:ext>
            </a:extLst>
          </p:cNvPr>
          <p:cNvSpPr>
            <a:spLocks noGrp="1"/>
          </p:cNvSpPr>
          <p:nvPr/>
        </p:nvSpPr>
        <p:spPr>
          <a:xfrm>
            <a:off x="8001000" y="2190750"/>
            <a:ext cx="2476500" cy="1428750"/>
          </a:xfrm>
          <a:prstGeom prst="roundRect">
            <a:avLst>
              <a:gd name="adj" fmla="val 16000"/>
            </a:avLst>
          </a:prstGeom>
          <a:solidFill>
            <a:srgbClr val="0D2940"/>
          </a:solidFill>
          <a:ln w="14288">
            <a:solidFill>
              <a:srgbClr val="57D18C"/>
            </a:solidFill>
            <a:prstDash val="solid"/>
          </a:ln>
        </p:spPr>
        <p:txBody>
          <a:bodyPr/>
          <a:lstStyle/>
          <a:p>
            <a:endParaRPr lang="en-US"/>
          </a:p>
        </p:txBody>
      </p:sp>
      <p:sp>
        <p:nvSpPr>
          <p:cNvPr id="12" name="Rectangle 11">
            <a:extLst>
              <a:ext uri="{FF2B5EF4-FFF2-40B4-BE49-F238E27FC236}">
                <a16:creationId xmlns:a16="http://schemas.microsoft.com/office/drawing/2014/main" id="{649AB015-25E5-4DA9-A851-1397C3A18E46}"/>
              </a:ext>
            </a:extLst>
          </p:cNvPr>
          <p:cNvSpPr>
            <a:spLocks noGrp="1"/>
          </p:cNvSpPr>
          <p:nvPr/>
        </p:nvSpPr>
        <p:spPr>
          <a:xfrm>
            <a:off x="8267700" y="2505075"/>
            <a:ext cx="1943100" cy="285750"/>
          </a:xfrm>
          <a:prstGeom prst="rect">
            <a:avLst/>
          </a:prstGeom>
          <a:noFill/>
          <a:ln w="0">
            <a:noFill/>
          </a:ln>
        </p:spPr>
        <p:txBody>
          <a:bodyPr>
            <a:noAutofit/>
          </a:bodyPr>
          <a:lstStyle/>
          <a:p>
            <a:pPr algn="ctr">
              <a:defRPr sz="1800" b="1" i="0">
                <a:solidFill>
                  <a:srgbClr val="57D18C"/>
                </a:solidFill>
                <a:latin typeface="Bitstream Charter"/>
                <a:ea typeface="Bitstream Charter"/>
                <a:cs typeface="Bitstream Charter"/>
              </a:defRPr>
            </a:pPr>
            <a:r>
              <a:rPr sz="1800" b="1" i="0">
                <a:solidFill>
                  <a:srgbClr val="57D18C"/>
                </a:solidFill>
                <a:latin typeface="Bitstream Charter"/>
                <a:ea typeface="Bitstream Charter"/>
                <a:cs typeface="Bitstream Charter"/>
              </a:rPr>
              <a:t>experience</a:t>
            </a:r>
          </a:p>
        </p:txBody>
      </p:sp>
      <p:sp>
        <p:nvSpPr>
          <p:cNvPr id="13" name="Rectangle 12">
            <a:extLst>
              <a:ext uri="{FF2B5EF4-FFF2-40B4-BE49-F238E27FC236}">
                <a16:creationId xmlns:a16="http://schemas.microsoft.com/office/drawing/2014/main" id="{4D9E6DE5-1C9B-4E66-8225-8ECB444B7625}"/>
              </a:ext>
            </a:extLst>
          </p:cNvPr>
          <p:cNvSpPr>
            <a:spLocks noGrp="1"/>
          </p:cNvSpPr>
          <p:nvPr/>
        </p:nvSpPr>
        <p:spPr>
          <a:xfrm>
            <a:off x="8267700" y="3048000"/>
            <a:ext cx="1943100" cy="266700"/>
          </a:xfrm>
          <a:prstGeom prst="rect">
            <a:avLst/>
          </a:prstGeom>
          <a:noFill/>
          <a:ln w="0">
            <a:noFill/>
          </a:ln>
        </p:spPr>
        <p:txBody>
          <a:bodyPr>
            <a:noAutofit/>
          </a:bodyPr>
          <a:lstStyle/>
          <a:p>
            <a:pPr algn="ctr">
              <a:defRPr sz="1350" b="0" i="0">
                <a:solidFill>
                  <a:srgbClr val="DDEBF2"/>
                </a:solidFill>
                <a:latin typeface="Bitstream Charter"/>
                <a:ea typeface="Bitstream Charter"/>
                <a:cs typeface="Bitstream Charter"/>
              </a:defRPr>
            </a:pPr>
            <a:r>
              <a:rPr sz="1350" b="0" i="0">
                <a:solidFill>
                  <a:srgbClr val="DDEBF2"/>
                </a:solidFill>
                <a:latin typeface="Bitstream Charter"/>
                <a:ea typeface="Bitstream Charter"/>
                <a:cs typeface="Bitstream Charter"/>
              </a:rPr>
              <a:t>display / response</a:t>
            </a:r>
          </a:p>
        </p:txBody>
      </p:sp>
      <p:cxnSp>
        <p:nvCxnSpPr>
          <p:cNvPr id="37" name="Straight Arrow Connector 36"/>
          <p:cNvCxnSpPr>
            <a:stCxn id="7" idx="3"/>
            <a:endCxn id="11" idx="1"/>
          </p:cNvCxnSpPr>
          <p:nvPr/>
        </p:nvCxnSpPr>
        <p:spPr>
          <a:xfrm>
            <a:off x="7000875" y="2905125"/>
            <a:ext cx="1000125" cy="0"/>
          </a:xfrm>
          <a:prstGeom prst="straightConnector1">
            <a:avLst/>
          </a:prstGeom>
          <a:ln w="23813">
            <a:solidFill>
              <a:srgbClr val="A8BDCC"/>
            </a:solidFill>
            <a:prstDash val="solid"/>
            <a:headEnd type="arrow" w="med" len="med"/>
            <a:tailEnd type="none" w="med" len="med"/>
          </a:ln>
        </p:spPr>
      </p:cxnSp>
      <p:sp>
        <p:nvSpPr>
          <p:cNvPr id="15" name="Rounded Rectangle 14">
            <a:extLst>
              <a:ext uri="{FF2B5EF4-FFF2-40B4-BE49-F238E27FC236}">
                <a16:creationId xmlns:a16="http://schemas.microsoft.com/office/drawing/2014/main" id="{DD01A816-A49E-4159-AAE2-DC4FFF311594}"/>
              </a:ext>
            </a:extLst>
          </p:cNvPr>
          <p:cNvSpPr>
            <a:spLocks noGrp="1"/>
          </p:cNvSpPr>
          <p:nvPr/>
        </p:nvSpPr>
        <p:spPr>
          <a:xfrm>
            <a:off x="1047750" y="4476750"/>
            <a:ext cx="2476500" cy="838200"/>
          </a:xfrm>
          <a:prstGeom prst="roundRect">
            <a:avLst>
              <a:gd name="adj" fmla="val 20455"/>
            </a:avLst>
          </a:prstGeom>
          <a:solidFill>
            <a:srgbClr val="0E9FC2"/>
          </a:solidFill>
          <a:ln w="14288">
            <a:solidFill>
              <a:srgbClr val="47D7FF"/>
            </a:solidFill>
            <a:prstDash val="solid"/>
          </a:ln>
        </p:spPr>
        <p:txBody>
          <a:bodyPr/>
          <a:lstStyle/>
          <a:p>
            <a:endParaRPr lang="en-US"/>
          </a:p>
        </p:txBody>
      </p:sp>
      <p:sp>
        <p:nvSpPr>
          <p:cNvPr id="16" name="Rectangle 15">
            <a:extLst>
              <a:ext uri="{FF2B5EF4-FFF2-40B4-BE49-F238E27FC236}">
                <a16:creationId xmlns:a16="http://schemas.microsoft.com/office/drawing/2014/main" id="{0932AF25-9937-4582-B184-79D50CD04CA0}"/>
              </a:ext>
            </a:extLst>
          </p:cNvPr>
          <p:cNvSpPr>
            <a:spLocks noGrp="1"/>
          </p:cNvSpPr>
          <p:nvPr/>
        </p:nvSpPr>
        <p:spPr>
          <a:xfrm>
            <a:off x="1200150" y="4524375"/>
            <a:ext cx="2133600" cy="304800"/>
          </a:xfrm>
          <a:prstGeom prst="rect">
            <a:avLst/>
          </a:prstGeom>
          <a:noFill/>
          <a:ln w="0">
            <a:noFill/>
          </a:ln>
        </p:spPr>
        <p:txBody>
          <a:bodyPr>
            <a:noAutofit/>
          </a:bodyPr>
          <a:lstStyle/>
          <a:p>
            <a:pPr algn="ctr">
              <a:defRPr sz="2025" b="1" i="0">
                <a:solidFill>
                  <a:srgbClr val="F4F8FB"/>
                </a:solidFill>
                <a:latin typeface="Bitstream Charter"/>
                <a:ea typeface="Bitstream Charter"/>
                <a:cs typeface="Bitstream Charter"/>
              </a:defRPr>
            </a:pPr>
            <a:r>
              <a:rPr sz="2025" b="1" i="0" dirty="0">
                <a:solidFill>
                  <a:srgbClr val="F4F8FB"/>
                </a:solidFill>
                <a:latin typeface="Bitstream Charter"/>
                <a:ea typeface="Bitstream Charter"/>
                <a:cs typeface="Bitstream Charter"/>
              </a:rPr>
              <a:t>2.07–2.54×</a:t>
            </a:r>
          </a:p>
        </p:txBody>
      </p:sp>
      <p:sp>
        <p:nvSpPr>
          <p:cNvPr id="17" name="Rectangle 16">
            <a:extLst>
              <a:ext uri="{FF2B5EF4-FFF2-40B4-BE49-F238E27FC236}">
                <a16:creationId xmlns:a16="http://schemas.microsoft.com/office/drawing/2014/main" id="{D9966509-044F-4579-9A51-5853AD08E572}"/>
              </a:ext>
            </a:extLst>
          </p:cNvPr>
          <p:cNvSpPr>
            <a:spLocks noGrp="1"/>
          </p:cNvSpPr>
          <p:nvPr/>
        </p:nvSpPr>
        <p:spPr>
          <a:xfrm>
            <a:off x="1238250" y="4901293"/>
            <a:ext cx="2095500" cy="209550"/>
          </a:xfrm>
          <a:prstGeom prst="rect">
            <a:avLst/>
          </a:prstGeom>
          <a:noFill/>
          <a:ln w="0">
            <a:noFill/>
          </a:ln>
        </p:spPr>
        <p:txBody>
          <a:bodyPr>
            <a:noAutofit/>
          </a:bodyPr>
          <a:lstStyle/>
          <a:p>
            <a:pPr algn="ctr">
              <a:defRPr sz="1200" b="0" i="0">
                <a:solidFill>
                  <a:srgbClr val="DDEBF2"/>
                </a:solidFill>
                <a:latin typeface="Bitstream Charter"/>
                <a:ea typeface="Bitstream Charter"/>
                <a:cs typeface="Bitstream Charter"/>
              </a:defRPr>
            </a:pPr>
            <a:r>
              <a:rPr sz="1200" b="0" i="0" dirty="0">
                <a:solidFill>
                  <a:srgbClr val="DDEBF2"/>
                </a:solidFill>
                <a:latin typeface="Bitstream Charter"/>
                <a:ea typeface="Bitstream Charter"/>
                <a:cs typeface="Bitstream Charter"/>
              </a:rPr>
              <a:t>video network latency</a:t>
            </a:r>
          </a:p>
        </p:txBody>
      </p:sp>
      <p:sp>
        <p:nvSpPr>
          <p:cNvPr id="18" name="Rounded Rectangle 17">
            <a:extLst>
              <a:ext uri="{FF2B5EF4-FFF2-40B4-BE49-F238E27FC236}">
                <a16:creationId xmlns:a16="http://schemas.microsoft.com/office/drawing/2014/main" id="{BDA59EDA-5CA7-4DCE-B0A7-75A1FF7F5E63}"/>
              </a:ext>
            </a:extLst>
          </p:cNvPr>
          <p:cNvSpPr>
            <a:spLocks noGrp="1"/>
          </p:cNvSpPr>
          <p:nvPr/>
        </p:nvSpPr>
        <p:spPr>
          <a:xfrm>
            <a:off x="8001000" y="4476750"/>
            <a:ext cx="2476500" cy="838200"/>
          </a:xfrm>
          <a:prstGeom prst="roundRect">
            <a:avLst>
              <a:gd name="adj" fmla="val 20455"/>
            </a:avLst>
          </a:prstGeom>
          <a:solidFill>
            <a:srgbClr val="57D18C"/>
          </a:solidFill>
          <a:ln w="0">
            <a:solidFill>
              <a:srgbClr val="57D18C"/>
            </a:solidFill>
            <a:prstDash val="solid"/>
          </a:ln>
        </p:spPr>
        <p:txBody>
          <a:bodyPr/>
          <a:lstStyle/>
          <a:p>
            <a:endParaRPr lang="en-US"/>
          </a:p>
        </p:txBody>
      </p:sp>
      <p:sp>
        <p:nvSpPr>
          <p:cNvPr id="19" name="Rectangle 18">
            <a:extLst>
              <a:ext uri="{FF2B5EF4-FFF2-40B4-BE49-F238E27FC236}">
                <a16:creationId xmlns:a16="http://schemas.microsoft.com/office/drawing/2014/main" id="{7FB28303-0F25-4B3C-B625-8DD0CBEF6609}"/>
              </a:ext>
            </a:extLst>
          </p:cNvPr>
          <p:cNvSpPr>
            <a:spLocks noGrp="1"/>
          </p:cNvSpPr>
          <p:nvPr/>
        </p:nvSpPr>
        <p:spPr>
          <a:xfrm>
            <a:off x="8172450" y="4524375"/>
            <a:ext cx="2133600" cy="304800"/>
          </a:xfrm>
          <a:prstGeom prst="rect">
            <a:avLst/>
          </a:prstGeom>
          <a:noFill/>
          <a:ln w="0">
            <a:noFill/>
          </a:ln>
        </p:spPr>
        <p:txBody>
          <a:bodyPr>
            <a:noAutofit/>
          </a:bodyPr>
          <a:lstStyle/>
          <a:p>
            <a:pPr algn="ctr">
              <a:defRPr sz="2025" b="1" i="0">
                <a:solidFill>
                  <a:srgbClr val="071A2B"/>
                </a:solidFill>
                <a:latin typeface="Bitstream Charter"/>
                <a:ea typeface="Bitstream Charter"/>
                <a:cs typeface="Bitstream Charter"/>
              </a:defRPr>
            </a:pPr>
            <a:r>
              <a:rPr sz="2025" b="1" i="0" dirty="0">
                <a:solidFill>
                  <a:srgbClr val="071A2B"/>
                </a:solidFill>
                <a:latin typeface="Bitstream Charter"/>
                <a:ea typeface="Bitstream Charter"/>
                <a:cs typeface="Bitstream Charter"/>
              </a:rPr>
              <a:t>1.13–1.23×</a:t>
            </a:r>
          </a:p>
        </p:txBody>
      </p:sp>
      <p:sp>
        <p:nvSpPr>
          <p:cNvPr id="20" name="Rectangle 19">
            <a:extLst>
              <a:ext uri="{FF2B5EF4-FFF2-40B4-BE49-F238E27FC236}">
                <a16:creationId xmlns:a16="http://schemas.microsoft.com/office/drawing/2014/main" id="{259F20C8-5A6F-49A0-AEC1-A64035DD3BC7}"/>
              </a:ext>
            </a:extLst>
          </p:cNvPr>
          <p:cNvSpPr>
            <a:spLocks noGrp="1"/>
          </p:cNvSpPr>
          <p:nvPr/>
        </p:nvSpPr>
        <p:spPr>
          <a:xfrm>
            <a:off x="8143875" y="4895850"/>
            <a:ext cx="2190750" cy="209550"/>
          </a:xfrm>
          <a:prstGeom prst="rect">
            <a:avLst/>
          </a:prstGeom>
          <a:noFill/>
          <a:ln w="0">
            <a:noFill/>
          </a:ln>
        </p:spPr>
        <p:txBody>
          <a:bodyPr>
            <a:noAutofit/>
          </a:bodyPr>
          <a:lstStyle/>
          <a:p>
            <a:pPr algn="ctr">
              <a:defRPr sz="1200" b="0" i="0">
                <a:solidFill>
                  <a:srgbClr val="071A2B"/>
                </a:solidFill>
                <a:latin typeface="Bitstream Charter"/>
                <a:ea typeface="Bitstream Charter"/>
                <a:cs typeface="Bitstream Charter"/>
              </a:defRPr>
            </a:pPr>
            <a:r>
              <a:rPr sz="1200" b="0" i="0" dirty="0">
                <a:solidFill>
                  <a:srgbClr val="071A2B"/>
                </a:solidFill>
                <a:latin typeface="Bitstream Charter"/>
                <a:ea typeface="Bitstream Charter"/>
                <a:cs typeface="Bitstream Charter"/>
              </a:rPr>
              <a:t>end-to-end display latency</a:t>
            </a:r>
          </a:p>
        </p:txBody>
      </p:sp>
      <p:sp>
        <p:nvSpPr>
          <p:cNvPr id="21" name="Rectangle 20">
            <a:extLst>
              <a:ext uri="{FF2B5EF4-FFF2-40B4-BE49-F238E27FC236}">
                <a16:creationId xmlns:a16="http://schemas.microsoft.com/office/drawing/2014/main" id="{7E84973A-A5A2-4FA9-8D4E-4EB31C883635}"/>
              </a:ext>
            </a:extLst>
          </p:cNvPr>
          <p:cNvSpPr>
            <a:spLocks noGrp="1"/>
          </p:cNvSpPr>
          <p:nvPr/>
        </p:nvSpPr>
        <p:spPr>
          <a:xfrm>
            <a:off x="1524000" y="5905500"/>
            <a:ext cx="9144000" cy="266700"/>
          </a:xfrm>
          <a:prstGeom prst="rect">
            <a:avLst/>
          </a:prstGeom>
          <a:noFill/>
          <a:ln w="0">
            <a:noFill/>
          </a:ln>
        </p:spPr>
        <p:txBody>
          <a:bodyPr>
            <a:noAutofit/>
          </a:bodyPr>
          <a:lstStyle/>
          <a:p>
            <a:pPr algn="ctr">
              <a:defRPr sz="1650" b="1" i="0">
                <a:solidFill>
                  <a:srgbClr val="F4F8FB"/>
                </a:solidFill>
                <a:latin typeface="Bitstream Charter"/>
                <a:ea typeface="Bitstream Charter"/>
                <a:cs typeface="Bitstream Charter"/>
              </a:defRPr>
            </a:pPr>
            <a:r>
              <a:rPr sz="1650" b="1" i="0">
                <a:solidFill>
                  <a:srgbClr val="F4F8FB"/>
                </a:solidFill>
                <a:latin typeface="Bitstream Charter"/>
                <a:ea typeface="Bitstream Charter"/>
                <a:cs typeface="Bitstream Charter"/>
              </a:rPr>
              <a:t>A network improvement does not translate one-for-one into a user-visible improvement.</a:t>
            </a:r>
          </a:p>
        </p:txBody>
      </p:sp>
      <p:sp>
        <p:nvSpPr>
          <p:cNvPr id="22" name="Rectangle 21">
            <a:extLst>
              <a:ext uri="{FF2B5EF4-FFF2-40B4-BE49-F238E27FC236}">
                <a16:creationId xmlns:a16="http://schemas.microsoft.com/office/drawing/2014/main" id="{0856073D-5204-4E86-9E0F-EB102777352C}"/>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13</a:t>
            </a:r>
          </a:p>
        </p:txBody>
      </p:sp>
      <p:sp>
        <p:nvSpPr>
          <p:cNvPr id="23" name="Rectangle 22">
            <a:extLst>
              <a:ext uri="{FF2B5EF4-FFF2-40B4-BE49-F238E27FC236}">
                <a16:creationId xmlns:a16="http://schemas.microsoft.com/office/drawing/2014/main" id="{D5687C65-C6A0-494B-A69D-3FD4FBC7C715}"/>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Paper §§1, 7C; author slide 52</a:t>
            </a:r>
          </a:p>
        </p:txBody>
      </p:sp>
    </p:spTree>
    <p:extLst>
      <p:ext uri="{BB962C8B-B14F-4D97-AF65-F5344CB8AC3E}">
        <p14:creationId xmlns:p14="http://schemas.microsoft.com/office/powerpoint/2010/main" val="1777112530"/>
      </p:ext>
    </p:extLst>
  </p:cSld>
  <p:clrMapOvr>
    <a:masterClrMapping/>
  </p:clrMapOvr>
  <mc:AlternateContent xmlns:mc="http://schemas.openxmlformats.org/markup-compatibility/2006">
    <mc:Choice xmlns:p14="http://schemas.microsoft.com/office/powerpoint/2010/main" Requires="p14">
      <p:transition spd="slow" p14:dur="2000" advTm="19280"/>
    </mc:Choice>
    <mc:Fallback>
      <p:transition spd="slow" advTm="1928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EC030AF-46B1-4C96-9CC8-AEF6E13AEBAB}"/>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Where Sage fits in the research landscape</a:t>
            </a:r>
          </a:p>
        </p:txBody>
      </p:sp>
      <p:sp>
        <p:nvSpPr>
          <p:cNvPr id="2" name="Rectangle 1">
            <a:extLst>
              <a:ext uri="{FF2B5EF4-FFF2-40B4-BE49-F238E27FC236}">
                <a16:creationId xmlns:a16="http://schemas.microsoft.com/office/drawing/2014/main" id="{4F6A1ACE-6998-4968-B01A-5D5089237274}"/>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A useful comparison asks where each system observes demand, predicts, and acts</a:t>
            </a:r>
          </a:p>
        </p:txBody>
      </p:sp>
      <p:sp>
        <p:nvSpPr>
          <p:cNvPr id="3" name="Straight Connector 2">
            <a:extLst>
              <a:ext uri="{FF2B5EF4-FFF2-40B4-BE49-F238E27FC236}">
                <a16:creationId xmlns:a16="http://schemas.microsoft.com/office/drawing/2014/main" id="{C8F10E61-520D-4077-919B-6AC1067AF7E0}"/>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graphicFrame>
        <p:nvGraphicFramePr>
          <p:cNvPr id="11" name="Table 10"/>
          <p:cNvGraphicFramePr/>
          <p:nvPr/>
        </p:nvGraphicFramePr>
        <p:xfrm>
          <a:off x="666750" y="1714500"/>
          <a:ext cx="10858500" cy="3048000"/>
        </p:xfrm>
        <a:graphic>
          <a:graphicData uri="http://schemas.openxmlformats.org/drawingml/2006/table">
            <a:tbl>
              <a:tblPr firstRow="1" bandRow="1"/>
              <a:tblGrid>
                <a:gridCol w="23812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762000">
                <a:tc>
                  <a:txBody>
                    <a:bodyPr/>
                    <a:lstStyle/>
                    <a:p>
                      <a:r>
                        <a:rPr sz="1125" b="1">
                          <a:solidFill>
                            <a:srgbClr val="F4F8FB"/>
                          </a:solidFill>
                          <a:latin typeface="Bitstream Charter"/>
                          <a:ea typeface="Bitstream Charter"/>
                          <a:cs typeface="Bitstream Charter"/>
                        </a:rPr>
                        <a:t>Research thread</a:t>
                      </a:r>
                    </a:p>
                  </a:txBody>
                  <a:tcPr>
                    <a:solidFill>
                      <a:srgbClr val="0E9FC2"/>
                    </a:solidFill>
                  </a:tcPr>
                </a:tc>
                <a:tc>
                  <a:txBody>
                    <a:bodyPr/>
                    <a:lstStyle/>
                    <a:p>
                      <a:r>
                        <a:rPr sz="1125" b="1">
                          <a:solidFill>
                            <a:srgbClr val="F4F8FB"/>
                          </a:solidFill>
                          <a:latin typeface="Bitstream Charter"/>
                          <a:ea typeface="Bitstream Charter"/>
                          <a:cs typeface="Bitstream Charter"/>
                        </a:rPr>
                        <a:t>Where it observes</a:t>
                      </a:r>
                    </a:p>
                  </a:txBody>
                  <a:tcPr>
                    <a:solidFill>
                      <a:srgbClr val="0E9FC2"/>
                    </a:solidFill>
                  </a:tcPr>
                </a:tc>
                <a:tc>
                  <a:txBody>
                    <a:bodyPr/>
                    <a:lstStyle/>
                    <a:p>
                      <a:r>
                        <a:rPr sz="1125" b="1">
                          <a:solidFill>
                            <a:srgbClr val="F4F8FB"/>
                          </a:solidFill>
                          <a:latin typeface="Bitstream Charter"/>
                          <a:ea typeface="Bitstream Charter"/>
                          <a:cs typeface="Bitstream Charter"/>
                        </a:rPr>
                        <a:t>What it changes</a:t>
                      </a:r>
                    </a:p>
                  </a:txBody>
                  <a:tcPr>
                    <a:solidFill>
                      <a:srgbClr val="0E9FC2"/>
                    </a:solidFill>
                  </a:tcPr>
                </a:tc>
                <a:tc>
                  <a:txBody>
                    <a:bodyPr/>
                    <a:lstStyle/>
                    <a:p>
                      <a:r>
                        <a:rPr sz="1125" b="1">
                          <a:solidFill>
                            <a:srgbClr val="F4F8FB"/>
                          </a:solidFill>
                          <a:latin typeface="Bitstream Charter"/>
                          <a:ea typeface="Bitstream Charter"/>
                          <a:cs typeface="Bitstream Charter"/>
                        </a:rPr>
                        <a:t>Connection to Sage</a:t>
                      </a:r>
                    </a:p>
                  </a:txBody>
                  <a:tcPr>
                    <a:solidFill>
                      <a:srgbClr val="0E9FC2"/>
                    </a:solidFill>
                  </a:tcPr>
                </a:tc>
                <a:extLst>
                  <a:ext uri="{0D108BD9-81ED-4DB2-BD59-A6C34878D82A}">
                    <a16:rowId xmlns:a16="http://schemas.microsoft.com/office/drawing/2014/main" val="10000"/>
                  </a:ext>
                </a:extLst>
              </a:tr>
              <a:tr h="762000">
                <a:tc>
                  <a:txBody>
                    <a:bodyPr/>
                    <a:lstStyle/>
                    <a:p>
                      <a:r>
                        <a:rPr sz="1050" b="0">
                          <a:solidFill>
                            <a:srgbClr val="F4F8FB"/>
                          </a:solidFill>
                          <a:latin typeface="Bitstream Charter"/>
                          <a:ea typeface="Bitstream Charter"/>
                          <a:cs typeface="Bitstream Charter"/>
                        </a:rPr>
                        <a:t>Device-side anticipation</a:t>
                      </a:r>
                    </a:p>
                  </a:txBody>
                  <a:tcPr/>
                </a:tc>
                <a:tc>
                  <a:txBody>
                    <a:bodyPr/>
                    <a:lstStyle/>
                    <a:p>
                      <a:r>
                        <a:rPr sz="1050" b="0">
                          <a:solidFill>
                            <a:srgbClr val="F4F8FB"/>
                          </a:solidFill>
                          <a:latin typeface="Bitstream Charter"/>
                          <a:ea typeface="Bitstream Charter"/>
                          <a:cs typeface="Bitstream Charter"/>
                        </a:rPr>
                        <a:t>At the device</a:t>
                      </a:r>
                    </a:p>
                  </a:txBody>
                  <a:tcPr/>
                </a:tc>
                <a:tc>
                  <a:txBody>
                    <a:bodyPr/>
                    <a:lstStyle/>
                    <a:p>
                      <a:r>
                        <a:rPr sz="1050" b="0">
                          <a:solidFill>
                            <a:srgbClr val="F4F8FB"/>
                          </a:solidFill>
                          <a:latin typeface="Bitstream Charter"/>
                          <a:ea typeface="Bitstream Charter"/>
                          <a:cs typeface="Bitstream Charter"/>
                        </a:rPr>
                        <a:t>Advance messages prepare the network</a:t>
                      </a:r>
                    </a:p>
                  </a:txBody>
                  <a:tcPr/>
                </a:tc>
                <a:tc>
                  <a:txBody>
                    <a:bodyPr/>
                    <a:lstStyle/>
                    <a:p>
                      <a:r>
                        <a:rPr sz="1050" b="0">
                          <a:solidFill>
                            <a:srgbClr val="F4F8FB"/>
                          </a:solidFill>
                          <a:latin typeface="Bitstream Charter"/>
                          <a:ea typeface="Bitstream Charter"/>
                          <a:cs typeface="Bitstream Charter"/>
                        </a:rPr>
                        <a:t>Sage moves prediction to the base station</a:t>
                      </a:r>
                    </a:p>
                  </a:txBody>
                  <a:tcPr/>
                </a:tc>
                <a:extLst>
                  <a:ext uri="{0D108BD9-81ED-4DB2-BD59-A6C34878D82A}">
                    <a16:rowId xmlns:a16="http://schemas.microsoft.com/office/drawing/2014/main" val="10001"/>
                  </a:ext>
                </a:extLst>
              </a:tr>
              <a:tr h="762000">
                <a:tc>
                  <a:txBody>
                    <a:bodyPr/>
                    <a:lstStyle/>
                    <a:p>
                      <a:r>
                        <a:rPr sz="1050" b="0">
                          <a:solidFill>
                            <a:srgbClr val="F4F8FB"/>
                          </a:solidFill>
                          <a:latin typeface="Bitstream Charter"/>
                          <a:ea typeface="Bitstream Charter"/>
                          <a:cs typeface="Bitstream Charter"/>
                        </a:rPr>
                        <a:t>Programmable RAN control</a:t>
                      </a:r>
                    </a:p>
                  </a:txBody>
                  <a:tcPr/>
                </a:tc>
                <a:tc>
                  <a:txBody>
                    <a:bodyPr/>
                    <a:lstStyle/>
                    <a:p>
                      <a:r>
                        <a:rPr sz="1050" b="0">
                          <a:solidFill>
                            <a:srgbClr val="F4F8FB"/>
                          </a:solidFill>
                          <a:latin typeface="Bitstream Charter"/>
                          <a:ea typeface="Bitstream Charter"/>
                          <a:cs typeface="Bitstream Charter"/>
                        </a:rPr>
                        <a:t>Near radio processing</a:t>
                      </a:r>
                    </a:p>
                  </a:txBody>
                  <a:tcPr/>
                </a:tc>
                <a:tc>
                  <a:txBody>
                    <a:bodyPr/>
                    <a:lstStyle/>
                    <a:p>
                      <a:r>
                        <a:rPr sz="1050" b="0">
                          <a:solidFill>
                            <a:srgbClr val="F4F8FB"/>
                          </a:solidFill>
                          <a:latin typeface="Bitstream Charter"/>
                          <a:ea typeface="Bitstream Charter"/>
                          <a:cs typeface="Bitstream Charter"/>
                        </a:rPr>
                        <a:t>Places decisions close to deadlines</a:t>
                      </a:r>
                    </a:p>
                  </a:txBody>
                  <a:tcPr/>
                </a:tc>
                <a:tc>
                  <a:txBody>
                    <a:bodyPr/>
                    <a:lstStyle/>
                    <a:p>
                      <a:r>
                        <a:rPr sz="1050" b="0">
                          <a:solidFill>
                            <a:srgbClr val="F4F8FB"/>
                          </a:solidFill>
                          <a:latin typeface="Bitstream Charter"/>
                          <a:ea typeface="Bitstream Charter"/>
                          <a:cs typeface="Bitstream Charter"/>
                        </a:rPr>
                        <a:t>Sage applies this to scheduling</a:t>
                      </a:r>
                    </a:p>
                  </a:txBody>
                  <a:tcPr/>
                </a:tc>
                <a:extLst>
                  <a:ext uri="{0D108BD9-81ED-4DB2-BD59-A6C34878D82A}">
                    <a16:rowId xmlns:a16="http://schemas.microsoft.com/office/drawing/2014/main" val="10002"/>
                  </a:ext>
                </a:extLst>
              </a:tr>
              <a:tr h="762000">
                <a:tc>
                  <a:txBody>
                    <a:bodyPr/>
                    <a:lstStyle/>
                    <a:p>
                      <a:r>
                        <a:rPr sz="1050" b="1">
                          <a:solidFill>
                            <a:srgbClr val="071A2B"/>
                          </a:solidFill>
                          <a:latin typeface="Bitstream Charter"/>
                          <a:ea typeface="Bitstream Charter"/>
                          <a:cs typeface="Bitstream Charter"/>
                        </a:rPr>
                        <a:t>Sage</a:t>
                      </a:r>
                    </a:p>
                  </a:txBody>
                  <a:tcPr>
                    <a:solidFill>
                      <a:srgbClr val="57D18C"/>
                    </a:solidFill>
                  </a:tcPr>
                </a:tc>
                <a:tc>
                  <a:txBody>
                    <a:bodyPr/>
                    <a:lstStyle/>
                    <a:p>
                      <a:r>
                        <a:rPr sz="1050" b="1">
                          <a:solidFill>
                            <a:srgbClr val="071A2B"/>
                          </a:solidFill>
                          <a:latin typeface="Bitstream Charter"/>
                          <a:ea typeface="Bitstream Charter"/>
                          <a:cs typeface="Bitstream Charter"/>
                        </a:rPr>
                        <a:t>gNB traffic observations</a:t>
                      </a:r>
                    </a:p>
                  </a:txBody>
                  <a:tcPr>
                    <a:solidFill>
                      <a:srgbClr val="57D18C"/>
                    </a:solidFill>
                  </a:tcPr>
                </a:tc>
                <a:tc>
                  <a:txBody>
                    <a:bodyPr/>
                    <a:lstStyle/>
                    <a:p>
                      <a:r>
                        <a:rPr sz="1050" b="1">
                          <a:solidFill>
                            <a:srgbClr val="071A2B"/>
                          </a:solidFill>
                          <a:latin typeface="Bitstream Charter"/>
                          <a:ea typeface="Bitstream Charter"/>
                          <a:cs typeface="Bitstream Charter"/>
                        </a:rPr>
                        <a:t>Predicts next burst time + size</a:t>
                      </a:r>
                    </a:p>
                  </a:txBody>
                  <a:tcPr>
                    <a:solidFill>
                      <a:srgbClr val="57D18C"/>
                    </a:solidFill>
                  </a:tcPr>
                </a:tc>
                <a:tc>
                  <a:txBody>
                    <a:bodyPr/>
                    <a:lstStyle/>
                    <a:p>
                      <a:r>
                        <a:rPr sz="1050" b="1">
                          <a:solidFill>
                            <a:srgbClr val="071A2B"/>
                          </a:solidFill>
                          <a:latin typeface="Bitstream Charter"/>
                          <a:ea typeface="Bitstream Charter"/>
                          <a:cs typeface="Bitstream Charter"/>
                        </a:rPr>
                        <a:t>Proactive allocation with fallback</a:t>
                      </a:r>
                    </a:p>
                  </a:txBody>
                  <a:tcPr>
                    <a:solidFill>
                      <a:srgbClr val="57D18C"/>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3FF63ED5-1383-44A6-A131-AC82F9CED8F6}"/>
              </a:ext>
            </a:extLst>
          </p:cNvPr>
          <p:cNvSpPr>
            <a:spLocks noGrp="1"/>
          </p:cNvSpPr>
          <p:nvPr/>
        </p:nvSpPr>
        <p:spPr>
          <a:xfrm>
            <a:off x="1238250" y="5334000"/>
            <a:ext cx="9715500" cy="333375"/>
          </a:xfrm>
          <a:prstGeom prst="rect">
            <a:avLst/>
          </a:prstGeom>
          <a:noFill/>
          <a:ln w="0">
            <a:noFill/>
          </a:ln>
        </p:spPr>
        <p:txBody>
          <a:bodyPr>
            <a:noAutofit/>
          </a:bodyPr>
          <a:lstStyle/>
          <a:p>
            <a:pPr algn="ctr">
              <a:defRPr sz="1800" b="1" i="0">
                <a:solidFill>
                  <a:srgbClr val="F4F8FB"/>
                </a:solidFill>
                <a:latin typeface="Bitstream Charter"/>
                <a:ea typeface="Bitstream Charter"/>
                <a:cs typeface="Bitstream Charter"/>
              </a:defRPr>
            </a:pPr>
            <a:r>
              <a:rPr sz="1800" b="1" i="0">
                <a:solidFill>
                  <a:srgbClr val="F4F8FB"/>
                </a:solidFill>
                <a:latin typeface="Bitstream Charter"/>
                <a:ea typeface="Bitstream Charter"/>
                <a:cs typeface="Bitstream Charter"/>
              </a:rPr>
              <a:t>Common theme: use information earlier, then place the decision close enough to act.</a:t>
            </a:r>
          </a:p>
        </p:txBody>
      </p:sp>
      <p:sp>
        <p:nvSpPr>
          <p:cNvPr id="6" name="Rectangle 5">
            <a:extLst>
              <a:ext uri="{FF2B5EF4-FFF2-40B4-BE49-F238E27FC236}">
                <a16:creationId xmlns:a16="http://schemas.microsoft.com/office/drawing/2014/main" id="{641CB056-92D2-442D-A10A-A8BD0B53AF5A}"/>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15</a:t>
            </a:r>
          </a:p>
        </p:txBody>
      </p:sp>
      <p:sp>
        <p:nvSpPr>
          <p:cNvPr id="7" name="Rectangle 6">
            <a:extLst>
              <a:ext uri="{FF2B5EF4-FFF2-40B4-BE49-F238E27FC236}">
                <a16:creationId xmlns:a16="http://schemas.microsoft.com/office/drawing/2014/main" id="{E3FE905D-1E97-4B51-80E0-46C425EB3746}"/>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Paper §9; EdgeRIC NSDI 2024; device-based LTE latency NSDI 2021</a:t>
            </a:r>
          </a:p>
        </p:txBody>
      </p:sp>
    </p:spTree>
    <p:extLst>
      <p:ext uri="{BB962C8B-B14F-4D97-AF65-F5344CB8AC3E}">
        <p14:creationId xmlns:p14="http://schemas.microsoft.com/office/powerpoint/2010/main" val="1609869485"/>
      </p:ext>
    </p:extLst>
  </p:cSld>
  <p:clrMapOvr>
    <a:masterClrMapping/>
  </p:clrMapOvr>
  <mc:AlternateContent xmlns:mc="http://schemas.openxmlformats.org/markup-compatibility/2006">
    <mc:Choice xmlns:p14="http://schemas.microsoft.com/office/powerpoint/2010/main" Requires="p14">
      <p:transition spd="slow" p14:dur="2000" advTm="64725"/>
    </mc:Choice>
    <mc:Fallback>
      <p:transition spd="slow" advTm="6472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B40ABED-30EB-419B-9C49-FC6987C98E3E}"/>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What about the downlink?</a:t>
            </a:r>
          </a:p>
        </p:txBody>
      </p:sp>
      <p:sp>
        <p:nvSpPr>
          <p:cNvPr id="2" name="Rectangle 1">
            <a:extLst>
              <a:ext uri="{FF2B5EF4-FFF2-40B4-BE49-F238E27FC236}">
                <a16:creationId xmlns:a16="http://schemas.microsoft.com/office/drawing/2014/main" id="{0BC05391-EB66-4B92-8BDD-F14056C64469}"/>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The uplink information gap is different from the downlink information gap</a:t>
            </a:r>
          </a:p>
        </p:txBody>
      </p:sp>
      <p:sp>
        <p:nvSpPr>
          <p:cNvPr id="3" name="Straight Connector 2">
            <a:extLst>
              <a:ext uri="{FF2B5EF4-FFF2-40B4-BE49-F238E27FC236}">
                <a16:creationId xmlns:a16="http://schemas.microsoft.com/office/drawing/2014/main" id="{97B489E6-A563-4C9F-B116-719ED3C9D791}"/>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ounded Rectangle 3">
            <a:extLst>
              <a:ext uri="{FF2B5EF4-FFF2-40B4-BE49-F238E27FC236}">
                <a16:creationId xmlns:a16="http://schemas.microsoft.com/office/drawing/2014/main" id="{503149CB-BAA3-487F-AC01-BE10C80785D9}"/>
              </a:ext>
            </a:extLst>
          </p:cNvPr>
          <p:cNvSpPr>
            <a:spLocks noGrp="1"/>
          </p:cNvSpPr>
          <p:nvPr/>
        </p:nvSpPr>
        <p:spPr>
          <a:xfrm>
            <a:off x="742950" y="1809750"/>
            <a:ext cx="4953000" cy="3429000"/>
          </a:xfrm>
          <a:prstGeom prst="roundRect">
            <a:avLst>
              <a:gd name="adj" fmla="val 6667"/>
            </a:avLst>
          </a:prstGeom>
          <a:solidFill>
            <a:srgbClr val="0D2940"/>
          </a:solidFill>
          <a:ln w="14288">
            <a:solidFill>
              <a:srgbClr val="47D7FF"/>
            </a:solidFill>
            <a:prstDash val="solid"/>
          </a:ln>
        </p:spPr>
        <p:txBody>
          <a:bodyPr/>
          <a:lstStyle/>
          <a:p>
            <a:endParaRPr lang="en-US"/>
          </a:p>
        </p:txBody>
      </p:sp>
      <p:sp>
        <p:nvSpPr>
          <p:cNvPr id="5" name="Rounded Rectangle 4">
            <a:extLst>
              <a:ext uri="{FF2B5EF4-FFF2-40B4-BE49-F238E27FC236}">
                <a16:creationId xmlns:a16="http://schemas.microsoft.com/office/drawing/2014/main" id="{8061B48F-28B8-4613-B22C-7243D37AC424}"/>
              </a:ext>
            </a:extLst>
          </p:cNvPr>
          <p:cNvSpPr>
            <a:spLocks noGrp="1"/>
          </p:cNvSpPr>
          <p:nvPr/>
        </p:nvSpPr>
        <p:spPr>
          <a:xfrm>
            <a:off x="6496050" y="1809750"/>
            <a:ext cx="4953000" cy="3429000"/>
          </a:xfrm>
          <a:prstGeom prst="roundRect">
            <a:avLst>
              <a:gd name="adj" fmla="val 6667"/>
            </a:avLst>
          </a:prstGeom>
          <a:solidFill>
            <a:srgbClr val="0D2940"/>
          </a:solidFill>
          <a:ln w="14288">
            <a:solidFill>
              <a:srgbClr val="57D18C"/>
            </a:solidFill>
            <a:prstDash val="solid"/>
          </a:ln>
        </p:spPr>
        <p:txBody>
          <a:bodyPr/>
          <a:lstStyle/>
          <a:p>
            <a:endParaRPr lang="en-US"/>
          </a:p>
        </p:txBody>
      </p:sp>
      <p:sp>
        <p:nvSpPr>
          <p:cNvPr id="6" name="Rectangle 5">
            <a:extLst>
              <a:ext uri="{FF2B5EF4-FFF2-40B4-BE49-F238E27FC236}">
                <a16:creationId xmlns:a16="http://schemas.microsoft.com/office/drawing/2014/main" id="{C5E82501-8469-4450-B14D-9400E28EE553}"/>
              </a:ext>
            </a:extLst>
          </p:cNvPr>
          <p:cNvSpPr>
            <a:spLocks noGrp="1"/>
          </p:cNvSpPr>
          <p:nvPr/>
        </p:nvSpPr>
        <p:spPr>
          <a:xfrm>
            <a:off x="1066800" y="2114550"/>
            <a:ext cx="1714500" cy="323850"/>
          </a:xfrm>
          <a:prstGeom prst="rect">
            <a:avLst/>
          </a:prstGeom>
          <a:noFill/>
          <a:ln w="0">
            <a:noFill/>
          </a:ln>
        </p:spPr>
        <p:txBody>
          <a:bodyPr>
            <a:noAutofit/>
          </a:bodyPr>
          <a:lstStyle/>
          <a:p>
            <a:pPr algn="l">
              <a:defRPr sz="1875" b="1" i="0">
                <a:solidFill>
                  <a:srgbClr val="47D7FF"/>
                </a:solidFill>
                <a:latin typeface="Bitstream Charter"/>
                <a:ea typeface="Bitstream Charter"/>
                <a:cs typeface="Bitstream Charter"/>
              </a:defRPr>
            </a:pPr>
            <a:r>
              <a:rPr sz="1875" b="1" i="0">
                <a:solidFill>
                  <a:srgbClr val="47D7FF"/>
                </a:solidFill>
                <a:latin typeface="Bitstream Charter"/>
                <a:ea typeface="Bitstream Charter"/>
                <a:cs typeface="Bitstream Charter"/>
              </a:rPr>
              <a:t>UPLINK</a:t>
            </a:r>
          </a:p>
        </p:txBody>
      </p:sp>
      <p:sp>
        <p:nvSpPr>
          <p:cNvPr id="7" name="Rectangle 6">
            <a:extLst>
              <a:ext uri="{FF2B5EF4-FFF2-40B4-BE49-F238E27FC236}">
                <a16:creationId xmlns:a16="http://schemas.microsoft.com/office/drawing/2014/main" id="{4BE79BA8-0949-4A3D-AF4E-5C47D678EFE3}"/>
              </a:ext>
            </a:extLst>
          </p:cNvPr>
          <p:cNvSpPr>
            <a:spLocks noGrp="1"/>
          </p:cNvSpPr>
          <p:nvPr/>
        </p:nvSpPr>
        <p:spPr>
          <a:xfrm>
            <a:off x="1066800" y="2505075"/>
            <a:ext cx="2667000" cy="266700"/>
          </a:xfrm>
          <a:prstGeom prst="rect">
            <a:avLst/>
          </a:prstGeom>
          <a:noFill/>
          <a:ln w="0">
            <a:noFill/>
          </a:ln>
        </p:spPr>
        <p:txBody>
          <a:bodyPr>
            <a:noAutofit/>
          </a:bodyPr>
          <a:lstStyle/>
          <a:p>
            <a:pPr algn="l">
              <a:defRPr sz="1350" b="0" i="0">
                <a:solidFill>
                  <a:srgbClr val="DDEBF2"/>
                </a:solidFill>
                <a:latin typeface="Bitstream Charter"/>
                <a:ea typeface="Bitstream Charter"/>
                <a:cs typeface="Bitstream Charter"/>
              </a:defRPr>
            </a:pPr>
            <a:r>
              <a:rPr sz="1350" b="0" i="0">
                <a:solidFill>
                  <a:srgbClr val="DDEBF2"/>
                </a:solidFill>
                <a:latin typeface="Bitstream Charter"/>
                <a:ea typeface="Bitstream Charter"/>
                <a:cs typeface="Bitstream Charter"/>
              </a:rPr>
              <a:t>Device → network</a:t>
            </a:r>
          </a:p>
        </p:txBody>
      </p:sp>
      <p:sp>
        <p:nvSpPr>
          <p:cNvPr id="8" name="Rounded Rectangle 7">
            <a:extLst>
              <a:ext uri="{FF2B5EF4-FFF2-40B4-BE49-F238E27FC236}">
                <a16:creationId xmlns:a16="http://schemas.microsoft.com/office/drawing/2014/main" id="{1C327219-8CF0-42C3-AE7F-583F8CB71C97}"/>
              </a:ext>
            </a:extLst>
          </p:cNvPr>
          <p:cNvSpPr>
            <a:spLocks noGrp="1"/>
          </p:cNvSpPr>
          <p:nvPr/>
        </p:nvSpPr>
        <p:spPr>
          <a:xfrm>
            <a:off x="1066800" y="3238500"/>
            <a:ext cx="1428750" cy="609600"/>
          </a:xfrm>
          <a:prstGeom prst="roundRect">
            <a:avLst>
              <a:gd name="adj" fmla="val 21875"/>
            </a:avLst>
          </a:prstGeom>
          <a:solidFill>
            <a:srgbClr val="071A2B"/>
          </a:solidFill>
          <a:ln w="14288">
            <a:solidFill>
              <a:srgbClr val="345267"/>
            </a:solidFill>
            <a:prstDash val="solid"/>
          </a:ln>
        </p:spPr>
        <p:txBody>
          <a:bodyPr/>
          <a:lstStyle/>
          <a:p>
            <a:endParaRPr lang="en-US"/>
          </a:p>
        </p:txBody>
      </p:sp>
      <p:sp>
        <p:nvSpPr>
          <p:cNvPr id="9" name="Rectangle 8">
            <a:extLst>
              <a:ext uri="{FF2B5EF4-FFF2-40B4-BE49-F238E27FC236}">
                <a16:creationId xmlns:a16="http://schemas.microsoft.com/office/drawing/2014/main" id="{F47F34AF-AEE6-4373-A060-120E6D3ADF0C}"/>
              </a:ext>
            </a:extLst>
          </p:cNvPr>
          <p:cNvSpPr>
            <a:spLocks noGrp="1"/>
          </p:cNvSpPr>
          <p:nvPr/>
        </p:nvSpPr>
        <p:spPr>
          <a:xfrm>
            <a:off x="1171575" y="3295650"/>
            <a:ext cx="1047750" cy="342900"/>
          </a:xfrm>
          <a:prstGeom prst="rect">
            <a:avLst/>
          </a:prstGeom>
          <a:noFill/>
          <a:ln w="0">
            <a:noFill/>
          </a:ln>
        </p:spPr>
        <p:txBody>
          <a:bodyPr>
            <a:noAutofit/>
          </a:bodyPr>
          <a:lstStyle/>
          <a:p>
            <a:pPr algn="ctr">
              <a:defRPr sz="1275" b="0" i="0">
                <a:solidFill>
                  <a:srgbClr val="F4F8FB"/>
                </a:solidFill>
                <a:latin typeface="Bitstream Charter"/>
                <a:ea typeface="Bitstream Charter"/>
                <a:cs typeface="Bitstream Charter"/>
              </a:defRPr>
            </a:pPr>
            <a:r>
              <a:rPr sz="1275" b="0" i="0" dirty="0">
                <a:solidFill>
                  <a:srgbClr val="F4F8FB"/>
                </a:solidFill>
                <a:latin typeface="Bitstream Charter"/>
                <a:ea typeface="Bitstream Charter"/>
                <a:cs typeface="Bitstream Charter"/>
              </a:rPr>
              <a:t>app creates</a:t>
            </a:r>
          </a:p>
          <a:p>
            <a:pPr algn="ctr">
              <a:defRPr sz="1275" b="0" i="0">
                <a:solidFill>
                  <a:srgbClr val="F4F8FB"/>
                </a:solidFill>
                <a:latin typeface="Bitstream Charter"/>
                <a:ea typeface="Bitstream Charter"/>
                <a:cs typeface="Bitstream Charter"/>
              </a:defRPr>
            </a:pPr>
            <a:r>
              <a:rPr sz="1275" b="0" i="0" dirty="0">
                <a:solidFill>
                  <a:srgbClr val="F4F8FB"/>
                </a:solidFill>
                <a:latin typeface="Bitstream Charter"/>
                <a:ea typeface="Bitstream Charter"/>
                <a:cs typeface="Bitstream Charter"/>
              </a:rPr>
              <a:t>data</a:t>
            </a:r>
          </a:p>
        </p:txBody>
      </p:sp>
      <p:sp>
        <p:nvSpPr>
          <p:cNvPr id="10" name="Rounded Rectangle 9">
            <a:extLst>
              <a:ext uri="{FF2B5EF4-FFF2-40B4-BE49-F238E27FC236}">
                <a16:creationId xmlns:a16="http://schemas.microsoft.com/office/drawing/2014/main" id="{E3FE5C90-238F-47CA-B0E8-08559C17950A}"/>
              </a:ext>
            </a:extLst>
          </p:cNvPr>
          <p:cNvSpPr>
            <a:spLocks noGrp="1"/>
          </p:cNvSpPr>
          <p:nvPr/>
        </p:nvSpPr>
        <p:spPr>
          <a:xfrm>
            <a:off x="3390900" y="3238500"/>
            <a:ext cx="1619250" cy="609600"/>
          </a:xfrm>
          <a:prstGeom prst="roundRect">
            <a:avLst>
              <a:gd name="adj" fmla="val 21875"/>
            </a:avLst>
          </a:prstGeom>
          <a:solidFill>
            <a:srgbClr val="FFC857"/>
          </a:solidFill>
          <a:ln w="0">
            <a:solidFill>
              <a:srgbClr val="FFC857"/>
            </a:solidFill>
            <a:prstDash val="solid"/>
          </a:ln>
        </p:spPr>
        <p:txBody>
          <a:bodyPr/>
          <a:lstStyle/>
          <a:p>
            <a:endParaRPr lang="en-US"/>
          </a:p>
        </p:txBody>
      </p:sp>
      <p:sp>
        <p:nvSpPr>
          <p:cNvPr id="11" name="Rectangle 10">
            <a:extLst>
              <a:ext uri="{FF2B5EF4-FFF2-40B4-BE49-F238E27FC236}">
                <a16:creationId xmlns:a16="http://schemas.microsoft.com/office/drawing/2014/main" id="{8217696F-E218-42DB-A979-2EDF81779879}"/>
              </a:ext>
            </a:extLst>
          </p:cNvPr>
          <p:cNvSpPr>
            <a:spLocks noGrp="1"/>
          </p:cNvSpPr>
          <p:nvPr/>
        </p:nvSpPr>
        <p:spPr>
          <a:xfrm>
            <a:off x="3581400" y="3287485"/>
            <a:ext cx="1238250" cy="381000"/>
          </a:xfrm>
          <a:prstGeom prst="rect">
            <a:avLst/>
          </a:prstGeom>
          <a:noFill/>
          <a:ln w="0">
            <a:noFill/>
          </a:ln>
        </p:spPr>
        <p:txBody>
          <a:bodyPr>
            <a:noAutofit/>
          </a:bodyPr>
          <a:lstStyle/>
          <a:p>
            <a:pPr algn="ctr">
              <a:defRPr sz="1200" b="1" i="0">
                <a:solidFill>
                  <a:srgbClr val="071A2B"/>
                </a:solidFill>
                <a:latin typeface="Bitstream Charter"/>
                <a:ea typeface="Bitstream Charter"/>
                <a:cs typeface="Bitstream Charter"/>
              </a:defRPr>
            </a:pPr>
            <a:r>
              <a:rPr sz="1200" b="1" i="0" dirty="0" err="1">
                <a:solidFill>
                  <a:srgbClr val="071A2B"/>
                </a:solidFill>
                <a:latin typeface="Bitstream Charter"/>
                <a:ea typeface="Bitstream Charter"/>
                <a:cs typeface="Bitstream Charter"/>
              </a:rPr>
              <a:t>gNB</a:t>
            </a:r>
            <a:r>
              <a:rPr sz="1200" b="1" i="0" dirty="0">
                <a:solidFill>
                  <a:srgbClr val="071A2B"/>
                </a:solidFill>
                <a:latin typeface="Bitstream Charter"/>
                <a:ea typeface="Bitstream Charter"/>
                <a:cs typeface="Bitstream Charter"/>
              </a:rPr>
              <a:t> learns</a:t>
            </a:r>
          </a:p>
          <a:p>
            <a:pPr algn="ctr">
              <a:defRPr sz="1200" b="1" i="0">
                <a:solidFill>
                  <a:srgbClr val="071A2B"/>
                </a:solidFill>
                <a:latin typeface="Bitstream Charter"/>
                <a:ea typeface="Bitstream Charter"/>
                <a:cs typeface="Bitstream Charter"/>
              </a:defRPr>
            </a:pPr>
            <a:r>
              <a:rPr sz="1200" b="1" i="0" dirty="0">
                <a:solidFill>
                  <a:srgbClr val="071A2B"/>
                </a:solidFill>
                <a:latin typeface="Bitstream Charter"/>
                <a:ea typeface="Bitstream Charter"/>
                <a:cs typeface="Bitstream Charter"/>
              </a:rPr>
              <a:t>through SR / BSR</a:t>
            </a:r>
          </a:p>
        </p:txBody>
      </p:sp>
      <p:cxnSp>
        <p:nvCxnSpPr>
          <p:cNvPr id="36" name="Straight Arrow Connector 35"/>
          <p:cNvCxnSpPr>
            <a:stCxn id="8" idx="3"/>
            <a:endCxn id="10" idx="1"/>
          </p:cNvCxnSpPr>
          <p:nvPr/>
        </p:nvCxnSpPr>
        <p:spPr>
          <a:xfrm>
            <a:off x="2495550" y="3543300"/>
            <a:ext cx="895350" cy="0"/>
          </a:xfrm>
          <a:prstGeom prst="straightConnector1">
            <a:avLst/>
          </a:prstGeom>
          <a:ln w="23813">
            <a:solidFill>
              <a:srgbClr val="FFC857"/>
            </a:solidFill>
            <a:prstDash val="solid"/>
            <a:headEnd type="arrow" w="med" len="med"/>
            <a:tailEnd type="none" w="med" len="med"/>
          </a:ln>
        </p:spPr>
      </p:cxnSp>
      <p:sp>
        <p:nvSpPr>
          <p:cNvPr id="13" name="Rectangle 12">
            <a:extLst>
              <a:ext uri="{FF2B5EF4-FFF2-40B4-BE49-F238E27FC236}">
                <a16:creationId xmlns:a16="http://schemas.microsoft.com/office/drawing/2014/main" id="{D02AA937-617F-4056-9103-A9D874AADA73}"/>
              </a:ext>
            </a:extLst>
          </p:cNvPr>
          <p:cNvSpPr>
            <a:spLocks noGrp="1"/>
          </p:cNvSpPr>
          <p:nvPr/>
        </p:nvSpPr>
        <p:spPr>
          <a:xfrm>
            <a:off x="1066800" y="4352925"/>
            <a:ext cx="4095750" cy="400050"/>
          </a:xfrm>
          <a:prstGeom prst="rect">
            <a:avLst/>
          </a:prstGeom>
          <a:noFill/>
          <a:ln w="0">
            <a:noFill/>
          </a:ln>
        </p:spPr>
        <p:txBody>
          <a:bodyPr>
            <a:noAutofit/>
          </a:bodyPr>
          <a:lstStyle/>
          <a:p>
            <a:pPr algn="l">
              <a:defRPr sz="1500" b="1" i="0">
                <a:solidFill>
                  <a:srgbClr val="F4F8FB"/>
                </a:solidFill>
                <a:latin typeface="Bitstream Charter"/>
                <a:ea typeface="Bitstream Charter"/>
                <a:cs typeface="Bitstream Charter"/>
              </a:defRPr>
            </a:pPr>
            <a:r>
              <a:rPr sz="1500" b="1" i="0">
                <a:solidFill>
                  <a:srgbClr val="F4F8FB"/>
                </a:solidFill>
                <a:latin typeface="Bitstream Charter"/>
                <a:ea typeface="Bitstream Charter"/>
                <a:cs typeface="Bitstream Charter"/>
              </a:rPr>
              <a:t>Sage predicts before the request sequence completes.</a:t>
            </a:r>
          </a:p>
        </p:txBody>
      </p:sp>
      <p:sp>
        <p:nvSpPr>
          <p:cNvPr id="14" name="Rectangle 13">
            <a:extLst>
              <a:ext uri="{FF2B5EF4-FFF2-40B4-BE49-F238E27FC236}">
                <a16:creationId xmlns:a16="http://schemas.microsoft.com/office/drawing/2014/main" id="{5349A6A9-DC8B-4AFA-9307-DD54D955CAA8}"/>
              </a:ext>
            </a:extLst>
          </p:cNvPr>
          <p:cNvSpPr>
            <a:spLocks noGrp="1"/>
          </p:cNvSpPr>
          <p:nvPr/>
        </p:nvSpPr>
        <p:spPr>
          <a:xfrm>
            <a:off x="6819900" y="2114550"/>
            <a:ext cx="1714500" cy="323850"/>
          </a:xfrm>
          <a:prstGeom prst="rect">
            <a:avLst/>
          </a:prstGeom>
          <a:noFill/>
          <a:ln w="0">
            <a:noFill/>
          </a:ln>
        </p:spPr>
        <p:txBody>
          <a:bodyPr>
            <a:noAutofit/>
          </a:bodyPr>
          <a:lstStyle/>
          <a:p>
            <a:pPr algn="l">
              <a:defRPr sz="1875" b="1" i="0">
                <a:solidFill>
                  <a:srgbClr val="57D18C"/>
                </a:solidFill>
                <a:latin typeface="Bitstream Charter"/>
                <a:ea typeface="Bitstream Charter"/>
                <a:cs typeface="Bitstream Charter"/>
              </a:defRPr>
            </a:pPr>
            <a:r>
              <a:rPr sz="1875" b="1" i="0">
                <a:solidFill>
                  <a:srgbClr val="57D18C"/>
                </a:solidFill>
                <a:latin typeface="Bitstream Charter"/>
                <a:ea typeface="Bitstream Charter"/>
                <a:cs typeface="Bitstream Charter"/>
              </a:rPr>
              <a:t>DOWNLINK</a:t>
            </a:r>
          </a:p>
        </p:txBody>
      </p:sp>
      <p:sp>
        <p:nvSpPr>
          <p:cNvPr id="15" name="Rectangle 14">
            <a:extLst>
              <a:ext uri="{FF2B5EF4-FFF2-40B4-BE49-F238E27FC236}">
                <a16:creationId xmlns:a16="http://schemas.microsoft.com/office/drawing/2014/main" id="{8C8BDA80-8222-47A3-B72A-6AF55DD0A6FA}"/>
              </a:ext>
            </a:extLst>
          </p:cNvPr>
          <p:cNvSpPr>
            <a:spLocks noGrp="1"/>
          </p:cNvSpPr>
          <p:nvPr/>
        </p:nvSpPr>
        <p:spPr>
          <a:xfrm>
            <a:off x="6819900" y="2505075"/>
            <a:ext cx="2667000" cy="266700"/>
          </a:xfrm>
          <a:prstGeom prst="rect">
            <a:avLst/>
          </a:prstGeom>
          <a:noFill/>
          <a:ln w="0">
            <a:noFill/>
          </a:ln>
        </p:spPr>
        <p:txBody>
          <a:bodyPr>
            <a:noAutofit/>
          </a:bodyPr>
          <a:lstStyle/>
          <a:p>
            <a:pPr algn="l">
              <a:defRPr sz="1350" b="0" i="0">
                <a:solidFill>
                  <a:srgbClr val="DDEBF2"/>
                </a:solidFill>
                <a:latin typeface="Bitstream Charter"/>
                <a:ea typeface="Bitstream Charter"/>
                <a:cs typeface="Bitstream Charter"/>
              </a:defRPr>
            </a:pPr>
            <a:r>
              <a:rPr sz="1350" b="0" i="0">
                <a:solidFill>
                  <a:srgbClr val="DDEBF2"/>
                </a:solidFill>
                <a:latin typeface="Bitstream Charter"/>
                <a:ea typeface="Bitstream Charter"/>
                <a:cs typeface="Bitstream Charter"/>
              </a:rPr>
              <a:t>network → device</a:t>
            </a:r>
          </a:p>
        </p:txBody>
      </p:sp>
      <p:sp>
        <p:nvSpPr>
          <p:cNvPr id="16" name="Rounded Rectangle 15">
            <a:extLst>
              <a:ext uri="{FF2B5EF4-FFF2-40B4-BE49-F238E27FC236}">
                <a16:creationId xmlns:a16="http://schemas.microsoft.com/office/drawing/2014/main" id="{C5EAB52C-A0AD-4732-97AD-725BC936B0F8}"/>
              </a:ext>
            </a:extLst>
          </p:cNvPr>
          <p:cNvSpPr>
            <a:spLocks noGrp="1"/>
          </p:cNvSpPr>
          <p:nvPr/>
        </p:nvSpPr>
        <p:spPr>
          <a:xfrm>
            <a:off x="6848475" y="3224893"/>
            <a:ext cx="1619250" cy="609600"/>
          </a:xfrm>
          <a:prstGeom prst="roundRect">
            <a:avLst>
              <a:gd name="adj" fmla="val 21875"/>
            </a:avLst>
          </a:prstGeom>
          <a:solidFill>
            <a:srgbClr val="57D18C"/>
          </a:solidFill>
          <a:ln w="0">
            <a:solidFill>
              <a:srgbClr val="57D18C"/>
            </a:solidFill>
            <a:prstDash val="solid"/>
          </a:ln>
        </p:spPr>
        <p:txBody>
          <a:bodyPr/>
          <a:lstStyle/>
          <a:p>
            <a:endParaRPr lang="en-US"/>
          </a:p>
        </p:txBody>
      </p:sp>
      <p:sp>
        <p:nvSpPr>
          <p:cNvPr id="17" name="Rectangle 16">
            <a:extLst>
              <a:ext uri="{FF2B5EF4-FFF2-40B4-BE49-F238E27FC236}">
                <a16:creationId xmlns:a16="http://schemas.microsoft.com/office/drawing/2014/main" id="{C830E23A-B852-4A0C-9A6D-DB885A5988FB}"/>
              </a:ext>
            </a:extLst>
          </p:cNvPr>
          <p:cNvSpPr>
            <a:spLocks noGrp="1"/>
          </p:cNvSpPr>
          <p:nvPr/>
        </p:nvSpPr>
        <p:spPr>
          <a:xfrm>
            <a:off x="6915150" y="3257550"/>
            <a:ext cx="1238250" cy="381000"/>
          </a:xfrm>
          <a:prstGeom prst="rect">
            <a:avLst/>
          </a:prstGeom>
          <a:noFill/>
          <a:ln w="0">
            <a:noFill/>
          </a:ln>
        </p:spPr>
        <p:txBody>
          <a:bodyPr>
            <a:noAutofit/>
          </a:bodyPr>
          <a:lstStyle/>
          <a:p>
            <a:pPr algn="ctr">
              <a:defRPr sz="1200" b="1" i="0">
                <a:solidFill>
                  <a:srgbClr val="071A2B"/>
                </a:solidFill>
                <a:latin typeface="Bitstream Charter"/>
                <a:ea typeface="Bitstream Charter"/>
                <a:cs typeface="Bitstream Charter"/>
              </a:defRPr>
            </a:pPr>
            <a:r>
              <a:rPr sz="1200" b="1" i="0" dirty="0">
                <a:solidFill>
                  <a:srgbClr val="071A2B"/>
                </a:solidFill>
                <a:latin typeface="Bitstream Charter"/>
                <a:ea typeface="Bitstream Charter"/>
                <a:cs typeface="Bitstream Charter"/>
              </a:rPr>
              <a:t>server / </a:t>
            </a:r>
            <a:r>
              <a:rPr sz="1200" b="1" i="0" dirty="0" err="1">
                <a:solidFill>
                  <a:srgbClr val="071A2B"/>
                </a:solidFill>
                <a:latin typeface="Bitstream Charter"/>
                <a:ea typeface="Bitstream Charter"/>
                <a:cs typeface="Bitstream Charter"/>
              </a:rPr>
              <a:t>gNB</a:t>
            </a:r>
            <a:endParaRPr sz="1200" b="1" i="0" dirty="0">
              <a:solidFill>
                <a:srgbClr val="071A2B"/>
              </a:solidFill>
              <a:latin typeface="Bitstream Charter"/>
              <a:ea typeface="Bitstream Charter"/>
              <a:cs typeface="Bitstream Charter"/>
            </a:endParaRPr>
          </a:p>
          <a:p>
            <a:pPr algn="ctr">
              <a:defRPr sz="1200" b="1" i="0">
                <a:solidFill>
                  <a:srgbClr val="071A2B"/>
                </a:solidFill>
                <a:latin typeface="Bitstream Charter"/>
                <a:ea typeface="Bitstream Charter"/>
                <a:cs typeface="Bitstream Charter"/>
              </a:defRPr>
            </a:pPr>
            <a:r>
              <a:rPr sz="1200" b="1" i="0" dirty="0">
                <a:solidFill>
                  <a:srgbClr val="071A2B"/>
                </a:solidFill>
                <a:latin typeface="Bitstream Charter"/>
                <a:ea typeface="Bitstream Charter"/>
                <a:cs typeface="Bitstream Charter"/>
              </a:rPr>
              <a:t>knows queued data</a:t>
            </a:r>
          </a:p>
        </p:txBody>
      </p:sp>
      <p:sp>
        <p:nvSpPr>
          <p:cNvPr id="18" name="Rounded Rectangle 17">
            <a:extLst>
              <a:ext uri="{FF2B5EF4-FFF2-40B4-BE49-F238E27FC236}">
                <a16:creationId xmlns:a16="http://schemas.microsoft.com/office/drawing/2014/main" id="{2210EE8E-D742-4619-BB94-81C28A4C529F}"/>
              </a:ext>
            </a:extLst>
          </p:cNvPr>
          <p:cNvSpPr>
            <a:spLocks noGrp="1"/>
          </p:cNvSpPr>
          <p:nvPr/>
        </p:nvSpPr>
        <p:spPr>
          <a:xfrm>
            <a:off x="9334500" y="3238500"/>
            <a:ext cx="1619250" cy="609600"/>
          </a:xfrm>
          <a:prstGeom prst="roundRect">
            <a:avLst>
              <a:gd name="adj" fmla="val 21875"/>
            </a:avLst>
          </a:prstGeom>
          <a:solidFill>
            <a:srgbClr val="071A2B"/>
          </a:solidFill>
          <a:ln w="14288">
            <a:solidFill>
              <a:srgbClr val="345267"/>
            </a:solidFill>
            <a:prstDash val="solid"/>
          </a:ln>
        </p:spPr>
        <p:txBody>
          <a:bodyPr/>
          <a:lstStyle/>
          <a:p>
            <a:endParaRPr lang="en-US"/>
          </a:p>
        </p:txBody>
      </p:sp>
      <p:sp>
        <p:nvSpPr>
          <p:cNvPr id="19" name="Rectangle 18">
            <a:extLst>
              <a:ext uri="{FF2B5EF4-FFF2-40B4-BE49-F238E27FC236}">
                <a16:creationId xmlns:a16="http://schemas.microsoft.com/office/drawing/2014/main" id="{8AA7C272-A6F5-429B-8CD2-CD5DC175654B}"/>
              </a:ext>
            </a:extLst>
          </p:cNvPr>
          <p:cNvSpPr>
            <a:spLocks noGrp="1"/>
          </p:cNvSpPr>
          <p:nvPr/>
        </p:nvSpPr>
        <p:spPr>
          <a:xfrm>
            <a:off x="9486900" y="3287485"/>
            <a:ext cx="1238250" cy="381000"/>
          </a:xfrm>
          <a:prstGeom prst="rect">
            <a:avLst/>
          </a:prstGeom>
          <a:noFill/>
          <a:ln w="0">
            <a:noFill/>
          </a:ln>
        </p:spPr>
        <p:txBody>
          <a:bodyPr>
            <a:noAutofit/>
          </a:bodyPr>
          <a:lstStyle/>
          <a:p>
            <a:pPr algn="ctr">
              <a:defRPr sz="1200" b="0" i="0">
                <a:solidFill>
                  <a:srgbClr val="F4F8FB"/>
                </a:solidFill>
                <a:latin typeface="Bitstream Charter"/>
                <a:ea typeface="Bitstream Charter"/>
                <a:cs typeface="Bitstream Charter"/>
              </a:defRPr>
            </a:pPr>
            <a:r>
              <a:rPr sz="1200" b="0" i="0" dirty="0">
                <a:solidFill>
                  <a:srgbClr val="F4F8FB"/>
                </a:solidFill>
                <a:latin typeface="Bitstream Charter"/>
                <a:ea typeface="Bitstream Charter"/>
                <a:cs typeface="Bitstream Charter"/>
              </a:rPr>
              <a:t>shared radio</a:t>
            </a:r>
          </a:p>
          <a:p>
            <a:pPr algn="ctr">
              <a:defRPr sz="1200" b="0" i="0">
                <a:solidFill>
                  <a:srgbClr val="F4F8FB"/>
                </a:solidFill>
                <a:latin typeface="Bitstream Charter"/>
                <a:ea typeface="Bitstream Charter"/>
                <a:cs typeface="Bitstream Charter"/>
              </a:defRPr>
            </a:pPr>
            <a:r>
              <a:rPr sz="1200" b="0" i="0" dirty="0">
                <a:solidFill>
                  <a:srgbClr val="F4F8FB"/>
                </a:solidFill>
                <a:latin typeface="Bitstream Charter"/>
                <a:ea typeface="Bitstream Charter"/>
                <a:cs typeface="Bitstream Charter"/>
              </a:rPr>
              <a:t>+ channel</a:t>
            </a:r>
          </a:p>
        </p:txBody>
      </p:sp>
      <p:cxnSp>
        <p:nvCxnSpPr>
          <p:cNvPr id="44" name="Straight Arrow Connector 43"/>
          <p:cNvCxnSpPr>
            <a:stCxn id="16" idx="3"/>
            <a:endCxn id="18" idx="1"/>
          </p:cNvCxnSpPr>
          <p:nvPr/>
        </p:nvCxnSpPr>
        <p:spPr>
          <a:xfrm>
            <a:off x="8467725" y="3529693"/>
            <a:ext cx="866775" cy="13607"/>
          </a:xfrm>
          <a:prstGeom prst="straightConnector1">
            <a:avLst/>
          </a:prstGeom>
          <a:ln w="23813">
            <a:solidFill>
              <a:srgbClr val="57D18C"/>
            </a:solidFill>
            <a:prstDash val="solid"/>
            <a:headEnd type="arrow" w="med" len="med"/>
            <a:tailEnd type="none" w="med" len="med"/>
          </a:ln>
        </p:spPr>
      </p:cxnSp>
      <p:sp>
        <p:nvSpPr>
          <p:cNvPr id="21" name="Rectangle 20">
            <a:extLst>
              <a:ext uri="{FF2B5EF4-FFF2-40B4-BE49-F238E27FC236}">
                <a16:creationId xmlns:a16="http://schemas.microsoft.com/office/drawing/2014/main" id="{C71845EB-C885-4017-BB6D-DC2DC8A15A55}"/>
              </a:ext>
            </a:extLst>
          </p:cNvPr>
          <p:cNvSpPr>
            <a:spLocks noGrp="1"/>
          </p:cNvSpPr>
          <p:nvPr/>
        </p:nvSpPr>
        <p:spPr>
          <a:xfrm>
            <a:off x="6819900" y="4352925"/>
            <a:ext cx="4095750" cy="400050"/>
          </a:xfrm>
          <a:prstGeom prst="rect">
            <a:avLst/>
          </a:prstGeom>
          <a:noFill/>
          <a:ln w="0">
            <a:noFill/>
          </a:ln>
        </p:spPr>
        <p:txBody>
          <a:bodyPr>
            <a:noAutofit/>
          </a:bodyPr>
          <a:lstStyle/>
          <a:p>
            <a:pPr algn="l">
              <a:defRPr sz="1500" b="1" i="0">
                <a:solidFill>
                  <a:srgbClr val="F4F8FB"/>
                </a:solidFill>
                <a:latin typeface="Bitstream Charter"/>
                <a:ea typeface="Bitstream Charter"/>
                <a:cs typeface="Bitstream Charter"/>
              </a:defRPr>
            </a:pPr>
            <a:r>
              <a:rPr sz="1500" b="1" i="0">
                <a:solidFill>
                  <a:srgbClr val="F4F8FB"/>
                </a:solidFill>
                <a:latin typeface="Bitstream Charter"/>
                <a:ea typeface="Bitstream Charter"/>
                <a:cs typeface="Bitstream Charter"/>
              </a:rPr>
              <a:t>The network has better visibility, but capacity and channel quality still shape the schedule.</a:t>
            </a:r>
          </a:p>
        </p:txBody>
      </p:sp>
      <p:sp>
        <p:nvSpPr>
          <p:cNvPr id="22" name="Rectangle 21">
            <a:extLst>
              <a:ext uri="{FF2B5EF4-FFF2-40B4-BE49-F238E27FC236}">
                <a16:creationId xmlns:a16="http://schemas.microsoft.com/office/drawing/2014/main" id="{125E22A6-98A1-4D0A-89F3-3331F36A80DD}"/>
              </a:ext>
            </a:extLst>
          </p:cNvPr>
          <p:cNvSpPr>
            <a:spLocks noGrp="1"/>
          </p:cNvSpPr>
          <p:nvPr/>
        </p:nvSpPr>
        <p:spPr>
          <a:xfrm>
            <a:off x="1047750" y="5810250"/>
            <a:ext cx="10096500" cy="285750"/>
          </a:xfrm>
          <a:prstGeom prst="rect">
            <a:avLst/>
          </a:prstGeom>
          <a:noFill/>
          <a:ln w="0">
            <a:noFill/>
          </a:ln>
        </p:spPr>
        <p:txBody>
          <a:bodyPr>
            <a:noAutofit/>
          </a:bodyPr>
          <a:lstStyle/>
          <a:p>
            <a:pPr algn="ctr">
              <a:defRPr sz="1575" b="1" i="0">
                <a:solidFill>
                  <a:srgbClr val="F4F8FB"/>
                </a:solidFill>
                <a:latin typeface="Bitstream Charter"/>
                <a:ea typeface="Bitstream Charter"/>
                <a:cs typeface="Bitstream Charter"/>
              </a:defRPr>
            </a:pPr>
            <a:r>
              <a:rPr sz="1575" b="1" i="0" dirty="0">
                <a:solidFill>
                  <a:srgbClr val="F4F8FB"/>
                </a:solidFill>
                <a:latin typeface="Bitstream Charter"/>
                <a:ea typeface="Bitstream Charter"/>
                <a:cs typeface="Bitstream Charter"/>
              </a:rPr>
              <a:t>Open question: can predictive control coordinate both directions with edge computation and mobility?</a:t>
            </a:r>
          </a:p>
        </p:txBody>
      </p:sp>
      <p:sp>
        <p:nvSpPr>
          <p:cNvPr id="23" name="Rectangle 22">
            <a:extLst>
              <a:ext uri="{FF2B5EF4-FFF2-40B4-BE49-F238E27FC236}">
                <a16:creationId xmlns:a16="http://schemas.microsoft.com/office/drawing/2014/main" id="{9DC53689-139B-48C5-9DFE-20DBC5AF9891}"/>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14</a:t>
            </a:r>
          </a:p>
        </p:txBody>
      </p:sp>
      <p:sp>
        <p:nvSpPr>
          <p:cNvPr id="24" name="Rectangle 23">
            <a:extLst>
              <a:ext uri="{FF2B5EF4-FFF2-40B4-BE49-F238E27FC236}">
                <a16:creationId xmlns:a16="http://schemas.microsoft.com/office/drawing/2014/main" id="{1CBC49D9-C5B4-42A2-AE2D-71EC6CDB441A}"/>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Paper scope and future-work framing; §§1, 7, 10</a:t>
            </a:r>
          </a:p>
        </p:txBody>
      </p:sp>
    </p:spTree>
    <p:extLst>
      <p:ext uri="{BB962C8B-B14F-4D97-AF65-F5344CB8AC3E}">
        <p14:creationId xmlns:p14="http://schemas.microsoft.com/office/powerpoint/2010/main" val="1629710802"/>
      </p:ext>
    </p:extLst>
  </p:cSld>
  <p:clrMapOvr>
    <a:masterClrMapping/>
  </p:clrMapOvr>
  <mc:AlternateContent xmlns:mc="http://schemas.openxmlformats.org/markup-compatibility/2006">
    <mc:Choice xmlns:p14="http://schemas.microsoft.com/office/powerpoint/2010/main" Requires="p14">
      <p:transition spd="slow" p14:dur="2000" advTm="34603"/>
    </mc:Choice>
    <mc:Fallback>
      <p:transition spd="slow" advTm="3460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A5699D5-F7A9-4768-8BAE-68497D5FA4D2}"/>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The paper opens a wider research agenda</a:t>
            </a:r>
          </a:p>
        </p:txBody>
      </p:sp>
      <p:sp>
        <p:nvSpPr>
          <p:cNvPr id="2" name="Rectangle 1">
            <a:extLst>
              <a:ext uri="{FF2B5EF4-FFF2-40B4-BE49-F238E27FC236}">
                <a16:creationId xmlns:a16="http://schemas.microsoft.com/office/drawing/2014/main" id="{F350C9FF-56D4-4328-A505-B87067FE7017}"/>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Sage’s architecture exposes where future network intelligence still has to improve</a:t>
            </a:r>
          </a:p>
        </p:txBody>
      </p:sp>
      <p:sp>
        <p:nvSpPr>
          <p:cNvPr id="3" name="Straight Connector 2">
            <a:extLst>
              <a:ext uri="{FF2B5EF4-FFF2-40B4-BE49-F238E27FC236}">
                <a16:creationId xmlns:a16="http://schemas.microsoft.com/office/drawing/2014/main" id="{8F02126B-9E29-4E85-8A58-1B03DFE6A783}"/>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ounded Rectangle 3">
            <a:extLst>
              <a:ext uri="{FF2B5EF4-FFF2-40B4-BE49-F238E27FC236}">
                <a16:creationId xmlns:a16="http://schemas.microsoft.com/office/drawing/2014/main" id="{394B92D6-0380-4285-BCA2-CD7BA7A693ED}"/>
              </a:ext>
            </a:extLst>
          </p:cNvPr>
          <p:cNvSpPr>
            <a:spLocks noGrp="1"/>
          </p:cNvSpPr>
          <p:nvPr/>
        </p:nvSpPr>
        <p:spPr>
          <a:xfrm>
            <a:off x="723900" y="1952625"/>
            <a:ext cx="3048000" cy="2095500"/>
          </a:xfrm>
          <a:prstGeom prst="roundRect">
            <a:avLst>
              <a:gd name="adj" fmla="val 10000"/>
            </a:avLst>
          </a:prstGeom>
          <a:solidFill>
            <a:srgbClr val="0D2940"/>
          </a:solidFill>
          <a:ln w="14288">
            <a:solidFill>
              <a:srgbClr val="47D7FF"/>
            </a:solidFill>
            <a:prstDash val="solid"/>
          </a:ln>
        </p:spPr>
        <p:txBody>
          <a:bodyPr/>
          <a:lstStyle/>
          <a:p>
            <a:endParaRPr lang="en-US"/>
          </a:p>
        </p:txBody>
      </p:sp>
      <p:sp>
        <p:nvSpPr>
          <p:cNvPr id="5" name="Rectangle 4">
            <a:extLst>
              <a:ext uri="{FF2B5EF4-FFF2-40B4-BE49-F238E27FC236}">
                <a16:creationId xmlns:a16="http://schemas.microsoft.com/office/drawing/2014/main" id="{A3C41A76-1A70-4AAE-BCFB-941A064FFA1B}"/>
              </a:ext>
            </a:extLst>
          </p:cNvPr>
          <p:cNvSpPr>
            <a:spLocks noGrp="1"/>
          </p:cNvSpPr>
          <p:nvPr/>
        </p:nvSpPr>
        <p:spPr>
          <a:xfrm>
            <a:off x="952500" y="2190750"/>
            <a:ext cx="523875" cy="304800"/>
          </a:xfrm>
          <a:prstGeom prst="rect">
            <a:avLst/>
          </a:prstGeom>
          <a:noFill/>
          <a:ln w="0">
            <a:noFill/>
          </a:ln>
        </p:spPr>
        <p:txBody>
          <a:bodyPr>
            <a:noAutofit/>
          </a:bodyPr>
          <a:lstStyle/>
          <a:p>
            <a:pPr algn="l">
              <a:defRPr sz="1800" b="1" i="0">
                <a:solidFill>
                  <a:srgbClr val="47D7FF"/>
                </a:solidFill>
                <a:latin typeface="Bitstream Charter"/>
                <a:ea typeface="Bitstream Charter"/>
                <a:cs typeface="Bitstream Charter"/>
              </a:defRPr>
            </a:pPr>
            <a:r>
              <a:rPr sz="1800" b="1" i="0">
                <a:solidFill>
                  <a:srgbClr val="47D7FF"/>
                </a:solidFill>
                <a:latin typeface="Bitstream Charter"/>
                <a:ea typeface="Bitstream Charter"/>
                <a:cs typeface="Bitstream Charter"/>
              </a:rPr>
              <a:t>01</a:t>
            </a:r>
          </a:p>
        </p:txBody>
      </p:sp>
      <p:sp>
        <p:nvSpPr>
          <p:cNvPr id="6" name="Rectangle 5">
            <a:extLst>
              <a:ext uri="{FF2B5EF4-FFF2-40B4-BE49-F238E27FC236}">
                <a16:creationId xmlns:a16="http://schemas.microsoft.com/office/drawing/2014/main" id="{F12546EE-0F1E-443B-A604-C63133C0A424}"/>
              </a:ext>
            </a:extLst>
          </p:cNvPr>
          <p:cNvSpPr>
            <a:spLocks noGrp="1"/>
          </p:cNvSpPr>
          <p:nvPr/>
        </p:nvSpPr>
        <p:spPr>
          <a:xfrm>
            <a:off x="952500" y="2686050"/>
            <a:ext cx="2571750" cy="304800"/>
          </a:xfrm>
          <a:prstGeom prst="rect">
            <a:avLst/>
          </a:prstGeom>
          <a:noFill/>
          <a:ln w="0">
            <a:noFill/>
          </a:ln>
        </p:spPr>
        <p:txBody>
          <a:bodyPr>
            <a:noAutofit/>
          </a:bodyPr>
          <a:lstStyle/>
          <a:p>
            <a:pPr algn="l">
              <a:defRPr sz="1650" b="1" i="0">
                <a:solidFill>
                  <a:srgbClr val="F4F8FB"/>
                </a:solidFill>
                <a:latin typeface="Bitstream Charter"/>
                <a:ea typeface="Bitstream Charter"/>
                <a:cs typeface="Bitstream Charter"/>
              </a:defRPr>
            </a:pPr>
            <a:r>
              <a:rPr sz="1650" b="1" i="0">
                <a:solidFill>
                  <a:srgbClr val="F4F8FB"/>
                </a:solidFill>
                <a:latin typeface="Bitstream Charter"/>
                <a:ea typeface="Bitstream Charter"/>
                <a:cs typeface="Bitstream Charter"/>
              </a:rPr>
              <a:t>Better observation</a:t>
            </a:r>
          </a:p>
        </p:txBody>
      </p:sp>
      <p:sp>
        <p:nvSpPr>
          <p:cNvPr id="7" name="Rectangle 6">
            <a:extLst>
              <a:ext uri="{FF2B5EF4-FFF2-40B4-BE49-F238E27FC236}">
                <a16:creationId xmlns:a16="http://schemas.microsoft.com/office/drawing/2014/main" id="{1EB3CCEC-255B-424B-AF81-5A5F67C7B14E}"/>
              </a:ext>
            </a:extLst>
          </p:cNvPr>
          <p:cNvSpPr>
            <a:spLocks noGrp="1"/>
          </p:cNvSpPr>
          <p:nvPr/>
        </p:nvSpPr>
        <p:spPr>
          <a:xfrm>
            <a:off x="952500" y="3257550"/>
            <a:ext cx="2571750" cy="571500"/>
          </a:xfrm>
          <a:prstGeom prst="rect">
            <a:avLst/>
          </a:prstGeom>
          <a:noFill/>
          <a:ln w="0">
            <a:noFill/>
          </a:ln>
        </p:spPr>
        <p:txBody>
          <a:bodyPr>
            <a:noAutofit/>
          </a:bodyPr>
          <a:lstStyle/>
          <a:p>
            <a:pPr algn="l">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Detect traffic trains when SR periods are long and observations arrive late</a:t>
            </a:r>
          </a:p>
        </p:txBody>
      </p:sp>
      <p:sp>
        <p:nvSpPr>
          <p:cNvPr id="8" name="Rounded Rectangle 7">
            <a:extLst>
              <a:ext uri="{FF2B5EF4-FFF2-40B4-BE49-F238E27FC236}">
                <a16:creationId xmlns:a16="http://schemas.microsoft.com/office/drawing/2014/main" id="{DFD16136-99F8-4631-B27D-B089BD05D962}"/>
              </a:ext>
            </a:extLst>
          </p:cNvPr>
          <p:cNvSpPr>
            <a:spLocks noGrp="1"/>
          </p:cNvSpPr>
          <p:nvPr/>
        </p:nvSpPr>
        <p:spPr>
          <a:xfrm>
            <a:off x="4343400" y="1952625"/>
            <a:ext cx="3048000" cy="2095500"/>
          </a:xfrm>
          <a:prstGeom prst="roundRect">
            <a:avLst>
              <a:gd name="adj" fmla="val 10000"/>
            </a:avLst>
          </a:prstGeom>
          <a:solidFill>
            <a:srgbClr val="0D2940"/>
          </a:solidFill>
          <a:ln w="14288">
            <a:solidFill>
              <a:srgbClr val="FFC857"/>
            </a:solidFill>
            <a:prstDash val="solid"/>
          </a:ln>
        </p:spPr>
        <p:txBody>
          <a:bodyPr/>
          <a:lstStyle/>
          <a:p>
            <a:endParaRPr lang="en-US"/>
          </a:p>
        </p:txBody>
      </p:sp>
      <p:sp>
        <p:nvSpPr>
          <p:cNvPr id="9" name="Rectangle 8">
            <a:extLst>
              <a:ext uri="{FF2B5EF4-FFF2-40B4-BE49-F238E27FC236}">
                <a16:creationId xmlns:a16="http://schemas.microsoft.com/office/drawing/2014/main" id="{34E7C033-8130-4F72-AF1A-D57CCA27485E}"/>
              </a:ext>
            </a:extLst>
          </p:cNvPr>
          <p:cNvSpPr>
            <a:spLocks noGrp="1"/>
          </p:cNvSpPr>
          <p:nvPr/>
        </p:nvSpPr>
        <p:spPr>
          <a:xfrm>
            <a:off x="4572000" y="2190750"/>
            <a:ext cx="523875" cy="304800"/>
          </a:xfrm>
          <a:prstGeom prst="rect">
            <a:avLst/>
          </a:prstGeom>
          <a:noFill/>
          <a:ln w="0">
            <a:noFill/>
          </a:ln>
        </p:spPr>
        <p:txBody>
          <a:bodyPr>
            <a:noAutofit/>
          </a:bodyPr>
          <a:lstStyle/>
          <a:p>
            <a:pPr algn="l">
              <a:defRPr sz="1800" b="1" i="0">
                <a:solidFill>
                  <a:srgbClr val="FFC857"/>
                </a:solidFill>
                <a:latin typeface="Bitstream Charter"/>
                <a:ea typeface="Bitstream Charter"/>
                <a:cs typeface="Bitstream Charter"/>
              </a:defRPr>
            </a:pPr>
            <a:r>
              <a:rPr sz="1800" b="1" i="0">
                <a:solidFill>
                  <a:srgbClr val="FFC857"/>
                </a:solidFill>
                <a:latin typeface="Bitstream Charter"/>
                <a:ea typeface="Bitstream Charter"/>
                <a:cs typeface="Bitstream Charter"/>
              </a:rPr>
              <a:t>02</a:t>
            </a:r>
          </a:p>
        </p:txBody>
      </p:sp>
      <p:sp>
        <p:nvSpPr>
          <p:cNvPr id="10" name="Rectangle 9">
            <a:extLst>
              <a:ext uri="{FF2B5EF4-FFF2-40B4-BE49-F238E27FC236}">
                <a16:creationId xmlns:a16="http://schemas.microsoft.com/office/drawing/2014/main" id="{05AAFC97-C8B4-4A2C-BE0E-A3E35F934488}"/>
              </a:ext>
            </a:extLst>
          </p:cNvPr>
          <p:cNvSpPr>
            <a:spLocks noGrp="1"/>
          </p:cNvSpPr>
          <p:nvPr/>
        </p:nvSpPr>
        <p:spPr>
          <a:xfrm>
            <a:off x="4572000" y="2686050"/>
            <a:ext cx="2571750" cy="304800"/>
          </a:xfrm>
          <a:prstGeom prst="rect">
            <a:avLst/>
          </a:prstGeom>
          <a:noFill/>
          <a:ln w="0">
            <a:noFill/>
          </a:ln>
        </p:spPr>
        <p:txBody>
          <a:bodyPr>
            <a:noAutofit/>
          </a:bodyPr>
          <a:lstStyle/>
          <a:p>
            <a:pPr algn="l">
              <a:defRPr sz="1650" b="1" i="0">
                <a:solidFill>
                  <a:srgbClr val="F4F8FB"/>
                </a:solidFill>
                <a:latin typeface="Bitstream Charter"/>
                <a:ea typeface="Bitstream Charter"/>
                <a:cs typeface="Bitstream Charter"/>
              </a:defRPr>
            </a:pPr>
            <a:r>
              <a:rPr sz="1650" b="1" i="0">
                <a:solidFill>
                  <a:srgbClr val="F4F8FB"/>
                </a:solidFill>
                <a:latin typeface="Bitstream Charter"/>
                <a:ea typeface="Bitstream Charter"/>
                <a:cs typeface="Bitstream Charter"/>
              </a:rPr>
              <a:t>Traffic + channel prediction</a:t>
            </a:r>
          </a:p>
        </p:txBody>
      </p:sp>
      <p:sp>
        <p:nvSpPr>
          <p:cNvPr id="11" name="Rectangle 10">
            <a:extLst>
              <a:ext uri="{FF2B5EF4-FFF2-40B4-BE49-F238E27FC236}">
                <a16:creationId xmlns:a16="http://schemas.microsoft.com/office/drawing/2014/main" id="{4D5C0065-02EA-4CC0-AD8E-48748137AC50}"/>
              </a:ext>
            </a:extLst>
          </p:cNvPr>
          <p:cNvSpPr>
            <a:spLocks noGrp="1"/>
          </p:cNvSpPr>
          <p:nvPr/>
        </p:nvSpPr>
        <p:spPr>
          <a:xfrm>
            <a:off x="4572000" y="3257550"/>
            <a:ext cx="2571750" cy="571500"/>
          </a:xfrm>
          <a:prstGeom prst="rect">
            <a:avLst/>
          </a:prstGeom>
          <a:noFill/>
          <a:ln w="0">
            <a:noFill/>
          </a:ln>
        </p:spPr>
        <p:txBody>
          <a:bodyPr>
            <a:noAutofit/>
          </a:bodyPr>
          <a:lstStyle/>
          <a:p>
            <a:pPr algn="l">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Predict demand and radio quality together</a:t>
            </a:r>
          </a:p>
        </p:txBody>
      </p:sp>
      <p:sp>
        <p:nvSpPr>
          <p:cNvPr id="12" name="Rounded Rectangle 11">
            <a:extLst>
              <a:ext uri="{FF2B5EF4-FFF2-40B4-BE49-F238E27FC236}">
                <a16:creationId xmlns:a16="http://schemas.microsoft.com/office/drawing/2014/main" id="{8D9B3535-169D-498C-B050-434976C696B6}"/>
              </a:ext>
            </a:extLst>
          </p:cNvPr>
          <p:cNvSpPr>
            <a:spLocks noGrp="1"/>
          </p:cNvSpPr>
          <p:nvPr/>
        </p:nvSpPr>
        <p:spPr>
          <a:xfrm>
            <a:off x="7962900" y="1952625"/>
            <a:ext cx="3048000" cy="2095500"/>
          </a:xfrm>
          <a:prstGeom prst="roundRect">
            <a:avLst>
              <a:gd name="adj" fmla="val 10000"/>
            </a:avLst>
          </a:prstGeom>
          <a:solidFill>
            <a:srgbClr val="0D2940"/>
          </a:solidFill>
          <a:ln w="14288">
            <a:solidFill>
              <a:srgbClr val="57D18C"/>
            </a:solidFill>
            <a:prstDash val="solid"/>
          </a:ln>
        </p:spPr>
        <p:txBody>
          <a:bodyPr/>
          <a:lstStyle/>
          <a:p>
            <a:endParaRPr lang="en-US"/>
          </a:p>
        </p:txBody>
      </p:sp>
      <p:sp>
        <p:nvSpPr>
          <p:cNvPr id="13" name="Rectangle 12">
            <a:extLst>
              <a:ext uri="{FF2B5EF4-FFF2-40B4-BE49-F238E27FC236}">
                <a16:creationId xmlns:a16="http://schemas.microsoft.com/office/drawing/2014/main" id="{EC09A3C9-2DD3-4589-AEB9-6D1E5239D3B5}"/>
              </a:ext>
            </a:extLst>
          </p:cNvPr>
          <p:cNvSpPr>
            <a:spLocks noGrp="1"/>
          </p:cNvSpPr>
          <p:nvPr/>
        </p:nvSpPr>
        <p:spPr>
          <a:xfrm>
            <a:off x="8191500" y="2190750"/>
            <a:ext cx="523875" cy="304800"/>
          </a:xfrm>
          <a:prstGeom prst="rect">
            <a:avLst/>
          </a:prstGeom>
          <a:noFill/>
          <a:ln w="0">
            <a:noFill/>
          </a:ln>
        </p:spPr>
        <p:txBody>
          <a:bodyPr>
            <a:noAutofit/>
          </a:bodyPr>
          <a:lstStyle/>
          <a:p>
            <a:pPr algn="l">
              <a:defRPr sz="1800" b="1" i="0">
                <a:solidFill>
                  <a:srgbClr val="57D18C"/>
                </a:solidFill>
                <a:latin typeface="Bitstream Charter"/>
                <a:ea typeface="Bitstream Charter"/>
                <a:cs typeface="Bitstream Charter"/>
              </a:defRPr>
            </a:pPr>
            <a:r>
              <a:rPr sz="1800" b="1" i="0">
                <a:solidFill>
                  <a:srgbClr val="57D18C"/>
                </a:solidFill>
                <a:latin typeface="Bitstream Charter"/>
                <a:ea typeface="Bitstream Charter"/>
                <a:cs typeface="Bitstream Charter"/>
              </a:rPr>
              <a:t>03</a:t>
            </a:r>
          </a:p>
        </p:txBody>
      </p:sp>
      <p:sp>
        <p:nvSpPr>
          <p:cNvPr id="14" name="Rectangle 13">
            <a:extLst>
              <a:ext uri="{FF2B5EF4-FFF2-40B4-BE49-F238E27FC236}">
                <a16:creationId xmlns:a16="http://schemas.microsoft.com/office/drawing/2014/main" id="{40F6A53A-8D43-4A5E-AA5D-3957E5C93E8E}"/>
              </a:ext>
            </a:extLst>
          </p:cNvPr>
          <p:cNvSpPr>
            <a:spLocks noGrp="1"/>
          </p:cNvSpPr>
          <p:nvPr/>
        </p:nvSpPr>
        <p:spPr>
          <a:xfrm>
            <a:off x="8191500" y="2686050"/>
            <a:ext cx="2571750" cy="304800"/>
          </a:xfrm>
          <a:prstGeom prst="rect">
            <a:avLst/>
          </a:prstGeom>
          <a:noFill/>
          <a:ln w="0">
            <a:noFill/>
          </a:ln>
        </p:spPr>
        <p:txBody>
          <a:bodyPr>
            <a:noAutofit/>
          </a:bodyPr>
          <a:lstStyle/>
          <a:p>
            <a:pPr algn="l">
              <a:defRPr sz="1650" b="1" i="0">
                <a:solidFill>
                  <a:srgbClr val="F4F8FB"/>
                </a:solidFill>
                <a:latin typeface="Bitstream Charter"/>
                <a:ea typeface="Bitstream Charter"/>
                <a:cs typeface="Bitstream Charter"/>
              </a:defRPr>
            </a:pPr>
            <a:r>
              <a:rPr sz="1650" b="1" i="0">
                <a:solidFill>
                  <a:srgbClr val="F4F8FB"/>
                </a:solidFill>
                <a:latin typeface="Bitstream Charter"/>
                <a:ea typeface="Bitstream Charter"/>
                <a:cs typeface="Bitstream Charter"/>
              </a:rPr>
              <a:t>Cross-slice coordination</a:t>
            </a:r>
          </a:p>
        </p:txBody>
      </p:sp>
      <p:sp>
        <p:nvSpPr>
          <p:cNvPr id="15" name="Rectangle 14">
            <a:extLst>
              <a:ext uri="{FF2B5EF4-FFF2-40B4-BE49-F238E27FC236}">
                <a16:creationId xmlns:a16="http://schemas.microsoft.com/office/drawing/2014/main" id="{792ECDF6-C5C5-42DA-A8A7-D7741BB16033}"/>
              </a:ext>
            </a:extLst>
          </p:cNvPr>
          <p:cNvSpPr>
            <a:spLocks noGrp="1"/>
          </p:cNvSpPr>
          <p:nvPr/>
        </p:nvSpPr>
        <p:spPr>
          <a:xfrm>
            <a:off x="8191500" y="3257550"/>
            <a:ext cx="2571750" cy="571500"/>
          </a:xfrm>
          <a:prstGeom prst="rect">
            <a:avLst/>
          </a:prstGeom>
          <a:noFill/>
          <a:ln w="0">
            <a:noFill/>
          </a:ln>
        </p:spPr>
        <p:txBody>
          <a:bodyPr>
            <a:noAutofit/>
          </a:bodyPr>
          <a:lstStyle/>
          <a:p>
            <a:pPr algn="l">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Resolve competing predictions over shared physical resources</a:t>
            </a:r>
          </a:p>
        </p:txBody>
      </p:sp>
      <p:sp>
        <p:nvSpPr>
          <p:cNvPr id="16" name="Rectangle 15">
            <a:extLst>
              <a:ext uri="{FF2B5EF4-FFF2-40B4-BE49-F238E27FC236}">
                <a16:creationId xmlns:a16="http://schemas.microsoft.com/office/drawing/2014/main" id="{ACDE2A68-233E-42E8-9A7A-779CF305F88D}"/>
              </a:ext>
            </a:extLst>
          </p:cNvPr>
          <p:cNvSpPr>
            <a:spLocks noGrp="1"/>
          </p:cNvSpPr>
          <p:nvPr/>
        </p:nvSpPr>
        <p:spPr>
          <a:xfrm>
            <a:off x="742950" y="4619625"/>
            <a:ext cx="2857500" cy="171450"/>
          </a:xfrm>
          <a:prstGeom prst="rect">
            <a:avLst/>
          </a:prstGeom>
          <a:noFill/>
          <a:ln w="0">
            <a:noFill/>
          </a:ln>
        </p:spPr>
        <p:txBody>
          <a:bodyPr>
            <a:noAutofit/>
          </a:bodyPr>
          <a:lstStyle/>
          <a:p>
            <a:pPr algn="l">
              <a:defRPr sz="900" b="1" i="0">
                <a:solidFill>
                  <a:srgbClr val="FF7185"/>
                </a:solidFill>
                <a:latin typeface="Bitstream Charter"/>
                <a:ea typeface="Bitstream Charter"/>
                <a:cs typeface="Bitstream Charter"/>
              </a:defRPr>
            </a:pPr>
            <a:r>
              <a:rPr sz="900" b="1" i="0">
                <a:solidFill>
                  <a:srgbClr val="FF7185"/>
                </a:solidFill>
                <a:latin typeface="Bitstream Charter"/>
                <a:ea typeface="Bitstream Charter"/>
                <a:cs typeface="Bitstream Charter"/>
              </a:rPr>
              <a:t>QUESTIONS FOR THE NEXT PAPER</a:t>
            </a:r>
          </a:p>
        </p:txBody>
      </p:sp>
      <p:sp>
        <p:nvSpPr>
          <p:cNvPr id="17" name="Oval 16">
            <a:extLst>
              <a:ext uri="{FF2B5EF4-FFF2-40B4-BE49-F238E27FC236}">
                <a16:creationId xmlns:a16="http://schemas.microsoft.com/office/drawing/2014/main" id="{50CD2A64-9EB0-4779-AE3F-96361AFB021C}"/>
              </a:ext>
            </a:extLst>
          </p:cNvPr>
          <p:cNvSpPr>
            <a:spLocks noGrp="1"/>
          </p:cNvSpPr>
          <p:nvPr/>
        </p:nvSpPr>
        <p:spPr>
          <a:xfrm>
            <a:off x="800100" y="5067300"/>
            <a:ext cx="114300" cy="114300"/>
          </a:xfrm>
          <a:prstGeom prst="ellipse">
            <a:avLst/>
          </a:prstGeom>
          <a:solidFill>
            <a:srgbClr val="FF7185"/>
          </a:solidFill>
          <a:ln w="0">
            <a:solidFill>
              <a:srgbClr val="FF7185"/>
            </a:solidFill>
            <a:prstDash val="solid"/>
          </a:ln>
        </p:spPr>
        <p:txBody>
          <a:bodyPr/>
          <a:lstStyle/>
          <a:p>
            <a:endParaRPr lang="en-US"/>
          </a:p>
        </p:txBody>
      </p:sp>
      <p:sp>
        <p:nvSpPr>
          <p:cNvPr id="18" name="Rectangle 17">
            <a:extLst>
              <a:ext uri="{FF2B5EF4-FFF2-40B4-BE49-F238E27FC236}">
                <a16:creationId xmlns:a16="http://schemas.microsoft.com/office/drawing/2014/main" id="{CEA15D21-81A3-47B2-AAD5-345EA0603DA1}"/>
              </a:ext>
            </a:extLst>
          </p:cNvPr>
          <p:cNvSpPr>
            <a:spLocks noGrp="1"/>
          </p:cNvSpPr>
          <p:nvPr/>
        </p:nvSpPr>
        <p:spPr>
          <a:xfrm>
            <a:off x="1066800" y="5029200"/>
            <a:ext cx="9906000" cy="228600"/>
          </a:xfrm>
          <a:prstGeom prst="rect">
            <a:avLst/>
          </a:prstGeom>
          <a:noFill/>
          <a:ln w="0">
            <a:noFill/>
          </a:ln>
        </p:spPr>
        <p:txBody>
          <a:bodyPr>
            <a:noAutofit/>
          </a:bodyPr>
          <a:lstStyle/>
          <a:p>
            <a:pPr algn="l">
              <a:defRPr sz="1350" b="0" i="0">
                <a:solidFill>
                  <a:srgbClr val="F4F8FB"/>
                </a:solidFill>
                <a:latin typeface="Bitstream Charter"/>
                <a:ea typeface="Bitstream Charter"/>
                <a:cs typeface="Bitstream Charter"/>
              </a:defRPr>
            </a:pPr>
            <a:r>
              <a:rPr sz="1350" b="0" i="0">
                <a:solidFill>
                  <a:srgbClr val="F4F8FB"/>
                </a:solidFill>
                <a:latin typeface="Bitstream Charter"/>
                <a:ea typeface="Bitstream Charter"/>
                <a:cs typeface="Bitstream Charter"/>
              </a:rPr>
              <a:t>How should uncertainty determine reservation size?</a:t>
            </a:r>
          </a:p>
        </p:txBody>
      </p:sp>
      <p:sp>
        <p:nvSpPr>
          <p:cNvPr id="19" name="Oval 18">
            <a:extLst>
              <a:ext uri="{FF2B5EF4-FFF2-40B4-BE49-F238E27FC236}">
                <a16:creationId xmlns:a16="http://schemas.microsoft.com/office/drawing/2014/main" id="{B4CA1313-E997-48B2-997A-30A40F3E3A4C}"/>
              </a:ext>
            </a:extLst>
          </p:cNvPr>
          <p:cNvSpPr>
            <a:spLocks noGrp="1"/>
          </p:cNvSpPr>
          <p:nvPr/>
        </p:nvSpPr>
        <p:spPr>
          <a:xfrm>
            <a:off x="800100" y="5410200"/>
            <a:ext cx="114300" cy="114300"/>
          </a:xfrm>
          <a:prstGeom prst="ellipse">
            <a:avLst/>
          </a:prstGeom>
          <a:solidFill>
            <a:srgbClr val="FF7185"/>
          </a:solidFill>
          <a:ln w="0">
            <a:solidFill>
              <a:srgbClr val="FF7185"/>
            </a:solidFill>
            <a:prstDash val="solid"/>
          </a:ln>
        </p:spPr>
        <p:txBody>
          <a:bodyPr/>
          <a:lstStyle/>
          <a:p>
            <a:endParaRPr lang="en-US"/>
          </a:p>
        </p:txBody>
      </p:sp>
      <p:sp>
        <p:nvSpPr>
          <p:cNvPr id="20" name="Rectangle 19">
            <a:extLst>
              <a:ext uri="{FF2B5EF4-FFF2-40B4-BE49-F238E27FC236}">
                <a16:creationId xmlns:a16="http://schemas.microsoft.com/office/drawing/2014/main" id="{A6666626-8EF5-4E13-9FAF-388EAF4751AA}"/>
              </a:ext>
            </a:extLst>
          </p:cNvPr>
          <p:cNvSpPr>
            <a:spLocks noGrp="1"/>
          </p:cNvSpPr>
          <p:nvPr/>
        </p:nvSpPr>
        <p:spPr>
          <a:xfrm>
            <a:off x="1066800" y="5372100"/>
            <a:ext cx="9906000" cy="228600"/>
          </a:xfrm>
          <a:prstGeom prst="rect">
            <a:avLst/>
          </a:prstGeom>
          <a:noFill/>
          <a:ln w="0">
            <a:noFill/>
          </a:ln>
        </p:spPr>
        <p:txBody>
          <a:bodyPr>
            <a:noAutofit/>
          </a:bodyPr>
          <a:lstStyle/>
          <a:p>
            <a:pPr algn="l">
              <a:defRPr sz="1350" b="0" i="0">
                <a:solidFill>
                  <a:srgbClr val="F4F8FB"/>
                </a:solidFill>
                <a:latin typeface="Bitstream Charter"/>
                <a:ea typeface="Bitstream Charter"/>
                <a:cs typeface="Bitstream Charter"/>
              </a:defRPr>
            </a:pPr>
            <a:r>
              <a:rPr sz="1350" b="0" i="0">
                <a:solidFill>
                  <a:srgbClr val="F4F8FB"/>
                </a:solidFill>
                <a:latin typeface="Bitstream Charter"/>
                <a:ea typeface="Bitstream Charter"/>
                <a:cs typeface="Bitstream Charter"/>
              </a:rPr>
              <a:t>Can models transfer across cells, users, or applications?</a:t>
            </a:r>
          </a:p>
        </p:txBody>
      </p:sp>
      <p:sp>
        <p:nvSpPr>
          <p:cNvPr id="21" name="Oval 20">
            <a:extLst>
              <a:ext uri="{FF2B5EF4-FFF2-40B4-BE49-F238E27FC236}">
                <a16:creationId xmlns:a16="http://schemas.microsoft.com/office/drawing/2014/main" id="{D054A0B0-F2C7-4F34-A218-BFA7A949A6F6}"/>
              </a:ext>
            </a:extLst>
          </p:cNvPr>
          <p:cNvSpPr>
            <a:spLocks noGrp="1"/>
          </p:cNvSpPr>
          <p:nvPr/>
        </p:nvSpPr>
        <p:spPr>
          <a:xfrm>
            <a:off x="800100" y="5753100"/>
            <a:ext cx="114300" cy="114300"/>
          </a:xfrm>
          <a:prstGeom prst="ellipse">
            <a:avLst/>
          </a:prstGeom>
          <a:solidFill>
            <a:srgbClr val="FF7185"/>
          </a:solidFill>
          <a:ln w="0">
            <a:solidFill>
              <a:srgbClr val="FF7185"/>
            </a:solidFill>
            <a:prstDash val="solid"/>
          </a:ln>
        </p:spPr>
        <p:txBody>
          <a:bodyPr/>
          <a:lstStyle/>
          <a:p>
            <a:endParaRPr lang="en-US"/>
          </a:p>
        </p:txBody>
      </p:sp>
      <p:sp>
        <p:nvSpPr>
          <p:cNvPr id="22" name="Rectangle 21">
            <a:extLst>
              <a:ext uri="{FF2B5EF4-FFF2-40B4-BE49-F238E27FC236}">
                <a16:creationId xmlns:a16="http://schemas.microsoft.com/office/drawing/2014/main" id="{5B5B975B-4230-4A9A-AEFB-861B35E57155}"/>
              </a:ext>
            </a:extLst>
          </p:cNvPr>
          <p:cNvSpPr>
            <a:spLocks noGrp="1"/>
          </p:cNvSpPr>
          <p:nvPr/>
        </p:nvSpPr>
        <p:spPr>
          <a:xfrm>
            <a:off x="1066800" y="5715000"/>
            <a:ext cx="9906000" cy="228600"/>
          </a:xfrm>
          <a:prstGeom prst="rect">
            <a:avLst/>
          </a:prstGeom>
          <a:noFill/>
          <a:ln w="0">
            <a:noFill/>
          </a:ln>
        </p:spPr>
        <p:txBody>
          <a:bodyPr>
            <a:noAutofit/>
          </a:bodyPr>
          <a:lstStyle/>
          <a:p>
            <a:pPr algn="l">
              <a:defRPr sz="1350" b="0" i="0">
                <a:solidFill>
                  <a:srgbClr val="F4F8FB"/>
                </a:solidFill>
                <a:latin typeface="Bitstream Charter"/>
                <a:ea typeface="Bitstream Charter"/>
                <a:cs typeface="Bitstream Charter"/>
              </a:defRPr>
            </a:pPr>
            <a:r>
              <a:rPr sz="1350" b="0" i="0">
                <a:solidFill>
                  <a:srgbClr val="F4F8FB"/>
                </a:solidFill>
                <a:latin typeface="Bitstream Charter"/>
                <a:ea typeface="Bitstream Charter"/>
                <a:cs typeface="Bitstream Charter"/>
              </a:rPr>
              <a:t>How should radio, edge compute, energy, and fairness be optimized together?</a:t>
            </a:r>
          </a:p>
        </p:txBody>
      </p:sp>
      <p:sp>
        <p:nvSpPr>
          <p:cNvPr id="23" name="Rectangle 22">
            <a:extLst>
              <a:ext uri="{FF2B5EF4-FFF2-40B4-BE49-F238E27FC236}">
                <a16:creationId xmlns:a16="http://schemas.microsoft.com/office/drawing/2014/main" id="{6337C1A5-AF82-494A-B290-B3FE18004839}"/>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16</a:t>
            </a:r>
          </a:p>
        </p:txBody>
      </p:sp>
      <p:sp>
        <p:nvSpPr>
          <p:cNvPr id="24" name="Rectangle 23">
            <a:extLst>
              <a:ext uri="{FF2B5EF4-FFF2-40B4-BE49-F238E27FC236}">
                <a16:creationId xmlns:a16="http://schemas.microsoft.com/office/drawing/2014/main" id="{F78D8E7A-AEA0-437C-A408-61B2413391B9}"/>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Paper §10; study guide</a:t>
            </a:r>
          </a:p>
        </p:txBody>
      </p:sp>
    </p:spTree>
    <p:extLst>
      <p:ext uri="{BB962C8B-B14F-4D97-AF65-F5344CB8AC3E}">
        <p14:creationId xmlns:p14="http://schemas.microsoft.com/office/powerpoint/2010/main" val="123082416"/>
      </p:ext>
    </p:extLst>
  </p:cSld>
  <p:clrMapOvr>
    <a:masterClrMapping/>
  </p:clrMapOvr>
  <mc:AlternateContent xmlns:mc="http://schemas.openxmlformats.org/markup-compatibility/2006">
    <mc:Choice xmlns:p14="http://schemas.microsoft.com/office/powerpoint/2010/main" Requires="p14">
      <p:transition spd="slow" p14:dur="2000" advTm="18794"/>
    </mc:Choice>
    <mc:Fallback>
      <p:transition spd="slow" advTm="1879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1CBFD5F-A889-4566-A89A-31AD011B4261}"/>
              </a:ext>
            </a:extLst>
          </p:cNvPr>
          <p:cNvSpPr>
            <a:spLocks noGrp="1"/>
          </p:cNvSpPr>
          <p:nvPr/>
        </p:nvSpPr>
        <p:spPr>
          <a:xfrm>
            <a:off x="609600" y="361950"/>
            <a:ext cx="10287000" cy="495300"/>
          </a:xfrm>
          <a:prstGeom prst="rect">
            <a:avLst/>
          </a:prstGeom>
          <a:noFill/>
          <a:ln w="0">
            <a:noFill/>
          </a:ln>
        </p:spPr>
        <p:txBody>
          <a:bodyPr>
            <a:noAutofit/>
          </a:bodyPr>
          <a:lstStyle/>
          <a:p>
            <a:pPr algn="l">
              <a:defRPr sz="2550" b="1" i="0">
                <a:solidFill>
                  <a:srgbClr val="F4F8FB"/>
                </a:solidFill>
                <a:latin typeface="Bitstream Charter"/>
                <a:ea typeface="Bitstream Charter"/>
                <a:cs typeface="Bitstream Charter"/>
              </a:defRPr>
            </a:pPr>
            <a:r>
              <a:rPr sz="2550" b="1" i="0">
                <a:solidFill>
                  <a:srgbClr val="F4F8FB"/>
                </a:solidFill>
                <a:latin typeface="Bitstream Charter"/>
                <a:ea typeface="Bitstream Charter"/>
                <a:cs typeface="Bitstream Charter"/>
              </a:rPr>
              <a:t>The central lesson</a:t>
            </a:r>
          </a:p>
        </p:txBody>
      </p:sp>
      <p:sp>
        <p:nvSpPr>
          <p:cNvPr id="2" name="Rectangle 1">
            <a:extLst>
              <a:ext uri="{FF2B5EF4-FFF2-40B4-BE49-F238E27FC236}">
                <a16:creationId xmlns:a16="http://schemas.microsoft.com/office/drawing/2014/main" id="{4E0B7C44-86E3-414F-934C-B08FB6C8010E}"/>
              </a:ext>
            </a:extLst>
          </p:cNvPr>
          <p:cNvSpPr>
            <a:spLocks noGrp="1"/>
          </p:cNvSpPr>
          <p:nvPr/>
        </p:nvSpPr>
        <p:spPr>
          <a:xfrm>
            <a:off x="628650" y="866775"/>
            <a:ext cx="10572750" cy="266700"/>
          </a:xfrm>
          <a:prstGeom prst="rect">
            <a:avLst/>
          </a:prstGeom>
          <a:noFill/>
          <a:ln w="0">
            <a:noFill/>
          </a:ln>
        </p:spPr>
        <p:txBody>
          <a:bodyPr>
            <a:noAutofit/>
          </a:bodyPr>
          <a:lstStyle/>
          <a:p>
            <a:pPr algn="l">
              <a:defRPr sz="1275" b="0" i="0">
                <a:solidFill>
                  <a:srgbClr val="A8BDCC"/>
                </a:solidFill>
                <a:latin typeface="Bitstream Charter"/>
                <a:ea typeface="Bitstream Charter"/>
                <a:cs typeface="Bitstream Charter"/>
              </a:defRPr>
            </a:pPr>
            <a:r>
              <a:rPr sz="1275" b="0" i="0">
                <a:solidFill>
                  <a:srgbClr val="A8BDCC"/>
                </a:solidFill>
                <a:latin typeface="Bitstream Charter"/>
                <a:ea typeface="Bitstream Charter"/>
                <a:cs typeface="Bitstream Charter"/>
              </a:rPr>
              <a:t>Sage treats 5G as a platform that can be redesigned at the decision points</a:t>
            </a:r>
          </a:p>
        </p:txBody>
      </p:sp>
      <p:sp>
        <p:nvSpPr>
          <p:cNvPr id="3" name="Straight Connector 2">
            <a:extLst>
              <a:ext uri="{FF2B5EF4-FFF2-40B4-BE49-F238E27FC236}">
                <a16:creationId xmlns:a16="http://schemas.microsoft.com/office/drawing/2014/main" id="{E46E45DF-D648-4DAB-B6E1-BD37FDCE9958}"/>
              </a:ext>
            </a:extLst>
          </p:cNvPr>
          <p:cNvSpPr>
            <a:spLocks noGrp="1"/>
          </p:cNvSpPr>
          <p:nvPr/>
        </p:nvSpPr>
        <p:spPr>
          <a:xfrm>
            <a:off x="609600" y="1200150"/>
            <a:ext cx="10972800" cy="0"/>
          </a:xfrm>
          <a:prstGeom prst="line">
            <a:avLst/>
          </a:prstGeom>
          <a:noFill/>
          <a:ln w="11430">
            <a:solidFill>
              <a:srgbClr val="345267"/>
            </a:solidFill>
            <a:prstDash val="solid"/>
          </a:ln>
        </p:spPr>
        <p:txBody>
          <a:bodyPr/>
          <a:lstStyle/>
          <a:p>
            <a:endParaRPr lang="en-US"/>
          </a:p>
        </p:txBody>
      </p:sp>
      <p:sp>
        <p:nvSpPr>
          <p:cNvPr id="4" name="Rounded Rectangle 3">
            <a:extLst>
              <a:ext uri="{FF2B5EF4-FFF2-40B4-BE49-F238E27FC236}">
                <a16:creationId xmlns:a16="http://schemas.microsoft.com/office/drawing/2014/main" id="{67C64E0E-8FFE-412E-B23C-D5E178CF8BCB}"/>
              </a:ext>
            </a:extLst>
          </p:cNvPr>
          <p:cNvSpPr>
            <a:spLocks noGrp="1"/>
          </p:cNvSpPr>
          <p:nvPr/>
        </p:nvSpPr>
        <p:spPr>
          <a:xfrm>
            <a:off x="1238250" y="2286000"/>
            <a:ext cx="2571750" cy="1428750"/>
          </a:xfrm>
          <a:prstGeom prst="roundRect">
            <a:avLst>
              <a:gd name="adj" fmla="val 16000"/>
            </a:avLst>
          </a:prstGeom>
          <a:solidFill>
            <a:srgbClr val="0D2940"/>
          </a:solidFill>
          <a:ln w="14288">
            <a:solidFill>
              <a:srgbClr val="47D7FF"/>
            </a:solidFill>
            <a:prstDash val="solid"/>
          </a:ln>
        </p:spPr>
        <p:txBody>
          <a:bodyPr/>
          <a:lstStyle/>
          <a:p>
            <a:endParaRPr lang="en-US"/>
          </a:p>
        </p:txBody>
      </p:sp>
      <p:sp>
        <p:nvSpPr>
          <p:cNvPr id="5" name="Rectangle 4">
            <a:extLst>
              <a:ext uri="{FF2B5EF4-FFF2-40B4-BE49-F238E27FC236}">
                <a16:creationId xmlns:a16="http://schemas.microsoft.com/office/drawing/2014/main" id="{0FC5EC7A-4A60-4466-B698-578AA12CF58B}"/>
              </a:ext>
            </a:extLst>
          </p:cNvPr>
          <p:cNvSpPr>
            <a:spLocks noGrp="1"/>
          </p:cNvSpPr>
          <p:nvPr/>
        </p:nvSpPr>
        <p:spPr>
          <a:xfrm>
            <a:off x="1524000" y="2571750"/>
            <a:ext cx="2000250" cy="333375"/>
          </a:xfrm>
          <a:prstGeom prst="rect">
            <a:avLst/>
          </a:prstGeom>
          <a:noFill/>
          <a:ln w="0">
            <a:noFill/>
          </a:ln>
        </p:spPr>
        <p:txBody>
          <a:bodyPr>
            <a:noAutofit/>
          </a:bodyPr>
          <a:lstStyle/>
          <a:p>
            <a:pPr algn="ctr">
              <a:defRPr sz="2100" b="1" i="0">
                <a:solidFill>
                  <a:srgbClr val="47D7FF"/>
                </a:solidFill>
                <a:latin typeface="Bitstream Charter"/>
                <a:ea typeface="Bitstream Charter"/>
                <a:cs typeface="Bitstream Charter"/>
              </a:defRPr>
            </a:pPr>
            <a:r>
              <a:rPr sz="2100" b="1" i="0">
                <a:solidFill>
                  <a:srgbClr val="47D7FF"/>
                </a:solidFill>
                <a:latin typeface="Bitstream Charter"/>
                <a:ea typeface="Bitstream Charter"/>
                <a:cs typeface="Bitstream Charter"/>
              </a:rPr>
              <a:t>Observe</a:t>
            </a:r>
          </a:p>
        </p:txBody>
      </p:sp>
      <p:sp>
        <p:nvSpPr>
          <p:cNvPr id="6" name="Rectangle 5">
            <a:extLst>
              <a:ext uri="{FF2B5EF4-FFF2-40B4-BE49-F238E27FC236}">
                <a16:creationId xmlns:a16="http://schemas.microsoft.com/office/drawing/2014/main" id="{44AB8F39-53EB-462E-A932-D2BD41CC8604}"/>
              </a:ext>
            </a:extLst>
          </p:cNvPr>
          <p:cNvSpPr>
            <a:spLocks noGrp="1"/>
          </p:cNvSpPr>
          <p:nvPr/>
        </p:nvSpPr>
        <p:spPr>
          <a:xfrm>
            <a:off x="1524000" y="3095625"/>
            <a:ext cx="2000250" cy="400050"/>
          </a:xfrm>
          <a:prstGeom prst="rect">
            <a:avLst/>
          </a:prstGeom>
          <a:noFill/>
          <a:ln w="0">
            <a:noFill/>
          </a:ln>
        </p:spPr>
        <p:txBody>
          <a:bodyPr>
            <a:noAutofit/>
          </a:bodyPr>
          <a:lstStyle/>
          <a:p>
            <a:pPr algn="ctr">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Recover a useful view of demand</a:t>
            </a:r>
          </a:p>
        </p:txBody>
      </p:sp>
      <p:sp>
        <p:nvSpPr>
          <p:cNvPr id="7" name="Rounded Rectangle 6">
            <a:extLst>
              <a:ext uri="{FF2B5EF4-FFF2-40B4-BE49-F238E27FC236}">
                <a16:creationId xmlns:a16="http://schemas.microsoft.com/office/drawing/2014/main" id="{26FB51F3-54AD-4652-9073-52CE5FA5B6B4}"/>
              </a:ext>
            </a:extLst>
          </p:cNvPr>
          <p:cNvSpPr>
            <a:spLocks noGrp="1"/>
          </p:cNvSpPr>
          <p:nvPr/>
        </p:nvSpPr>
        <p:spPr>
          <a:xfrm>
            <a:off x="4714875" y="2286000"/>
            <a:ext cx="2571750" cy="1428750"/>
          </a:xfrm>
          <a:prstGeom prst="roundRect">
            <a:avLst>
              <a:gd name="adj" fmla="val 16000"/>
            </a:avLst>
          </a:prstGeom>
          <a:solidFill>
            <a:srgbClr val="0D2940"/>
          </a:solidFill>
          <a:ln w="14288">
            <a:solidFill>
              <a:srgbClr val="FFC857"/>
            </a:solidFill>
            <a:prstDash val="solid"/>
          </a:ln>
        </p:spPr>
        <p:txBody>
          <a:bodyPr/>
          <a:lstStyle/>
          <a:p>
            <a:endParaRPr lang="en-US"/>
          </a:p>
        </p:txBody>
      </p:sp>
      <p:sp>
        <p:nvSpPr>
          <p:cNvPr id="8" name="Rectangle 7">
            <a:extLst>
              <a:ext uri="{FF2B5EF4-FFF2-40B4-BE49-F238E27FC236}">
                <a16:creationId xmlns:a16="http://schemas.microsoft.com/office/drawing/2014/main" id="{9BDFA02C-851D-4A00-BE59-AC70DED14F5D}"/>
              </a:ext>
            </a:extLst>
          </p:cNvPr>
          <p:cNvSpPr>
            <a:spLocks noGrp="1"/>
          </p:cNvSpPr>
          <p:nvPr/>
        </p:nvSpPr>
        <p:spPr>
          <a:xfrm>
            <a:off x="5000625" y="2571750"/>
            <a:ext cx="2000250" cy="333375"/>
          </a:xfrm>
          <a:prstGeom prst="rect">
            <a:avLst/>
          </a:prstGeom>
          <a:noFill/>
          <a:ln w="0">
            <a:noFill/>
          </a:ln>
        </p:spPr>
        <p:txBody>
          <a:bodyPr>
            <a:noAutofit/>
          </a:bodyPr>
          <a:lstStyle/>
          <a:p>
            <a:pPr algn="ctr">
              <a:defRPr sz="2100" b="1" i="0">
                <a:solidFill>
                  <a:srgbClr val="FFC857"/>
                </a:solidFill>
                <a:latin typeface="Bitstream Charter"/>
                <a:ea typeface="Bitstream Charter"/>
                <a:cs typeface="Bitstream Charter"/>
              </a:defRPr>
            </a:pPr>
            <a:r>
              <a:rPr sz="2100" b="1" i="0">
                <a:solidFill>
                  <a:srgbClr val="FFC857"/>
                </a:solidFill>
                <a:latin typeface="Bitstream Charter"/>
                <a:ea typeface="Bitstream Charter"/>
                <a:cs typeface="Bitstream Charter"/>
              </a:rPr>
              <a:t>Predict</a:t>
            </a:r>
          </a:p>
        </p:txBody>
      </p:sp>
      <p:sp>
        <p:nvSpPr>
          <p:cNvPr id="9" name="Rectangle 8">
            <a:extLst>
              <a:ext uri="{FF2B5EF4-FFF2-40B4-BE49-F238E27FC236}">
                <a16:creationId xmlns:a16="http://schemas.microsoft.com/office/drawing/2014/main" id="{42F83792-04B6-4CCB-91F4-F3E303BB8EE7}"/>
              </a:ext>
            </a:extLst>
          </p:cNvPr>
          <p:cNvSpPr>
            <a:spLocks noGrp="1"/>
          </p:cNvSpPr>
          <p:nvPr/>
        </p:nvSpPr>
        <p:spPr>
          <a:xfrm>
            <a:off x="5000625" y="3095625"/>
            <a:ext cx="2000250" cy="400050"/>
          </a:xfrm>
          <a:prstGeom prst="rect">
            <a:avLst/>
          </a:prstGeom>
          <a:noFill/>
          <a:ln w="0">
            <a:noFill/>
          </a:ln>
        </p:spPr>
        <p:txBody>
          <a:bodyPr>
            <a:noAutofit/>
          </a:bodyPr>
          <a:lstStyle/>
          <a:p>
            <a:pPr algn="ctr">
              <a:defRPr sz="1275" b="0" i="0">
                <a:solidFill>
                  <a:srgbClr val="DDEBF2"/>
                </a:solidFill>
                <a:latin typeface="Bitstream Charter"/>
                <a:ea typeface="Bitstream Charter"/>
                <a:cs typeface="Bitstream Charter"/>
              </a:defRPr>
            </a:pPr>
            <a:r>
              <a:rPr sz="1275" b="0" i="0">
                <a:solidFill>
                  <a:srgbClr val="DDEBF2"/>
                </a:solidFill>
                <a:latin typeface="Bitstream Charter"/>
                <a:ea typeface="Bitstream Charter"/>
                <a:cs typeface="Bitstream Charter"/>
              </a:rPr>
              <a:t>Estimate the next burst before it arrives</a:t>
            </a:r>
          </a:p>
        </p:txBody>
      </p:sp>
      <p:cxnSp>
        <p:nvCxnSpPr>
          <p:cNvPr id="29" name="Straight Arrow Connector 28"/>
          <p:cNvCxnSpPr>
            <a:stCxn id="4" idx="3"/>
            <a:endCxn id="7" idx="1"/>
          </p:cNvCxnSpPr>
          <p:nvPr/>
        </p:nvCxnSpPr>
        <p:spPr>
          <a:xfrm>
            <a:off x="3810000" y="3000375"/>
            <a:ext cx="904875" cy="0"/>
          </a:xfrm>
          <a:prstGeom prst="straightConnector1">
            <a:avLst/>
          </a:prstGeom>
          <a:ln w="23813">
            <a:solidFill>
              <a:srgbClr val="A8BDCC"/>
            </a:solidFill>
            <a:prstDash val="solid"/>
            <a:headEnd type="arrow" w="med" len="med"/>
            <a:tailEnd type="none" w="med" len="med"/>
          </a:ln>
        </p:spPr>
      </p:cxnSp>
      <p:sp>
        <p:nvSpPr>
          <p:cNvPr id="11" name="Rounded Rectangle 10">
            <a:extLst>
              <a:ext uri="{FF2B5EF4-FFF2-40B4-BE49-F238E27FC236}">
                <a16:creationId xmlns:a16="http://schemas.microsoft.com/office/drawing/2014/main" id="{2C0E22BA-41CE-467B-97E7-E8EC6888ED5B}"/>
              </a:ext>
            </a:extLst>
          </p:cNvPr>
          <p:cNvSpPr>
            <a:spLocks noGrp="1"/>
          </p:cNvSpPr>
          <p:nvPr/>
        </p:nvSpPr>
        <p:spPr>
          <a:xfrm>
            <a:off x="8191500" y="2286000"/>
            <a:ext cx="2571750" cy="1428750"/>
          </a:xfrm>
          <a:prstGeom prst="roundRect">
            <a:avLst>
              <a:gd name="adj" fmla="val 16000"/>
            </a:avLst>
          </a:prstGeom>
          <a:solidFill>
            <a:srgbClr val="0D2940"/>
          </a:solidFill>
          <a:ln w="14288">
            <a:solidFill>
              <a:srgbClr val="57D18C"/>
            </a:solidFill>
            <a:prstDash val="solid"/>
          </a:ln>
        </p:spPr>
        <p:txBody>
          <a:bodyPr/>
          <a:lstStyle/>
          <a:p>
            <a:endParaRPr lang="en-US"/>
          </a:p>
        </p:txBody>
      </p:sp>
      <p:sp>
        <p:nvSpPr>
          <p:cNvPr id="12" name="Rectangle 11">
            <a:extLst>
              <a:ext uri="{FF2B5EF4-FFF2-40B4-BE49-F238E27FC236}">
                <a16:creationId xmlns:a16="http://schemas.microsoft.com/office/drawing/2014/main" id="{2B1A0AA5-7D09-4FE8-A99F-EE38EA3C9E24}"/>
              </a:ext>
            </a:extLst>
          </p:cNvPr>
          <p:cNvSpPr>
            <a:spLocks noGrp="1"/>
          </p:cNvSpPr>
          <p:nvPr/>
        </p:nvSpPr>
        <p:spPr>
          <a:xfrm>
            <a:off x="8477250" y="2571750"/>
            <a:ext cx="2000250" cy="333375"/>
          </a:xfrm>
          <a:prstGeom prst="rect">
            <a:avLst/>
          </a:prstGeom>
          <a:noFill/>
          <a:ln w="0">
            <a:noFill/>
          </a:ln>
        </p:spPr>
        <p:txBody>
          <a:bodyPr>
            <a:noAutofit/>
          </a:bodyPr>
          <a:lstStyle/>
          <a:p>
            <a:pPr algn="ctr">
              <a:defRPr sz="2100" b="1" i="0">
                <a:solidFill>
                  <a:srgbClr val="57D18C"/>
                </a:solidFill>
                <a:latin typeface="Bitstream Charter"/>
                <a:ea typeface="Bitstream Charter"/>
                <a:cs typeface="Bitstream Charter"/>
              </a:defRPr>
            </a:pPr>
            <a:r>
              <a:rPr sz="2100" b="1" i="0">
                <a:solidFill>
                  <a:srgbClr val="57D18C"/>
                </a:solidFill>
                <a:latin typeface="Bitstream Charter"/>
                <a:ea typeface="Bitstream Charter"/>
                <a:cs typeface="Bitstream Charter"/>
              </a:rPr>
              <a:t>Allocate</a:t>
            </a:r>
          </a:p>
        </p:txBody>
      </p:sp>
      <p:sp>
        <p:nvSpPr>
          <p:cNvPr id="13" name="Rectangle 12">
            <a:extLst>
              <a:ext uri="{FF2B5EF4-FFF2-40B4-BE49-F238E27FC236}">
                <a16:creationId xmlns:a16="http://schemas.microsoft.com/office/drawing/2014/main" id="{D4C2B06D-E2B7-418F-8ECE-1457E3891A2D}"/>
              </a:ext>
            </a:extLst>
          </p:cNvPr>
          <p:cNvSpPr>
            <a:spLocks noGrp="1"/>
          </p:cNvSpPr>
          <p:nvPr/>
        </p:nvSpPr>
        <p:spPr>
          <a:xfrm>
            <a:off x="8477250" y="3095625"/>
            <a:ext cx="2000250" cy="400050"/>
          </a:xfrm>
          <a:prstGeom prst="rect">
            <a:avLst/>
          </a:prstGeom>
          <a:noFill/>
          <a:ln w="0">
            <a:noFill/>
          </a:ln>
        </p:spPr>
        <p:txBody>
          <a:bodyPr>
            <a:noAutofit/>
          </a:bodyPr>
          <a:lstStyle/>
          <a:p>
            <a:pPr algn="ctr">
              <a:defRPr sz="1275" b="0" i="0">
                <a:solidFill>
                  <a:srgbClr val="DDEBF2"/>
                </a:solidFill>
                <a:latin typeface="Bitstream Charter"/>
                <a:ea typeface="Bitstream Charter"/>
                <a:cs typeface="Bitstream Charter"/>
              </a:defRPr>
            </a:pPr>
            <a:r>
              <a:rPr sz="1275" b="0" i="0" dirty="0">
                <a:solidFill>
                  <a:srgbClr val="DDEBF2"/>
                </a:solidFill>
                <a:latin typeface="Bitstream Charter"/>
                <a:ea typeface="Bitstream Charter"/>
                <a:cs typeface="Bitstream Charter"/>
              </a:rPr>
              <a:t>Prepare only the resources the schedule can justify</a:t>
            </a:r>
          </a:p>
        </p:txBody>
      </p:sp>
      <p:cxnSp>
        <p:nvCxnSpPr>
          <p:cNvPr id="33" name="Straight Arrow Connector 32"/>
          <p:cNvCxnSpPr>
            <a:stCxn id="7" idx="3"/>
            <a:endCxn id="11" idx="1"/>
          </p:cNvCxnSpPr>
          <p:nvPr/>
        </p:nvCxnSpPr>
        <p:spPr>
          <a:xfrm>
            <a:off x="7286625" y="3000375"/>
            <a:ext cx="904875" cy="0"/>
          </a:xfrm>
          <a:prstGeom prst="straightConnector1">
            <a:avLst/>
          </a:prstGeom>
          <a:ln w="23813">
            <a:solidFill>
              <a:srgbClr val="A8BDCC"/>
            </a:solidFill>
            <a:prstDash val="solid"/>
            <a:headEnd type="arrow" w="med" len="med"/>
            <a:tailEnd type="none" w="med" len="med"/>
          </a:ln>
        </p:spPr>
      </p:cxnSp>
      <p:sp>
        <p:nvSpPr>
          <p:cNvPr id="15" name="Rectangle 14">
            <a:extLst>
              <a:ext uri="{FF2B5EF4-FFF2-40B4-BE49-F238E27FC236}">
                <a16:creationId xmlns:a16="http://schemas.microsoft.com/office/drawing/2014/main" id="{719E2EF8-5D35-42FF-98BB-984FE96FF38A}"/>
              </a:ext>
            </a:extLst>
          </p:cNvPr>
          <p:cNvSpPr>
            <a:spLocks noGrp="1"/>
          </p:cNvSpPr>
          <p:nvPr/>
        </p:nvSpPr>
        <p:spPr>
          <a:xfrm>
            <a:off x="1714500" y="4619625"/>
            <a:ext cx="8763000" cy="285750"/>
          </a:xfrm>
          <a:prstGeom prst="rect">
            <a:avLst/>
          </a:prstGeom>
          <a:noFill/>
          <a:ln w="0">
            <a:noFill/>
          </a:ln>
        </p:spPr>
        <p:txBody>
          <a:bodyPr>
            <a:noAutofit/>
          </a:bodyPr>
          <a:lstStyle/>
          <a:p>
            <a:pPr algn="ctr">
              <a:defRPr sz="1650" b="0" i="0">
                <a:solidFill>
                  <a:srgbClr val="A8BDCC"/>
                </a:solidFill>
                <a:latin typeface="Bitstream Charter"/>
                <a:ea typeface="Bitstream Charter"/>
                <a:cs typeface="Bitstream Charter"/>
              </a:defRPr>
            </a:pPr>
            <a:r>
              <a:rPr sz="1650" b="0" i="0">
                <a:solidFill>
                  <a:srgbClr val="A8BDCC"/>
                </a:solidFill>
                <a:latin typeface="Bitstream Charter"/>
                <a:ea typeface="Bitstream Charter"/>
                <a:cs typeface="Bitstream Charter"/>
              </a:rPr>
              <a:t>The broad research opportunity is simple to state:</a:t>
            </a:r>
          </a:p>
        </p:txBody>
      </p:sp>
      <p:sp>
        <p:nvSpPr>
          <p:cNvPr id="16" name="Rectangle 15">
            <a:extLst>
              <a:ext uri="{FF2B5EF4-FFF2-40B4-BE49-F238E27FC236}">
                <a16:creationId xmlns:a16="http://schemas.microsoft.com/office/drawing/2014/main" id="{F71ECC0E-71FB-4D46-A3A6-A8E92802E622}"/>
              </a:ext>
            </a:extLst>
          </p:cNvPr>
          <p:cNvSpPr>
            <a:spLocks noGrp="1"/>
          </p:cNvSpPr>
          <p:nvPr/>
        </p:nvSpPr>
        <p:spPr>
          <a:xfrm>
            <a:off x="1285875" y="5095875"/>
            <a:ext cx="9620250" cy="552450"/>
          </a:xfrm>
          <a:prstGeom prst="rect">
            <a:avLst/>
          </a:prstGeom>
          <a:noFill/>
          <a:ln w="0">
            <a:noFill/>
          </a:ln>
        </p:spPr>
        <p:txBody>
          <a:bodyPr>
            <a:noAutofit/>
          </a:bodyPr>
          <a:lstStyle/>
          <a:p>
            <a:pPr algn="ctr">
              <a:defRPr sz="2400" b="1" i="0">
                <a:solidFill>
                  <a:srgbClr val="F4F8FB"/>
                </a:solidFill>
                <a:latin typeface="Bitstream Charter"/>
                <a:ea typeface="Bitstream Charter"/>
                <a:cs typeface="Bitstream Charter"/>
              </a:defRPr>
            </a:pPr>
            <a:r>
              <a:rPr sz="2400" b="1" i="0">
                <a:solidFill>
                  <a:srgbClr val="F4F8FB"/>
                </a:solidFill>
                <a:latin typeface="Bitstream Charter"/>
                <a:ea typeface="Bitstream Charter"/>
                <a:cs typeface="Bitstream Charter"/>
              </a:rPr>
              <a:t>How can a network make a good decision early enough to matter?</a:t>
            </a:r>
          </a:p>
        </p:txBody>
      </p:sp>
      <p:sp>
        <p:nvSpPr>
          <p:cNvPr id="17" name="Rectangle 16">
            <a:extLst>
              <a:ext uri="{FF2B5EF4-FFF2-40B4-BE49-F238E27FC236}">
                <a16:creationId xmlns:a16="http://schemas.microsoft.com/office/drawing/2014/main" id="{DE7BDBE7-6EAD-42C3-B1DF-3DA3DF7301BF}"/>
              </a:ext>
            </a:extLst>
          </p:cNvPr>
          <p:cNvSpPr>
            <a:spLocks noGrp="1"/>
          </p:cNvSpPr>
          <p:nvPr/>
        </p:nvSpPr>
        <p:spPr>
          <a:xfrm>
            <a:off x="2047875" y="5905500"/>
            <a:ext cx="8096250" cy="266700"/>
          </a:xfrm>
          <a:prstGeom prst="rect">
            <a:avLst/>
          </a:prstGeom>
          <a:noFill/>
          <a:ln w="0">
            <a:noFill/>
          </a:ln>
        </p:spPr>
        <p:txBody>
          <a:bodyPr>
            <a:noAutofit/>
          </a:bodyPr>
          <a:lstStyle/>
          <a:p>
            <a:pPr algn="ctr">
              <a:defRPr sz="1425" b="1" i="0">
                <a:solidFill>
                  <a:srgbClr val="47D7FF"/>
                </a:solidFill>
                <a:latin typeface="Bitstream Charter"/>
                <a:ea typeface="Bitstream Charter"/>
                <a:cs typeface="Bitstream Charter"/>
              </a:defRPr>
            </a:pPr>
            <a:r>
              <a:rPr sz="1425" b="1" i="0">
                <a:solidFill>
                  <a:srgbClr val="47D7FF"/>
                </a:solidFill>
                <a:latin typeface="Bitstream Charter"/>
                <a:ea typeface="Bitstream Charter"/>
                <a:cs typeface="Bitstream Charter"/>
              </a:rPr>
              <a:t>Sage answers one version of that question for the 5G uplink.</a:t>
            </a:r>
          </a:p>
        </p:txBody>
      </p:sp>
      <p:sp>
        <p:nvSpPr>
          <p:cNvPr id="18" name="Rectangle 17">
            <a:extLst>
              <a:ext uri="{FF2B5EF4-FFF2-40B4-BE49-F238E27FC236}">
                <a16:creationId xmlns:a16="http://schemas.microsoft.com/office/drawing/2014/main" id="{B4ECA236-72BE-4972-B804-DDCBE8088B3E}"/>
              </a:ext>
            </a:extLst>
          </p:cNvPr>
          <p:cNvSpPr>
            <a:spLocks noGrp="1"/>
          </p:cNvSpPr>
          <p:nvPr/>
        </p:nvSpPr>
        <p:spPr>
          <a:xfrm>
            <a:off x="609600" y="6496050"/>
            <a:ext cx="361950" cy="171450"/>
          </a:xfrm>
          <a:prstGeom prst="rect">
            <a:avLst/>
          </a:prstGeom>
          <a:noFill/>
          <a:ln w="0">
            <a:noFill/>
          </a:ln>
        </p:spPr>
        <p:txBody>
          <a:bodyPr>
            <a:noAutofit/>
          </a:bodyPr>
          <a:lstStyle/>
          <a:p>
            <a:pPr algn="l">
              <a:defRPr sz="975" b="1" i="0">
                <a:solidFill>
                  <a:srgbClr val="A8BDCC"/>
                </a:solidFill>
                <a:latin typeface="Bitstream Charter"/>
                <a:ea typeface="Bitstream Charter"/>
                <a:cs typeface="Bitstream Charter"/>
              </a:defRPr>
            </a:pPr>
            <a:r>
              <a:rPr sz="975" b="1" i="0">
                <a:solidFill>
                  <a:srgbClr val="A8BDCC"/>
                </a:solidFill>
                <a:latin typeface="Bitstream Charter"/>
                <a:ea typeface="Bitstream Charter"/>
                <a:cs typeface="Bitstream Charter"/>
              </a:rPr>
              <a:t>17</a:t>
            </a:r>
          </a:p>
        </p:txBody>
      </p:sp>
      <p:sp>
        <p:nvSpPr>
          <p:cNvPr id="19" name="Rectangle 18">
            <a:extLst>
              <a:ext uri="{FF2B5EF4-FFF2-40B4-BE49-F238E27FC236}">
                <a16:creationId xmlns:a16="http://schemas.microsoft.com/office/drawing/2014/main" id="{E6187FC7-BD93-434B-966D-52A20CFAD48C}"/>
              </a:ext>
            </a:extLst>
          </p:cNvPr>
          <p:cNvSpPr>
            <a:spLocks noGrp="1"/>
          </p:cNvSpPr>
          <p:nvPr/>
        </p:nvSpPr>
        <p:spPr>
          <a:xfrm>
            <a:off x="1428750" y="6496050"/>
            <a:ext cx="9906000" cy="171450"/>
          </a:xfrm>
          <a:prstGeom prst="rect">
            <a:avLst/>
          </a:prstGeom>
          <a:noFill/>
          <a:ln w="0">
            <a:noFill/>
          </a:ln>
        </p:spPr>
        <p:txBody>
          <a:bodyPr>
            <a:noAutofit/>
          </a:bodyPr>
          <a:lstStyle/>
          <a:p>
            <a:pPr algn="r">
              <a:defRPr sz="825" b="0" i="0">
                <a:solidFill>
                  <a:srgbClr val="A8BDCC"/>
                </a:solidFill>
                <a:latin typeface="Bitstream Charter"/>
                <a:ea typeface="Bitstream Charter"/>
                <a:cs typeface="Bitstream Charter"/>
              </a:defRPr>
            </a:pPr>
            <a:r>
              <a:rPr sz="825" b="0" i="0">
                <a:solidFill>
                  <a:srgbClr val="A8BDCC"/>
                </a:solidFill>
                <a:latin typeface="Bitstream Charter"/>
                <a:ea typeface="Bitstream Charter"/>
                <a:cs typeface="Bitstream Charter"/>
              </a:rPr>
              <a:t>Synthesis of paper §§1–10</a:t>
            </a:r>
          </a:p>
        </p:txBody>
      </p:sp>
    </p:spTree>
    <p:extLst>
      <p:ext uri="{BB962C8B-B14F-4D97-AF65-F5344CB8AC3E}">
        <p14:creationId xmlns:p14="http://schemas.microsoft.com/office/powerpoint/2010/main" val="174811229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3299</Words>
  <Application>Microsoft Macintosh PowerPoint</Application>
  <DocSecurity>0</DocSecurity>
  <PresentationFormat>Widescreen</PresentationFormat>
  <Paragraphs>332</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Bitstream Charter</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Victor Liu</cp:lastModifiedBy>
  <cp:revision>6</cp:revision>
  <dcterms:created xsi:type="dcterms:W3CDTF">2026-09-16T03:49:48Z</dcterms:created>
  <dcterms:modified xsi:type="dcterms:W3CDTF">2026-09-16T15:28:13Z</dcterms:modified>
</cp:coreProperties>
</file>