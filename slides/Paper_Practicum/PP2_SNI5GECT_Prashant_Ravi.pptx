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lay"/>
      <p:regular r:id="rId25"/>
      <p:bold r:id="rId26"/>
    </p:embeddedFont>
    <p:embeddedFont>
      <p:font typeface="Arial Narrow"/>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ArialNarrow-bold.fntdata"/><Relationship Id="rId27" Type="http://schemas.openxmlformats.org/officeDocument/2006/relationships/font" Target="fonts/ArialNarrow-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ialNarrow-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ArialNarrow-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b786f862a_3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b786f862a_3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Start by saying this paper is about a new 5G security testing framework. The key idea is sniffing the live 5G connection and injecting carefully timed downlink messages without pretending to be a rogue base station.</a:t>
            </a:r>
            <a:endParaRPr/>
          </a:p>
        </p:txBody>
      </p:sp>
      <p:sp>
        <p:nvSpPr>
          <p:cNvPr id="56" name="Google Shape;56;g3fb786f862a_3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b78dced0e_6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b78dced0e_6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5G is not just about faster phones. It is increasingly used in areas such as smart homes, industrial systems, healthcare, and robotics, so weaknesses in 5G can potentially affect much more than ordinary mobile communication.</a:t>
            </a:r>
            <a:br>
              <a:rPr lang="en"/>
            </a:br>
            <a:br>
              <a:rPr lang="en"/>
            </a:br>
            <a:r>
              <a:rPr lang="en"/>
              <a:t>The important question in this paper is whether vulnerabilities that look serious in the lab can actually be exploited under realistic conditions. The authors point out that places such as airports, elevators, tunnels, and underground parking garages are interesting because phones may temporarily lose connectivity and then perform a new registration. That creates the short pre-authentication communication window that SNI5GECT monitors.</a:t>
            </a:r>
            <a:endParaRPr/>
          </a:p>
        </p:txBody>
      </p:sp>
      <p:sp>
        <p:nvSpPr>
          <p:cNvPr id="67" name="Google Shape;67;g3fb78dced0e_6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b786f862a_3_1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fb786f862a_3_1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Explain that the focus is the initial attach procedure. The UE and gNB have not yet finished setting up security, so some traffic can be observed and influenced.</a:t>
            </a:r>
            <a:endParaRPr/>
          </a:p>
        </p:txBody>
      </p:sp>
      <p:sp>
        <p:nvSpPr>
          <p:cNvPr id="118" name="Google Shape;118;g3fb786f862a_3_1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b786f862a_3_2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fb786f862a_3_2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Contrast the old model with this paper. Rather than forcing a phone onto a fake base station, SNI5GECT listens to the real connection and injects at precise moments.</a:t>
            </a:r>
            <a:endParaRPr/>
          </a:p>
        </p:txBody>
      </p:sp>
      <p:sp>
        <p:nvSpPr>
          <p:cNvPr id="128" name="Google Shape;128;g3fb786f862a_3_2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b786f862a_3_3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fb786f862a_3_3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Emphasize that this is not an all-powerful attacker. The interesting part is that the attacker does not need credentials or a rogue gNB, but must be close enough and well synchronized.</a:t>
            </a:r>
            <a:endParaRPr/>
          </a:p>
        </p:txBody>
      </p:sp>
      <p:sp>
        <p:nvSpPr>
          <p:cNvPr id="138" name="Google Shape;138;g3fb786f862a_3_3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b786f862a_3_4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fb786f862a_3_4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Explain the workflow in two simple steps: learn the connection state, then inject a forged message when it matters. The timing is the main challenge.</a:t>
            </a:r>
            <a:endParaRPr/>
          </a:p>
        </p:txBody>
      </p:sp>
      <p:sp>
        <p:nvSpPr>
          <p:cNvPr id="148" name="Google Shape;148;g3fb786f862a_3_4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b78dced0e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b78dced0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786f862a_3_4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fb786f862a_3_4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Introduce the architecture. The Syncher is the timing foundation. The Broadcast Worker finds cell configuration and new UEs. UETracker handles per-device message tracking.</a:t>
            </a:r>
            <a:endParaRPr/>
          </a:p>
        </p:txBody>
      </p:sp>
      <p:sp>
        <p:nvSpPr>
          <p:cNvPr id="163" name="Google Shape;163;g3fb786f862a_3_4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b786f862a_3_5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fb786f862a_3_5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Say that this slide is the full pipeline after a UE is detected. The tool needs both downlink and uplink decoding so it knows exactly which protocol state the UE is in.</a:t>
            </a:r>
            <a:endParaRPr/>
          </a:p>
        </p:txBody>
      </p:sp>
      <p:sp>
        <p:nvSpPr>
          <p:cNvPr id="173" name="Google Shape;173;g3fb786f862a_3_5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b786f862a_3_6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fb786f862a_3_6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Set up the evaluation categories. The increasing complexity is from simple one-message attacks to stateful multi-step attacks.</a:t>
            </a:r>
            <a:endParaRPr/>
          </a:p>
        </p:txBody>
      </p:sp>
      <p:sp>
        <p:nvSpPr>
          <p:cNvPr id="183" name="Google Shape;183;g3fb786f862a_3_6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786f862a_3_7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b786f862a_3_7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Explain the two examples. In both, the attacker injects a single downlink message and the UE reacts immediately, either by crashing or downgrading.</a:t>
            </a:r>
            <a:endParaRPr/>
          </a:p>
        </p:txBody>
      </p:sp>
      <p:sp>
        <p:nvSpPr>
          <p:cNvPr id="193" name="Google Shape;193;g3fb786f862a_3_7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b786f862a_3_8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fb786f862a_3_8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This is different from a pure one-shot attack because the attacker also waits for and decodes the UE response. It shows why sniffing plus injection is stronger than injection alone.</a:t>
            </a:r>
            <a:endParaRPr/>
          </a:p>
        </p:txBody>
      </p:sp>
      <p:sp>
        <p:nvSpPr>
          <p:cNvPr id="203" name="Google Shape;203;g3fb786f862a_3_8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b786f862a_3_9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fb786f862a_3_9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Describe this as the strongest demonstration of stateful capability. The attack needs more than one injection and depends on tracking the UE over time.</a:t>
            </a:r>
            <a:endParaRPr/>
          </a:p>
        </p:txBody>
      </p:sp>
      <p:sp>
        <p:nvSpPr>
          <p:cNvPr id="213" name="Google Shape;213;g3fb786f862a_3_9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b786f862a_3_10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fb786f862a_3_10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Mention that the experiments are not just simulation. The authors used real phones, SDR hardware, and two kinds of 5G base stations.</a:t>
            </a:r>
            <a:endParaRPr/>
          </a:p>
        </p:txBody>
      </p:sp>
      <p:sp>
        <p:nvSpPr>
          <p:cNvPr id="223" name="Google Shape;223;g3fb786f862a_3_10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b786f862a_3_11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fb786f862a_3_11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Focus on the takeaway rather than every number. The tool can sniff both directions with high success, but uplink is harder because timing alignment is more sensitive.</a:t>
            </a:r>
            <a:endParaRPr/>
          </a:p>
        </p:txBody>
      </p:sp>
      <p:sp>
        <p:nvSpPr>
          <p:cNvPr id="233" name="Google Shape;233;g3fb786f862a_3_11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b786f862a_3_12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fb786f862a_3_12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Explain that success is not uniform, but the evaluation shows practical attack rates. The important result is that stateful injection worked in realistic setups.</a:t>
            </a:r>
            <a:endParaRPr/>
          </a:p>
        </p:txBody>
      </p:sp>
      <p:sp>
        <p:nvSpPr>
          <p:cNvPr id="243" name="Google Shape;243;g3fb786f862a_3_12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b786f862a_3_13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fb786f862a_3_13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Say: Close with a balanced view. The framework is powerful for research, but it is not universal. The paper frames it as a foundation for 5G security testing and future detection work.</a:t>
            </a:r>
            <a:endParaRPr/>
          </a:p>
        </p:txBody>
      </p:sp>
      <p:sp>
        <p:nvSpPr>
          <p:cNvPr id="253" name="Google Shape;253;g3fb786f862a_3_13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b786f862a_0_0: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fb786f862a_0_0: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What to say:</a:t>
            </a:r>
            <a:br>
              <a:rPr lang="en"/>
            </a:br>
            <a:r>
              <a:rPr lang="en"/>
              <a:t>1. The authors provide a demo and presentation materials through the USENIX Security 2025 presentation page.</a:t>
            </a:r>
            <a:br>
              <a:rPr lang="en"/>
            </a:br>
            <a:r>
              <a:rPr lang="en"/>
              <a:t>2. The demo setup shows SNI5GECT acting as the attacker while the victim phone communicates around a legitimate srsRAN 5G setup and a 4G IMSI-catcher.</a:t>
            </a:r>
            <a:br>
              <a:rPr lang="en"/>
            </a:br>
            <a:r>
              <a:rPr lang="en"/>
              <a:t>3. This is a good final slide because it points the audience to the original resource, then closes the talk with thanks and invites questions.</a:t>
            </a:r>
            <a:endParaRPr/>
          </a:p>
        </p:txBody>
      </p:sp>
      <p:sp>
        <p:nvSpPr>
          <p:cNvPr id="263" name="Google Shape;263;g3fb786f862a_0_0: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p:cSld name="plain">
    <p:bg>
      <p:bgPr>
        <a:solidFill>
          <a:srgbClr val="FFFFFF"/>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s://www.usenix.org/conference/usenixsecurity25/presentation/luo-shijie" TargetMode="External"/><Relationship Id="rId4" Type="http://schemas.openxmlformats.org/officeDocument/2006/relationships/hyperlink" Target="https://www.usenix.org/conference/usenixsecurity25/presentation/luo-shijie" TargetMode="External"/><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16"/>
          <p:cNvSpPr/>
          <p:nvPr/>
        </p:nvSpPr>
        <p:spPr>
          <a:xfrm>
            <a:off x="617236" y="925830"/>
            <a:ext cx="3772001"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3200"/>
              <a:buFont typeface="Arial Narrow"/>
              <a:buNone/>
            </a:pPr>
            <a:r>
              <a:rPr b="0" i="0" lang="en" sz="3200" u="none" cap="none" strike="noStrike">
                <a:solidFill>
                  <a:srgbClr val="111111"/>
                </a:solidFill>
                <a:latin typeface="Arial Narrow"/>
                <a:ea typeface="Arial Narrow"/>
                <a:cs typeface="Arial Narrow"/>
                <a:sym typeface="Arial Narrow"/>
              </a:rPr>
              <a:t>SNI5GECT</a:t>
            </a:r>
            <a:endParaRPr b="0" i="0" sz="3200" u="none" cap="none" strike="noStrike">
              <a:solidFill>
                <a:schemeClr val="dk1"/>
              </a:solidFill>
              <a:latin typeface="Arial"/>
              <a:ea typeface="Arial"/>
              <a:cs typeface="Arial"/>
              <a:sym typeface="Arial"/>
            </a:endParaRPr>
          </a:p>
        </p:txBody>
      </p:sp>
      <p:sp>
        <p:nvSpPr>
          <p:cNvPr id="59" name="Google Shape;59;p16"/>
          <p:cNvSpPr/>
          <p:nvPr/>
        </p:nvSpPr>
        <p:spPr>
          <a:xfrm>
            <a:off x="630953" y="1440180"/>
            <a:ext cx="466356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000"/>
              <a:buFont typeface="Arial Narrow"/>
              <a:buNone/>
            </a:pPr>
            <a:r>
              <a:rPr b="0" i="0" lang="en" sz="2000" u="none" cap="none" strike="noStrike">
                <a:solidFill>
                  <a:srgbClr val="111111"/>
                </a:solidFill>
                <a:latin typeface="Arial Narrow"/>
                <a:ea typeface="Arial Narrow"/>
                <a:cs typeface="Arial Narrow"/>
                <a:sym typeface="Arial Narrow"/>
              </a:rPr>
              <a:t>A practical approach to inject aNRchy into 5G NR</a:t>
            </a:r>
            <a:endParaRPr b="0" i="0" sz="2000" u="none" cap="none" strike="noStrike">
              <a:solidFill>
                <a:schemeClr val="dk1"/>
              </a:solidFill>
              <a:latin typeface="Arial"/>
              <a:ea typeface="Arial"/>
              <a:cs typeface="Arial"/>
              <a:sym typeface="Arial"/>
            </a:endParaRPr>
          </a:p>
        </p:txBody>
      </p:sp>
      <p:sp>
        <p:nvSpPr>
          <p:cNvPr id="60" name="Google Shape;60;p16"/>
          <p:cNvSpPr/>
          <p:nvPr/>
        </p:nvSpPr>
        <p:spPr>
          <a:xfrm>
            <a:off x="644669" y="2057400"/>
            <a:ext cx="4663564"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100"/>
              <a:buFont typeface="Arial"/>
              <a:buNone/>
            </a:pPr>
            <a:r>
              <a:rPr b="0" i="0" lang="en" sz="1100" u="none" cap="none" strike="noStrike">
                <a:solidFill>
                  <a:srgbClr val="444444"/>
                </a:solidFill>
                <a:latin typeface="Arial"/>
                <a:ea typeface="Arial"/>
                <a:cs typeface="Arial"/>
                <a:sym typeface="Arial"/>
              </a:rPr>
              <a:t>Shijie Luo, Matheus E. Garbelini, Sudipta Chattopadhyay, Jianying Zhou</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444444"/>
              </a:buClr>
              <a:buSzPts val="1100"/>
              <a:buFont typeface="Arial"/>
              <a:buNone/>
            </a:pPr>
            <a:r>
              <a:rPr b="0" i="0" lang="en" sz="1100" u="none" cap="none" strike="noStrike">
                <a:solidFill>
                  <a:srgbClr val="444444"/>
                </a:solidFill>
                <a:latin typeface="Arial"/>
                <a:ea typeface="Arial"/>
                <a:cs typeface="Arial"/>
                <a:sym typeface="Arial"/>
              </a:rPr>
              <a:t>USENIX Security 2025</a:t>
            </a:r>
            <a:endParaRPr b="0" i="0" sz="1100" u="none" cap="none" strike="noStrike">
              <a:solidFill>
                <a:schemeClr val="dk1"/>
              </a:solidFill>
              <a:latin typeface="Arial"/>
              <a:ea typeface="Arial"/>
              <a:cs typeface="Arial"/>
              <a:sym typeface="Arial"/>
            </a:endParaRPr>
          </a:p>
        </p:txBody>
      </p:sp>
      <p:pic>
        <p:nvPicPr>
          <p:cNvPr descr="/mnt/data/sni5gect_pages/p-01.png" id="61" name="Google Shape;61;p16"/>
          <p:cNvPicPr preferRelativeResize="0"/>
          <p:nvPr/>
        </p:nvPicPr>
        <p:blipFill rotWithShape="1">
          <a:blip r:embed="rId3">
            <a:alphaModFix/>
          </a:blip>
          <a:srcRect b="0" l="0" r="0" t="0"/>
          <a:stretch/>
        </p:blipFill>
        <p:spPr>
          <a:xfrm>
            <a:off x="6035201" y="617220"/>
            <a:ext cx="2571819" cy="2571750"/>
          </a:xfrm>
          <a:prstGeom prst="rect">
            <a:avLst/>
          </a:prstGeom>
          <a:noFill/>
          <a:ln>
            <a:noFill/>
          </a:ln>
        </p:spPr>
      </p:pic>
      <p:sp>
        <p:nvSpPr>
          <p:cNvPr id="62" name="Google Shape;62;p16"/>
          <p:cNvSpPr/>
          <p:nvPr/>
        </p:nvSpPr>
        <p:spPr>
          <a:xfrm>
            <a:off x="644669" y="4491990"/>
            <a:ext cx="20574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800"/>
              <a:buFont typeface="Arial"/>
              <a:buNone/>
            </a:pPr>
            <a:r>
              <a:rPr b="0" i="0" lang="en" sz="800" u="none" cap="none" strike="noStrike">
                <a:solidFill>
                  <a:srgbClr val="777777"/>
                </a:solidFill>
                <a:latin typeface="Arial"/>
                <a:ea typeface="Arial"/>
                <a:cs typeface="Arial"/>
                <a:sym typeface="Arial"/>
              </a:rPr>
              <a:t>15-slide paper overview</a:t>
            </a:r>
            <a:endParaRPr b="0" i="0" sz="800" u="none" cap="none" strike="noStrike">
              <a:solidFill>
                <a:schemeClr val="dk1"/>
              </a:solidFill>
              <a:latin typeface="Arial"/>
              <a:ea typeface="Arial"/>
              <a:cs typeface="Arial"/>
              <a:sym typeface="Arial"/>
            </a:endParaRPr>
          </a:p>
        </p:txBody>
      </p:sp>
      <p:sp>
        <p:nvSpPr>
          <p:cNvPr id="63" name="Google Shape;63;p16"/>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17"/>
          <p:cNvSpPr/>
          <p:nvPr/>
        </p:nvSpPr>
        <p:spPr>
          <a:xfrm>
            <a:off x="377200" y="240030"/>
            <a:ext cx="840127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Why Real-World 5G Security Matters</a:t>
            </a:r>
            <a:endParaRPr b="0" i="0" sz="2300" u="none" cap="none" strike="noStrike">
              <a:solidFill>
                <a:schemeClr val="dk1"/>
              </a:solidFill>
              <a:latin typeface="Arial"/>
              <a:ea typeface="Arial"/>
              <a:cs typeface="Arial"/>
              <a:sym typeface="Arial"/>
            </a:endParaRPr>
          </a:p>
        </p:txBody>
      </p:sp>
      <p:sp>
        <p:nvSpPr>
          <p:cNvPr id="70" name="Google Shape;70;p17"/>
          <p:cNvSpPr/>
          <p:nvPr/>
        </p:nvSpPr>
        <p:spPr>
          <a:xfrm>
            <a:off x="390916" y="644652"/>
            <a:ext cx="74068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SNI5GECT motivation: widespread 5G use + realistic attack opportunities</a:t>
            </a:r>
            <a:endParaRPr b="0" i="0" sz="900" u="none" cap="none" strike="noStrike">
              <a:solidFill>
                <a:schemeClr val="dk1"/>
              </a:solidFill>
              <a:latin typeface="Arial"/>
              <a:ea typeface="Arial"/>
              <a:cs typeface="Arial"/>
              <a:sym typeface="Arial"/>
            </a:endParaRPr>
          </a:p>
        </p:txBody>
      </p:sp>
      <p:cxnSp>
        <p:nvCxnSpPr>
          <p:cNvPr id="71" name="Google Shape;71;p17"/>
          <p:cNvCxnSpPr/>
          <p:nvPr/>
        </p:nvCxnSpPr>
        <p:spPr>
          <a:xfrm>
            <a:off x="377200" y="891540"/>
            <a:ext cx="8332692" cy="0"/>
          </a:xfrm>
          <a:prstGeom prst="straightConnector1">
            <a:avLst/>
          </a:prstGeom>
          <a:noFill/>
          <a:ln cap="flat" cmpd="sng" w="19050">
            <a:solidFill>
              <a:srgbClr val="007A73"/>
            </a:solidFill>
            <a:prstDash val="solid"/>
            <a:round/>
            <a:headEnd len="sm" w="sm" type="none"/>
            <a:tailEnd len="sm" w="sm" type="none"/>
          </a:ln>
        </p:spPr>
      </p:cxnSp>
      <p:sp>
        <p:nvSpPr>
          <p:cNvPr id="72" name="Google Shape;72;p17"/>
          <p:cNvSpPr/>
          <p:nvPr/>
        </p:nvSpPr>
        <p:spPr>
          <a:xfrm>
            <a:off x="514364" y="1131570"/>
            <a:ext cx="3566255"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Play"/>
              <a:buNone/>
            </a:pPr>
            <a:r>
              <a:rPr b="1" i="0" lang="en" sz="1300" u="none" cap="none" strike="noStrike">
                <a:solidFill>
                  <a:srgbClr val="111827"/>
                </a:solidFill>
                <a:latin typeface="Play"/>
                <a:ea typeface="Play"/>
                <a:cs typeface="Play"/>
                <a:sym typeface="Play"/>
              </a:rPr>
              <a:t>5G is moving into critical everyday systems</a:t>
            </a:r>
            <a:endParaRPr b="0" i="0" sz="1300" u="none" cap="none" strike="noStrike">
              <a:solidFill>
                <a:schemeClr val="dk1"/>
              </a:solidFill>
              <a:latin typeface="Arial"/>
              <a:ea typeface="Arial"/>
              <a:cs typeface="Arial"/>
              <a:sym typeface="Arial"/>
            </a:endParaRPr>
          </a:p>
        </p:txBody>
      </p:sp>
      <p:sp>
        <p:nvSpPr>
          <p:cNvPr id="73" name="Google Shape;73;p17"/>
          <p:cNvSpPr/>
          <p:nvPr/>
        </p:nvSpPr>
        <p:spPr>
          <a:xfrm>
            <a:off x="514364" y="1412748"/>
            <a:ext cx="36005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900"/>
              <a:buFont typeface="Arial"/>
              <a:buNone/>
            </a:pPr>
            <a:r>
              <a:rPr b="0" i="0" lang="en" sz="900" u="none" cap="none" strike="noStrike">
                <a:solidFill>
                  <a:srgbClr val="2B2B2B"/>
                </a:solidFill>
                <a:latin typeface="Arial"/>
                <a:ea typeface="Arial"/>
                <a:cs typeface="Arial"/>
                <a:sym typeface="Arial"/>
              </a:rPr>
              <a:t>Beyond faster phones, 5G NR supports systems where reliability and security matter.</a:t>
            </a:r>
            <a:endParaRPr b="0" i="0" sz="900" u="none" cap="none" strike="noStrike">
              <a:solidFill>
                <a:schemeClr val="dk1"/>
              </a:solidFill>
              <a:latin typeface="Arial"/>
              <a:ea typeface="Arial"/>
              <a:cs typeface="Arial"/>
              <a:sym typeface="Arial"/>
            </a:endParaRPr>
          </a:p>
        </p:txBody>
      </p:sp>
      <p:sp>
        <p:nvSpPr>
          <p:cNvPr id="74" name="Google Shape;74;p17"/>
          <p:cNvSpPr/>
          <p:nvPr/>
        </p:nvSpPr>
        <p:spPr>
          <a:xfrm>
            <a:off x="534938" y="1872234"/>
            <a:ext cx="192029" cy="192024"/>
          </a:xfrm>
          <a:prstGeom prst="ellipse">
            <a:avLst/>
          </a:prstGeom>
          <a:solidFill>
            <a:srgbClr val="E7F4F2"/>
          </a:solidFill>
          <a:ln cap="flat" cmpd="sng" w="10150">
            <a:solidFill>
              <a:srgbClr val="007A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 name="Google Shape;75;p17"/>
          <p:cNvSpPr/>
          <p:nvPr/>
        </p:nvSpPr>
        <p:spPr>
          <a:xfrm>
            <a:off x="565800" y="1889379"/>
            <a:ext cx="137164" cy="11658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A73"/>
              </a:buClr>
              <a:buSzPts val="700"/>
              <a:buFont typeface="Arial"/>
              <a:buNone/>
            </a:pPr>
            <a:r>
              <a:rPr b="1" i="0" lang="en" sz="700" u="none" cap="none" strike="noStrike">
                <a:solidFill>
                  <a:srgbClr val="007A73"/>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sp>
        <p:nvSpPr>
          <p:cNvPr id="76" name="Google Shape;76;p17"/>
          <p:cNvSpPr/>
          <p:nvPr/>
        </p:nvSpPr>
        <p:spPr>
          <a:xfrm>
            <a:off x="809266" y="1872234"/>
            <a:ext cx="3086182"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000"/>
              <a:buFont typeface="Arial"/>
              <a:buNone/>
            </a:pPr>
            <a:r>
              <a:rPr b="0" i="0" lang="en" sz="1000" u="none" cap="none" strike="noStrike">
                <a:solidFill>
                  <a:srgbClr val="2B2B2B"/>
                </a:solidFill>
                <a:latin typeface="Arial"/>
                <a:ea typeface="Arial"/>
                <a:cs typeface="Arial"/>
                <a:sym typeface="Arial"/>
              </a:rPr>
              <a:t>Smart homes &amp; connected devices</a:t>
            </a:r>
            <a:endParaRPr b="0" i="0" sz="1000" u="none" cap="none" strike="noStrike">
              <a:solidFill>
                <a:schemeClr val="dk1"/>
              </a:solidFill>
              <a:latin typeface="Arial"/>
              <a:ea typeface="Arial"/>
              <a:cs typeface="Arial"/>
              <a:sym typeface="Arial"/>
            </a:endParaRPr>
          </a:p>
        </p:txBody>
      </p:sp>
      <p:sp>
        <p:nvSpPr>
          <p:cNvPr id="77" name="Google Shape;77;p17"/>
          <p:cNvSpPr/>
          <p:nvPr/>
        </p:nvSpPr>
        <p:spPr>
          <a:xfrm>
            <a:off x="534938" y="2269998"/>
            <a:ext cx="192029" cy="192024"/>
          </a:xfrm>
          <a:prstGeom prst="ellipse">
            <a:avLst/>
          </a:prstGeom>
          <a:solidFill>
            <a:srgbClr val="E7F4F2"/>
          </a:solidFill>
          <a:ln cap="flat" cmpd="sng" w="10150">
            <a:solidFill>
              <a:srgbClr val="007A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7"/>
          <p:cNvSpPr/>
          <p:nvPr/>
        </p:nvSpPr>
        <p:spPr>
          <a:xfrm>
            <a:off x="565800" y="2287143"/>
            <a:ext cx="137164" cy="11658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A73"/>
              </a:buClr>
              <a:buSzPts val="700"/>
              <a:buFont typeface="Arial"/>
              <a:buNone/>
            </a:pPr>
            <a:r>
              <a:rPr b="1" i="0" lang="en" sz="700" u="none" cap="none" strike="noStrike">
                <a:solidFill>
                  <a:srgbClr val="007A73"/>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sp>
        <p:nvSpPr>
          <p:cNvPr id="79" name="Google Shape;79;p17"/>
          <p:cNvSpPr/>
          <p:nvPr/>
        </p:nvSpPr>
        <p:spPr>
          <a:xfrm>
            <a:off x="809266" y="2269998"/>
            <a:ext cx="3086182"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000"/>
              <a:buFont typeface="Arial"/>
              <a:buNone/>
            </a:pPr>
            <a:r>
              <a:rPr b="0" i="0" lang="en" sz="1000" u="none" cap="none" strike="noStrike">
                <a:solidFill>
                  <a:srgbClr val="2B2B2B"/>
                </a:solidFill>
                <a:latin typeface="Arial"/>
                <a:ea typeface="Arial"/>
                <a:cs typeface="Arial"/>
                <a:sym typeface="Arial"/>
              </a:rPr>
              <a:t>Industrial control &amp; automation</a:t>
            </a:r>
            <a:endParaRPr b="0" i="0" sz="1000" u="none" cap="none" strike="noStrike">
              <a:solidFill>
                <a:schemeClr val="dk1"/>
              </a:solidFill>
              <a:latin typeface="Arial"/>
              <a:ea typeface="Arial"/>
              <a:cs typeface="Arial"/>
              <a:sym typeface="Arial"/>
            </a:endParaRPr>
          </a:p>
        </p:txBody>
      </p:sp>
      <p:sp>
        <p:nvSpPr>
          <p:cNvPr id="80" name="Google Shape;80;p17"/>
          <p:cNvSpPr/>
          <p:nvPr/>
        </p:nvSpPr>
        <p:spPr>
          <a:xfrm>
            <a:off x="534938" y="2667762"/>
            <a:ext cx="192029" cy="192024"/>
          </a:xfrm>
          <a:prstGeom prst="ellipse">
            <a:avLst/>
          </a:prstGeom>
          <a:solidFill>
            <a:srgbClr val="E7F4F2"/>
          </a:solidFill>
          <a:ln cap="flat" cmpd="sng" w="10150">
            <a:solidFill>
              <a:srgbClr val="007A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7"/>
          <p:cNvSpPr/>
          <p:nvPr/>
        </p:nvSpPr>
        <p:spPr>
          <a:xfrm>
            <a:off x="565800" y="2684907"/>
            <a:ext cx="137164" cy="11658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A73"/>
              </a:buClr>
              <a:buSzPts val="700"/>
              <a:buFont typeface="Arial"/>
              <a:buNone/>
            </a:pPr>
            <a:r>
              <a:rPr b="1" i="0" lang="en" sz="700" u="none" cap="none" strike="noStrike">
                <a:solidFill>
                  <a:srgbClr val="007A73"/>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sp>
        <p:nvSpPr>
          <p:cNvPr id="82" name="Google Shape;82;p17"/>
          <p:cNvSpPr/>
          <p:nvPr/>
        </p:nvSpPr>
        <p:spPr>
          <a:xfrm>
            <a:off x="809266" y="2667762"/>
            <a:ext cx="3086182"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000"/>
              <a:buFont typeface="Arial"/>
              <a:buNone/>
            </a:pPr>
            <a:r>
              <a:rPr b="0" i="0" lang="en" sz="1000" u="none" cap="none" strike="noStrike">
                <a:solidFill>
                  <a:srgbClr val="2B2B2B"/>
                </a:solidFill>
                <a:latin typeface="Arial"/>
                <a:ea typeface="Arial"/>
                <a:cs typeface="Arial"/>
                <a:sym typeface="Arial"/>
              </a:rPr>
              <a:t>Healthcare systems</a:t>
            </a:r>
            <a:endParaRPr b="0" i="0" sz="1000" u="none" cap="none" strike="noStrike">
              <a:solidFill>
                <a:schemeClr val="dk1"/>
              </a:solidFill>
              <a:latin typeface="Arial"/>
              <a:ea typeface="Arial"/>
              <a:cs typeface="Arial"/>
              <a:sym typeface="Arial"/>
            </a:endParaRPr>
          </a:p>
        </p:txBody>
      </p:sp>
      <p:sp>
        <p:nvSpPr>
          <p:cNvPr id="83" name="Google Shape;83;p17"/>
          <p:cNvSpPr/>
          <p:nvPr/>
        </p:nvSpPr>
        <p:spPr>
          <a:xfrm>
            <a:off x="534938" y="3065526"/>
            <a:ext cx="192029" cy="192024"/>
          </a:xfrm>
          <a:prstGeom prst="ellipse">
            <a:avLst/>
          </a:prstGeom>
          <a:solidFill>
            <a:srgbClr val="E7F4F2"/>
          </a:solidFill>
          <a:ln cap="flat" cmpd="sng" w="10150">
            <a:solidFill>
              <a:srgbClr val="007A7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7"/>
          <p:cNvSpPr/>
          <p:nvPr/>
        </p:nvSpPr>
        <p:spPr>
          <a:xfrm>
            <a:off x="565800" y="3082671"/>
            <a:ext cx="137164" cy="11658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A73"/>
              </a:buClr>
              <a:buSzPts val="700"/>
              <a:buFont typeface="Arial"/>
              <a:buNone/>
            </a:pPr>
            <a:r>
              <a:rPr b="1" i="0" lang="en" sz="700" u="none" cap="none" strike="noStrike">
                <a:solidFill>
                  <a:srgbClr val="007A73"/>
                </a:solidFill>
                <a:latin typeface="Arial"/>
                <a:ea typeface="Arial"/>
                <a:cs typeface="Arial"/>
                <a:sym typeface="Arial"/>
              </a:rPr>
              <a:t>▣</a:t>
            </a:r>
            <a:endParaRPr b="0" i="0" sz="700" u="none" cap="none" strike="noStrike">
              <a:solidFill>
                <a:schemeClr val="dk1"/>
              </a:solidFill>
              <a:latin typeface="Arial"/>
              <a:ea typeface="Arial"/>
              <a:cs typeface="Arial"/>
              <a:sym typeface="Arial"/>
            </a:endParaRPr>
          </a:p>
        </p:txBody>
      </p:sp>
      <p:sp>
        <p:nvSpPr>
          <p:cNvPr id="85" name="Google Shape;85;p17"/>
          <p:cNvSpPr/>
          <p:nvPr/>
        </p:nvSpPr>
        <p:spPr>
          <a:xfrm>
            <a:off x="809266" y="3065526"/>
            <a:ext cx="3086182"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000"/>
              <a:buFont typeface="Arial"/>
              <a:buNone/>
            </a:pPr>
            <a:r>
              <a:rPr b="0" i="0" lang="en" sz="1000" u="none" cap="none" strike="noStrike">
                <a:solidFill>
                  <a:srgbClr val="2B2B2B"/>
                </a:solidFill>
                <a:latin typeface="Arial"/>
                <a:ea typeface="Arial"/>
                <a:cs typeface="Arial"/>
                <a:sym typeface="Arial"/>
              </a:rPr>
              <a:t>Robotics &amp; low-latency applications</a:t>
            </a:r>
            <a:endParaRPr b="0" i="0" sz="1000" u="none" cap="none" strike="noStrike">
              <a:solidFill>
                <a:schemeClr val="dk1"/>
              </a:solidFill>
              <a:latin typeface="Arial"/>
              <a:ea typeface="Arial"/>
              <a:cs typeface="Arial"/>
              <a:sym typeface="Arial"/>
            </a:endParaRPr>
          </a:p>
        </p:txBody>
      </p:sp>
      <p:sp>
        <p:nvSpPr>
          <p:cNvPr id="86" name="Google Shape;86;p17"/>
          <p:cNvSpPr/>
          <p:nvPr/>
        </p:nvSpPr>
        <p:spPr>
          <a:xfrm>
            <a:off x="514364" y="3552444"/>
            <a:ext cx="1851709"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Play"/>
              <a:buNone/>
            </a:pPr>
            <a:r>
              <a:rPr b="1" i="0" lang="en" sz="1100" u="none" cap="none" strike="noStrike">
                <a:solidFill>
                  <a:srgbClr val="111827"/>
                </a:solidFill>
                <a:latin typeface="Play"/>
                <a:ea typeface="Play"/>
                <a:cs typeface="Play"/>
                <a:sym typeface="Play"/>
              </a:rPr>
              <a:t>Why the paper cares</a:t>
            </a:r>
            <a:endParaRPr b="0" i="0" sz="1100" u="none" cap="none" strike="noStrike">
              <a:solidFill>
                <a:schemeClr val="dk1"/>
              </a:solidFill>
              <a:latin typeface="Arial"/>
              <a:ea typeface="Arial"/>
              <a:cs typeface="Arial"/>
              <a:sym typeface="Arial"/>
            </a:endParaRPr>
          </a:p>
        </p:txBody>
      </p:sp>
      <p:cxnSp>
        <p:nvCxnSpPr>
          <p:cNvPr id="87" name="Google Shape;87;p17"/>
          <p:cNvCxnSpPr/>
          <p:nvPr/>
        </p:nvCxnSpPr>
        <p:spPr>
          <a:xfrm>
            <a:off x="514364" y="3792474"/>
            <a:ext cx="3497673" cy="0"/>
          </a:xfrm>
          <a:prstGeom prst="straightConnector1">
            <a:avLst/>
          </a:prstGeom>
          <a:noFill/>
          <a:ln cap="flat" cmpd="sng" w="15225">
            <a:solidFill>
              <a:srgbClr val="C3312F"/>
            </a:solidFill>
            <a:prstDash val="solid"/>
            <a:round/>
            <a:headEnd len="sm" w="sm" type="none"/>
            <a:tailEnd len="sm" w="sm" type="none"/>
          </a:ln>
        </p:spPr>
      </p:cxnSp>
      <p:sp>
        <p:nvSpPr>
          <p:cNvPr id="88" name="Google Shape;88;p17"/>
          <p:cNvSpPr/>
          <p:nvPr/>
        </p:nvSpPr>
        <p:spPr>
          <a:xfrm>
            <a:off x="514364" y="3936492"/>
            <a:ext cx="353196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900"/>
              <a:buFont typeface="Arial"/>
              <a:buNone/>
            </a:pPr>
            <a:r>
              <a:rPr b="0" i="0" lang="en" sz="900" u="none" cap="none" strike="noStrike">
                <a:solidFill>
                  <a:srgbClr val="2B2B2B"/>
                </a:solidFill>
                <a:latin typeface="Arial"/>
                <a:ea typeface="Arial"/>
                <a:cs typeface="Arial"/>
                <a:sym typeface="Arial"/>
              </a:rPr>
              <a:t>Several 5G design and implementation vulnerabilities have been reported, but risk assessment depends on whether attacks work under real radio constraints.</a:t>
            </a:r>
            <a:endParaRPr b="0" i="0" sz="900" u="none" cap="none" strike="noStrike">
              <a:solidFill>
                <a:schemeClr val="dk1"/>
              </a:solidFill>
              <a:latin typeface="Arial"/>
              <a:ea typeface="Arial"/>
              <a:cs typeface="Arial"/>
              <a:sym typeface="Arial"/>
            </a:endParaRPr>
          </a:p>
        </p:txBody>
      </p:sp>
      <p:cxnSp>
        <p:nvCxnSpPr>
          <p:cNvPr id="89" name="Google Shape;89;p17"/>
          <p:cNvCxnSpPr/>
          <p:nvPr/>
        </p:nvCxnSpPr>
        <p:spPr>
          <a:xfrm>
            <a:off x="4375521" y="1062990"/>
            <a:ext cx="0" cy="3737610"/>
          </a:xfrm>
          <a:prstGeom prst="straightConnector1">
            <a:avLst/>
          </a:prstGeom>
          <a:noFill/>
          <a:ln cap="flat" cmpd="sng" w="13950">
            <a:solidFill>
              <a:srgbClr val="D1D5DB"/>
            </a:solidFill>
            <a:prstDash val="solid"/>
            <a:round/>
            <a:headEnd len="sm" w="sm" type="none"/>
            <a:tailEnd len="sm" w="sm" type="none"/>
          </a:ln>
        </p:spPr>
      </p:cxnSp>
      <p:sp>
        <p:nvSpPr>
          <p:cNvPr id="90" name="Google Shape;90;p17"/>
          <p:cNvSpPr/>
          <p:nvPr/>
        </p:nvSpPr>
        <p:spPr>
          <a:xfrm>
            <a:off x="4697855" y="1131570"/>
            <a:ext cx="3943455"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Play"/>
              <a:buNone/>
            </a:pPr>
            <a:r>
              <a:rPr b="1" i="0" lang="en" sz="1300" u="none" cap="none" strike="noStrike">
                <a:solidFill>
                  <a:srgbClr val="111827"/>
                </a:solidFill>
                <a:latin typeface="Play"/>
                <a:ea typeface="Play"/>
                <a:cs typeface="Play"/>
                <a:sym typeface="Play"/>
              </a:rPr>
              <a:t>Where could an opportunity arise?</a:t>
            </a:r>
            <a:endParaRPr b="0" i="0" sz="1300" u="none" cap="none" strike="noStrike">
              <a:solidFill>
                <a:schemeClr val="dk1"/>
              </a:solidFill>
              <a:latin typeface="Arial"/>
              <a:ea typeface="Arial"/>
              <a:cs typeface="Arial"/>
              <a:sym typeface="Arial"/>
            </a:endParaRPr>
          </a:p>
        </p:txBody>
      </p:sp>
      <p:sp>
        <p:nvSpPr>
          <p:cNvPr id="91" name="Google Shape;91;p17"/>
          <p:cNvSpPr/>
          <p:nvPr/>
        </p:nvSpPr>
        <p:spPr>
          <a:xfrm>
            <a:off x="4697855" y="1412748"/>
            <a:ext cx="3806291"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900"/>
              <a:buFont typeface="Arial"/>
              <a:buNone/>
            </a:pPr>
            <a:r>
              <a:rPr b="0" i="0" lang="en" sz="900" u="none" cap="none" strike="noStrike">
                <a:solidFill>
                  <a:srgbClr val="2B2B2B"/>
                </a:solidFill>
                <a:latin typeface="Arial"/>
                <a:ea typeface="Arial"/>
                <a:cs typeface="Arial"/>
                <a:sym typeface="Arial"/>
              </a:rPr>
              <a:t>A nearby attacker can benefit when a phone loses service and starts a fresh registration procedure.</a:t>
            </a:r>
            <a:endParaRPr b="0" i="0" sz="900" u="none" cap="none" strike="noStrike">
              <a:solidFill>
                <a:schemeClr val="dk1"/>
              </a:solidFill>
              <a:latin typeface="Arial"/>
              <a:ea typeface="Arial"/>
              <a:cs typeface="Arial"/>
              <a:sym typeface="Arial"/>
            </a:endParaRPr>
          </a:p>
        </p:txBody>
      </p:sp>
      <p:sp>
        <p:nvSpPr>
          <p:cNvPr id="92" name="Google Shape;92;p17"/>
          <p:cNvSpPr/>
          <p:nvPr/>
        </p:nvSpPr>
        <p:spPr>
          <a:xfrm>
            <a:off x="4745863" y="1920240"/>
            <a:ext cx="233178" cy="233172"/>
          </a:xfrm>
          <a:prstGeom prst="ellipse">
            <a:avLst/>
          </a:prstGeom>
          <a:solidFill>
            <a:srgbClr val="FDECEC"/>
          </a:solidFill>
          <a:ln cap="flat" cmpd="sng" w="11425">
            <a:solidFill>
              <a:srgbClr val="C331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7"/>
          <p:cNvSpPr/>
          <p:nvPr/>
        </p:nvSpPr>
        <p:spPr>
          <a:xfrm>
            <a:off x="4797299" y="1957959"/>
            <a:ext cx="13716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3312F"/>
              </a:buClr>
              <a:buSzPts val="700"/>
              <a:buFont typeface="Arial"/>
              <a:buNone/>
            </a:pPr>
            <a:r>
              <a:rPr b="1" i="0" lang="en" sz="700" u="none" cap="none" strike="noStrike">
                <a:solidFill>
                  <a:srgbClr val="C3312F"/>
                </a:solidFill>
                <a:latin typeface="Arial"/>
                <a:ea typeface="Arial"/>
                <a:cs typeface="Arial"/>
                <a:sym typeface="Arial"/>
              </a:rPr>
              <a:t>1</a:t>
            </a:r>
            <a:endParaRPr b="0" i="0" sz="700" u="none" cap="none" strike="noStrike">
              <a:solidFill>
                <a:schemeClr val="dk1"/>
              </a:solidFill>
              <a:latin typeface="Arial"/>
              <a:ea typeface="Arial"/>
              <a:cs typeface="Arial"/>
              <a:sym typeface="Arial"/>
            </a:endParaRPr>
          </a:p>
        </p:txBody>
      </p:sp>
      <p:sp>
        <p:nvSpPr>
          <p:cNvPr id="94" name="Google Shape;94;p17"/>
          <p:cNvSpPr/>
          <p:nvPr/>
        </p:nvSpPr>
        <p:spPr>
          <a:xfrm>
            <a:off x="5109346" y="1892808"/>
            <a:ext cx="1543091"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Play"/>
              <a:buNone/>
            </a:pPr>
            <a:r>
              <a:rPr b="1" i="0" lang="en" sz="1100" u="none" cap="none" strike="noStrike">
                <a:solidFill>
                  <a:srgbClr val="111827"/>
                </a:solidFill>
                <a:latin typeface="Play"/>
                <a:ea typeface="Play"/>
                <a:cs typeface="Play"/>
                <a:sym typeface="Play"/>
              </a:rPr>
              <a:t>Airport</a:t>
            </a:r>
            <a:endParaRPr b="0" i="0" sz="1100" u="none" cap="none" strike="noStrike">
              <a:solidFill>
                <a:schemeClr val="dk1"/>
              </a:solidFill>
              <a:latin typeface="Arial"/>
              <a:ea typeface="Arial"/>
              <a:cs typeface="Arial"/>
              <a:sym typeface="Arial"/>
            </a:endParaRPr>
          </a:p>
        </p:txBody>
      </p:sp>
      <p:sp>
        <p:nvSpPr>
          <p:cNvPr id="95" name="Google Shape;95;p17"/>
          <p:cNvSpPr/>
          <p:nvPr/>
        </p:nvSpPr>
        <p:spPr>
          <a:xfrm>
            <a:off x="6755310" y="1892808"/>
            <a:ext cx="1611673"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airplane mode / arrival reconnect</a:t>
            </a:r>
            <a:endParaRPr b="0" i="0" sz="900" u="none" cap="none" strike="noStrike">
              <a:solidFill>
                <a:schemeClr val="dk1"/>
              </a:solidFill>
              <a:latin typeface="Arial"/>
              <a:ea typeface="Arial"/>
              <a:cs typeface="Arial"/>
              <a:sym typeface="Arial"/>
            </a:endParaRPr>
          </a:p>
        </p:txBody>
      </p:sp>
      <p:cxnSp>
        <p:nvCxnSpPr>
          <p:cNvPr id="96" name="Google Shape;96;p17"/>
          <p:cNvCxnSpPr/>
          <p:nvPr/>
        </p:nvCxnSpPr>
        <p:spPr>
          <a:xfrm>
            <a:off x="4862452" y="2187702"/>
            <a:ext cx="0" cy="226314"/>
          </a:xfrm>
          <a:prstGeom prst="straightConnector1">
            <a:avLst/>
          </a:prstGeom>
          <a:noFill/>
          <a:ln cap="flat" cmpd="sng" w="12700">
            <a:solidFill>
              <a:srgbClr val="9CA3AF"/>
            </a:solidFill>
            <a:prstDash val="solid"/>
            <a:round/>
            <a:headEnd len="sm" w="sm" type="none"/>
            <a:tailEnd len="sm" w="sm" type="none"/>
          </a:ln>
        </p:spPr>
      </p:cxnSp>
      <p:sp>
        <p:nvSpPr>
          <p:cNvPr id="97" name="Google Shape;97;p17"/>
          <p:cNvSpPr/>
          <p:nvPr/>
        </p:nvSpPr>
        <p:spPr>
          <a:xfrm>
            <a:off x="4745863" y="2414016"/>
            <a:ext cx="233178" cy="233172"/>
          </a:xfrm>
          <a:prstGeom prst="ellipse">
            <a:avLst/>
          </a:prstGeom>
          <a:solidFill>
            <a:srgbClr val="FDECEC"/>
          </a:solidFill>
          <a:ln cap="flat" cmpd="sng" w="11425">
            <a:solidFill>
              <a:srgbClr val="C331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7"/>
          <p:cNvSpPr/>
          <p:nvPr/>
        </p:nvSpPr>
        <p:spPr>
          <a:xfrm>
            <a:off x="4797299" y="2451735"/>
            <a:ext cx="13716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3312F"/>
              </a:buClr>
              <a:buSzPts val="700"/>
              <a:buFont typeface="Arial"/>
              <a:buNone/>
            </a:pPr>
            <a:r>
              <a:rPr b="1" i="0" lang="en" sz="700" u="none" cap="none" strike="noStrike">
                <a:solidFill>
                  <a:srgbClr val="C3312F"/>
                </a:solidFill>
                <a:latin typeface="Arial"/>
                <a:ea typeface="Arial"/>
                <a:cs typeface="Arial"/>
                <a:sym typeface="Arial"/>
              </a:rPr>
              <a:t>2</a:t>
            </a:r>
            <a:endParaRPr b="0" i="0" sz="700" u="none" cap="none" strike="noStrike">
              <a:solidFill>
                <a:schemeClr val="dk1"/>
              </a:solidFill>
              <a:latin typeface="Arial"/>
              <a:ea typeface="Arial"/>
              <a:cs typeface="Arial"/>
              <a:sym typeface="Arial"/>
            </a:endParaRPr>
          </a:p>
        </p:txBody>
      </p:sp>
      <p:sp>
        <p:nvSpPr>
          <p:cNvPr id="99" name="Google Shape;99;p17"/>
          <p:cNvSpPr/>
          <p:nvPr/>
        </p:nvSpPr>
        <p:spPr>
          <a:xfrm>
            <a:off x="5109346" y="2386584"/>
            <a:ext cx="1543091"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Play"/>
              <a:buNone/>
            </a:pPr>
            <a:r>
              <a:rPr b="1" i="0" lang="en" sz="1100" u="none" cap="none" strike="noStrike">
                <a:solidFill>
                  <a:srgbClr val="111827"/>
                </a:solidFill>
                <a:latin typeface="Play"/>
                <a:ea typeface="Play"/>
                <a:cs typeface="Play"/>
                <a:sym typeface="Play"/>
              </a:rPr>
              <a:t>Elevator</a:t>
            </a:r>
            <a:endParaRPr b="0" i="0" sz="1100" u="none" cap="none" strike="noStrike">
              <a:solidFill>
                <a:schemeClr val="dk1"/>
              </a:solidFill>
              <a:latin typeface="Arial"/>
              <a:ea typeface="Arial"/>
              <a:cs typeface="Arial"/>
              <a:sym typeface="Arial"/>
            </a:endParaRPr>
          </a:p>
        </p:txBody>
      </p:sp>
      <p:sp>
        <p:nvSpPr>
          <p:cNvPr id="100" name="Google Shape;100;p17"/>
          <p:cNvSpPr/>
          <p:nvPr/>
        </p:nvSpPr>
        <p:spPr>
          <a:xfrm>
            <a:off x="6755310" y="2386584"/>
            <a:ext cx="1611673"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temporary coverage loss</a:t>
            </a:r>
            <a:endParaRPr b="0" i="0" sz="900" u="none" cap="none" strike="noStrike">
              <a:solidFill>
                <a:schemeClr val="dk1"/>
              </a:solidFill>
              <a:latin typeface="Arial"/>
              <a:ea typeface="Arial"/>
              <a:cs typeface="Arial"/>
              <a:sym typeface="Arial"/>
            </a:endParaRPr>
          </a:p>
        </p:txBody>
      </p:sp>
      <p:cxnSp>
        <p:nvCxnSpPr>
          <p:cNvPr id="101" name="Google Shape;101;p17"/>
          <p:cNvCxnSpPr/>
          <p:nvPr/>
        </p:nvCxnSpPr>
        <p:spPr>
          <a:xfrm>
            <a:off x="4862452" y="2681478"/>
            <a:ext cx="0" cy="226314"/>
          </a:xfrm>
          <a:prstGeom prst="straightConnector1">
            <a:avLst/>
          </a:prstGeom>
          <a:noFill/>
          <a:ln cap="flat" cmpd="sng" w="12700">
            <a:solidFill>
              <a:srgbClr val="9CA3AF"/>
            </a:solidFill>
            <a:prstDash val="solid"/>
            <a:round/>
            <a:headEnd len="sm" w="sm" type="none"/>
            <a:tailEnd len="sm" w="sm" type="none"/>
          </a:ln>
        </p:spPr>
      </p:cxnSp>
      <p:sp>
        <p:nvSpPr>
          <p:cNvPr id="102" name="Google Shape;102;p17"/>
          <p:cNvSpPr/>
          <p:nvPr/>
        </p:nvSpPr>
        <p:spPr>
          <a:xfrm>
            <a:off x="4745863" y="2907792"/>
            <a:ext cx="233178" cy="233172"/>
          </a:xfrm>
          <a:prstGeom prst="ellipse">
            <a:avLst/>
          </a:prstGeom>
          <a:solidFill>
            <a:srgbClr val="FDECEC"/>
          </a:solidFill>
          <a:ln cap="flat" cmpd="sng" w="11425">
            <a:solidFill>
              <a:srgbClr val="C331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7"/>
          <p:cNvSpPr/>
          <p:nvPr/>
        </p:nvSpPr>
        <p:spPr>
          <a:xfrm>
            <a:off x="4797299" y="2945511"/>
            <a:ext cx="13716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3312F"/>
              </a:buClr>
              <a:buSzPts val="700"/>
              <a:buFont typeface="Arial"/>
              <a:buNone/>
            </a:pPr>
            <a:r>
              <a:rPr b="1" i="0" lang="en" sz="700" u="none" cap="none" strike="noStrike">
                <a:solidFill>
                  <a:srgbClr val="C3312F"/>
                </a:solidFill>
                <a:latin typeface="Arial"/>
                <a:ea typeface="Arial"/>
                <a:cs typeface="Arial"/>
                <a:sym typeface="Arial"/>
              </a:rPr>
              <a:t>3</a:t>
            </a:r>
            <a:endParaRPr b="0" i="0" sz="700" u="none" cap="none" strike="noStrike">
              <a:solidFill>
                <a:schemeClr val="dk1"/>
              </a:solidFill>
              <a:latin typeface="Arial"/>
              <a:ea typeface="Arial"/>
              <a:cs typeface="Arial"/>
              <a:sym typeface="Arial"/>
            </a:endParaRPr>
          </a:p>
        </p:txBody>
      </p:sp>
      <p:sp>
        <p:nvSpPr>
          <p:cNvPr id="104" name="Google Shape;104;p17"/>
          <p:cNvSpPr/>
          <p:nvPr/>
        </p:nvSpPr>
        <p:spPr>
          <a:xfrm>
            <a:off x="5109346" y="2880360"/>
            <a:ext cx="1543091"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Play"/>
              <a:buNone/>
            </a:pPr>
            <a:r>
              <a:rPr b="1" i="0" lang="en" sz="1100" u="none" cap="none" strike="noStrike">
                <a:solidFill>
                  <a:srgbClr val="111827"/>
                </a:solidFill>
                <a:latin typeface="Play"/>
                <a:ea typeface="Play"/>
                <a:cs typeface="Play"/>
                <a:sym typeface="Play"/>
              </a:rPr>
              <a:t>Tunnel</a:t>
            </a:r>
            <a:endParaRPr b="0" i="0" sz="1100" u="none" cap="none" strike="noStrike">
              <a:solidFill>
                <a:schemeClr val="dk1"/>
              </a:solidFill>
              <a:latin typeface="Arial"/>
              <a:ea typeface="Arial"/>
              <a:cs typeface="Arial"/>
              <a:sym typeface="Arial"/>
            </a:endParaRPr>
          </a:p>
        </p:txBody>
      </p:sp>
      <p:sp>
        <p:nvSpPr>
          <p:cNvPr id="105" name="Google Shape;105;p17"/>
          <p:cNvSpPr/>
          <p:nvPr/>
        </p:nvSpPr>
        <p:spPr>
          <a:xfrm>
            <a:off x="6755310" y="2880360"/>
            <a:ext cx="1611673"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signal disappears briefly</a:t>
            </a:r>
            <a:endParaRPr b="0" i="0" sz="900" u="none" cap="none" strike="noStrike">
              <a:solidFill>
                <a:schemeClr val="dk1"/>
              </a:solidFill>
              <a:latin typeface="Arial"/>
              <a:ea typeface="Arial"/>
              <a:cs typeface="Arial"/>
              <a:sym typeface="Arial"/>
            </a:endParaRPr>
          </a:p>
        </p:txBody>
      </p:sp>
      <p:cxnSp>
        <p:nvCxnSpPr>
          <p:cNvPr id="106" name="Google Shape;106;p17"/>
          <p:cNvCxnSpPr/>
          <p:nvPr/>
        </p:nvCxnSpPr>
        <p:spPr>
          <a:xfrm>
            <a:off x="4862452" y="3175254"/>
            <a:ext cx="0" cy="226314"/>
          </a:xfrm>
          <a:prstGeom prst="straightConnector1">
            <a:avLst/>
          </a:prstGeom>
          <a:noFill/>
          <a:ln cap="flat" cmpd="sng" w="12700">
            <a:solidFill>
              <a:srgbClr val="9CA3AF"/>
            </a:solidFill>
            <a:prstDash val="solid"/>
            <a:round/>
            <a:headEnd len="sm" w="sm" type="none"/>
            <a:tailEnd len="sm" w="sm" type="none"/>
          </a:ln>
        </p:spPr>
      </p:cxnSp>
      <p:sp>
        <p:nvSpPr>
          <p:cNvPr id="107" name="Google Shape;107;p17"/>
          <p:cNvSpPr/>
          <p:nvPr/>
        </p:nvSpPr>
        <p:spPr>
          <a:xfrm>
            <a:off x="4745863" y="3401568"/>
            <a:ext cx="233178" cy="233172"/>
          </a:xfrm>
          <a:prstGeom prst="ellipse">
            <a:avLst/>
          </a:prstGeom>
          <a:solidFill>
            <a:srgbClr val="FDECEC"/>
          </a:solidFill>
          <a:ln cap="flat" cmpd="sng" w="11425">
            <a:solidFill>
              <a:srgbClr val="C3312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7"/>
          <p:cNvSpPr/>
          <p:nvPr/>
        </p:nvSpPr>
        <p:spPr>
          <a:xfrm>
            <a:off x="4797299" y="3439287"/>
            <a:ext cx="137164"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3312F"/>
              </a:buClr>
              <a:buSzPts val="700"/>
              <a:buFont typeface="Arial"/>
              <a:buNone/>
            </a:pPr>
            <a:r>
              <a:rPr b="1" i="0" lang="en" sz="700" u="none" cap="none" strike="noStrike">
                <a:solidFill>
                  <a:srgbClr val="C3312F"/>
                </a:solidFill>
                <a:latin typeface="Arial"/>
                <a:ea typeface="Arial"/>
                <a:cs typeface="Arial"/>
                <a:sym typeface="Arial"/>
              </a:rPr>
              <a:t>4</a:t>
            </a:r>
            <a:endParaRPr b="0" i="0" sz="700" u="none" cap="none" strike="noStrike">
              <a:solidFill>
                <a:schemeClr val="dk1"/>
              </a:solidFill>
              <a:latin typeface="Arial"/>
              <a:ea typeface="Arial"/>
              <a:cs typeface="Arial"/>
              <a:sym typeface="Arial"/>
            </a:endParaRPr>
          </a:p>
        </p:txBody>
      </p:sp>
      <p:sp>
        <p:nvSpPr>
          <p:cNvPr id="109" name="Google Shape;109;p17"/>
          <p:cNvSpPr/>
          <p:nvPr/>
        </p:nvSpPr>
        <p:spPr>
          <a:xfrm>
            <a:off x="5109346" y="3374136"/>
            <a:ext cx="1543091"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Play"/>
              <a:buNone/>
            </a:pPr>
            <a:r>
              <a:rPr b="1" i="0" lang="en" sz="1100" u="none" cap="none" strike="noStrike">
                <a:solidFill>
                  <a:srgbClr val="111827"/>
                </a:solidFill>
                <a:latin typeface="Play"/>
                <a:ea typeface="Play"/>
                <a:cs typeface="Play"/>
                <a:sym typeface="Play"/>
              </a:rPr>
              <a:t>Underground parking</a:t>
            </a:r>
            <a:endParaRPr b="0" i="0" sz="1100" u="none" cap="none" strike="noStrike">
              <a:solidFill>
                <a:schemeClr val="dk1"/>
              </a:solidFill>
              <a:latin typeface="Arial"/>
              <a:ea typeface="Arial"/>
              <a:cs typeface="Arial"/>
              <a:sym typeface="Arial"/>
            </a:endParaRPr>
          </a:p>
        </p:txBody>
      </p:sp>
      <p:sp>
        <p:nvSpPr>
          <p:cNvPr id="110" name="Google Shape;110;p17"/>
          <p:cNvSpPr/>
          <p:nvPr/>
        </p:nvSpPr>
        <p:spPr>
          <a:xfrm>
            <a:off x="6755310" y="3374136"/>
            <a:ext cx="1611673"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phone searches again</a:t>
            </a:r>
            <a:endParaRPr b="0" i="0" sz="900" u="none" cap="none" strike="noStrike">
              <a:solidFill>
                <a:schemeClr val="dk1"/>
              </a:solidFill>
              <a:latin typeface="Arial"/>
              <a:ea typeface="Arial"/>
              <a:cs typeface="Arial"/>
              <a:sym typeface="Arial"/>
            </a:endParaRPr>
          </a:p>
        </p:txBody>
      </p:sp>
      <p:sp>
        <p:nvSpPr>
          <p:cNvPr id="111" name="Google Shape;111;p17"/>
          <p:cNvSpPr/>
          <p:nvPr/>
        </p:nvSpPr>
        <p:spPr>
          <a:xfrm>
            <a:off x="4697855" y="4059936"/>
            <a:ext cx="3737710" cy="425196"/>
          </a:xfrm>
          <a:prstGeom prst="rect">
            <a:avLst/>
          </a:prstGeom>
          <a:solidFill>
            <a:srgbClr val="F8FAFC"/>
          </a:solidFill>
          <a:ln cap="flat" cmpd="sng" w="10150">
            <a:solidFill>
              <a:srgbClr val="CBD5E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p:nvPr/>
        </p:nvSpPr>
        <p:spPr>
          <a:xfrm>
            <a:off x="4821303" y="4169664"/>
            <a:ext cx="3463382"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Arial"/>
              <a:buNone/>
            </a:pPr>
            <a:r>
              <a:rPr b="1" i="0" lang="en" sz="1000" u="none" cap="none" strike="noStrike">
                <a:solidFill>
                  <a:srgbClr val="111827"/>
                </a:solidFill>
                <a:latin typeface="Arial"/>
                <a:ea typeface="Arial"/>
                <a:cs typeface="Arial"/>
                <a:sym typeface="Arial"/>
              </a:rPr>
              <a:t>Fresh registration creates the short pre-authentication window SNI5GECT studies.</a:t>
            </a:r>
            <a:endParaRPr b="0" i="0" sz="1000" u="none" cap="none" strike="noStrike">
              <a:solidFill>
                <a:schemeClr val="dk1"/>
              </a:solidFill>
              <a:latin typeface="Arial"/>
              <a:ea typeface="Arial"/>
              <a:cs typeface="Arial"/>
              <a:sym typeface="Arial"/>
            </a:endParaRPr>
          </a:p>
        </p:txBody>
      </p:sp>
      <p:sp>
        <p:nvSpPr>
          <p:cNvPr id="113" name="Google Shape;113;p17"/>
          <p:cNvSpPr/>
          <p:nvPr/>
        </p:nvSpPr>
        <p:spPr>
          <a:xfrm>
            <a:off x="377200" y="4910328"/>
            <a:ext cx="308618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600"/>
              <a:buFont typeface="Arial"/>
              <a:buNone/>
            </a:pPr>
            <a:r>
              <a:rPr b="0" i="0" lang="en" sz="600" u="none" cap="none" strike="noStrike">
                <a:solidFill>
                  <a:srgbClr val="6B7280"/>
                </a:solidFill>
                <a:latin typeface="Arial"/>
                <a:ea typeface="Arial"/>
                <a:cs typeface="Arial"/>
                <a:sym typeface="Arial"/>
              </a:rPr>
              <a:t>Based on Luo et al., USENIX Security 2025</a:t>
            </a:r>
            <a:endParaRPr b="0" i="0" sz="600" u="none" cap="none" strike="noStrike">
              <a:solidFill>
                <a:schemeClr val="dk1"/>
              </a:solidFill>
              <a:latin typeface="Arial"/>
              <a:ea typeface="Arial"/>
              <a:cs typeface="Arial"/>
              <a:sym typeface="Arial"/>
            </a:endParaRPr>
          </a:p>
        </p:txBody>
      </p:sp>
      <p:sp>
        <p:nvSpPr>
          <p:cNvPr id="114" name="Google Shape;114;p17"/>
          <p:cNvSpPr/>
          <p:nvPr/>
        </p:nvSpPr>
        <p:spPr>
          <a:xfrm>
            <a:off x="7921201" y="4889754"/>
            <a:ext cx="857273" cy="15773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7A73"/>
              </a:buClr>
              <a:buSzPts val="800"/>
              <a:buFont typeface="Play"/>
              <a:buNone/>
            </a:pPr>
            <a:r>
              <a:rPr b="1" i="0" lang="en" sz="800" u="none" cap="none" strike="noStrike">
                <a:solidFill>
                  <a:srgbClr val="007A73"/>
                </a:solidFill>
                <a:latin typeface="Play"/>
                <a:ea typeface="Play"/>
                <a:cs typeface="Play"/>
                <a:sym typeface="Play"/>
              </a:rPr>
              <a:t>SNI5GECT</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8"/>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21" name="Google Shape;121;p18"/>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Problem: pre-authentication traffic is exposed</a:t>
            </a:r>
            <a:endParaRPr b="0" i="0" sz="2300" u="none" cap="none" strike="noStrike">
              <a:solidFill>
                <a:schemeClr val="dk1"/>
              </a:solidFill>
              <a:latin typeface="Arial"/>
              <a:ea typeface="Arial"/>
              <a:cs typeface="Arial"/>
              <a:sym typeface="Arial"/>
            </a:endParaRPr>
          </a:p>
        </p:txBody>
      </p:sp>
      <p:sp>
        <p:nvSpPr>
          <p:cNvPr id="122" name="Google Shape;122;p18"/>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Before the 5G security context is established, some signals and messages are not protected.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That creates a small but important attack window.</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paper studies what is practical over the air, not just in protocol theory.</a:t>
            </a:r>
            <a:endParaRPr b="0" i="0" sz="1200" u="none" cap="none" strike="noStrike">
              <a:solidFill>
                <a:schemeClr val="dk1"/>
              </a:solidFill>
              <a:latin typeface="Arial"/>
              <a:ea typeface="Arial"/>
              <a:cs typeface="Arial"/>
              <a:sym typeface="Arial"/>
            </a:endParaRPr>
          </a:p>
        </p:txBody>
      </p:sp>
      <p:pic>
        <p:nvPicPr>
          <p:cNvPr descr="/mnt/data/sni5gect_pages_clean/threat.png" id="123" name="Google Shape;123;p18"/>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24" name="Google Shape;124;p18"/>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2</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9"/>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31" name="Google Shape;131;p19"/>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Motivation: avoid the rogue base-station assumption</a:t>
            </a:r>
            <a:endParaRPr b="0" i="0" sz="2300" u="none" cap="none" strike="noStrike">
              <a:solidFill>
                <a:schemeClr val="dk1"/>
              </a:solidFill>
              <a:latin typeface="Arial"/>
              <a:ea typeface="Arial"/>
              <a:cs typeface="Arial"/>
              <a:sym typeface="Arial"/>
            </a:endParaRPr>
          </a:p>
        </p:txBody>
      </p:sp>
      <p:sp>
        <p:nvSpPr>
          <p:cNvPr id="132" name="Google Shape;132;p19"/>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Many prior attacks rely on a rogue gNB / fake base station.</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Rogue base stations are intrusive and easier to detect because they broadcast continuously.</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SNI5GECT instead acts as a third party near the UE and legitimate gNB.</a:t>
            </a:r>
            <a:endParaRPr b="0" i="0" sz="1200" u="none" cap="none" strike="noStrike">
              <a:solidFill>
                <a:schemeClr val="dk1"/>
              </a:solidFill>
              <a:latin typeface="Arial"/>
              <a:ea typeface="Arial"/>
              <a:cs typeface="Arial"/>
              <a:sym typeface="Arial"/>
            </a:endParaRPr>
          </a:p>
        </p:txBody>
      </p:sp>
      <p:pic>
        <p:nvPicPr>
          <p:cNvPr descr="/mnt/data/sni5gect_pages_clean/motivation.png" id="133" name="Google Shape;133;p19"/>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34" name="Google Shape;134;p19"/>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3</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20"/>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41" name="Google Shape;141;p20"/>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Attacker model</a:t>
            </a:r>
            <a:endParaRPr b="0" i="0" sz="2300" u="none" cap="none" strike="noStrike">
              <a:solidFill>
                <a:schemeClr val="dk1"/>
              </a:solidFill>
              <a:latin typeface="Arial"/>
              <a:ea typeface="Arial"/>
              <a:cs typeface="Arial"/>
              <a:sym typeface="Arial"/>
            </a:endParaRPr>
          </a:p>
        </p:txBody>
      </p:sp>
      <p:sp>
        <p:nvSpPr>
          <p:cNvPr id="142" name="Google Shape;142;p20"/>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Attacker is within radio range of the target UE and gNB.</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No access to the core network, base station internals, subscriber credentials, or keys.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Can eavesdrop on unprotected messages and inject/replay downlink messages toward the UE.</a:t>
            </a:r>
            <a:endParaRPr b="0" i="0" sz="1200" u="none" cap="none" strike="noStrike">
              <a:solidFill>
                <a:schemeClr val="dk1"/>
              </a:solidFill>
              <a:latin typeface="Arial"/>
              <a:ea typeface="Arial"/>
              <a:cs typeface="Arial"/>
              <a:sym typeface="Arial"/>
            </a:endParaRPr>
          </a:p>
        </p:txBody>
      </p:sp>
      <p:pic>
        <p:nvPicPr>
          <p:cNvPr descr="/mnt/data/sni5gect_pages_clean/attacker.png" id="143" name="Google Shape;143;p20"/>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44" name="Google Shape;144;p20"/>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4</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21"/>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51" name="Google Shape;151;p21"/>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Core idea: sniff first, inject at the right state</a:t>
            </a:r>
            <a:endParaRPr b="0" i="0" sz="2300" u="none" cap="none" strike="noStrike">
              <a:solidFill>
                <a:schemeClr val="dk1"/>
              </a:solidFill>
              <a:latin typeface="Arial"/>
              <a:ea typeface="Arial"/>
              <a:cs typeface="Arial"/>
              <a:sym typeface="Arial"/>
            </a:endParaRPr>
          </a:p>
        </p:txBody>
      </p:sp>
      <p:sp>
        <p:nvSpPr>
          <p:cNvPr id="152" name="Google Shape;152;p21"/>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Step 1: sniff uplink and downlink to learn the current protocol state.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Step 2: craft and inject a downlink message at the exact state where the UE will accept it.</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UE may then crash, downgrade, reveal identity, or bypass authentication logic.</a:t>
            </a:r>
            <a:endParaRPr b="0" i="0" sz="1200" u="none" cap="none" strike="noStrike">
              <a:solidFill>
                <a:schemeClr val="dk1"/>
              </a:solidFill>
              <a:latin typeface="Arial"/>
              <a:ea typeface="Arial"/>
              <a:cs typeface="Arial"/>
              <a:sym typeface="Arial"/>
            </a:endParaRPr>
          </a:p>
        </p:txBody>
      </p:sp>
      <p:pic>
        <p:nvPicPr>
          <p:cNvPr descr="/mnt/data/sni5gect_pages_clean/sniff_inject.png" id="153" name="Google Shape;153;p21"/>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54" name="Google Shape;154;p21"/>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5</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2" title="ChatGPT Image Sep 16, 2026 at 12_33_28 PM.png"/>
          <p:cNvPicPr preferRelativeResize="0"/>
          <p:nvPr/>
        </p:nvPicPr>
        <p:blipFill>
          <a:blip r:embed="rId3">
            <a:alphaModFix/>
          </a:blip>
          <a:stretch>
            <a:fillRect/>
          </a:stretch>
        </p:blipFill>
        <p:spPr>
          <a:xfrm>
            <a:off x="152400" y="152400"/>
            <a:ext cx="8597562"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23"/>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66" name="Google Shape;166;p23"/>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System design: main components</a:t>
            </a:r>
            <a:endParaRPr b="0" i="0" sz="2300" u="none" cap="none" strike="noStrike">
              <a:solidFill>
                <a:schemeClr val="dk1"/>
              </a:solidFill>
              <a:latin typeface="Arial"/>
              <a:ea typeface="Arial"/>
              <a:cs typeface="Arial"/>
              <a:sym typeface="Arial"/>
            </a:endParaRPr>
          </a:p>
        </p:txBody>
      </p:sp>
      <p:sp>
        <p:nvSpPr>
          <p:cNvPr id="167" name="Google Shape;167;p23"/>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Syncher keeps time and frequency alignment with the target cell.</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Broadcast Worker decodes SIB1 and detects new UE connections.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UETracker starts per-UE monitoring after the random access procedure.</a:t>
            </a:r>
            <a:endParaRPr b="0" i="0" sz="1200" u="none" cap="none" strike="noStrike">
              <a:solidFill>
                <a:schemeClr val="dk1"/>
              </a:solidFill>
              <a:latin typeface="Arial"/>
              <a:ea typeface="Arial"/>
              <a:cs typeface="Arial"/>
              <a:sym typeface="Arial"/>
            </a:endParaRPr>
          </a:p>
        </p:txBody>
      </p:sp>
      <p:pic>
        <p:nvPicPr>
          <p:cNvPr descr="/mnt/data/sni5gect_pages_clean/design_overview.png" id="168" name="Google Shape;168;p23"/>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69" name="Google Shape;169;p23"/>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6</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24"/>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76" name="Google Shape;176;p24"/>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Message tracking and injection pipeline</a:t>
            </a:r>
            <a:endParaRPr b="0" i="0" sz="2300" u="none" cap="none" strike="noStrike">
              <a:solidFill>
                <a:schemeClr val="dk1"/>
              </a:solidFill>
              <a:latin typeface="Arial"/>
              <a:ea typeface="Arial"/>
              <a:cs typeface="Arial"/>
              <a:sym typeface="Arial"/>
            </a:endParaRPr>
          </a:p>
        </p:txBody>
      </p:sp>
      <p:sp>
        <p:nvSpPr>
          <p:cNvPr id="177" name="Google Shape;177;p24"/>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UE DL Worker decodes gNB-to-UE downlink messages.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GNB UL Worker decodes UE-to-gNB uplink messages using timing correction.</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Exploit Module decides whether to trigger an injection; GNB DL Injector sends the crafted message.</a:t>
            </a:r>
            <a:endParaRPr b="0" i="0" sz="1200" u="none" cap="none" strike="noStrike">
              <a:solidFill>
                <a:schemeClr val="dk1"/>
              </a:solidFill>
              <a:latin typeface="Arial"/>
              <a:ea typeface="Arial"/>
              <a:cs typeface="Arial"/>
              <a:sym typeface="Arial"/>
            </a:endParaRPr>
          </a:p>
        </p:txBody>
      </p:sp>
      <p:pic>
        <p:nvPicPr>
          <p:cNvPr descr="/mnt/data/sni5gect_pages_clean/pipeline.png" id="178" name="Google Shape;178;p24"/>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79" name="Google Shape;179;p24"/>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7</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5"/>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86" name="Google Shape;186;p25"/>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Attack scenarios evaluated</a:t>
            </a:r>
            <a:endParaRPr b="0" i="0" sz="2300" u="none" cap="none" strike="noStrike">
              <a:solidFill>
                <a:schemeClr val="dk1"/>
              </a:solidFill>
              <a:latin typeface="Arial"/>
              <a:ea typeface="Arial"/>
              <a:cs typeface="Arial"/>
              <a:sym typeface="Arial"/>
            </a:endParaRPr>
          </a:p>
        </p:txBody>
      </p:sp>
      <p:sp>
        <p:nvSpPr>
          <p:cNvPr id="187" name="Google Shape;187;p25"/>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One-shot attacks: inject once and expect immediate UE behavior.</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One-shot with response: inject once, then sniff the UE response.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Multi-stage attacks: alternate sniffing and injecting across several states.</a:t>
            </a:r>
            <a:endParaRPr b="0" i="0" sz="1200" u="none" cap="none" strike="noStrike">
              <a:solidFill>
                <a:schemeClr val="dk1"/>
              </a:solidFill>
              <a:latin typeface="Arial"/>
              <a:ea typeface="Arial"/>
              <a:cs typeface="Arial"/>
              <a:sym typeface="Arial"/>
            </a:endParaRPr>
          </a:p>
        </p:txBody>
      </p:sp>
      <p:pic>
        <p:nvPicPr>
          <p:cNvPr descr="/mnt/data/sni5gect_pages_clean/scenarios.png" id="188" name="Google Shape;188;p25"/>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89" name="Google Shape;189;p25"/>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8</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6"/>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196" name="Google Shape;196;p26"/>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One-shot attacks: crash or downgrade</a:t>
            </a:r>
            <a:endParaRPr b="0" i="0" sz="2300" u="none" cap="none" strike="noStrike">
              <a:solidFill>
                <a:schemeClr val="dk1"/>
              </a:solidFill>
              <a:latin typeface="Arial"/>
              <a:ea typeface="Arial"/>
              <a:cs typeface="Arial"/>
              <a:sym typeface="Arial"/>
            </a:endParaRPr>
          </a:p>
        </p:txBody>
      </p:sp>
      <p:sp>
        <p:nvSpPr>
          <p:cNvPr id="197" name="Google Shape;197;p26"/>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Malformed RRC Setup can trigger a UE crash.</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Registration Reject can force downgrade from 5G to LTE.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These attacks demonstrate immediate reaction to a single injected message.</a:t>
            </a:r>
            <a:endParaRPr b="0" i="0" sz="1200" u="none" cap="none" strike="noStrike">
              <a:solidFill>
                <a:schemeClr val="dk1"/>
              </a:solidFill>
              <a:latin typeface="Arial"/>
              <a:ea typeface="Arial"/>
              <a:cs typeface="Arial"/>
              <a:sym typeface="Arial"/>
            </a:endParaRPr>
          </a:p>
        </p:txBody>
      </p:sp>
      <p:pic>
        <p:nvPicPr>
          <p:cNvPr descr="/mnt/data/sni5gect_pages_clean/oneshot_combo.png" id="198" name="Google Shape;198;p26"/>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199" name="Google Shape;199;p26"/>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9</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27"/>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06" name="Google Shape;206;p27"/>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One-shot with response: identity extraction</a:t>
            </a:r>
            <a:endParaRPr b="0" i="0" sz="2300" u="none" cap="none" strike="noStrike">
              <a:solidFill>
                <a:schemeClr val="dk1"/>
              </a:solidFill>
              <a:latin typeface="Arial"/>
              <a:ea typeface="Arial"/>
              <a:cs typeface="Arial"/>
              <a:sym typeface="Arial"/>
            </a:endParaRPr>
          </a:p>
        </p:txBody>
      </p:sp>
      <p:sp>
        <p:nvSpPr>
          <p:cNvPr id="207" name="Google Shape;207;p27"/>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Identity Request is injected after observing the right state.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UE replies with Identity Response.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sniffer captures the UE SUCI, showing active fingerprinting potential.</a:t>
            </a:r>
            <a:endParaRPr b="0" i="0" sz="1200" u="none" cap="none" strike="noStrike">
              <a:solidFill>
                <a:schemeClr val="dk1"/>
              </a:solidFill>
              <a:latin typeface="Arial"/>
              <a:ea typeface="Arial"/>
              <a:cs typeface="Arial"/>
              <a:sym typeface="Arial"/>
            </a:endParaRPr>
          </a:p>
        </p:txBody>
      </p:sp>
      <p:pic>
        <p:nvPicPr>
          <p:cNvPr descr="/mnt/data/sni5gect_pages_clean/identity.png" id="208" name="Google Shape;208;p27"/>
          <p:cNvPicPr preferRelativeResize="0"/>
          <p:nvPr/>
        </p:nvPicPr>
        <p:blipFill rotWithShape="1">
          <a:blip r:embed="rId3">
            <a:alphaModFix/>
          </a:blip>
          <a:srcRect b="0" l="8189" r="0" t="1681"/>
          <a:stretch/>
        </p:blipFill>
        <p:spPr>
          <a:xfrm>
            <a:off x="3692125" y="765725"/>
            <a:ext cx="4914901" cy="3929275"/>
          </a:xfrm>
          <a:prstGeom prst="rect">
            <a:avLst/>
          </a:prstGeom>
          <a:noFill/>
          <a:ln>
            <a:noFill/>
          </a:ln>
        </p:spPr>
      </p:pic>
      <p:sp>
        <p:nvSpPr>
          <p:cNvPr id="209" name="Google Shape;209;p27"/>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10</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8"/>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16" name="Google Shape;216;p28"/>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Multi-stage attack: authentication replay</a:t>
            </a:r>
            <a:endParaRPr b="0" i="0" sz="2300" u="none" cap="none" strike="noStrike">
              <a:solidFill>
                <a:schemeClr val="dk1"/>
              </a:solidFill>
              <a:latin typeface="Arial"/>
              <a:ea typeface="Arial"/>
              <a:cs typeface="Arial"/>
              <a:sym typeface="Arial"/>
            </a:endParaRPr>
          </a:p>
        </p:txBody>
      </p:sp>
      <p:sp>
        <p:nvSpPr>
          <p:cNvPr id="217" name="Google Shape;217;p28"/>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SNI5GECT can sniff and inject across multiple protocol states.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paper presents a new authentication replay downgrade attack.</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risk was acknowledged through GSMA CVD-2024-0096.</a:t>
            </a:r>
            <a:endParaRPr b="0" i="0" sz="1200" u="none" cap="none" strike="noStrike">
              <a:solidFill>
                <a:schemeClr val="dk1"/>
              </a:solidFill>
              <a:latin typeface="Arial"/>
              <a:ea typeface="Arial"/>
              <a:cs typeface="Arial"/>
              <a:sym typeface="Arial"/>
            </a:endParaRPr>
          </a:p>
        </p:txBody>
      </p:sp>
      <p:pic>
        <p:nvPicPr>
          <p:cNvPr descr="/mnt/data/sni5gect_pages_clean/multistage.png" id="218" name="Google Shape;218;p28"/>
          <p:cNvPicPr preferRelativeResize="0"/>
          <p:nvPr/>
        </p:nvPicPr>
        <p:blipFill rotWithShape="1">
          <a:blip r:embed="rId3">
            <a:alphaModFix/>
          </a:blip>
          <a:srcRect b="0" l="0" r="0" t="0"/>
          <a:stretch/>
        </p:blipFill>
        <p:spPr>
          <a:xfrm>
            <a:off x="3463369" y="644650"/>
            <a:ext cx="5603580" cy="4183375"/>
          </a:xfrm>
          <a:prstGeom prst="rect">
            <a:avLst/>
          </a:prstGeom>
          <a:noFill/>
          <a:ln>
            <a:noFill/>
          </a:ln>
        </p:spPr>
      </p:pic>
      <p:sp>
        <p:nvSpPr>
          <p:cNvPr id="219" name="Google Shape;219;p28"/>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11</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29"/>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26" name="Google Shape;226;p29"/>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Evaluation setup</a:t>
            </a:r>
            <a:endParaRPr b="0" i="0" sz="2300" u="none" cap="none" strike="noStrike">
              <a:solidFill>
                <a:schemeClr val="dk1"/>
              </a:solidFill>
              <a:latin typeface="Arial"/>
              <a:ea typeface="Arial"/>
              <a:cs typeface="Arial"/>
              <a:sym typeface="Arial"/>
            </a:endParaRPr>
          </a:p>
        </p:txBody>
      </p:sp>
      <p:sp>
        <p:nvSpPr>
          <p:cNvPr id="227" name="Google Shape;227;p29"/>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Implemented using SDR-based tooling with srsRAN and WDissector components.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Evaluated with five 5G-enabled commercial phones.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Tested against both srsRAN open-source and Effnet commercial gNBs.</a:t>
            </a:r>
            <a:endParaRPr b="0" i="0" sz="1200" u="none" cap="none" strike="noStrike">
              <a:solidFill>
                <a:schemeClr val="dk1"/>
              </a:solidFill>
              <a:latin typeface="Arial"/>
              <a:ea typeface="Arial"/>
              <a:cs typeface="Arial"/>
              <a:sym typeface="Arial"/>
            </a:endParaRPr>
          </a:p>
        </p:txBody>
      </p:sp>
      <p:pic>
        <p:nvPicPr>
          <p:cNvPr descr="/mnt/data/sni5gect_pages_clean/demo.png" id="228" name="Google Shape;228;p29"/>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229" name="Google Shape;229;p29"/>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12</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30"/>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36" name="Google Shape;236;p30"/>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Sniffing results</a:t>
            </a:r>
            <a:endParaRPr b="0" i="0" sz="2300" u="none" cap="none" strike="noStrike">
              <a:solidFill>
                <a:schemeClr val="dk1"/>
              </a:solidFill>
              <a:latin typeface="Arial"/>
              <a:ea typeface="Arial"/>
              <a:cs typeface="Arial"/>
              <a:sym typeface="Arial"/>
            </a:endParaRPr>
          </a:p>
        </p:txBody>
      </p:sp>
      <p:sp>
        <p:nvSpPr>
          <p:cNvPr id="237" name="Google Shape;237;p30"/>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Downlink and uplink sniffing were generally above 80%.</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Distance affects uplink more than downlink.</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Timing advance correction is important for uplink decoding.</a:t>
            </a:r>
            <a:endParaRPr b="0" i="0" sz="1200" u="none" cap="none" strike="noStrike">
              <a:solidFill>
                <a:schemeClr val="dk1"/>
              </a:solidFill>
              <a:latin typeface="Arial"/>
              <a:ea typeface="Arial"/>
              <a:cs typeface="Arial"/>
              <a:sym typeface="Arial"/>
            </a:endParaRPr>
          </a:p>
        </p:txBody>
      </p:sp>
      <p:pic>
        <p:nvPicPr>
          <p:cNvPr descr="/mnt/data/sni5gect_pages_clean/sniffing_eval.png" id="238" name="Google Shape;238;p30"/>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239" name="Google Shape;239;p30"/>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13</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31"/>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46" name="Google Shape;246;p31"/>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Injection and attack results</a:t>
            </a:r>
            <a:endParaRPr b="0" i="0" sz="2300" u="none" cap="none" strike="noStrike">
              <a:solidFill>
                <a:schemeClr val="dk1"/>
              </a:solidFill>
              <a:latin typeface="Arial"/>
              <a:ea typeface="Arial"/>
              <a:cs typeface="Arial"/>
              <a:sym typeface="Arial"/>
            </a:endParaRPr>
          </a:p>
        </p:txBody>
      </p:sp>
      <p:sp>
        <p:nvSpPr>
          <p:cNvPr id="247" name="Google Shape;247;p31"/>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Injection remained practical across different states and distances up to 20 m</a:t>
            </a:r>
            <a:endParaRPr sz="1200">
              <a:solidFill>
                <a:srgbClr val="111111"/>
              </a:solidFill>
            </a:endParaRPr>
          </a:p>
          <a:p>
            <a:pPr indent="0" lvl="0" marL="0" marR="0" rtl="0" algn="l">
              <a:spcBef>
                <a:spcPts val="0"/>
              </a:spcBef>
              <a:spcAft>
                <a:spcPts val="0"/>
              </a:spcAft>
              <a:buClr>
                <a:srgbClr val="111111"/>
              </a:buClr>
              <a:buSzPts val="1200"/>
              <a:buFont typeface="Arial"/>
              <a:buNone/>
            </a:pPr>
            <a:r>
              <a:rPr lang="en" sz="1200">
                <a:solidFill>
                  <a:srgbClr val="111111"/>
                </a:solidFill>
              </a:rPr>
              <a:t>with a class B amplifier.</a:t>
            </a:r>
            <a:endParaRPr sz="1200">
              <a:solidFill>
                <a:srgbClr val="111111"/>
              </a:solidFill>
            </a:endParaRPr>
          </a:p>
          <a:p>
            <a:pPr indent="0" lvl="0" marL="0" marR="0" rtl="0" algn="l">
              <a:spcBef>
                <a:spcPts val="0"/>
              </a:spcBef>
              <a:spcAft>
                <a:spcPts val="0"/>
              </a:spcAft>
              <a:buClr>
                <a:srgbClr val="111111"/>
              </a:buClr>
              <a:buSzPts val="1200"/>
              <a:buFont typeface="Arial"/>
              <a:buNone/>
            </a:pPr>
            <a:r>
              <a:t/>
            </a:r>
            <a:endParaRPr sz="1200">
              <a:solidFill>
                <a:srgbClr val="111111"/>
              </a:solidFil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Attack success rates varied by device, gNB, distance, and attack type.</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The framework works with both open-source and commercial gNB settings.</a:t>
            </a:r>
            <a:endParaRPr b="0" i="0" sz="1200" u="none" cap="none" strike="noStrike">
              <a:solidFill>
                <a:schemeClr val="dk1"/>
              </a:solidFill>
              <a:latin typeface="Arial"/>
              <a:ea typeface="Arial"/>
              <a:cs typeface="Arial"/>
              <a:sym typeface="Arial"/>
            </a:endParaRPr>
          </a:p>
        </p:txBody>
      </p:sp>
      <p:pic>
        <p:nvPicPr>
          <p:cNvPr descr="/mnt/data/sni5gect_pages_clean/inject_attack_eval.png" id="248" name="Google Shape;248;p31"/>
          <p:cNvPicPr preferRelativeResize="0"/>
          <p:nvPr/>
        </p:nvPicPr>
        <p:blipFill rotWithShape="1">
          <a:blip r:embed="rId3">
            <a:alphaModFix/>
          </a:blip>
          <a:srcRect b="0" l="0" r="0" t="0"/>
          <a:stretch/>
        </p:blipFill>
        <p:spPr>
          <a:xfrm>
            <a:off x="3342025" y="231701"/>
            <a:ext cx="5470751" cy="4084225"/>
          </a:xfrm>
          <a:prstGeom prst="rect">
            <a:avLst/>
          </a:prstGeom>
          <a:noFill/>
          <a:ln>
            <a:noFill/>
          </a:ln>
        </p:spPr>
      </p:pic>
      <p:sp>
        <p:nvSpPr>
          <p:cNvPr id="249" name="Google Shape;249;p31"/>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14</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32"/>
          <p:cNvSpPr/>
          <p:nvPr/>
        </p:nvSpPr>
        <p:spPr>
          <a:xfrm>
            <a:off x="534938" y="157734"/>
            <a:ext cx="397774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SNI5GECT • USENIX Security 2025</a:t>
            </a:r>
            <a:endParaRPr b="0" i="0" sz="600" u="none" cap="none" strike="noStrike">
              <a:solidFill>
                <a:schemeClr val="dk1"/>
              </a:solidFill>
              <a:latin typeface="Arial"/>
              <a:ea typeface="Arial"/>
              <a:cs typeface="Arial"/>
              <a:sym typeface="Arial"/>
            </a:endParaRPr>
          </a:p>
        </p:txBody>
      </p:sp>
      <p:sp>
        <p:nvSpPr>
          <p:cNvPr id="256" name="Google Shape;256;p32"/>
          <p:cNvSpPr/>
          <p:nvPr/>
        </p:nvSpPr>
        <p:spPr>
          <a:xfrm>
            <a:off x="514364" y="377190"/>
            <a:ext cx="809265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Narrow"/>
              <a:buNone/>
            </a:pPr>
            <a:r>
              <a:rPr b="0" i="0" lang="en" sz="2300" u="none" cap="none" strike="noStrike">
                <a:solidFill>
                  <a:srgbClr val="111111"/>
                </a:solidFill>
                <a:latin typeface="Arial Narrow"/>
                <a:ea typeface="Arial Narrow"/>
                <a:cs typeface="Arial Narrow"/>
                <a:sym typeface="Arial Narrow"/>
              </a:rPr>
              <a:t>Takeaways, limitations, and reuse</a:t>
            </a:r>
            <a:endParaRPr b="0" i="0" sz="2300" u="none" cap="none" strike="noStrike">
              <a:solidFill>
                <a:schemeClr val="dk1"/>
              </a:solidFill>
              <a:latin typeface="Arial"/>
              <a:ea typeface="Arial"/>
              <a:cs typeface="Arial"/>
              <a:sym typeface="Arial"/>
            </a:endParaRPr>
          </a:p>
        </p:txBody>
      </p:sp>
      <p:sp>
        <p:nvSpPr>
          <p:cNvPr id="257" name="Google Shape;257;p32"/>
          <p:cNvSpPr/>
          <p:nvPr/>
        </p:nvSpPr>
        <p:spPr>
          <a:xfrm>
            <a:off x="548655" y="877824"/>
            <a:ext cx="2914728" cy="329184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SNI5GECT shows practical 5G sniffing plus downlink injection without a rogue gNB.</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Limits: known/nearby UE distance, indoor 20 m-scale tests, downlink-only injection, and pre-authentication focus.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11111"/>
              </a:buClr>
              <a:buSzPts val="1200"/>
              <a:buFont typeface="Arial"/>
              <a:buNone/>
            </a:pPr>
            <a:r>
              <a:rPr b="0" i="0" lang="en" sz="1200" u="none" cap="none" strike="noStrike">
                <a:solidFill>
                  <a:srgbClr val="111111"/>
                </a:solidFill>
                <a:latin typeface="Arial"/>
                <a:ea typeface="Arial"/>
                <a:cs typeface="Arial"/>
                <a:sym typeface="Arial"/>
              </a:rPr>
              <a:t>• Reuse: attack evaluation, throughput analysis, traffic/privacy studies, and anomaly detection datasets.</a:t>
            </a:r>
            <a:endParaRPr b="0" i="0" sz="1200" u="none" cap="none" strike="noStrike">
              <a:solidFill>
                <a:schemeClr val="dk1"/>
              </a:solidFill>
              <a:latin typeface="Arial"/>
              <a:ea typeface="Arial"/>
              <a:cs typeface="Arial"/>
              <a:sym typeface="Arial"/>
            </a:endParaRPr>
          </a:p>
        </p:txBody>
      </p:sp>
      <p:pic>
        <p:nvPicPr>
          <p:cNvPr descr="/mnt/data/sni5gect_pages_clean/reusability.png" id="258" name="Google Shape;258;p32"/>
          <p:cNvPicPr preferRelativeResize="0"/>
          <p:nvPr/>
        </p:nvPicPr>
        <p:blipFill rotWithShape="1">
          <a:blip r:embed="rId3">
            <a:alphaModFix/>
          </a:blip>
          <a:srcRect b="0" l="0" r="0" t="0"/>
          <a:stretch/>
        </p:blipFill>
        <p:spPr>
          <a:xfrm>
            <a:off x="3566255" y="925830"/>
            <a:ext cx="5006473" cy="3737610"/>
          </a:xfrm>
          <a:prstGeom prst="rect">
            <a:avLst/>
          </a:prstGeom>
          <a:noFill/>
          <a:ln>
            <a:noFill/>
          </a:ln>
        </p:spPr>
      </p:pic>
      <p:sp>
        <p:nvSpPr>
          <p:cNvPr id="259" name="Google Shape;259;p32"/>
          <p:cNvSpPr/>
          <p:nvPr/>
        </p:nvSpPr>
        <p:spPr>
          <a:xfrm>
            <a:off x="8607019" y="4828032"/>
            <a:ext cx="205745" cy="1097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600"/>
              <a:buFont typeface="Arial"/>
              <a:buNone/>
            </a:pPr>
            <a:r>
              <a:rPr b="0" i="0" lang="en" sz="600" u="none" cap="none" strike="noStrike">
                <a:solidFill>
                  <a:srgbClr val="777777"/>
                </a:solidFill>
                <a:latin typeface="Arial"/>
                <a:ea typeface="Arial"/>
                <a:cs typeface="Arial"/>
                <a:sym typeface="Arial"/>
              </a:rPr>
              <a:t>15</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33"/>
          <p:cNvSpPr/>
          <p:nvPr/>
        </p:nvSpPr>
        <p:spPr>
          <a:xfrm>
            <a:off x="0" y="0"/>
            <a:ext cx="9144000" cy="150900"/>
          </a:xfrm>
          <a:prstGeom prst="rect">
            <a:avLst/>
          </a:prstGeom>
          <a:solidFill>
            <a:srgbClr val="0B7A61"/>
          </a:solidFill>
          <a:ln cap="flat" cmpd="sng" w="9525">
            <a:solidFill>
              <a:srgbClr val="0B7A6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33"/>
          <p:cNvSpPr/>
          <p:nvPr/>
        </p:nvSpPr>
        <p:spPr>
          <a:xfrm>
            <a:off x="0" y="4924044"/>
            <a:ext cx="9144000" cy="54900"/>
          </a:xfrm>
          <a:prstGeom prst="rect">
            <a:avLst/>
          </a:prstGeom>
          <a:solidFill>
            <a:srgbClr val="0B7A61"/>
          </a:solidFill>
          <a:ln cap="flat" cmpd="sng" w="9525">
            <a:solidFill>
              <a:srgbClr val="0B7A6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33"/>
          <p:cNvSpPr/>
          <p:nvPr/>
        </p:nvSpPr>
        <p:spPr>
          <a:xfrm>
            <a:off x="445782" y="452628"/>
            <a:ext cx="40464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300"/>
              <a:buFont typeface="Arial"/>
              <a:buNone/>
            </a:pPr>
            <a:r>
              <a:rPr b="1" i="0" lang="en" sz="2300" u="none" cap="none" strike="noStrike">
                <a:solidFill>
                  <a:srgbClr val="111111"/>
                </a:solidFill>
                <a:latin typeface="Arial"/>
                <a:ea typeface="Arial"/>
                <a:cs typeface="Arial"/>
                <a:sym typeface="Arial"/>
              </a:rPr>
              <a:t>Demo and Resources</a:t>
            </a:r>
            <a:endParaRPr b="0" i="0" sz="2300" u="none" cap="none" strike="noStrike">
              <a:solidFill>
                <a:schemeClr val="dk1"/>
              </a:solidFill>
              <a:latin typeface="Arial"/>
              <a:ea typeface="Arial"/>
              <a:cs typeface="Arial"/>
              <a:sym typeface="Arial"/>
            </a:endParaRPr>
          </a:p>
        </p:txBody>
      </p:sp>
      <p:sp>
        <p:nvSpPr>
          <p:cNvPr id="268" name="Google Shape;268;p33"/>
          <p:cNvSpPr/>
          <p:nvPr/>
        </p:nvSpPr>
        <p:spPr>
          <a:xfrm>
            <a:off x="466356" y="843534"/>
            <a:ext cx="38748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000"/>
              <a:buFont typeface="Arial"/>
              <a:buNone/>
            </a:pPr>
            <a:r>
              <a:rPr b="0" i="0" lang="en" sz="1000" u="none" cap="none" strike="noStrike">
                <a:solidFill>
                  <a:srgbClr val="555555"/>
                </a:solidFill>
                <a:latin typeface="Arial"/>
                <a:ea typeface="Arial"/>
                <a:cs typeface="Arial"/>
                <a:sym typeface="Arial"/>
              </a:rPr>
              <a:t>SNI5GECT: A Practical Approach to Inject aNRchy into 5G NR</a:t>
            </a:r>
            <a:endParaRPr b="0" i="0" sz="1000" u="none" cap="none" strike="noStrike">
              <a:solidFill>
                <a:schemeClr val="dk1"/>
              </a:solidFill>
              <a:latin typeface="Arial"/>
              <a:ea typeface="Arial"/>
              <a:cs typeface="Arial"/>
              <a:sym typeface="Arial"/>
            </a:endParaRPr>
          </a:p>
        </p:txBody>
      </p:sp>
      <p:sp>
        <p:nvSpPr>
          <p:cNvPr id="269" name="Google Shape;269;p33"/>
          <p:cNvSpPr/>
          <p:nvPr/>
        </p:nvSpPr>
        <p:spPr>
          <a:xfrm>
            <a:off x="466356" y="1419606"/>
            <a:ext cx="3703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300"/>
              <a:buFont typeface="Arial"/>
              <a:buNone/>
            </a:pPr>
            <a:r>
              <a:rPr b="1" i="0" lang="en" sz="1300" u="none" cap="none" strike="noStrike">
                <a:solidFill>
                  <a:srgbClr val="111111"/>
                </a:solidFill>
                <a:latin typeface="Arial"/>
                <a:ea typeface="Arial"/>
                <a:cs typeface="Arial"/>
                <a:sym typeface="Arial"/>
              </a:rPr>
              <a:t>Demo available at:</a:t>
            </a:r>
            <a:endParaRPr b="0" i="0" sz="1300" u="none" cap="none" strike="noStrike">
              <a:solidFill>
                <a:schemeClr val="dk1"/>
              </a:solidFill>
              <a:latin typeface="Arial"/>
              <a:ea typeface="Arial"/>
              <a:cs typeface="Arial"/>
              <a:sym typeface="Arial"/>
            </a:endParaRPr>
          </a:p>
        </p:txBody>
      </p:sp>
      <p:sp>
        <p:nvSpPr>
          <p:cNvPr id="270" name="Google Shape;270;p33">
            <a:hlinkClick r:id="rId3"/>
          </p:cNvPr>
          <p:cNvSpPr/>
          <p:nvPr/>
        </p:nvSpPr>
        <p:spPr>
          <a:xfrm>
            <a:off x="466356" y="1700784"/>
            <a:ext cx="3840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7A61"/>
              </a:buClr>
              <a:buSzPts val="1100"/>
              <a:buFont typeface="Arial"/>
              <a:buNone/>
            </a:pPr>
            <a:r>
              <a:rPr b="0" i="0" lang="en" sz="1100" u="sng" cap="none" strike="noStrike">
                <a:solidFill>
                  <a:schemeClr val="hlink"/>
                </a:solidFill>
                <a:latin typeface="Arial"/>
                <a:ea typeface="Arial"/>
                <a:cs typeface="Arial"/>
                <a:sym typeface="Arial"/>
                <a:hlinkClick r:id="rId4"/>
              </a:rPr>
              <a:t>https://www.usenix.org/conference/usenixsecurity25/presentation/luo-shijie</a:t>
            </a:r>
            <a:endParaRPr b="0" i="0" sz="1100" u="none" cap="none" strike="noStrike">
              <a:solidFill>
                <a:schemeClr val="dk1"/>
              </a:solidFill>
              <a:latin typeface="Arial"/>
              <a:ea typeface="Arial"/>
              <a:cs typeface="Arial"/>
              <a:sym typeface="Arial"/>
            </a:endParaRPr>
          </a:p>
        </p:txBody>
      </p:sp>
      <p:sp>
        <p:nvSpPr>
          <p:cNvPr id="271" name="Google Shape;271;p33"/>
          <p:cNvSpPr/>
          <p:nvPr/>
        </p:nvSpPr>
        <p:spPr>
          <a:xfrm>
            <a:off x="466356" y="2434590"/>
            <a:ext cx="38061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200"/>
              <a:buFont typeface="Arial"/>
              <a:buNone/>
            </a:pPr>
            <a:r>
              <a:rPr b="0" i="0" lang="en" sz="1200" u="none" cap="none" strike="noStrike">
                <a:solidFill>
                  <a:srgbClr val="222222"/>
                </a:solidFill>
                <a:latin typeface="Arial"/>
                <a:ea typeface="Arial"/>
                <a:cs typeface="Arial"/>
                <a:sym typeface="Arial"/>
              </a:rPr>
              <a:t>The demo shows the experimental setup with SNI5GECT as the attacker, a victim UE, a legitimate srsRAN 5G setup, and a 4G IMSI-catcher.</a:t>
            </a:r>
            <a:endParaRPr b="0" i="0" sz="1200" u="none" cap="none" strike="noStrike">
              <a:solidFill>
                <a:schemeClr val="dk1"/>
              </a:solidFill>
              <a:latin typeface="Arial"/>
              <a:ea typeface="Arial"/>
              <a:cs typeface="Arial"/>
              <a:sym typeface="Arial"/>
            </a:endParaRPr>
          </a:p>
        </p:txBody>
      </p:sp>
      <p:sp>
        <p:nvSpPr>
          <p:cNvPr id="272" name="Google Shape;272;p33"/>
          <p:cNvSpPr/>
          <p:nvPr/>
        </p:nvSpPr>
        <p:spPr>
          <a:xfrm>
            <a:off x="466356" y="3730752"/>
            <a:ext cx="3291900" cy="4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600"/>
              <a:buFont typeface="Arial"/>
              <a:buNone/>
            </a:pPr>
            <a:r>
              <a:rPr b="1" i="0" lang="en" sz="2600" u="none" cap="none" strike="noStrike">
                <a:solidFill>
                  <a:srgbClr val="111111"/>
                </a:solidFill>
                <a:latin typeface="Arial"/>
                <a:ea typeface="Arial"/>
                <a:cs typeface="Arial"/>
                <a:sym typeface="Arial"/>
              </a:rPr>
              <a:t>Thank you</a:t>
            </a:r>
            <a:endParaRPr b="0" i="0" sz="2600" u="none" cap="none" strike="noStrike">
              <a:solidFill>
                <a:schemeClr val="dk1"/>
              </a:solidFill>
              <a:latin typeface="Arial"/>
              <a:ea typeface="Arial"/>
              <a:cs typeface="Arial"/>
              <a:sym typeface="Arial"/>
            </a:endParaRPr>
          </a:p>
        </p:txBody>
      </p:sp>
      <p:sp>
        <p:nvSpPr>
          <p:cNvPr id="273" name="Google Shape;273;p33"/>
          <p:cNvSpPr/>
          <p:nvPr/>
        </p:nvSpPr>
        <p:spPr>
          <a:xfrm>
            <a:off x="480073" y="4327398"/>
            <a:ext cx="1920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0" i="0" lang="en" sz="1200" u="none" cap="none" strike="noStrike">
                <a:solidFill>
                  <a:srgbClr val="555555"/>
                </a:solidFill>
                <a:latin typeface="Arial"/>
                <a:ea typeface="Arial"/>
                <a:cs typeface="Arial"/>
                <a:sym typeface="Arial"/>
              </a:rPr>
              <a:t>Questions?</a:t>
            </a:r>
            <a:endParaRPr b="0" i="0" sz="1200" u="none" cap="none" strike="noStrike">
              <a:solidFill>
                <a:schemeClr val="dk1"/>
              </a:solidFill>
              <a:latin typeface="Arial"/>
              <a:ea typeface="Arial"/>
              <a:cs typeface="Arial"/>
              <a:sym typeface="Arial"/>
            </a:endParaRPr>
          </a:p>
        </p:txBody>
      </p:sp>
      <p:pic>
        <p:nvPicPr>
          <p:cNvPr descr="/mnt/data/demo_photo_crop.png" id="274" name="Google Shape;274;p33"/>
          <p:cNvPicPr preferRelativeResize="0"/>
          <p:nvPr/>
        </p:nvPicPr>
        <p:blipFill rotWithShape="1">
          <a:blip r:embed="rId5">
            <a:alphaModFix/>
          </a:blip>
          <a:srcRect b="0" l="0" r="0" t="0"/>
          <a:stretch/>
        </p:blipFill>
        <p:spPr>
          <a:xfrm>
            <a:off x="4492110" y="1165860"/>
            <a:ext cx="4183380" cy="1968245"/>
          </a:xfrm>
          <a:prstGeom prst="rect">
            <a:avLst/>
          </a:prstGeom>
          <a:noFill/>
          <a:ln>
            <a:noFill/>
          </a:ln>
        </p:spPr>
      </p:pic>
      <p:sp>
        <p:nvSpPr>
          <p:cNvPr id="275" name="Google Shape;275;p33"/>
          <p:cNvSpPr/>
          <p:nvPr/>
        </p:nvSpPr>
        <p:spPr>
          <a:xfrm>
            <a:off x="4560692" y="3326130"/>
            <a:ext cx="40464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900"/>
              <a:buFont typeface="Arial"/>
              <a:buNone/>
            </a:pPr>
            <a:r>
              <a:rPr b="0" i="1" lang="en" sz="900" u="none" cap="none" strike="noStrike">
                <a:solidFill>
                  <a:srgbClr val="666666"/>
                </a:solidFill>
                <a:latin typeface="Arial"/>
                <a:ea typeface="Arial"/>
                <a:cs typeface="Arial"/>
                <a:sym typeface="Arial"/>
              </a:rPr>
              <a:t>Demo setup from the authors’ slides</a:t>
            </a:r>
            <a:endParaRPr b="0" i="0" sz="9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