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ec4504745e43bf" /><Relationship Type="http://schemas.openxmlformats.org/officeDocument/2006/relationships/extended-properties" Target="/docProps/app.xml" Id="R8d02ca3480c24a57" /><Relationship Type="http://schemas.openxmlformats.org/officeDocument/2006/relationships/officeDocument" Target="/ppt/presentation.xml" Id="R4bcd65cd23824a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ab9a990529476f"/>
  </p:sldMasterIdLst>
  <p:notesMasterIdLst>
    <p:notesMasterId xmlns:r="http://schemas.openxmlformats.org/officeDocument/2006/relationships" r:id="R93055476847e45a1"/>
  </p:notesMasterIdLst>
  <p:sldIdLst>
    <p:sldId xmlns:r="http://schemas.openxmlformats.org/officeDocument/2006/relationships" id="256" r:id="R3142aa4afcd14ce9"/>
    <p:sldId xmlns:r="http://schemas.openxmlformats.org/officeDocument/2006/relationships" id="257" r:id="R99a1fa60bf9e4751"/>
    <p:sldId xmlns:r="http://schemas.openxmlformats.org/officeDocument/2006/relationships" id="258" r:id="R2cf74e7ee28b41fd"/>
    <p:sldId xmlns:r="http://schemas.openxmlformats.org/officeDocument/2006/relationships" id="259" r:id="R98493468f6d4481a"/>
    <p:sldId xmlns:r="http://schemas.openxmlformats.org/officeDocument/2006/relationships" id="260" r:id="Re4528ec7d8014784"/>
    <p:sldId xmlns:r="http://schemas.openxmlformats.org/officeDocument/2006/relationships" id="261" r:id="R0358584a74484625"/>
    <p:sldId xmlns:r="http://schemas.openxmlformats.org/officeDocument/2006/relationships" id="262" r:id="R77d902e09163444d"/>
    <p:sldId xmlns:r="http://schemas.openxmlformats.org/officeDocument/2006/relationships" id="263" r:id="Rb74bc01f90584a9c"/>
    <p:sldId xmlns:r="http://schemas.openxmlformats.org/officeDocument/2006/relationships" id="264" r:id="Re2048f557c644409"/>
    <p:sldId xmlns:r="http://schemas.openxmlformats.org/officeDocument/2006/relationships" id="265" r:id="R545b08e2d35d46ad"/>
    <p:sldId xmlns:r="http://schemas.openxmlformats.org/officeDocument/2006/relationships" id="266" r:id="Rc5e6bfa582454d0a"/>
    <p:sldId xmlns:r="http://schemas.openxmlformats.org/officeDocument/2006/relationships" id="267" r:id="R1763ec57e8c4455d"/>
    <p:sldId xmlns:r="http://schemas.openxmlformats.org/officeDocument/2006/relationships" id="268" r:id="Rbb5a75ab8db644ce"/>
    <p:sldId xmlns:r="http://schemas.openxmlformats.org/officeDocument/2006/relationships" id="269" r:id="R5a1af82f0a714d3d"/>
    <p:sldId xmlns:r="http://schemas.openxmlformats.org/officeDocument/2006/relationships" id="270" r:id="R18030e8be8f64be8"/>
    <p:sldId xmlns:r="http://schemas.openxmlformats.org/officeDocument/2006/relationships" id="271" r:id="R429a64a4e26f41df"/>
    <p:sldId xmlns:r="http://schemas.openxmlformats.org/officeDocument/2006/relationships" id="272" r:id="Rf5155e23aafa466c"/>
    <p:sldId xmlns:r="http://schemas.openxmlformats.org/officeDocument/2006/relationships" id="273" r:id="R168fe3fc606d4d31"/>
    <p:sldId xmlns:r="http://schemas.openxmlformats.org/officeDocument/2006/relationships" id="274" r:id="Rfcb8f1092da949db"/>
    <p:sldId xmlns:r="http://schemas.openxmlformats.org/officeDocument/2006/relationships" id="275" r:id="Re371e213c6584468"/>
    <p:sldId xmlns:r="http://schemas.openxmlformats.org/officeDocument/2006/relationships" id="276" r:id="R638d46cf9f5b45e4"/>
    <p:sldId xmlns:r="http://schemas.openxmlformats.org/officeDocument/2006/relationships" id="277" r:id="R210d9422c4c14e57"/>
    <p:sldId xmlns:r="http://schemas.openxmlformats.org/officeDocument/2006/relationships" id="278" r:id="R38cd43e2958041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eb3104c79a49db" /><Relationship Type="http://schemas.openxmlformats.org/officeDocument/2006/relationships/slideMaster" Target="/ppt/slideMasters/slideMaster1.xml" Id="Rdbab9a990529476f" /><Relationship Type="http://schemas.openxmlformats.org/officeDocument/2006/relationships/notesMaster" Target="/ppt/notesMasters/notesMaster1.xml" Id="R93055476847e45a1" /><Relationship Type="http://schemas.openxmlformats.org/officeDocument/2006/relationships/presProps" Target="/ppt/presProps.xml" Id="Rdfd4de8b199742c2" /><Relationship Type="http://schemas.openxmlformats.org/officeDocument/2006/relationships/tableStyles" Target="/ppt/tableStyles.xml" Id="Rf912688710d24d44" /><Relationship Type="http://schemas.openxmlformats.org/officeDocument/2006/relationships/slide" Target="/ppt/slides/slide1.xml" Id="R3142aa4afcd14ce9" /><Relationship Type="http://schemas.openxmlformats.org/officeDocument/2006/relationships/slide" Target="/ppt/slides/slide2.xml" Id="R99a1fa60bf9e4751" /><Relationship Type="http://schemas.openxmlformats.org/officeDocument/2006/relationships/slide" Target="/ppt/slides/slide3.xml" Id="R2cf74e7ee28b41fd" /><Relationship Type="http://schemas.openxmlformats.org/officeDocument/2006/relationships/slide" Target="/ppt/slides/slide4.xml" Id="R98493468f6d4481a" /><Relationship Type="http://schemas.openxmlformats.org/officeDocument/2006/relationships/slide" Target="/ppt/slides/slide5.xml" Id="Re4528ec7d8014784" /><Relationship Type="http://schemas.openxmlformats.org/officeDocument/2006/relationships/slide" Target="/ppt/slides/slide6.xml" Id="R0358584a74484625" /><Relationship Type="http://schemas.openxmlformats.org/officeDocument/2006/relationships/slide" Target="/ppt/slides/slide7.xml" Id="R77d902e09163444d" /><Relationship Type="http://schemas.openxmlformats.org/officeDocument/2006/relationships/slide" Target="/ppt/slides/slide8.xml" Id="Rb74bc01f90584a9c" /><Relationship Type="http://schemas.openxmlformats.org/officeDocument/2006/relationships/slide" Target="/ppt/slides/slide9.xml" Id="Re2048f557c644409" /><Relationship Type="http://schemas.openxmlformats.org/officeDocument/2006/relationships/slide" Target="/ppt/slides/slide10.xml" Id="R545b08e2d35d46ad" /><Relationship Type="http://schemas.openxmlformats.org/officeDocument/2006/relationships/slide" Target="/ppt/slides/slide11.xml" Id="Rc5e6bfa582454d0a" /><Relationship Type="http://schemas.openxmlformats.org/officeDocument/2006/relationships/slide" Target="/ppt/slides/slide12.xml" Id="R1763ec57e8c4455d" /><Relationship Type="http://schemas.openxmlformats.org/officeDocument/2006/relationships/slide" Target="/ppt/slides/slide13.xml" Id="Rbb5a75ab8db644ce" /><Relationship Type="http://schemas.openxmlformats.org/officeDocument/2006/relationships/slide" Target="/ppt/slides/slide14.xml" Id="R5a1af82f0a714d3d" /><Relationship Type="http://schemas.openxmlformats.org/officeDocument/2006/relationships/slide" Target="/ppt/slides/slide15.xml" Id="R18030e8be8f64be8" /><Relationship Type="http://schemas.openxmlformats.org/officeDocument/2006/relationships/slide" Target="/ppt/slides/slide16.xml" Id="R429a64a4e26f41df" /><Relationship Type="http://schemas.openxmlformats.org/officeDocument/2006/relationships/slide" Target="/ppt/slides/slide17.xml" Id="Rf5155e23aafa466c" /><Relationship Type="http://schemas.openxmlformats.org/officeDocument/2006/relationships/slide" Target="/ppt/slides/slide18.xml" Id="R168fe3fc606d4d31" /><Relationship Type="http://schemas.openxmlformats.org/officeDocument/2006/relationships/slide" Target="/ppt/slides/slide19.xml" Id="Rfcb8f1092da949db" /><Relationship Type="http://schemas.openxmlformats.org/officeDocument/2006/relationships/slide" Target="/ppt/slides/slide20.xml" Id="Re371e213c6584468" /><Relationship Type="http://schemas.openxmlformats.org/officeDocument/2006/relationships/slide" Target="/ppt/slides/slide21.xml" Id="R638d46cf9f5b45e4" /><Relationship Type="http://schemas.openxmlformats.org/officeDocument/2006/relationships/slide" Target="/ppt/slides/slide22.xml" Id="R210d9422c4c14e57" /><Relationship Type="http://schemas.openxmlformats.org/officeDocument/2006/relationships/slide" Target="/ppt/slides/slide23.xml" Id="R38cd43e2958041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c474b890464f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e4980b7cb4bc0" /><Relationship Type="http://schemas.openxmlformats.org/officeDocument/2006/relationships/notesMaster" Target="/ppt/notesMasters/notesMaster1.xml" Id="R3d99efe23b4941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7f5c736ddd43c5" /><Relationship Type="http://schemas.openxmlformats.org/officeDocument/2006/relationships/notesMaster" Target="/ppt/notesMasters/notesMaster1.xml" Id="R57c3fcf85d6a41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a5261797c4df4" /><Relationship Type="http://schemas.openxmlformats.org/officeDocument/2006/relationships/notesMaster" Target="/ppt/notesMasters/notesMaster1.xml" Id="R27131f6633484c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3f50803b184ff6" /><Relationship Type="http://schemas.openxmlformats.org/officeDocument/2006/relationships/notesMaster" Target="/ppt/notesMasters/notesMaster1.xml" Id="R2b4a0c07826947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2787901581413b" /><Relationship Type="http://schemas.openxmlformats.org/officeDocument/2006/relationships/notesMaster" Target="/ppt/notesMasters/notesMaster1.xml" Id="R59a69d3c6a7d46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569c650a094ca3" /><Relationship Type="http://schemas.openxmlformats.org/officeDocument/2006/relationships/notesMaster" Target="/ppt/notesMasters/notesMaster1.xml" Id="R49d5b564d21c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3735be88664331" /><Relationship Type="http://schemas.openxmlformats.org/officeDocument/2006/relationships/notesMaster" Target="/ppt/notesMasters/notesMaster1.xml" Id="Rf549fec39fd64b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0f5106372d43d9" /><Relationship Type="http://schemas.openxmlformats.org/officeDocument/2006/relationships/notesMaster" Target="/ppt/notesMasters/notesMaster1.xml" Id="R7177e4981caf4c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71c52041a048e8" /><Relationship Type="http://schemas.openxmlformats.org/officeDocument/2006/relationships/notesMaster" Target="/ppt/notesMasters/notesMaster1.xml" Id="R7e5606a8218a4a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02fa05a14a478c" /><Relationship Type="http://schemas.openxmlformats.org/officeDocument/2006/relationships/notesMaster" Target="/ppt/notesMasters/notesMaster1.xml" Id="Ra13c6ca8896740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6ea6bf17ac41b7" /><Relationship Type="http://schemas.openxmlformats.org/officeDocument/2006/relationships/notesMaster" Target="/ppt/notesMasters/notesMaster1.xml" Id="R78c9c0aa82b34b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4916745b7840c8" /><Relationship Type="http://schemas.openxmlformats.org/officeDocument/2006/relationships/notesMaster" Target="/ppt/notesMasters/notesMaster1.xml" Id="Rda68a2c4d9c843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ac5b120d9d4b2f" /><Relationship Type="http://schemas.openxmlformats.org/officeDocument/2006/relationships/notesMaster" Target="/ppt/notesMasters/notesMaster1.xml" Id="R8329ff39890e43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828c1b7a804519" /><Relationship Type="http://schemas.openxmlformats.org/officeDocument/2006/relationships/notesMaster" Target="/ppt/notesMasters/notesMaster1.xml" Id="Rc3890a6219e14e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c7cd6bc57548d5" /><Relationship Type="http://schemas.openxmlformats.org/officeDocument/2006/relationships/notesMaster" Target="/ppt/notesMasters/notesMaster1.xml" Id="Reea6e8f7cb264f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12e4425b38433c" /><Relationship Type="http://schemas.openxmlformats.org/officeDocument/2006/relationships/notesMaster" Target="/ppt/notesMasters/notesMaster1.xml" Id="Rb1f31799153344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f2b892313b44a9" /><Relationship Type="http://schemas.openxmlformats.org/officeDocument/2006/relationships/notesMaster" Target="/ppt/notesMasters/notesMaster1.xml" Id="R6082f8eb2bb349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d9e5760fb84dff" /><Relationship Type="http://schemas.openxmlformats.org/officeDocument/2006/relationships/notesMaster" Target="/ppt/notesMasters/notesMaster1.xml" Id="R7dc111cf95af42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0310de77c4441e" /><Relationship Type="http://schemas.openxmlformats.org/officeDocument/2006/relationships/notesMaster" Target="/ppt/notesMasters/notesMaster1.xml" Id="R772bcfd01fd946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36e9085314448c" /><Relationship Type="http://schemas.openxmlformats.org/officeDocument/2006/relationships/notesMaster" Target="/ppt/notesMasters/notesMaster1.xml" Id="Rdfafe8ca6e0f48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c73fefd8a94399" /><Relationship Type="http://schemas.openxmlformats.org/officeDocument/2006/relationships/notesMaster" Target="/ppt/notesMasters/notesMaster1.xml" Id="R8bb8ae449b2640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af4e4c1a184613" /><Relationship Type="http://schemas.openxmlformats.org/officeDocument/2006/relationships/notesMaster" Target="/ppt/notesMasters/notesMaster1.xml" Id="Rba0c92afeedb4a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cd8ca8013742ab" /><Relationship Type="http://schemas.openxmlformats.org/officeDocument/2006/relationships/notesMaster" Target="/ppt/notesMasters/notesMaster1.xml" Id="R610ac7acd42244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Open with a familiar question: why does the Wi‑Fi icon look unchanged while the radio underneath has changed repeatedly?</a:t>
            </a:r>
          </a:p>
          <a:p xmlns:a="http://schemas.openxmlformats.org/drawingml/2006/main">
            <a:r>
              <a:t>• The lecture follows two threads: historical standardization and the PHY resource dimensions used to gain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https://standards.ieee.org/wp-content/uploads/interactive/web/wi-fi-timeline/index.html</a:t>
            </a:r>
          </a:p>
          <a:p xmlns:a="http://schemas.openxmlformats.org/drawingml/2006/main">
            <a:r>
              <a:t>- https://extr-p-001.sitecorecontenthub.cloud/api/public/content/3f5d887b048d49cba95392b829960d1b?download=true&amp;v=564c5124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this as the organizing framework for the whole lecture.</a:t>
            </a:r>
          </a:p>
          <a:p xmlns:a="http://schemas.openxmlformats.org/drawingml/2006/main">
            <a:r>
              <a:t>• Every later amendment keeps the core 802.11 family identity but adds one or more dimensions for peak rate, capacity, reliability, or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https://standards.ieee.org/ieee/802.11/10548/</a:t>
            </a:r>
          </a:p>
          <a:p xmlns:a="http://schemas.openxmlformats.org/drawingml/2006/main">
            <a:r>
              <a:t>- https://standards.ieee.org/ieee/802.11be/7516/</a:t>
            </a:r>
          </a:p>
          <a:p xmlns:a="http://schemas.openxmlformats.org/drawingml/2006/main">
            <a:r>
              <a:t>- https://www.cisco.com/c/en/us/products/collateral/wireless/white-paper-c11-740788.html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Explain that IEEE names technical amendments; the Wi‑Fi Alliance later introduced simpler generation names.</a:t>
            </a:r>
          </a:p>
          <a:p xmlns:a="http://schemas.openxmlformats.org/drawingml/2006/main">
            <a:r>
              <a:t>• 802.11ad and 802.11ay are a parallel 60 GHz branch commonly associated with WiGig rather than the numbered Wi‑Fi 1–7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https://standards.ieee.org/wp-content/uploads/interactive/web/wi-fi-timeline/index.html</a:t>
            </a:r>
          </a:p>
          <a:p xmlns:a="http://schemas.openxmlformats.org/drawingml/2006/main">
            <a:r>
              <a:t>- https://standards.ieee.org/ieee/802.11/10548/</a:t>
            </a:r>
          </a:p>
          <a:p xmlns:a="http://schemas.openxmlformats.org/drawingml/2006/main">
            <a:r>
              <a:t>- https://helpfiles.keysight.com/csg/n7637/Content/Main/802.11ad%20Concepts.htm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Connect ALOHAnet to random access, then connect unlicensed spectrum to permissionless innovation.</a:t>
            </a:r>
          </a:p>
          <a:p xmlns:a="http://schemas.openxmlformats.org/drawingml/2006/main">
            <a:r>
              <a:t>• The 1997 base standard existed before the Wi‑Fi brand; 1999 is the commercial inflection point with 802.11a/b and interoperability certification.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https://standards.ieee.org/wp-content/uploads/interactive/web/wi-fi-timeline/index.html</a:t>
            </a:r>
          </a:p>
          <a:p xmlns:a="http://schemas.openxmlformats.org/drawingml/2006/main">
            <a:r>
              <a:t>- https://extr-p-001.sitecorecontenthub.cloud/api/public/content/3f5d887b048d49cba95392b829960d1b?download=true&amp;v=564c5124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Define a PPDU as the PHY-layer transmission unit placed on air.</a:t>
            </a:r>
          </a:p>
          <a:p xmlns:a="http://schemas.openxmlformats.org/drawingml/2006/main">
            <a:r>
              <a:t>• The MAC delivers familiar behaviors across generations, while PLCP/PMD details define the preamble, coding, modulation, channel width, and spatial streams.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https://standards.ieee.org/ieee/802.11/10548/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Contrast Ethernet collision detection with wireless collision avoidance.</a:t>
            </a:r>
          </a:p>
          <a:p xmlns:a="http://schemas.openxmlformats.org/drawingml/2006/main">
            <a:r>
              <a:t>• A station may not hear every other station, and its own transmission overwhelms the receiver; hence carrier sense, random backoff, positive ACK, and optional RTS/CTS.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https://standards.ieee.org/wp-content/uploads/interactive/web/wi-fi-timeline/index.html</a:t>
            </a:r>
          </a:p>
          <a:p xmlns:a="http://schemas.openxmlformats.org/drawingml/2006/main">
            <a:r>
              <a:t>- https://standards.ieee.org/ieee/802.11/10548/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Start with 802.11b because DSSS is intuitive: replace each symbol with a longer chip pattern.</a:t>
            </a:r>
          </a:p>
          <a:p xmlns:a="http://schemas.openxmlformats.org/drawingml/2006/main">
            <a:r>
              <a:t>• Avoid saying that CCK merely repeats bits. It selects complex code words whose phases carry multiple bits while preserving useful correlation properties.</a:t>
            </a:r>
          </a:p>
          <a:p xmlns:a="http://schemas.openxmlformats.org/drawingml/2006/main">
            <a:r>
              <a:t>• The familiar three non-overlapping 2.4 GHz channels in North America arise because the occupied channels are much wider than their 5 MHz center spacing.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https://standards.ieee.org/wp-content/uploads/interactive/web/wi-fi-timeline/index.html</a:t>
            </a:r>
          </a:p>
          <a:p xmlns:a="http://schemas.openxmlformats.org/drawingml/2006/main">
            <a:r>
              <a:t>- https://standards.ieee.org/ieee/802.11/10548/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Explain orthogonality operationally: each subcarrier is sampled where the others cross zero, allowing spectra to overlap without ideal inter-carrier interference.</a:t>
            </a:r>
          </a:p>
          <a:p xmlns:a="http://schemas.openxmlformats.org/drawingml/2006/main">
            <a:r>
              <a:t>• The cyclic prefix converts multipath delay spread into a manageable guard interval and supports simple frequency-domain equalization.</a:t>
            </a:r>
          </a:p>
          <a:p xmlns:a="http://schemas.openxmlformats.org/drawingml/2006/main">
            <a:r>
              <a:t>• 802.11a reached 54 Mb/s but early 5 GHz propagation and device cost slowed mass adoption relative to 802.11b.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https://standards.ieee.org/wp-content/uploads/interactive/web/wi-fi-timeline/index.html</a:t>
            </a:r>
          </a:p>
          <a:p xmlns:a="http://schemas.openxmlformats.org/drawingml/2006/main">
            <a:r>
              <a:t>- https://standards.ieee.org/ieee/802.11/10548/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Frame 802.11g as a strategic recombination: the OFDM PHY ideas of 802.11a in the popular 2.4 GHz ecosystem.</a:t>
            </a:r>
          </a:p>
          <a:p xmlns:a="http://schemas.openxmlformats.org/drawingml/2006/main">
            <a:r>
              <a:t>• Backward compatibility accelerated adoption but created mixed-mode protection overhead.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https://standards.ieee.org/wp-content/uploads/interactive/web/wi-fi-timeline/index.html</a:t>
            </a:r>
          </a:p>
          <a:p xmlns:a="http://schemas.openxmlformats.org/drawingml/2006/main">
            <a:r>
              <a:t>- https://standards.ieee.org/ieee/802.11/10548/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802.11n is the major architectural jump: MIMO, channel bonding, short guard interval, and aggregation work together.</a:t>
            </a:r>
          </a:p>
          <a:p xmlns:a="http://schemas.openxmlformats.org/drawingml/2006/main">
            <a:r>
              <a:t>• Maximum standardized configuration reaches 600 Mb/s using four spatial streams, 40 MHz, 64-QAM 5/6, and short GI; typical client devices implement fewer streams.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https://standards.ieee.org/wp-content/uploads/interactive/web/wi-fi-timeline/index.html</a:t>
            </a:r>
          </a:p>
          <a:p xmlns:a="http://schemas.openxmlformats.org/drawingml/2006/main">
            <a:r>
              <a:t>- https://www.cisco.com/c/en/us/support/docs/wireless-mobility/wireless-lan-wlan/212892-802-11ac-wireless-throughput-testing-and.html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Summarize 802.11ac with Cisco's memorable dimensions: wider channels, tighter modulation, more spatial streams, and downlink MU-MIMO.</a:t>
            </a:r>
          </a:p>
          <a:p xmlns:a="http://schemas.openxmlformats.org/drawingml/2006/main">
            <a:r>
              <a:t>• 256-QAM carries 8 coded bits per subcarrier symbol but requires higher SNR than 64-QAM.</a:t>
            </a:r>
          </a:p>
          <a:p xmlns:a="http://schemas.openxmlformats.org/drawingml/2006/main">
            <a:r>
              <a:t>• Maximum PHY rates are configuration ceilings, not expected application throughput.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https://www.cisco.com/c/en/us/td/docs/wireless/controller/technotes/8-4/b_cisco_aironet_series_migrating_to802_11_ac.html</a:t>
            </a:r>
          </a:p>
          <a:p xmlns:a="http://schemas.openxmlformats.org/drawingml/2006/main">
            <a:r>
              <a:t>- https://www.cisco.com/c/en/us/support/docs/wireless-mobility/wireless-lan-wlan/212892-802-11ac-wireless-throughput-testing-and.html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OFDMA is the conceptual center: an AP partitions OFDM subcarriers into resource units for multiple stations in the same transmission opportunity.</a:t>
            </a:r>
          </a:p>
          <a:p xmlns:a="http://schemas.openxmlformats.org/drawingml/2006/main">
            <a:r>
              <a:t>• 802.11ax adds frequency as a multiuser allocation dimension on top of time and space.</a:t>
            </a:r>
          </a:p>
          <a:p xmlns:a="http://schemas.openxmlformats.org/drawingml/2006/main">
            <a:r>
              <a:t>• The design target is high efficiency in dense deployments, not simply a larger single-link headline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https://www.cisco.com/c/en/us/products/collateral/wireless/white-paper-c11-740788.html</a:t>
            </a:r>
          </a:p>
          <a:p xmlns:a="http://schemas.openxmlformats.org/drawingml/2006/main">
            <a:r>
              <a:t>- https://standards.ieee.org/ieee/802.11/10548/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For a 20 MHz channel, legacy OFDM uses 312.5 kHz subcarrier spacing and 3.2 μs useful symbol time; HE OFDM uses 78.125 kHz and 12.8 μs.</a:t>
            </a:r>
          </a:p>
          <a:p xmlns:a="http://schemas.openxmlformats.org/drawingml/2006/main">
            <a:r>
              <a:t>• A longer OFDM symbol reduces the relative cost of a longer guard interval and creates more subcarriers that can be grouped into resource units.</a:t>
            </a:r>
          </a:p>
          <a:p xmlns:a="http://schemas.openxmlformats.org/drawingml/2006/main">
            <a:r>
              <a:t>• The diagram is conceptual and not a literal spectrum mask.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https://www.cisco.com/c/en/us/products/collateral/wireless/white-paper-c11-740788.html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Clarify the naming trap: Wi‑Fi 6E is Wi‑Fi 6 / 802.11ax extended into 6 GHz; it is not a separate PHY generation.</a:t>
            </a:r>
          </a:p>
          <a:p xmlns:a="http://schemas.openxmlformats.org/drawingml/2006/main">
            <a:r>
              <a:t>• Regulatory channel availability varies by country, so avoid implying identical 6 GHz allocations worldwide.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https://standards.ieee.org/ieee/802.11/10548/</a:t>
            </a:r>
          </a:p>
          <a:p xmlns:a="http://schemas.openxmlformats.org/drawingml/2006/main">
            <a:r>
              <a:t>- https://www.cisco.com/c/en/us/support/docs/wireless-mobility/wireless-lan-wlan/212892-802-11ac-wireless-throughput-testing-and.html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MLO lets a device establish and coordinate links across bands; implementations can use links for throughput, load balancing, redundancy, or latency reduction.</a:t>
            </a:r>
          </a:p>
          <a:p xmlns:a="http://schemas.openxmlformats.org/drawingml/2006/main">
            <a:r>
              <a:t>• 802.11be adds 320 MHz channels, 4096-QAM, flexible puncturing, and other enhancements while preserving backward compatibility.</a:t>
            </a:r>
          </a:p>
          <a:p xmlns:a="http://schemas.openxmlformats.org/drawingml/2006/main">
            <a:r>
              <a:t>• IEEE 802.11be-2024 requires at least one mode supporting at least 30 Gb/s at the MAC service access point; marketing peak PHY figures may be higher.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https://standards.ieee.org/ieee/802.11be/7516/</a:t>
            </a:r>
          </a:p>
          <a:p xmlns:a="http://schemas.openxmlformats.org/drawingml/2006/main">
            <a:r>
              <a:t>- https://standards.ieee.org/ieee/802.11/10548/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802.11ad is the Directional Multi-Gigabit branch around 60 GHz.</a:t>
            </a:r>
          </a:p>
          <a:p xmlns:a="http://schemas.openxmlformats.org/drawingml/2006/main">
            <a:r>
              <a:t>• Its 2.16 GHz-wide channels make multi-gigabit rates possible without relying only on extremely dense modulation.</a:t>
            </a:r>
          </a:p>
          <a:p xmlns:a="http://schemas.openxmlformats.org/drawingml/2006/main">
            <a:r>
              <a:t>• High path and penetration loss shrink coverage but enable directional reuse; beam training aligns transmit and receive sectors.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https://standards.ieee.org/ieee/802.11/10548/</a:t>
            </a:r>
          </a:p>
          <a:p xmlns:a="http://schemas.openxmlformats.org/drawingml/2006/main">
            <a:r>
              <a:t>- https://helpfiles.keysight.com/csg/n7637/Content/Main/802.11ad%20Concepts.htm</a:t>
            </a:r>
          </a:p>
          <a:p xmlns:a="http://schemas.openxmlformats.org/drawingml/2006/main">
            <a:r>
              <a:t>- https://www.keysight.com/us/en/assets/7018-03292/application-notes/5990-9697.pdf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802.11ay enhances operation in license-exempt bands above 45 GHz and requires at least one mode delivering at least 20 Gb/s at the MAC service access point.</a:t>
            </a:r>
          </a:p>
          <a:p xmlns:a="http://schemas.openxmlformats.org/drawingml/2006/main">
            <a:r>
              <a:t>• Key extensions include channel bonding/aggregation, MIMO, improved beamforming, and longer-range use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https://standards.ieee.org/ieee/802.11/10548/</a:t>
            </a:r>
          </a:p>
          <a:p xmlns:a="http://schemas.openxmlformats.org/drawingml/2006/main">
            <a:r>
              <a:t>- https://standards.ieee.org/wp-content/uploads/import/documents/other/geps_07-iot_smart_cities.pdf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this slide for retrieval practice: ask students to match standards to waveform families.</a:t>
            </a:r>
          </a:p>
          <a:p xmlns:a="http://schemas.openxmlformats.org/drawingml/2006/main">
            <a:r>
              <a:t>• DSSS/CCK: 802.11b. OFDM: 802.11a/g/n/ac and the basis of ax/be. OFDMA: multiuser extension emphasized by ax/be. 60 GHz single carrier: widely used in ad and enhanced by ay.</a:t>
            </a:r>
          </a:p>
          <a:p xmlns:a="http://schemas.openxmlformats.org/drawingml/2006/main">
            <a:r>
              <a:t>• The sketches are conceptual, not calibrated time-domain or spectrum-mask plots.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https://standards.ieee.org/ieee/802.11/10548/</a:t>
            </a:r>
          </a:p>
          <a:p xmlns:a="http://schemas.openxmlformats.org/drawingml/2006/main">
            <a:r>
              <a:t>- https://www.cisco.com/c/en/us/products/collateral/wireless/white-paper-c11-740788.html</a:t>
            </a:r>
          </a:p>
          <a:p xmlns:a="http://schemas.openxmlformats.org/drawingml/2006/main">
            <a:r>
              <a:t>- https://helpfiles.keysight.com/csg/n7637/Content/Main/802.11ad%20Concepts.htm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Treat the maxima as comparison anchors, not promised throughput.</a:t>
            </a:r>
          </a:p>
          <a:p xmlns:a="http://schemas.openxmlformats.org/drawingml/2006/main">
            <a:r>
              <a:t>• The years are standard milestones; commercial availability and Wi‑Fi certification dates can differ.</a:t>
            </a:r>
          </a:p>
          <a:p xmlns:a="http://schemas.openxmlformats.org/drawingml/2006/main">
            <a:r>
              <a:t>• The standards allow configurations beyond what typical phones and access points implement.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https://standards.ieee.org/wp-content/uploads/interactive/web/wi-fi-timeline/index.html</a:t>
            </a:r>
          </a:p>
          <a:p xmlns:a="http://schemas.openxmlformats.org/drawingml/2006/main">
            <a:r>
              <a:t>- https://standards.ieee.org/ieee/802.11/10548/</a:t>
            </a:r>
          </a:p>
          <a:p xmlns:a="http://schemas.openxmlformats.org/drawingml/2006/main">
            <a:r>
              <a:t>- https://standards.ieee.org/ieee/802.11be/7516/</a:t>
            </a:r>
          </a:p>
          <a:p xmlns:a="http://schemas.openxmlformats.org/drawingml/2006/main">
            <a:r>
              <a:t>- https://www.cisco.com/c/en/us/support/docs/wireless-mobility/wireless-lan-wlan/212892-802-11ac-wireless-throughput-testing-and.html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this slide to inoculate students against comparing standards only by their maximum PHY rate.</a:t>
            </a:r>
          </a:p>
          <a:p xmlns:a="http://schemas.openxmlformats.org/drawingml/2006/main">
            <a:r>
              <a:t>• Wider bandwidth and higher QAM require suitable spectrum and SNR; more spatial streams require antennas and favorable channels; multiuser gains require traffic from multiple users.</a:t>
            </a:r>
          </a:p>
          <a:p xmlns:a="http://schemas.openxmlformats.org/drawingml/2006/main">
            <a:r>
              <a:t>• Ask which factor fails first when moving farther from the access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https://www.cisco.com/c/en/us/support/docs/wireless-mobility/wireless-lan-wlan/212892-802-11ac-wireless-throughput-testing-and.html</a:t>
            </a:r>
          </a:p>
          <a:p xmlns:a="http://schemas.openxmlformats.org/drawingml/2006/main">
            <a:r>
              <a:t>- https://www.cisco.com/c/en/us/td/docs/wireless/controller/technotes/8-4/b_cisco_aironet_series_migrating_to802_11_ac.html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Keep security chronology high level: WEP's weaknesses motivated WPA as a transition and 802.11i/WPA2 as a durable redesign; WPA3 strengthens authentication and protection.</a:t>
            </a:r>
          </a:p>
          <a:p xmlns:a="http://schemas.openxmlformats.org/drawingml/2006/main">
            <a:r>
              <a:t>• Aggregation was essential because faster PHYs otherwise expose fixed per-frame overhead.</a:t>
            </a:r>
          </a:p>
          <a:p xmlns:a="http://schemas.openxmlformats.org/drawingml/2006/main">
            <a:r>
              <a:t>• MLO is both a PHY/MAC coordination story: multiple links must be discovered, negotiated, and scheduled.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https://standards.ieee.org/ieee/802.11/10548/</a:t>
            </a:r>
          </a:p>
          <a:p xmlns:a="http://schemas.openxmlformats.org/drawingml/2006/main">
            <a:r>
              <a:t>- https://extr-p-001.sitecorecontenthub.cloud/api/public/content/3f5d887b048d49cba95392b829960d1b?download=true&amp;v=564c5124</a:t>
            </a:r>
          </a:p>
          <a:p xmlns:a="http://schemas.openxmlformats.org/drawingml/2006/main">
            <a:r>
              <a:t>- https://standards.ieee.org/ieee/802.11be/7516/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Relate the Wi‑Fi history back to Future Edge Networks.</a:t>
            </a:r>
          </a:p>
          <a:p xmlns:a="http://schemas.openxmlformats.org/drawingml/2006/main">
            <a:r>
              <a:t>• Avoid a winner/loser framing: Wi‑Fi excels at locally owned, high-capacity access; cellular excels at managed wide-area mobility. Modern devices and edge services use both.</a:t>
            </a:r>
          </a:p>
          <a:p xmlns:a="http://schemas.openxmlformats.org/drawingml/2006/main">
            <a:r>
              <a:t>• Invite examples: campus offload, AR/VR, industrial links, fixed wireless access, and multi-access edge computing.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https://standards.ieee.org/wp-content/uploads/import/documents/other/geps_07-iot_smart_cities.pdf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Close by asking students to apply the five questions to one generation not emphasized in class.</a:t>
            </a:r>
          </a:p>
          <a:p xmlns:a="http://schemas.openxmlformats.org/drawingml/2006/main">
            <a:r>
              <a:t>• Suggested check: Why can 4096-QAM increase peak rate but reduce robustness? Why can OFDMA improve efficiency without changing the total channel bandwidth? Why is 60 GHz directional?</a:t>
            </a:r>
          </a:p>
          <a:p xmlns:a="http://schemas.openxmlformats.org/drawingml/2006/main">
            <a:r>
              <a:t>• The durable lesson is not memorizing letters; it is recognizing the resource dimension and engineering tradeoff each amendment introduces.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https://standards.ieee.org/ieee/802.11/10548/</a:t>
            </a:r>
          </a:p>
          <a:p xmlns:a="http://schemas.openxmlformats.org/drawingml/2006/main">
            <a:r>
              <a:t>- https://standards.ieee.org/ieee/802.11be/7516/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eb96a3e0548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915ab083ad46f3" /><Relationship Type="http://schemas.openxmlformats.org/officeDocument/2006/relationships/slideLayout" Target="/ppt/slideLayouts/slideLayout1.xml" Id="R2ef93fa8146b47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f93fa8146b47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d6c4b0062452c" /><Relationship Type="http://schemas.openxmlformats.org/officeDocument/2006/relationships/notesSlide" Target="/ppt/notesSlides/notesSlide1.xml" Id="R5133dc4fc43e45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9357260f148c3" /><Relationship Type="http://schemas.openxmlformats.org/officeDocument/2006/relationships/notesSlide" Target="/ppt/notesSlides/notesSlide2.xml" Id="R3f76b214d40f4a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bec70436342a0" /><Relationship Type="http://schemas.openxmlformats.org/officeDocument/2006/relationships/notesSlide" Target="/ppt/notesSlides/notesSlide3.xml" Id="R0758fd3521b848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abbebdbc24f6e" /><Relationship Type="http://schemas.openxmlformats.org/officeDocument/2006/relationships/notesSlide" Target="/ppt/notesSlides/notesSlide4.xml" Id="R2d791c9428ad41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7b842420d4198" /><Relationship Type="http://schemas.openxmlformats.org/officeDocument/2006/relationships/notesSlide" Target="/ppt/notesSlides/notesSlide5.xml" Id="Ra5b98841cc8e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7f2e3b7c74b11" /><Relationship Type="http://schemas.openxmlformats.org/officeDocument/2006/relationships/notesSlide" Target="/ppt/notesSlides/notesSlide6.xml" Id="R0fd1b275833240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1b29b13ee4ae7" /><Relationship Type="http://schemas.openxmlformats.org/officeDocument/2006/relationships/notesSlide" Target="/ppt/notesSlides/notesSlide7.xml" Id="R23011d81e95a4b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912a87fa54d4e" /><Relationship Type="http://schemas.openxmlformats.org/officeDocument/2006/relationships/notesSlide" Target="/ppt/notesSlides/notesSlide8.xml" Id="Rc912450aa2f7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7e77e681c4b7b" /><Relationship Type="http://schemas.openxmlformats.org/officeDocument/2006/relationships/notesSlide" Target="/ppt/notesSlides/notesSlide9.xml" Id="Rc0bfef0e7f4145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bdf1c591e40c0" /><Relationship Type="http://schemas.openxmlformats.org/officeDocument/2006/relationships/notesSlide" Target="/ppt/notesSlides/notesSlide10.xml" Id="R9df21fa84dbc49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fc27cfbe9455a" /><Relationship Type="http://schemas.openxmlformats.org/officeDocument/2006/relationships/notesSlide" Target="/ppt/notesSlides/notesSlide11.xml" Id="Rfd98ab0381c947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fafa3864f4f23" /><Relationship Type="http://schemas.openxmlformats.org/officeDocument/2006/relationships/notesSlide" Target="/ppt/notesSlides/notesSlide12.xml" Id="R1fdb098e574845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ef92e9a5c4b22" /><Relationship Type="http://schemas.openxmlformats.org/officeDocument/2006/relationships/notesSlide" Target="/ppt/notesSlides/notesSlide13.xml" Id="Rfb098de566af4c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3fad44c124550" /><Relationship Type="http://schemas.openxmlformats.org/officeDocument/2006/relationships/notesSlide" Target="/ppt/notesSlides/notesSlide14.xml" Id="R59836a48e2b845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5cab5d3c6487c" /><Relationship Type="http://schemas.openxmlformats.org/officeDocument/2006/relationships/notesSlide" Target="/ppt/notesSlides/notesSlide15.xml" Id="R09b26a97728a48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f3c659d534df1" /><Relationship Type="http://schemas.openxmlformats.org/officeDocument/2006/relationships/notesSlide" Target="/ppt/notesSlides/notesSlide16.xml" Id="Rc52c5ade2aa84c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6e246c062410d" /><Relationship Type="http://schemas.openxmlformats.org/officeDocument/2006/relationships/notesSlide" Target="/ppt/notesSlides/notesSlide17.xml" Id="R6d533bbf480742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daed9308f4630" /><Relationship Type="http://schemas.openxmlformats.org/officeDocument/2006/relationships/notesSlide" Target="/ppt/notesSlides/notesSlide18.xml" Id="R569523892f8e4d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e6995f4094c2c" /><Relationship Type="http://schemas.openxmlformats.org/officeDocument/2006/relationships/notesSlide" Target="/ppt/notesSlides/notesSlide19.xml" Id="Red7cbf75378243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51044627042f2" /><Relationship Type="http://schemas.openxmlformats.org/officeDocument/2006/relationships/notesSlide" Target="/ppt/notesSlides/notesSlide20.xml" Id="Ra802681a502d4f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036ccc19b4706" /><Relationship Type="http://schemas.openxmlformats.org/officeDocument/2006/relationships/notesSlide" Target="/ppt/notesSlides/notesSlide21.xml" Id="R41159aabceb040b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fa288efce46cb" /><Relationship Type="http://schemas.openxmlformats.org/officeDocument/2006/relationships/notesSlide" Target="/ppt/notesSlides/notesSlide22.xml" Id="Re72d4ba5550b449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c1e5fa20e43c8" /><Relationship Type="http://schemas.openxmlformats.org/officeDocument/2006/relationships/notesSlide" Target="/ppt/notesSlides/notesSlide23.xml" Id="R3a4bf02132b847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CDBB809C-70CA-445F-B737-402A9820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01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BE1729B-5DDB-4F04-9685-C42D9561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</a:defRPr>
            </a:pPr>
            <a:r>
              <a:rPr sz="1050" b="1">
                <a:solidFill>
                  <a:srgbClr val="5D6470"/>
                </a:solidFill>
              </a:rPr>
              <a:t>FUTURE EDGE NETWORKS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8A50D29-5394-41C1-A61D-51514834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619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A Brief History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of Wi‑Fi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998A4F8-042E-4CB3-A725-4D9657F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Protocols, PHY waveforms, and the design choices behind 802.11b → be — plus the 60 GHz ad/ay branch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DB6A1CB2-164B-4B24-A533-FAFAB01D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23950"/>
            <a:ext cx="342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7736124B-D7A9-41D7-8A92-331424CA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66925"/>
            <a:ext cx="1238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6D6DE0A2-AA4F-4328-A517-D0A941CA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76475"/>
            <a:ext cx="1238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FB0C9331-BF5C-4074-BB9E-18B5CD70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86025"/>
            <a:ext cx="123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BCB9FD8F-14E1-459B-9A67-866951DB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95575"/>
            <a:ext cx="123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A0A7EB0D-167B-4771-83DF-5AD32239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05125"/>
            <a:ext cx="123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A232ED3A-9762-4FF0-8B3D-C80D00B8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95575"/>
            <a:ext cx="123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29670D06-CCB3-41E1-8EF4-910D17AE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486025"/>
            <a:ext cx="1238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C0F9820-A661-400F-9262-DB485DC0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76475"/>
            <a:ext cx="1238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0F1B5CE0-AF18-4CB3-8424-D5C854AC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066925"/>
            <a:ext cx="1238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9D7D679-A81E-484B-BC28-4FFB8DD2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909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D5F326B4-32EB-4E34-B647-7C51062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2619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7F5DE50-D073-4791-B217-F4F921DE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2276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AD08ECC6-2A02-4045-A41B-02A84509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1933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31D89AC3-21C8-4B86-B67E-FB613482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0600"/>
            <a:ext cx="1590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DC3838D-3C13-4B23-9319-4D2FA722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470"/>
                </a:solidFill>
              </a:defRPr>
            </a:pPr>
            <a:r>
              <a:rPr sz="1275" b="1">
                <a:solidFill>
                  <a:srgbClr val="5D6470"/>
                </a:solidFill>
              </a:rPr>
              <a:t>CIS4930 / CIS5930</a:t>
            </a:r>
          </a:p>
        </p:txBody>
      </p:sp>
    </p:spTree>
    <p:extLst>
      <p:ext uri="{BB962C8B-B14F-4D97-AF65-F5344CB8AC3E}">
        <p14:creationId xmlns:p14="http://schemas.microsoft.com/office/powerpoint/2010/main" val="629241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5FC8838A-BC56-4CEC-81DD-50A930FD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BFBD1C-E912-4019-A7E0-B1089D7F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Wi‑Fi improved by spending new resource dimensions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EFEC735-39D5-41F5-B3A1-F7C182AB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7C375D7-D5AA-42E8-A3E6-AD629B9C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A2D036-B7BB-4637-BD37-480DF11A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SPECTRUM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9497CA-B5BA-4830-A9BE-BCB23AB6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2.4 → 5 → 6 → 60 GHz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E3092EF3-683A-4979-817D-B9678E77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684439-AAD2-49A5-AD42-BAE19D7A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BANDWIDTH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32FE3D-0184-4E64-90D2-6344D3F3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812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20 → 40 → 80 → 160 → 320 MHz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CC83F80-4CD0-43A7-B02E-B0F9E43A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765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4A2C1C5-721A-4BB9-BCE3-8D2099BC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CONSTELLATION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8B430EF-E739-47B5-B311-B40A116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812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BPSK → 64/256/1024/4096‑QAM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51916601-E196-46F8-92C6-8130316B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765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8F0C9F3-AECE-41C1-82FD-733F6E27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SPACE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3FC3FD8-8FA3-411A-BA17-9F751A54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338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SISO → SU‑MIMO → MU‑MIMO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AD8D7ACB-B7C5-4CA6-B347-CAC622C2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44F08CE-FF90-4A4A-8824-7DF869A2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718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SCHEDULING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2C55F74-F63E-46B7-8AF6-C03E3963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338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one user → OFDMA resource units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4D30B44-6CE3-41B8-9BDE-B7793A08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291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FBB0DF2-E0E8-436E-B7A6-6198B56B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718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3D"/>
                </a:solidFill>
              </a:defRPr>
            </a:pPr>
            <a:r>
              <a:rPr sz="1125" b="1">
                <a:solidFill>
                  <a:srgbClr val="FF8A3D"/>
                </a:solidFill>
              </a:rPr>
              <a:t>LINKS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F13E876-9E43-4C57-8457-4FDEF306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338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one band → multi‑link operation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9390537A-C003-4DAD-BAA0-E466DA1A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291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7204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CEA672FC-0422-44D1-837E-91D6858E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12CE4-3777-4DD5-8C1E-878FD4CB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An amendment name and a Wi‑Fi generation are not the same thing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4B03E6-2ABE-4E55-81EA-BAA50C9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2CACA81-75EF-4BAC-92CF-A4B52362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D8DDA22-EFAE-4B11-B463-E7BA0859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470"/>
                </a:solidFill>
              </a:defRPr>
            </a:pPr>
            <a:r>
              <a:rPr sz="1275" b="1">
                <a:solidFill>
                  <a:srgbClr val="5D6470"/>
                </a:solidFill>
              </a:rPr>
              <a:t>IEEE amendment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1ABC4E-DC84-4ABA-914C-D1FB8DA8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04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470"/>
                </a:solidFill>
              </a:defRPr>
            </a:pPr>
            <a:r>
              <a:rPr sz="1275" b="1">
                <a:solidFill>
                  <a:srgbClr val="5D6470"/>
                </a:solidFill>
              </a:rPr>
              <a:t>Market name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717591-1A4F-4D4F-AB1C-34C8BD53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049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470"/>
                </a:solidFill>
              </a:defRPr>
            </a:pPr>
            <a:r>
              <a:rPr sz="1275" b="1">
                <a:solidFill>
                  <a:srgbClr val="5D6470"/>
                </a:solidFill>
              </a:rPr>
              <a:t>PHY shorthand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DAC19DDF-A920-4F3F-9C25-6121DBEF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614040A-FE7F-4A26-A2F2-6F10D342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802.11b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73E13D3-1ACF-4267-8A82-1998008E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05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Wi‑Fi 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35FE75E-8FA5-4C06-AB9F-C08A271C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05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HR‑DSSS / CCK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4A45A22-F765-477B-A354-6750F870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802.11a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02704CD-E888-4E69-8F28-DB093615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98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Wi‑Fi 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1FE9E8F-4640-4441-B1DB-7A97BBFF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098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OFDM at 5 GHz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DEF4EB6F-AFA8-4788-945E-7358C177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20F357B-6C4E-49FC-8204-87173C14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802.11g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EF7CE13-C754-4B49-A84A-EDDAD869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14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Wi‑Fi 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24AEF0A-BB48-4C0C-A270-F6BB599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OFDM at 2.4 GHz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C006CF9-7633-415F-8CCF-209B4C80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802.11n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8B0343C-0550-4F12-ADC3-D347C86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194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Wi‑Fi 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A7EC5D-D3EC-4A84-A6A6-67FE254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194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HT: MIMO + 40 MHz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61B74EFA-745F-4D28-8918-9AF1364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864256B-D35B-41D2-B026-DED99BF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802.11ac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EA2A29C-9AB3-4321-B8DB-CBF23A02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24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Wi‑Fi 5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38BE1FA-9B58-447F-9633-44F86C08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243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VHT: wider + 256‑QAM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72B87FA-399F-4C5C-AB0C-C695B79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802.11ax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E66A9F4-360C-4820-95D1-58D1656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29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Wi‑Fi 6 / 6E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351542F-5832-488C-9A84-AB084E57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291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HE: OFDMA + 1024‑QAM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101EBBD9-FC7D-4E33-A1A2-9FC31A76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0578CB1-43F3-4327-AA0C-1F55D3A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802.11be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334BEE53-1AD8-4101-AFF3-8CE477A8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33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Wi‑Fi 7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1422695-F49F-4F91-860F-F23B66C6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EHT: MLO + 320 MHz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25B5412-D73B-47AA-9DB9-F600FF6F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8A3D"/>
                </a:solidFill>
              </a:defRPr>
            </a:pPr>
            <a:r>
              <a:rPr sz="1500" b="1">
                <a:solidFill>
                  <a:srgbClr val="FF8A3D"/>
                </a:solidFill>
              </a:rPr>
              <a:t>802.11ad / ay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369196B-4738-4BDB-BAB5-120C8C54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38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WiGig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23D6E24-4969-47D9-8E81-E7E7F74C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387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Directional 60 GHz</a:t>
            </a:r>
          </a:p>
        </p:txBody>
      </p:sp>
    </p:spTree>
    <p:extLst>
      <p:ext uri="{BB962C8B-B14F-4D97-AF65-F5344CB8AC3E}">
        <p14:creationId xmlns:p14="http://schemas.microsoft.com/office/powerpoint/2010/main" val="1509614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574BF996-383C-4A11-BAC2-C84E4A45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1638D6-7307-41ED-A2E7-B320E384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Four milestones made consumer Wi‑Fi possible by 1999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069AFF-EB8D-4D76-B678-6CBF490F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6A9C4BA-B463-45F1-854F-4375C17D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04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B43692B-7083-43AB-9B75-FEFDDAC4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531A5-91ED-43DD-AC29-71923AA3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5AF8598E-FEE4-45B7-B2E3-30796DAA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523155-9114-4A78-A022-36C2B4BC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1971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EAE50F8-186B-4F91-A794-B7E5AB89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623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ALOHAnet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AD437C-17F5-41F8-B235-1D9E7C0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210050"/>
            <a:ext cx="2247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Wireless packet networking proves shared radio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A93BE-A0F9-435C-AEA5-04FC75E2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BE6B60C4-E731-4372-848E-CB634414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4011F4-8C58-48F2-9D7B-1DC5D4E6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1985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607C827-A9FD-4B5D-8F38-54E5ACE9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623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Unlicensed ISM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B3F6D3-AD59-49FA-ACAD-636A4EEC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10050"/>
            <a:ext cx="2247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FCC opens spectrum for spread-spectrum systems.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5586C-371E-4936-BA97-055C5E1A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07BAC154-F6B5-4839-A70A-1D7E83BA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A84E85A-F0EB-4419-A454-FCFF46BC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1990–97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3D18A3F-5ED4-4F98-98B8-57FE7B99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623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IEEE 802.11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789683F-623A-4F6A-A575-54252751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0050"/>
            <a:ext cx="2247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A common MAC/PHY standard replaces vendor islands.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453EF-D55B-443D-BE4B-B2493072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19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A16AD592-9B82-4F37-AB7F-205E1011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19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9CEC4B2-005E-4101-89CB-5BF6450C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1999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A2E68F5-E686-459C-83FA-C95B396C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623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Wi‑Fi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7110FA6-CD97-4530-BC6E-C5253469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2247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802.11a/b and interoperability certification arrive.</a:t>
            </a:r>
          </a:p>
        </p:txBody>
      </p:sp>
    </p:spTree>
    <p:extLst>
      <p:ext uri="{BB962C8B-B14F-4D97-AF65-F5344CB8AC3E}">
        <p14:creationId xmlns:p14="http://schemas.microsoft.com/office/powerpoint/2010/main" val="638396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090F07AD-AB5D-438D-88CB-7C1A1E5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A8B681-05C3-465F-B327-FDF8A68E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The recognizable 802.11 protocol lives above changing PHYs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A2D6F44-6F60-4066-8FA8-E1B9BAF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FB5F9F7-FF2E-4D29-8857-464BFFCA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05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A13D1EA8-CE15-4ABD-8178-8C00EA0E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66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C801F0-0B9C-4A21-B44D-E3E9D208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LLC / IP / applications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4E39631-B72E-4A31-9D84-55CCE88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954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Outside 802.11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4A5C4696-E75E-4EB9-ADDB-3395496D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2E3A4C1-0AA5-4240-848E-F183FDE5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381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802.11 MAC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BDDF1DA-39C0-4511-B319-1CC11973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3619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Association • framing • ACK • security • CSMA/CA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61F8FA8E-6621-4182-942C-0FF3F715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666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AD39C5-E509-4EE6-B9FC-2230A3C8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2381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PLCP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CC7DEE-FB27-4ECF-B227-F5A29BD6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62375"/>
            <a:ext cx="3619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Preamble • header • rate signaling • PPDU format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3C20112F-B1DC-43C1-AEAB-E0B1A77D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666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ECE6B23-F0C1-4A20-AF1F-5547337B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PMD / waveform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B099BEF-6ABB-4CC7-B009-E2F53671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7205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DSSS • OFDM • MIMO • OFDMA • single carrier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6ED7E63-8FDB-422A-A278-4BC7A53F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Same family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9931B77-3D50-41F7-B65D-157124F0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Different ways to turn bits into radio energy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586BBCC-06AF-4976-9BD4-A0C5A679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67200"/>
            <a:ext cx="38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E8B700E-0938-4AAB-A049-D693B53B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24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8A3D"/>
                </a:solidFill>
              </a:defRPr>
            </a:pPr>
            <a:r>
              <a:rPr sz="1350" b="1">
                <a:solidFill>
                  <a:srgbClr val="FF8A3D"/>
                </a:solidFill>
              </a:rPr>
              <a:t>PHY evolution</a:t>
            </a:r>
          </a:p>
        </p:txBody>
      </p:sp>
    </p:spTree>
    <p:extLst>
      <p:ext uri="{BB962C8B-B14F-4D97-AF65-F5344CB8AC3E}">
        <p14:creationId xmlns:p14="http://schemas.microsoft.com/office/powerpoint/2010/main" val="2048544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">
            <a:extLst xmlns:a="http://schemas.openxmlformats.org/drawingml/2006/main">
              <a:ext uri="{FF2B5EF4-FFF2-40B4-BE49-F238E27FC236}">
                <a16:creationId xmlns:a16="http://schemas.microsoft.com/office/drawing/2014/main" id="{8B9EFB50-AE5C-4431-81B2-DC52499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DACFB-19FA-400E-B547-A4B9FC6A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The 1997 baseline solved shared access before it solved speed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AFDB878-FC46-4F34-8201-D93A8CDA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439C890-3EE7-4EE5-9D93-8AA1C472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06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76078DE-9F9C-4FCD-AF90-45F3B516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97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E16AD2-550B-442B-9BDB-8BCC9B51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954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COMMON MAC IDEA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02995CF-D0AF-4BA2-BCD6-E5228954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Listen → wait → random backoff → transmit → ACK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76DAAAB5-1911-4431-AE0D-A85EDD48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E95BB1-48E7-4E27-96BC-BFC607E3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sense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B8466E-D7CD-4F23-99DE-58F815B9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43225"/>
            <a:ext cx="219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470"/>
                </a:solidFill>
              </a:defRPr>
            </a:pPr>
            <a:r>
              <a:rPr sz="1650" b="1">
                <a:solidFill>
                  <a:srgbClr val="5D6470"/>
                </a:solidFill>
              </a:rPr>
              <a:t>→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11B9ED58-67BE-4508-ACCA-CE30C29E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575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DA863E-9B12-4CB0-B07B-0FF945B1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5750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DIFS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0F233DB-42C7-4F7C-BCB6-ACC3D505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43225"/>
            <a:ext cx="219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470"/>
                </a:solidFill>
              </a:defRPr>
            </a:pPr>
            <a:r>
              <a:rPr sz="1650" b="1">
                <a:solidFill>
                  <a:srgbClr val="5D6470"/>
                </a:solidFill>
              </a:rPr>
              <a:t>→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FF6150A2-19AC-4780-842A-FCCC92F0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575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51A2DF6-455E-41DE-A65C-1CD6CC8D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5750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backoff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10018D3-6BA1-4A9A-85FE-5CF12FD1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43225"/>
            <a:ext cx="219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470"/>
                </a:solidFill>
              </a:defRPr>
            </a:pPr>
            <a:r>
              <a:rPr sz="1650" b="1">
                <a:solidFill>
                  <a:srgbClr val="5D6470"/>
                </a:solidFill>
              </a:rPr>
              <a:t>→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A8A00F85-7E96-4C19-891B-DFA4953D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B298875-F4E9-491A-A123-B5BBD06B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E60E17C-E9DA-4AAA-A42A-E0CE865C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43225"/>
            <a:ext cx="219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6470"/>
                </a:solidFill>
              </a:defRPr>
            </a:pPr>
            <a:r>
              <a:rPr sz="1650" b="1">
                <a:solidFill>
                  <a:srgbClr val="5D6470"/>
                </a:solidFill>
              </a:rPr>
              <a:t>→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E20AEEF1-F772-4599-9868-81A351D5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230B4E4-A1B9-4A03-BED6-571E7190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ACK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2182B781-FFEF-4914-AD8A-A0DE9E3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4405392-91B4-49FA-B911-69ACA165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Original PHY choices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F18F8-7B41-427E-B668-241473BC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E821F258-A538-4B14-BDEB-10F3C7F1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bullet">
            <a:extLst xmlns:a="http://schemas.openxmlformats.org/drawingml/2006/main">
              <a:ext uri="{FF2B5EF4-FFF2-40B4-BE49-F238E27FC236}">
                <a16:creationId xmlns:a16="http://schemas.microsoft.com/office/drawing/2014/main" id="{16C817A7-3A9E-4599-8FC6-E8CB98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2.4 GHz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8A51BB-A1D6-4617-9D88-2A873ACD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338815A6-6B3E-46E6-A3B7-550F3B6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bullet">
            <a:extLst xmlns:a="http://schemas.openxmlformats.org/drawingml/2006/main">
              <a:ext uri="{FF2B5EF4-FFF2-40B4-BE49-F238E27FC236}">
                <a16:creationId xmlns:a16="http://schemas.microsoft.com/office/drawing/2014/main" id="{EB788CE5-2992-4700-9B6D-C516120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 or 2 Mb/s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6786F-EA7D-437B-B449-78ED23FA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EC2E8AB2-CD1E-479A-9782-1DFBE0CA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bullet">
            <a:extLst xmlns:a="http://schemas.openxmlformats.org/drawingml/2006/main">
              <a:ext uri="{FF2B5EF4-FFF2-40B4-BE49-F238E27FC236}">
                <a16:creationId xmlns:a16="http://schemas.microsoft.com/office/drawing/2014/main" id="{6D2FDB85-4DC8-4FA9-9676-C66E560A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FHSS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45EECC-7218-4D10-87DF-5DAED8F0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2E0D7B3A-CB60-418C-ADA6-FF0F3C22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bullet">
            <a:extLst xmlns:a="http://schemas.openxmlformats.org/drawingml/2006/main">
              <a:ext uri="{FF2B5EF4-FFF2-40B4-BE49-F238E27FC236}">
                <a16:creationId xmlns:a16="http://schemas.microsoft.com/office/drawing/2014/main" id="{00DA8FEF-AC66-442F-874F-B54858EB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DSSS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83779B-36D3-4A97-A6F3-9A45C88A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178501E6-C5C4-4FF7-8351-CD536850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bullet">
            <a:extLst xmlns:a="http://schemas.openxmlformats.org/drawingml/2006/main">
              <a:ext uri="{FF2B5EF4-FFF2-40B4-BE49-F238E27FC236}">
                <a16:creationId xmlns:a16="http://schemas.microsoft.com/office/drawing/2014/main" id="{F236EBDB-C413-46A8-ADE9-B92FB0B9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577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Infrared option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C429469F-4072-4B42-8C24-794FB55B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470"/>
                </a:solidFill>
              </a:defRPr>
            </a:pPr>
            <a:r>
              <a:rPr sz="1725" b="0">
                <a:solidFill>
                  <a:srgbClr val="5D6470"/>
                </a:solidFill>
              </a:rPr>
              <a:t>CSMA/CA avoids collisions; it cannot detect them while transmitting.</a:t>
            </a:r>
          </a:p>
        </p:txBody>
      </p:sp>
    </p:spTree>
    <p:extLst>
      <p:ext uri="{BB962C8B-B14F-4D97-AF65-F5344CB8AC3E}">
        <p14:creationId xmlns:p14="http://schemas.microsoft.com/office/powerpoint/2010/main" val="1382173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A10E3F83-F940-4E59-99BC-B8D17F9C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A508F4-E284-4B7B-AB94-807DF003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802.11b made 2.4 GHz practical with coded spreading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636FA0B-476C-40A5-933E-631B367D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0BFBAAD-565E-4093-B830-C2628FDD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07</a:t>
            </a:r>
          </a:p>
        </p:txBody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F333F81-3DC4-4531-872A-2A5813B6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11 Mb/s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7763060-1C3B-47B7-B991-46462A7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maximum PHY rate</a:t>
            </a:r>
          </a:p>
        </p:txBody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D62EB26-5799-411F-88DF-D2E173A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4305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≈22 MHz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D0F9B84-0844-4666-AC89-F0093846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98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channel width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F4E4D4E-CEC6-4474-BDB5-1960864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4305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2.4 GHz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BA036FB-EAB3-4652-8389-8CEFA1BA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098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band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A517AA-3C26-4399-B503-3E0C46E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One symbol becomes a patterned chip sequence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28943C05-B58F-482E-B622-3B05D72B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0E27025-99CA-4E82-9885-3643F198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FFAC58C1-883E-447A-B1B4-C57C0290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514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9AF607C-E916-4C56-8245-A89746B5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514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7B1DDD21-E455-4CF2-8463-9B8164A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14750"/>
            <a:ext cx="514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9BBD736-C1CE-4701-93CC-6363DA39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14750"/>
            <a:ext cx="514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F25312BD-278B-4842-A5DD-D3130F8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14750"/>
            <a:ext cx="514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471DBF1-08B7-4213-A24B-1FA44CCD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14750"/>
            <a:ext cx="514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1B1F53D9-E819-4243-B28B-87879E60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514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F03D735-9816-4635-BBD0-15B92BE7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514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C37E4C1F-9240-4ABA-9740-909DA032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514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E05DF12-B5E6-45CC-9FA3-8E88D05E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514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8CDECBC5-458A-4EF5-B16F-F22C09F8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514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28DD6CD-2EFB-430C-9DBF-5EEDB1B8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514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FB429D31-91F5-4EED-A8C8-675C4E11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514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67D0B99-AD5C-4074-9C30-1B89DEC6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514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AFAC2AC-16F9-4FCA-A485-B12DC035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571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</a:defRPr>
            </a:pPr>
            <a:r>
              <a:rPr sz="1500" b="0">
                <a:solidFill>
                  <a:srgbClr val="5D6470"/>
                </a:solidFill>
              </a:rPr>
              <a:t>CCK encodes information in the phase relationships of code words; spreading provides processing gain and robustness.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4D80BADF-99FD-4B42-ACE2-823CD599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3810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5CE72F8-A1E3-402A-8E18-59205B05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431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470"/>
                </a:solidFill>
              </a:defRPr>
            </a:pPr>
            <a:r>
              <a:rPr sz="1425" b="1">
                <a:solidFill>
                  <a:srgbClr val="5D6470"/>
                </a:solidFill>
              </a:rPr>
              <a:t>PHY path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890611C-C545-4308-A1EE-4AE0E4AD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bits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0132442-339D-46ED-961A-0EE8F7B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A938960-9121-442C-96B1-432A6720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9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CCK code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91172C8-950F-471B-ACEA-DE9FE562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09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EF61B82-D03A-46AA-9166-A97B61B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DSSS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78A42F2-89DA-4A39-ABA0-FB2A16B8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270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1 / 2 Mb/s: Barker coding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5.5 / 11 Mb/s: CCK</a:t>
            </a:r>
          </a:p>
        </p:txBody>
      </p:sp>
    </p:spTree>
    <p:extLst>
      <p:ext uri="{BB962C8B-B14F-4D97-AF65-F5344CB8AC3E}">
        <p14:creationId xmlns:p14="http://schemas.microsoft.com/office/powerpoint/2010/main" val="513838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kicker">
            <a:extLst xmlns:a="http://schemas.openxmlformats.org/drawingml/2006/main">
              <a:ext uri="{FF2B5EF4-FFF2-40B4-BE49-F238E27FC236}">
                <a16:creationId xmlns:a16="http://schemas.microsoft.com/office/drawing/2014/main" id="{D42E930F-0B04-4732-B175-3BA36429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9DD4FB-27F5-4A3E-A17E-1C4AFC2E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802.11a replaced spreading with many orthogonal subcarriers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503A57F-DDDE-4041-B8AC-7B80B767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AFFF301-023B-4CA3-BF74-6E59DC22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08</a:t>
            </a:r>
          </a:p>
        </p:txBody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C9E4027F-70F6-48EB-BB36-9C2448DC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54 Mb/s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A75846E-FCA9-4B9E-81C2-868DF7B8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maximum rate</a:t>
            </a:r>
          </a:p>
        </p:txBody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A8511BB-E6A7-4389-8B4E-49140E31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049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20 MHz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4D94F83-2C2D-40EA-A2D0-2DCB0650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71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channel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50A9F16-40E4-4536-9C90-4F367179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049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5 GHz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351F503-9F90-4BDB-A7A2-7CE16F88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71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band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16A2015-EDBF-417B-ACF4-4E7660CD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OFDM spectrum: overlapping subcarriers, orthogonal at sampling points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479E80D8-DBC6-4CA0-B303-2EAE32B8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9528"/>
            <a:ext cx="133350" cy="16915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9CA90491-1C2F-401D-93D8-B302A8E3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67536"/>
            <a:ext cx="133350" cy="4235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C74946F3-F809-4CC6-9C20-66B2A50B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73917"/>
            <a:ext cx="133350" cy="15171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DB5F693-93FD-40CB-AB2C-2D6306E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20526"/>
            <a:ext cx="133350" cy="67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C940BA88-4F4F-4E5F-A1DC-FE4909E7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7145"/>
            <a:ext cx="133350" cy="1213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8F48368-D33A-49BE-9D5E-325A5E53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81216"/>
            <a:ext cx="133350" cy="1009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1F92AF0C-B2EC-48B5-BACE-168DD2FF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30006"/>
            <a:ext cx="133350" cy="861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4AA83CAC-C0DF-4788-9DEE-CE582162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235"/>
            <a:ext cx="133350" cy="1352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6A63BEFF-851B-4F59-BD7C-1981A33C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40332"/>
            <a:ext cx="133350" cy="55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30421227-277F-4D2F-91E3-836E9C3E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172"/>
            <a:ext cx="133350" cy="1609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ADB4870F-9B8E-4564-B1EC-B334CE0A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7063"/>
            <a:ext cx="133350" cy="364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9C9F0869-BC82-4787-913B-84F817BB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77172"/>
            <a:ext cx="133350" cy="1713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9F0874C4-2B47-4C6C-ACCC-E98724B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41425"/>
            <a:ext cx="133350" cy="34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E5ED5D8B-DA92-4FCC-9663-CBF49F82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3401"/>
            <a:ext cx="133350" cy="16376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EFD2DA43-8E37-4D52-94A2-C4E0659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9666"/>
            <a:ext cx="133350" cy="511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221A7F34-D794-4FC2-A157-90573A1F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89948"/>
            <a:ext cx="133350" cy="1401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AA20A98F-5D26-4FD1-A95C-D87D2267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666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solidFill>
              <a:srgbClr val="20242A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4059F15-D743-47F8-8C35-6A389D7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91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frequency →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90B3C4DE-D9C2-4877-9F38-28BBACFC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3337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27E77FD-61A8-4196-B080-503886CD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20 MHz OFDM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24744A-C924-4E74-AB60-ABB06523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56E1811-7A34-4CAD-BF2E-F06949A1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bullet">
            <a:extLst xmlns:a="http://schemas.openxmlformats.org/drawingml/2006/main">
              <a:ext uri="{FF2B5EF4-FFF2-40B4-BE49-F238E27FC236}">
                <a16:creationId xmlns:a16="http://schemas.microsoft.com/office/drawing/2014/main" id="{D571D70D-A20E-49E1-AD5E-F3731C96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64-point FFT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EB8964-B918-495A-89AC-795D8B1C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7625873-4C30-4292-BCA9-A9FEBC3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bullet">
            <a:extLst xmlns:a="http://schemas.openxmlformats.org/drawingml/2006/main">
              <a:ext uri="{FF2B5EF4-FFF2-40B4-BE49-F238E27FC236}">
                <a16:creationId xmlns:a16="http://schemas.microsoft.com/office/drawing/2014/main" id="{C4C68487-FEE7-4156-BBA9-57ADA8E0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48 data subcarriers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FA85ED-2A55-4ED7-B0B4-76F7FE8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52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C1D2C979-C9B9-4B1C-81C8-3439B7CE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528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bullet">
            <a:extLst xmlns:a="http://schemas.openxmlformats.org/drawingml/2006/main">
              <a:ext uri="{FF2B5EF4-FFF2-40B4-BE49-F238E27FC236}">
                <a16:creationId xmlns:a16="http://schemas.microsoft.com/office/drawing/2014/main" id="{1E9721B6-CD14-419D-AF7C-415D65A5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956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 pilot subcarriers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D7FF75-8D80-441B-BE76-C4B2574B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2D9D4F85-1862-4E01-818D-96050F06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bullet">
            <a:extLst xmlns:a="http://schemas.openxmlformats.org/drawingml/2006/main">
              <a:ext uri="{FF2B5EF4-FFF2-40B4-BE49-F238E27FC236}">
                <a16:creationId xmlns:a16="http://schemas.microsoft.com/office/drawing/2014/main" id="{368C1847-0155-4821-AAD1-4767E446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BPSK to 64-QAM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C07336-C650-424A-944E-87F2AE6B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83DAB7B0-D014-4951-ADF6-DC63D61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bullet">
            <a:extLst xmlns:a="http://schemas.openxmlformats.org/drawingml/2006/main">
              <a:ext uri="{FF2B5EF4-FFF2-40B4-BE49-F238E27FC236}">
                <a16:creationId xmlns:a16="http://schemas.microsoft.com/office/drawing/2014/main" id="{5F8DED7D-7B4F-42E9-994C-F86D67F8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672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6–54 Mb/s</a:t>
            </a:r>
          </a:p>
        </p:txBody>
      </p:sp>
    </p:spTree>
    <p:extLst>
      <p:ext uri="{BB962C8B-B14F-4D97-AF65-F5344CB8AC3E}">
        <p14:creationId xmlns:p14="http://schemas.microsoft.com/office/powerpoint/2010/main" val="992388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C5B2489F-BEE4-4541-BF9D-AF69B515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6F6C01-076E-420C-9517-B9949F4A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802.11g brought the 802.11a waveform back to 2.4 GHz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53D793C-3CBB-4F49-A276-8869451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0389CF3-05BB-4B25-868D-4AA65E1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09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120DCCD-7FA0-46C3-9455-C9CEAC4E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F5D6AD4-3868-4E29-9162-2688D7EC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802.11b neighborhood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F2705CF-4A5C-4615-A5B1-D760CD06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2.4 GHz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173A04-14E9-49DA-A301-24EB2215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DSSS / CCK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AD367664-4C8C-436F-9D80-5824E60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1450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8085FB-CA13-42D9-99F8-20D357E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574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802.11a engine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AB9DB03-4A76-47A2-B18E-5BE0715B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OFDM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FE0741-57E0-41B7-AA28-EA9F5CBD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76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up to 54 Mb/s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4F88F51-AA9A-4162-8FD7-3BC4458E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8605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8A3D"/>
                </a:solidFill>
              </a:defRPr>
            </a:pPr>
            <a:r>
              <a:rPr sz="3900" b="1">
                <a:solidFill>
                  <a:srgbClr val="FF8A3D"/>
                </a:solidFill>
              </a:rPr>
              <a:t>+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11DFEAC-73A2-475D-A7D3-FC2AC054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470"/>
                </a:solidFill>
              </a:defRPr>
            </a:pPr>
            <a:r>
              <a:rPr sz="1650" b="0">
                <a:solidFill>
                  <a:srgbClr val="5D6470"/>
                </a:solidFill>
              </a:rPr>
              <a:t>Backward-compatible mixed networks pay protection overhead when legacy 802.11b stations are present.</a:t>
            </a:r>
          </a:p>
        </p:txBody>
      </p:sp>
    </p:spTree>
    <p:extLst>
      <p:ext uri="{BB962C8B-B14F-4D97-AF65-F5344CB8AC3E}">
        <p14:creationId xmlns:p14="http://schemas.microsoft.com/office/powerpoint/2010/main" val="475416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C9A0DA3E-5569-4855-9FED-7E52EC47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C0004B-28E5-43BA-BE81-B1906C6F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802.11n scales rate in bandwidth, space, and time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E526683-51E9-4273-8F3D-76F66834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6C19C14-D611-4EDF-A840-C3EB0A8A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959B39-03C7-4BAF-A4F0-C0AF8D49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40 MHz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1D3285-A164-430C-A867-25AD52AD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0"/>
                </a:solidFill>
              </a:defRPr>
            </a:pPr>
            <a:r>
              <a:rPr sz="1575" b="0">
                <a:solidFill>
                  <a:srgbClr val="5D6470"/>
                </a:solidFill>
              </a:rPr>
              <a:t>channel bonding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DBA6C76D-458D-484F-8435-8D4106F0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955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B3EC58-35AE-4CB6-A3EB-47C2B2AA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4 streams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8ED340-585A-4B41-A26C-33C91C89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0"/>
                </a:solidFill>
              </a:defRPr>
            </a:pPr>
            <a:r>
              <a:rPr sz="1575" b="0">
                <a:solidFill>
                  <a:srgbClr val="5D6470"/>
                </a:solidFill>
              </a:rPr>
              <a:t>SU‑MIMO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77DE8F6-396D-4B43-82E4-55184463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955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32B173-2992-4230-922C-7795B3E8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64‑QAM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09E0EB-A09D-4D28-9254-4B72A6A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0"/>
                </a:solidFill>
              </a:defRPr>
            </a:pPr>
            <a:r>
              <a:rPr sz="1575" b="0">
                <a:solidFill>
                  <a:srgbClr val="5D6470"/>
                </a:solidFill>
              </a:rPr>
              <a:t>denser symbols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F9EEDC69-E7DD-4801-9B5B-BA0B5580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148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017A2F3-C730-40C5-8269-676D6653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A‑MPDU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2E12E99-A98F-4C18-AB5E-02FA5C7B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0"/>
                </a:solidFill>
              </a:defRPr>
            </a:pPr>
            <a:r>
              <a:rPr sz="1575" b="0">
                <a:solidFill>
                  <a:srgbClr val="5D6470"/>
                </a:solidFill>
              </a:rPr>
              <a:t>frame aggregation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D281640-5D17-49D8-858C-A6F592DA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148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0A58B73-467A-4D91-A82F-B31012EC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Antenna arrays turn multipath from an impairment into parallel spatial streams.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BE7F3-BAD5-4966-988D-685C9AC7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43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4828B6F7-4BC3-4286-B084-E5953DB5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43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BBDDB-0B82-4538-960D-8DA057F9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BD1B97C7-178D-48E5-A71D-3203E202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STA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5FD7E60-6ECC-4557-A2BB-61661E1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1015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19F2E8BC-E0B8-4CA0-8AEF-F369290F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23875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D32C2322-E95A-4694-9A3B-2C2B6CB9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6735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5" name="pill">
            <a:extLst xmlns:a="http://schemas.openxmlformats.org/drawingml/2006/main">
              <a:ext uri="{FF2B5EF4-FFF2-40B4-BE49-F238E27FC236}">
                <a16:creationId xmlns:a16="http://schemas.microsoft.com/office/drawing/2014/main" id="{9AA28AB2-339C-4B3A-B83D-63614AE9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ll-text">
            <a:extLst xmlns:a="http://schemas.openxmlformats.org/drawingml/2006/main">
              <a:ext uri="{FF2B5EF4-FFF2-40B4-BE49-F238E27FC236}">
                <a16:creationId xmlns:a16="http://schemas.microsoft.com/office/drawing/2014/main" id="{1CF7BAF9-C07D-40B9-A623-88D0E275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2.4 + 5 GHz</a:t>
            </a:r>
          </a:p>
        </p:txBody>
      </p:sp>
    </p:spTree>
    <p:extLst>
      <p:ext uri="{BB962C8B-B14F-4D97-AF65-F5344CB8AC3E}">
        <p14:creationId xmlns:p14="http://schemas.microsoft.com/office/powerpoint/2010/main" val="13960009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kicker">
            <a:extLst xmlns:a="http://schemas.openxmlformats.org/drawingml/2006/main">
              <a:ext uri="{FF2B5EF4-FFF2-40B4-BE49-F238E27FC236}">
                <a16:creationId xmlns:a16="http://schemas.microsoft.com/office/drawing/2014/main" id="{9B5DF3A8-A8FE-4B90-A9D9-A583CE99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A49BC0-46B3-429D-8BEA-DD2E7329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802.11ac pushes the 5 GHz OFDM formula harder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C8D2686-616F-4AF4-AEBF-A01D3481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6FAF929-2EB3-4DC5-A013-57058C25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C104F4-9EAF-417A-B509-E30220FF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3D8DFF"/>
                </a:solidFill>
              </a:defRPr>
            </a:pPr>
            <a:r>
              <a:rPr sz="2475" b="1">
                <a:solidFill>
                  <a:srgbClr val="3D8DFF"/>
                </a:solidFill>
              </a:rPr>
              <a:t>160 MHz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EFB2B6-5C51-463A-AF84-EA0209CD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up to 80+80 / 160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7DC596-7823-4594-B002-272FDC23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3D8DFF"/>
                </a:solidFill>
              </a:defRPr>
            </a:pPr>
            <a:r>
              <a:rPr sz="2475" b="1">
                <a:solidFill>
                  <a:srgbClr val="3D8DFF"/>
                </a:solidFill>
              </a:rPr>
              <a:t>256‑QAM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72A16C-06F4-41DB-A207-8750A9C3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8 bits per symbol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EF120C-FF78-45A5-9EF5-4406FBA7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954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3D8DFF"/>
                </a:solidFill>
              </a:defRPr>
            </a:pPr>
            <a:r>
              <a:rPr sz="2475" b="1">
                <a:solidFill>
                  <a:srgbClr val="3D8DFF"/>
                </a:solidFill>
              </a:rPr>
              <a:t>8 streams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708AA4-357C-4307-8119-A732BB2B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24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standard maximum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2A01F4B-4AAD-46D1-980D-FC5A233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8A3D"/>
                </a:solidFill>
              </a:defRPr>
            </a:pPr>
            <a:r>
              <a:rPr sz="2475" b="1">
                <a:solidFill>
                  <a:srgbClr val="FF8A3D"/>
                </a:solidFill>
              </a:rPr>
              <a:t>DL MU‑MIMO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066204B-EB6D-4A75-8E16-E7E670A5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Wave 2 capability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C41E1267-9240-4FCB-9C04-9733E83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112C1D0-D69B-4BC5-93B0-A08F333D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Wider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C02BE623-4A92-4974-8049-51C43119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10F8201C-A6D2-446D-BB13-75E5CDD7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957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0A6EF7D-4705-4264-9148-3797246D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20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BFA0AEE-AC01-4281-9F79-BC6EEDC5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+ 40 + 80 + 160 MHz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F6FB4AC-D31B-482E-89D3-AB4D006A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Tighter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79953-1D66-4660-BC67-4C7EB989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A912C900-AB40-4152-BD79-FF73C725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E4C903-7596-4DA2-A43D-1BCEC5B9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2CFEB6F0-ACD8-459F-BB62-77902817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A5A0F-04D2-4FDB-8CF6-B894F809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014D05DC-2C8A-4830-8B29-6486E968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24240-3CF2-4A4D-979B-617F266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208596B4-D780-450C-9998-102FF374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71AA9A-9954-48F8-9747-D5786EA5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1B909C89-C0FE-457C-AFD0-7878602C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46AD5-26A4-4539-B0B1-577A1B1C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F960444F-E880-4A55-859C-05ADD63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58FADC-3C69-4280-8307-8E5C060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E87E1045-9DCC-4F80-BB7C-889B727A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688608-F1FF-40EF-9756-1E6AA184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051C496D-6A8A-4CC8-BA2E-6B4FE652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0FB4FB-6A3F-475A-90F5-2988A1CB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71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82026817-9060-4ACD-8FD6-ED2537A8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71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596F0F-8962-45A3-AFD8-F8E9FEAE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24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04993654-CD89-4CB6-A453-24748A90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24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609284-32EA-45BA-BBC1-24589016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3208084E-A2F6-4AAA-8C3D-7D7CA971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76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3CB2A2-D9F0-4CB6-BE2D-AF431B40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3ECF779-DCBC-4776-9C1A-F7EB89D6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291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5150F7-3A39-4B06-9DB3-E89F41F9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81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7DA20A8D-23BE-4407-A495-109A21F8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815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91C6B5-2983-461F-94CA-8159F13C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0D9322A6-D65E-4DDE-B61F-291FE877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33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1BFA83-7D5A-470B-8244-5409A469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86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16EADC4-C167-49B8-B7F6-8B17ADD4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86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DEAE86-253B-4D65-9B4B-4D3AD890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38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4CC8B9BC-BDCE-4A05-94BC-EF4A9620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38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813748-036C-48CC-8C87-0FA3BB54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BAAD237C-44E3-432B-8292-E13F73CC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0C0E08-175C-426B-A351-4232BC39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24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A8156106-1646-47AE-9FA5-D633BEA3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24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3F8C3C-08E0-4F72-B7D8-9BF36C16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262D56F9-EA7A-4E4F-A7C6-69E2320B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76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4C21E8-D773-4121-8302-050F14E7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6F8FCF1-79D8-4194-A1C4-7DBD800C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291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2F454F-1E56-41E7-9117-3D5D358E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81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8BDD643C-D9BF-41C2-A9D1-8CB62FCE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815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C9D860-7C91-4198-86FE-CF1CBB73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CBA5E55E-1CA3-4C60-846B-81F450EF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33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5329ED-4BC0-41F1-BE8B-C6A0E229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86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2BAA7FD4-9009-4BE4-9047-0813B0CF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86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733BB5-DA58-4D6D-87FF-28D82572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38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145A985-82D3-4E90-B3C8-5C8079C7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38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5BEB982-4C6D-4D94-B1E2-9AA329CB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71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107EEDAC-7474-4F38-87DD-4063F059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71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0DF5EF1-FF40-4153-854E-895709FA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24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557F7898-63A3-42E7-BC8D-1CD9F585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24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F339FF-BC64-4A5A-AF60-80AB1369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3FD87CC8-A305-4871-8C6F-90C0F28B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76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4A44B1-44A4-43E8-B372-E1DAB256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250BD00-C1B3-437C-B458-9AD8BED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6291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EDF6D23-BCAB-4F8A-83A8-AC4CABEB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781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35722D49-AC09-4F99-837D-45320F16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7815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2BC9D06-2388-4CAA-A807-2A5B7DCF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E847A803-0D7B-4CC0-A665-30F2BB90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933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ADEFA7-0BA5-4C7C-AEFE-0F39FF35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086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3927A4C0-3961-4652-8602-1DDA7E42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086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D4A6C78-318D-41DD-9DE3-0A6991A6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38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8FF07FCB-6BFF-485B-9BDF-2A4FD112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38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1306CD-4072-4A46-A999-0B1526C6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71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170E79A-A9D2-419E-84EC-D85721D1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71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50BD4E0-9B06-492D-AEA5-CD81768F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24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28362E9C-774E-4357-8CB3-B091DC84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24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4F55ECA-6E84-443D-8F81-9CA053D0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AD8C1D82-B12D-4401-B2BB-8D79D569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76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40C142-DAB1-4C8A-86C1-93D2D9C7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59679437-988A-4816-87FD-3AEB5BD6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291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E9C1F71-BA5D-4216-8992-147AC9EE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81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B80950C7-9E9C-4CAE-A5D6-6853A31A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815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B134445-BEA6-4333-8ED1-5073B619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8B468CB0-9A37-4BB5-9B81-7E3430AA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33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7930F92-EED4-4883-A94D-4399A8A2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86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93115B84-10D5-4B69-BF6E-F38BF9E7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86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1E23536-8CBF-4402-B098-4AB19D98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38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28357D70-A58B-4067-B05A-4C99725B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38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1FC9C6A-6A30-42BB-AFB0-F73F6292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71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B1649D84-0C24-4BB7-860B-A5E41CF4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71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71CE28A-767C-4374-ADD8-E36F6461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24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A369FD1D-1F3C-4B1E-8F18-EC2FC6CC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24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E87063-04FB-4BEB-95F3-3AD8DD47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A88D3D1D-D111-4032-93B9-F46A46EB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76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EB583D-131D-4092-8EDD-E2279E5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4171B1BB-5C3B-4B2F-A37C-59B5A5E8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291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E9A0D4F-1FE7-44D9-92E6-25A01697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81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92B00C03-D3B9-44FD-842A-C2CD48EE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815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6EF33A-4018-4C06-8701-165CA138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DAC4933B-753D-4C09-9BB1-FA75C203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33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E8FC841-6727-4867-8567-DB36048D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86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CF92474A-72A1-4AE8-85B8-23312EF7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86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E3CE0F7-F185-4581-A944-6FC1A341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38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F2F89B79-CC59-40FC-9E58-4FD7F6FC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38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575CF3D-9552-4746-B074-7296F4B4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71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D4166FFD-1DB4-4A54-A155-E571B1CB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71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2C01B34-7F12-46BC-97DD-A44A3FD0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24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ABDD99C0-1A7E-40AA-8A1F-C27544A0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24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9744247-55E0-4837-A924-D52D2C78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16D84B93-9430-4000-81D1-77D7BAB6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76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7BB09CF-4D3F-4F04-BD53-E57D232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D5709707-6ACA-41B5-8D33-A1F0C5FF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CD0E93-370B-4C9F-9017-5D9EE3A3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81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D626D67C-DFB6-42CA-8403-584CA9C7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815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BD954C6-EB06-4448-904A-2C4BEBA9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429B584-ADDA-481F-B2EA-152C8D7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33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D7F1F8F-E034-48B4-91AF-97BFB985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86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776DB986-CADC-4448-812C-19568AFB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86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FF36847-0200-45E8-9096-0093EB31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38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47E8523B-BB17-49FC-8CAB-55F05619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38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8060BE4-1C84-4464-96C5-A61343C8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71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ACEA7FB-3488-4C89-A494-C78BB494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71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2DE0FE5-F749-4777-A22A-B2357F2E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24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20034984-E724-4F3B-9D57-26B48826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24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16FD543-8084-4466-84E1-07D39176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54743E67-B43D-4055-9417-15A10933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476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447DE92-5D1C-494C-B512-14B9DB74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4D456649-5D58-45BA-9D25-BEF91851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6291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2C5A9B1-D7D2-4F93-967B-23966690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781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8789A5DA-3759-4FE8-8BE9-CE29A888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7815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714CABE-DFA2-426A-8E7D-3B1ED84F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57E53154-7EF3-42E0-8D7D-8B8BB0C4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C112B94-797C-422F-9CFE-714AD2E8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086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9361EC81-BA2B-475F-B972-0839D12C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0863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4BAE28C-A7D9-478C-9CC3-3FBB6C94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238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AC0ACA6B-92FF-4435-B1DA-DDBF0D14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238750"/>
            <a:ext cx="571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8" name="text">
            <a:extLst xmlns:a="http://schemas.openxmlformats.org/drawingml/2006/main">
              <a:ext uri="{FF2B5EF4-FFF2-40B4-BE49-F238E27FC236}">
                <a16:creationId xmlns:a16="http://schemas.microsoft.com/office/drawing/2014/main" id="{2C112DDB-897A-4E7E-8766-6660778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24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More users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ABDDFC0-3BF9-4ED0-A2EE-D26F1127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568C0DA3-9A04-4A21-AA52-A15C6895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F29AB49-9810-44C8-8B88-E2804D72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C4EB6EB5-8038-4690-A399-E1468DB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00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U1</a:t>
            </a:r>
          </a:p>
        </p:txBody>
      </p:sp>
      <p:sp>
        <p:nvSpPr>
          <p:cNvPr id="153" name="rule">
            <a:extLst xmlns:a="http://schemas.openxmlformats.org/drawingml/2006/main">
              <a:ext uri="{FF2B5EF4-FFF2-40B4-BE49-F238E27FC236}">
                <a16:creationId xmlns:a16="http://schemas.microsoft.com/office/drawing/2014/main" id="{E754F625-0DFC-44D6-9278-243A61C5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91000"/>
            <a:ext cx="1076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C4D01B1-E2D0-4E14-ACEE-434EC18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9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3F465808-CBB3-43D6-83EA-3DBE2E1D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9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U2</a:t>
            </a:r>
          </a:p>
        </p:txBody>
      </p:sp>
      <p:sp>
        <p:nvSpPr>
          <p:cNvPr id="156" name="rule">
            <a:extLst xmlns:a="http://schemas.openxmlformats.org/drawingml/2006/main">
              <a:ext uri="{FF2B5EF4-FFF2-40B4-BE49-F238E27FC236}">
                <a16:creationId xmlns:a16="http://schemas.microsoft.com/office/drawing/2014/main" id="{4DA983B6-AF42-423B-B080-CB88A1F1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10125"/>
            <a:ext cx="1076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DE40F67-2EA0-4BB1-9758-E8BD1891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3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9B4FD2D3-1E8F-4F1A-9832-7D4C8709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3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U3</a:t>
            </a:r>
          </a:p>
        </p:txBody>
      </p:sp>
      <p:sp>
        <p:nvSpPr>
          <p:cNvPr id="159" name="rule">
            <a:extLst xmlns:a="http://schemas.openxmlformats.org/drawingml/2006/main">
              <a:ext uri="{FF2B5EF4-FFF2-40B4-BE49-F238E27FC236}">
                <a16:creationId xmlns:a16="http://schemas.microsoft.com/office/drawing/2014/main" id="{7C6DAFCE-8393-46DB-BC6D-9E046DBB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29250"/>
            <a:ext cx="1076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11612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kicker">
            <a:extLst xmlns:a="http://schemas.openxmlformats.org/drawingml/2006/main">
              <a:ext uri="{FF2B5EF4-FFF2-40B4-BE49-F238E27FC236}">
                <a16:creationId xmlns:a16="http://schemas.microsoft.com/office/drawing/2014/main" id="{5838FDC8-2A4D-423A-AA78-82BD3C72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42569A-EBB2-47F5-A18D-1A96CD2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802.11ax optimizes dense efficiency, not only peak speed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AC5AB07-DF0C-4B60-B463-3BEC91E6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3A612D9-8A2B-416C-BD32-D695220B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C9FB01-5880-467C-AE2C-200095FD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Before: one user occupies the channel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E5DB8C-14D1-446F-BDAD-2489A756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802.11ax: users share frequency in one PPDU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6E78871F-114D-4452-89CC-13CE594A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C7788BFE-F418-4AC1-82BB-CD87BB19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0B209E2-4D3E-4EF8-8EED-D65CBFA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F7007EE0-2FE4-4DDF-BA69-A6241B92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F3894D7B-3E92-4F2C-B0B7-313E79D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9C3D41A7-E133-49F6-8240-14323E68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BBBA9BE-6622-45F5-996E-059C798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63D0C47C-61DE-4491-9569-6EC2E2A6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D99F171-6156-4271-BA09-3CE1161B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243A11ED-C6C7-40AB-A148-DCAD08E2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176DD510-84A9-4710-A866-5519196F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C646DA6B-C8C6-41A0-9DD2-1828BB0D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FE2D89A2-C236-435B-BB79-019EB045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6A60C946-19D1-482C-95AF-10C76992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8ECFBE45-6035-43A6-904A-7189A198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B589D8B6-8298-4D70-9F04-30FD82B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AB90212F-9F2F-46A4-AB57-17626AA4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4AF70E7A-06A7-4272-B602-2F93CC85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FDDC4807-D599-492B-AA25-F8EB1366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FFAE56BE-EC31-4CB1-AA7F-02050F2D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474BA913-D2D6-4262-938A-7596DF81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EDE4620-12D8-46CD-AA09-C59E1D6A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one scheduled user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DF1A7A3A-6B3A-4B4C-9D56-7BDFAAFA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43CD9B24-33DB-4A08-AD6C-111D53B5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C18B98CF-0116-4AC8-AC25-3CAA0828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DAF9A5DE-890F-4EA8-9846-1BC514A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C9B20C09-133C-472F-B9D8-02D64C8F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ox">
            <a:extLst xmlns:a="http://schemas.openxmlformats.org/drawingml/2006/main">
              <a:ext uri="{FF2B5EF4-FFF2-40B4-BE49-F238E27FC236}">
                <a16:creationId xmlns:a16="http://schemas.microsoft.com/office/drawing/2014/main" id="{15616D0B-81FF-4C1E-B1F8-6ACB211D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2F1350BA-479A-4F4B-8E8A-329E8EDC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ox">
            <a:extLst xmlns:a="http://schemas.openxmlformats.org/drawingml/2006/main">
              <a:ext uri="{FF2B5EF4-FFF2-40B4-BE49-F238E27FC236}">
                <a16:creationId xmlns:a16="http://schemas.microsoft.com/office/drawing/2014/main" id="{F75281F4-CDBC-4737-A5E4-6D6AF512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471D8C8A-5BB3-4E1F-BD59-77FDD2B7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823B0EC6-53DD-4A0F-B8C1-A1A69231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E0535E6F-1E2C-4082-93C9-1AE25436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E317C801-5823-4334-9E08-DBD6E9FA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ABB4FA14-8AC7-4137-A406-848B3F3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ox">
            <a:extLst xmlns:a="http://schemas.openxmlformats.org/drawingml/2006/main">
              <a:ext uri="{FF2B5EF4-FFF2-40B4-BE49-F238E27FC236}">
                <a16:creationId xmlns:a16="http://schemas.microsoft.com/office/drawing/2014/main" id="{69917678-EA1A-44B7-A68E-C32405E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E5B5EAAD-AC59-499E-9BDD-75EB17E9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ox">
            <a:extLst xmlns:a="http://schemas.openxmlformats.org/drawingml/2006/main">
              <a:ext uri="{FF2B5EF4-FFF2-40B4-BE49-F238E27FC236}">
                <a16:creationId xmlns:a16="http://schemas.microsoft.com/office/drawing/2014/main" id="{0E5AF42B-BB18-4076-A036-2ADD690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117C0B22-354D-44E8-8207-61D00B71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ox">
            <a:extLst xmlns:a="http://schemas.openxmlformats.org/drawingml/2006/main">
              <a:ext uri="{FF2B5EF4-FFF2-40B4-BE49-F238E27FC236}">
                <a16:creationId xmlns:a16="http://schemas.microsoft.com/office/drawing/2014/main" id="{34FFEDAF-F954-4B46-A7F8-32E9B196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05AFD8E9-2DD5-4A8D-91F8-3D9FE50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ox">
            <a:extLst xmlns:a="http://schemas.openxmlformats.org/drawingml/2006/main">
              <a:ext uri="{FF2B5EF4-FFF2-40B4-BE49-F238E27FC236}">
                <a16:creationId xmlns:a16="http://schemas.microsoft.com/office/drawing/2014/main" id="{C809CAF1-6122-40A6-A821-2B736983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F452FEA7-B09E-46AF-ACE0-6F10668A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4795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FF9F006F-C44A-482F-89FE-C38D0250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four resource-unit allocations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628CC273-0C8A-4748-9E2A-773FEDD4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OFDMA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CB377F6B-F1A4-4CEB-B2B4-E9A1EAAD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frequency scheduling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857BD03D-2FB7-4CAE-A07B-BFF348BA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UL + DL MU‑MIMO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2FD7EE7E-5B36-4C9D-B22E-73D3097C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spatial scheduling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4C19DB8F-A7BB-4D78-AF23-475D05B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1024‑QAM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D7F3B28D-B3FF-4DF1-99D2-8637CEBB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57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10 bits/symbol</a:t>
            </a:r>
          </a:p>
        </p:txBody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23CDB72D-CB14-4959-A79E-B1C0A41C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BSS coloring</a:t>
            </a:r>
          </a:p>
        </p:txBody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7BD4191F-8E79-495D-ABAA-4DFBE2F6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spatial reuse</a:t>
            </a:r>
          </a:p>
        </p:txBody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196AA65F-D8C3-40E7-B320-E0B6A0AD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8A3D"/>
                </a:solidFill>
              </a:defRPr>
            </a:pPr>
            <a:r>
              <a:rPr sz="1500" b="1">
                <a:solidFill>
                  <a:srgbClr val="FF8A3D"/>
                </a:solidFill>
              </a:rPr>
              <a:t>TWT</a:t>
            </a:r>
          </a:p>
        </p:txBody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86118C59-552D-469F-B93B-CD5856FB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57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power scheduling</a:t>
            </a:r>
          </a:p>
        </p:txBody>
      </p:sp>
    </p:spTree>
    <p:extLst>
      <p:ext uri="{BB962C8B-B14F-4D97-AF65-F5344CB8AC3E}">
        <p14:creationId xmlns:p14="http://schemas.microsoft.com/office/powerpoint/2010/main" val="7547579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kicker">
            <a:extLst xmlns:a="http://schemas.openxmlformats.org/drawingml/2006/main">
              <a:ext uri="{FF2B5EF4-FFF2-40B4-BE49-F238E27FC236}">
                <a16:creationId xmlns:a16="http://schemas.microsoft.com/office/drawing/2014/main" id="{36695977-8FB3-4612-BBA3-40C9DED5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8AE2C7-888C-4896-A609-84AE5F86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802.11ax uses 4× narrower subcarrier spacing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55B2E56-9C94-4415-B5E7-1817DD89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5708800-037A-4D7D-8B5B-AFAC4BF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DC85076-06D7-47F3-90DF-49F4BDA3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42A"/>
                </a:solidFill>
              </a:defRPr>
            </a:pPr>
            <a:r>
              <a:rPr sz="1725" b="1">
                <a:solidFill>
                  <a:srgbClr val="20242A"/>
                </a:solidFill>
              </a:rPr>
              <a:t>802.11a/g/n/ac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F1170B-9628-40A0-B38B-81E7409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312.5 kHz spacing • 3.2 μs useful symbol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3187B1A0-4D1E-4837-8F34-ACFA845B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95550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EC65A7C5-773B-4B49-90F7-23C0C6F4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D68A230-C82A-4EAD-B644-867F7DE2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9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953D6A02-E986-4CD8-8987-0244182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7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9409314C-4133-41FF-AA69-148ED0E1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D6078C0A-FF44-4C7F-96C9-18B44B3C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3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C26200CF-2380-45F3-A849-FF7BCD32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BAB7346D-7CDB-45A4-A6D4-D9DD30A8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DDC3AE2A-21C8-4419-9073-EC79B2B9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14CBC278-3B56-45ED-B270-83767FA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F7D38FBF-BB5E-4839-8D8C-AC826231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398D664F-5A8C-4B59-903F-DACD7E7F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74E0C6F3-7467-415E-B422-FABCD9FD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FD3A2F80-7F87-4007-9378-5ED661AB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24D341B2-32A0-4BA5-B338-E432FFD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CD0FB66D-988A-4708-804A-A7462686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3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F4B07388-8CCA-44D2-8079-71D0BE74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038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B532B38-E845-4092-97B0-F07CB1FB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802.11ax HE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CD6E9B2-187D-4044-A592-C12F1449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78.125 kHz spacing • 12.8 μs useful symbol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3F367293-F8D7-456C-8AAA-BF7131D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43425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7741C07B-43E3-423D-B5CC-E96BFD9A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2B546694-5CCD-47F6-B8FB-5E5BDDD9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177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C2362644-4B21-4105-B7CF-DA8F251A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254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1BBF26FF-F0E5-4067-85B9-4A8FC56D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31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B0DB8C2B-A2D7-4759-8D81-255AE56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08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599D972F-21E7-418B-9CFC-0220C4B3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485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C0EF2CA3-CFF7-44B0-94A0-E5164493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562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ox">
            <a:extLst xmlns:a="http://schemas.openxmlformats.org/drawingml/2006/main">
              <a:ext uri="{FF2B5EF4-FFF2-40B4-BE49-F238E27FC236}">
                <a16:creationId xmlns:a16="http://schemas.microsoft.com/office/drawing/2014/main" id="{60743937-3F1D-4816-AFDD-31570C30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638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86111BFF-F422-44C2-9680-C5392A00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15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ox">
            <a:extLst xmlns:a="http://schemas.openxmlformats.org/drawingml/2006/main">
              <a:ext uri="{FF2B5EF4-FFF2-40B4-BE49-F238E27FC236}">
                <a16:creationId xmlns:a16="http://schemas.microsoft.com/office/drawing/2014/main" id="{B061B47E-E2C3-4BA1-AC45-0F82C5C1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792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703D2FEE-4A53-4F60-81C9-53C6D700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869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E183DB52-B2ED-43FC-A0BB-5802DD02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946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25B04F88-F8C6-447A-9F43-48485E07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023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13737664-57A7-4A5A-80B3-E1185F5A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D94356F1-3772-47EB-85D1-3BC0C452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177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ox">
            <a:extLst xmlns:a="http://schemas.openxmlformats.org/drawingml/2006/main">
              <a:ext uri="{FF2B5EF4-FFF2-40B4-BE49-F238E27FC236}">
                <a16:creationId xmlns:a16="http://schemas.microsoft.com/office/drawing/2014/main" id="{847FEDAB-C46C-4F47-B232-A4F2398D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54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DCFA9C7A-9DA4-4BFF-AC76-013E57FC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331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ox">
            <a:extLst xmlns:a="http://schemas.openxmlformats.org/drawingml/2006/main">
              <a:ext uri="{FF2B5EF4-FFF2-40B4-BE49-F238E27FC236}">
                <a16:creationId xmlns:a16="http://schemas.microsoft.com/office/drawing/2014/main" id="{C8527355-1790-402C-8E1E-61B7DF5E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408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1B5A15CF-9A79-485A-A3C4-AB67037E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485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ox">
            <a:extLst xmlns:a="http://schemas.openxmlformats.org/drawingml/2006/main">
              <a:ext uri="{FF2B5EF4-FFF2-40B4-BE49-F238E27FC236}">
                <a16:creationId xmlns:a16="http://schemas.microsoft.com/office/drawing/2014/main" id="{136094B3-AE19-4ED7-9BAB-F32A099E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562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010798D8-13C9-4BA9-9A02-4A8BEDAC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638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ox">
            <a:extLst xmlns:a="http://schemas.openxmlformats.org/drawingml/2006/main">
              <a:ext uri="{FF2B5EF4-FFF2-40B4-BE49-F238E27FC236}">
                <a16:creationId xmlns:a16="http://schemas.microsoft.com/office/drawing/2014/main" id="{AA20F56A-48B4-44C6-BB13-BFE6AA3F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715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5D389B00-0F9F-486C-A6AA-0E619A99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792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ox">
            <a:extLst xmlns:a="http://schemas.openxmlformats.org/drawingml/2006/main">
              <a:ext uri="{FF2B5EF4-FFF2-40B4-BE49-F238E27FC236}">
                <a16:creationId xmlns:a16="http://schemas.microsoft.com/office/drawing/2014/main" id="{EFC4AFE6-F257-4ABB-BE43-F32D72A3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869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959D5487-E086-4F81-AE37-CB9862F2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946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ox">
            <a:extLst xmlns:a="http://schemas.openxmlformats.org/drawingml/2006/main">
              <a:ext uri="{FF2B5EF4-FFF2-40B4-BE49-F238E27FC236}">
                <a16:creationId xmlns:a16="http://schemas.microsoft.com/office/drawing/2014/main" id="{6EC7406E-4515-4A72-802C-0CC31B4A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23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A1BF15E9-1F53-4EBE-80FF-9CF5A0D6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ox">
            <a:extLst xmlns:a="http://schemas.openxmlformats.org/drawingml/2006/main">
              <a:ext uri="{FF2B5EF4-FFF2-40B4-BE49-F238E27FC236}">
                <a16:creationId xmlns:a16="http://schemas.microsoft.com/office/drawing/2014/main" id="{55E0DF9B-0E5E-436B-BDD9-D211C2DE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177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AA32B712-FC9E-4673-A9E7-B4F1E12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254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ox">
            <a:extLst xmlns:a="http://schemas.openxmlformats.org/drawingml/2006/main">
              <a:ext uri="{FF2B5EF4-FFF2-40B4-BE49-F238E27FC236}">
                <a16:creationId xmlns:a16="http://schemas.microsoft.com/office/drawing/2014/main" id="{68A8B83E-9418-4961-B940-D5CD2ECD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5331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ox">
            <a:extLst xmlns:a="http://schemas.openxmlformats.org/drawingml/2006/main">
              <a:ext uri="{FF2B5EF4-FFF2-40B4-BE49-F238E27FC236}">
                <a16:creationId xmlns:a16="http://schemas.microsoft.com/office/drawing/2014/main" id="{6D081430-705A-4D85-9D0D-A8093C8B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08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ox">
            <a:extLst xmlns:a="http://schemas.openxmlformats.org/drawingml/2006/main">
              <a:ext uri="{FF2B5EF4-FFF2-40B4-BE49-F238E27FC236}">
                <a16:creationId xmlns:a16="http://schemas.microsoft.com/office/drawing/2014/main" id="{4272F4B0-6C4E-45EE-814E-260B052A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85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ox">
            <a:extLst xmlns:a="http://schemas.openxmlformats.org/drawingml/2006/main">
              <a:ext uri="{FF2B5EF4-FFF2-40B4-BE49-F238E27FC236}">
                <a16:creationId xmlns:a16="http://schemas.microsoft.com/office/drawing/2014/main" id="{F51DB2D4-4C3C-4DB8-85CD-DC231EA3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562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ox">
            <a:extLst xmlns:a="http://schemas.openxmlformats.org/drawingml/2006/main">
              <a:ext uri="{FF2B5EF4-FFF2-40B4-BE49-F238E27FC236}">
                <a16:creationId xmlns:a16="http://schemas.microsoft.com/office/drawing/2014/main" id="{4CC81CFF-31F1-4114-AA1A-C5170A9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638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ox">
            <a:extLst xmlns:a="http://schemas.openxmlformats.org/drawingml/2006/main">
              <a:ext uri="{FF2B5EF4-FFF2-40B4-BE49-F238E27FC236}">
                <a16:creationId xmlns:a16="http://schemas.microsoft.com/office/drawing/2014/main" id="{B87323DE-BCAE-4484-BA1C-8C5DE80E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715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ox">
            <a:extLst xmlns:a="http://schemas.openxmlformats.org/drawingml/2006/main">
              <a:ext uri="{FF2B5EF4-FFF2-40B4-BE49-F238E27FC236}">
                <a16:creationId xmlns:a16="http://schemas.microsoft.com/office/drawing/2014/main" id="{47D9C445-42E0-4281-9D95-2419696D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792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ox">
            <a:extLst xmlns:a="http://schemas.openxmlformats.org/drawingml/2006/main">
              <a:ext uri="{FF2B5EF4-FFF2-40B4-BE49-F238E27FC236}">
                <a16:creationId xmlns:a16="http://schemas.microsoft.com/office/drawing/2014/main" id="{2D5429CE-A3BE-4B14-BC89-C40BDF8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869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ox">
            <a:extLst xmlns:a="http://schemas.openxmlformats.org/drawingml/2006/main">
              <a:ext uri="{FF2B5EF4-FFF2-40B4-BE49-F238E27FC236}">
                <a16:creationId xmlns:a16="http://schemas.microsoft.com/office/drawing/2014/main" id="{05B7CF54-725F-4117-96C4-3F6BD498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946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ox">
            <a:extLst xmlns:a="http://schemas.openxmlformats.org/drawingml/2006/main">
              <a:ext uri="{FF2B5EF4-FFF2-40B4-BE49-F238E27FC236}">
                <a16:creationId xmlns:a16="http://schemas.microsoft.com/office/drawing/2014/main" id="{1C6A4537-8811-4D2A-A25E-892CC5CA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0023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ox">
            <a:extLst xmlns:a="http://schemas.openxmlformats.org/drawingml/2006/main">
              <a:ext uri="{FF2B5EF4-FFF2-40B4-BE49-F238E27FC236}">
                <a16:creationId xmlns:a16="http://schemas.microsoft.com/office/drawing/2014/main" id="{90D0F9C6-5D07-4465-BABA-8D2CEB97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86225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91C89EEA-8B19-4CDA-9D88-6785D5E8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3D"/>
                </a:solidFill>
              </a:defRPr>
            </a:pPr>
            <a:r>
              <a:rPr sz="2100" b="1">
                <a:solidFill>
                  <a:srgbClr val="FF8A3D"/>
                </a:solidFill>
              </a:rPr>
              <a:t>4× more FFT points in the same 20 MHz channel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FE7A60CC-2117-4EAF-8730-7FBDB35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149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Longer symbols improve tolerance to delay spread and create finer-grained resource units; guard intervals adapt to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5462021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435949B-76AA-42B7-B3E8-CB2E7861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856FC7-CA1C-4B06-98CE-D801570D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Wi‑Fi 6E adds spectrum, not a new 802.11 waveform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DABB8E4-499C-4D6F-B200-72A2A1CB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0FA5701-3B59-45E1-A3FC-97E20C63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5CED870F-E795-4922-B7E5-009128D1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EBAC35-9545-4FCD-92CB-249068F3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2.4 GHz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0728B6-8770-474F-A82C-EA2E9F59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range + legacy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AE65C629-BABB-42AD-A924-F7F15BD6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38375"/>
            <a:ext cx="3524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171B3E9-938A-4D47-85C0-9A4067DA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765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5 GHz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9E3082-F6CD-447C-B5CF-922C0C0F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capacity + mature ecosystem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E269861-5492-4846-AA88-642E9B2A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38375"/>
            <a:ext cx="4305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148EE3F-9599-455A-BB19-5814EE9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430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6 GHz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C9C372F-69E7-4815-9ADA-B99A8507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clean wide channels for Wi‑Fi 6E/7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AD28C98-7F85-4BB9-80D8-2663CB53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Same HE PHY/MAC toolbox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43224B-4433-44AB-B6A0-8CEF1195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8A3D"/>
                </a:solidFill>
              </a:defRPr>
            </a:pPr>
            <a:r>
              <a:rPr sz="2100" b="1">
                <a:solidFill>
                  <a:srgbClr val="FF8A3D"/>
                </a:solidFill>
              </a:rPr>
              <a:t>New operating spectrum and channel plan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27D545F-951E-4B22-9722-6B5E88A5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D6470"/>
                </a:solidFill>
              </a:defRPr>
            </a:pPr>
            <a:r>
              <a:rPr sz="1725" b="0">
                <a:solidFill>
                  <a:srgbClr val="5D6470"/>
                </a:solidFill>
              </a:rPr>
              <a:t>A band extension is not the same as a new IEEE amendment.</a:t>
            </a:r>
          </a:p>
        </p:txBody>
      </p:sp>
    </p:spTree>
    <p:extLst>
      <p:ext uri="{BB962C8B-B14F-4D97-AF65-F5344CB8AC3E}">
        <p14:creationId xmlns:p14="http://schemas.microsoft.com/office/powerpoint/2010/main" val="17964163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A1822CC1-1F4B-4305-9DBA-A271F795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B271D9-333C-4AF4-A601-1CE5F88C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802.11be makes several links behave like one connection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AF0A7DB-A948-4316-B322-F9C4CD9E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017D30D-26DC-4CEE-9FA5-AAC9F563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F3474-3027-4C22-8601-E7EB8B50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045B6C19-42EB-444D-9979-477564AD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D2CD5-1610-4D13-AABC-08C2EE7E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8D4CF526-21DE-4EF9-B099-476EABDC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STA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22252E53-B136-4B98-BB9D-9BE729AA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43200"/>
            <a:ext cx="78390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solidFill>
              <a:srgbClr val="20242A"/>
            </a:solidFill>
            <a:prstDash val="solid"/>
          </a:ln>
        </p:spPr>
      </p:sp>
      <p:sp>
        <p:nvSpPr>
          <p:cNvPr id="10" name="pill">
            <a:extLst xmlns:a="http://schemas.openxmlformats.org/drawingml/2006/main">
              <a:ext uri="{FF2B5EF4-FFF2-40B4-BE49-F238E27FC236}">
                <a16:creationId xmlns:a16="http://schemas.microsoft.com/office/drawing/2014/main" id="{0E91DE18-9D39-4E5F-9093-27D8A769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050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ill-text">
            <a:extLst xmlns:a="http://schemas.openxmlformats.org/drawingml/2006/main">
              <a:ext uri="{FF2B5EF4-FFF2-40B4-BE49-F238E27FC236}">
                <a16:creationId xmlns:a16="http://schemas.microsoft.com/office/drawing/2014/main" id="{D12185F2-434A-459E-BE37-553B5C7C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050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2.4 GHz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B93495E-7864-43F0-AD8C-7B48847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43325"/>
            <a:ext cx="78390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D688007F-3C4F-4089-8DFF-251CF383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05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text">
            <a:extLst xmlns:a="http://schemas.openxmlformats.org/drawingml/2006/main">
              <a:ext uri="{FF2B5EF4-FFF2-40B4-BE49-F238E27FC236}">
                <a16:creationId xmlns:a16="http://schemas.microsoft.com/office/drawing/2014/main" id="{5F669E36-681C-439C-B0D1-8590029C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05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 GHz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456A588-9588-4972-BD76-FA3F0601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43450"/>
            <a:ext cx="78390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6" name="pill">
            <a:extLst xmlns:a="http://schemas.openxmlformats.org/drawingml/2006/main">
              <a:ext uri="{FF2B5EF4-FFF2-40B4-BE49-F238E27FC236}">
                <a16:creationId xmlns:a16="http://schemas.microsoft.com/office/drawing/2014/main" id="{63A168BE-F502-47A0-B558-C086260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053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ill-text">
            <a:extLst xmlns:a="http://schemas.openxmlformats.org/drawingml/2006/main">
              <a:ext uri="{FF2B5EF4-FFF2-40B4-BE49-F238E27FC236}">
                <a16:creationId xmlns:a16="http://schemas.microsoft.com/office/drawing/2014/main" id="{F1DAB8DB-0CAA-40D9-A2C9-06674EBE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05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 GHz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4FE257-B94D-4E52-A9FE-2495AB33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A3D"/>
                </a:solidFill>
              </a:defRPr>
            </a:pPr>
            <a:r>
              <a:rPr sz="1650" b="1">
                <a:solidFill>
                  <a:srgbClr val="FF8A3D"/>
                </a:solidFill>
              </a:rPr>
              <a:t>MULTI‑LINK OPERATION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9DA131-5298-43EB-B22A-678632FA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320 MHz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5099AF6-2685-4CAF-B6EA-4BC757F0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channel width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DBE7B7A-BEB0-4468-88FB-55EC8E45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10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4096‑QAM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604733B-6B69-4194-89AD-C57B3253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819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12 bits/symbol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61FFADD-B53D-48E2-AF84-E7BEBD29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10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puncturing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80A7E51-5331-4A68-9EB8-F52F381D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19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use clean subchannels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7D73B5E-CF4A-493C-90A4-1A2B012A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10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A3D"/>
                </a:solidFill>
              </a:defRPr>
            </a:pPr>
            <a:r>
              <a:rPr sz="2100" b="1">
                <a:solidFill>
                  <a:srgbClr val="FF8A3D"/>
                </a:solidFill>
              </a:rPr>
              <a:t>&gt;30 Gb/s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D999B17-18CC-427F-9995-1743F91E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19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required max mode</a:t>
            </a:r>
          </a:p>
        </p:txBody>
      </p:sp>
    </p:spTree>
    <p:extLst>
      <p:ext uri="{BB962C8B-B14F-4D97-AF65-F5344CB8AC3E}">
        <p14:creationId xmlns:p14="http://schemas.microsoft.com/office/powerpoint/2010/main" val="10964838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060BF16C-848E-49F6-AE52-18B520D1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66E5AF-B549-4C6F-A2BB-634364C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802.11ad uses enormous bandwidth at 60 GHz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A407C5C-5948-4665-96E0-547EB309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06F16E8-0909-4880-8F7C-DF21882E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16</a:t>
            </a:r>
          </a:p>
        </p:txBody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A677C52-E0CE-49E0-A06A-B3D21735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8A3D"/>
                </a:solidFill>
              </a:defRPr>
            </a:pPr>
            <a:r>
              <a:rPr sz="3600" b="1">
                <a:solidFill>
                  <a:srgbClr val="FF8A3D"/>
                </a:solidFill>
              </a:rPr>
              <a:t>2.16 GHz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94C008A-252A-4D70-B8AD-F576C4E5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channel width</a:t>
            </a:r>
          </a:p>
        </p:txBody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30FF0B6-137B-49C3-978C-C14F7571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8A3D"/>
                </a:solidFill>
              </a:defRPr>
            </a:pPr>
            <a:r>
              <a:rPr sz="3600" b="1">
                <a:solidFill>
                  <a:srgbClr val="FF8A3D"/>
                </a:solidFill>
              </a:rPr>
              <a:t>≈6.8 Gb/s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C077269-F584-4BC6-A316-495E795F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maximum PHY rate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E146B4B-4D95-40A2-A453-C82D0373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8A3D"/>
                </a:solidFill>
              </a:defRPr>
            </a:pPr>
            <a:r>
              <a:rPr sz="3600" b="1">
                <a:solidFill>
                  <a:srgbClr val="FF8A3D"/>
                </a:solidFill>
              </a:rPr>
              <a:t>room scale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CA53994-B168-4BAE-96A8-3C79174D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range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07E15C9-C819-477A-A15C-995D8510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676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FD2B244-6124-4478-9175-94EC80EE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Three PHY modes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20F8E-EC8E-401C-90F8-73CA17FF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8C78D310-07C9-4E38-A0A4-0ED1B791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bullet">
            <a:extLst xmlns:a="http://schemas.openxmlformats.org/drawingml/2006/main">
              <a:ext uri="{FF2B5EF4-FFF2-40B4-BE49-F238E27FC236}">
                <a16:creationId xmlns:a16="http://schemas.microsoft.com/office/drawing/2014/main" id="{03B32800-5994-4F5C-9D79-B626AAE5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563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Control PHY: robust spread BPSK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D1DE1-E807-4A71-99E1-86C78A7A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E8A713BB-B1C1-422E-B529-1F030615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bullet">
            <a:extLst xmlns:a="http://schemas.openxmlformats.org/drawingml/2006/main">
              <a:ext uri="{FF2B5EF4-FFF2-40B4-BE49-F238E27FC236}">
                <a16:creationId xmlns:a16="http://schemas.microsoft.com/office/drawing/2014/main" id="{69971039-57D5-4025-AA2C-02DDA11F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563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Single‑carrier PHY: practical high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F92AB-39C7-4CA0-A5B6-7FEAAC04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F0120427-186A-40D3-9BC1-F4EC05C7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bullet">
            <a:extLst xmlns:a="http://schemas.openxmlformats.org/drawingml/2006/main">
              <a:ext uri="{FF2B5EF4-FFF2-40B4-BE49-F238E27FC236}">
                <a16:creationId xmlns:a16="http://schemas.microsoft.com/office/drawing/2014/main" id="{3D690792-146E-4344-BC47-0B948925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563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OFDM PHY: multicarrier 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79999-7F13-49A0-ACCE-E7E193F7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BCFD7C3-1F4A-4825-BD12-FC814D07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BF44E-8089-49E2-8A3C-21A67FC6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72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FAB1A6FC-A587-4CD8-9FF8-B643B07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72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2161E688-0D16-484D-A069-01C57670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DBD6A93B-9420-4E5B-BF38-A670787A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209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B26F8159-6A4F-4280-AA65-AE22F17A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052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57DB8BD8-04A4-4EC1-9E33-DD047E9B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71875"/>
            <a:ext cx="1304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180D7EBE-85C5-40FA-AB6B-F17B2CBD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1352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B5DB08A-441D-4848-90AD-324C078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Beam training is essential</a:t>
            </a:r>
          </a:p>
        </p:txBody>
      </p:sp>
    </p:spTree>
    <p:extLst>
      <p:ext uri="{BB962C8B-B14F-4D97-AF65-F5344CB8AC3E}">
        <p14:creationId xmlns:p14="http://schemas.microsoft.com/office/powerpoint/2010/main" val="15501988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7E11664-47D0-49AA-B074-EFAF2D94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E5059C-996D-4805-BE19-4E6BFC81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802.11ay turns the 60 GHz link into a wider, spatial system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D6AB23B-4C2B-4CE4-B084-8028754A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B0B3514-EAC2-46DE-80D6-8A468A2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17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BC202732-7D3D-44B9-9929-166499C5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381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FD3174DF-444C-4596-86A1-A1AF050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4381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20DEBA-147D-4F60-A72D-26366CC7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802.11ad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0FD6B0-FBDD-4B06-B79E-17721A3C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one 2.16 GHz channel</a:t>
            </a:r>
          </a:p>
          <a:p xmlns:a="http://schemas.openxmlformats.org/drawingml/2006/main">
            <a:pPr algn="ctr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directional single link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3D80391-7813-4A31-B68A-17AD4312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A3D"/>
                </a:solidFill>
              </a:defRPr>
            </a:pPr>
            <a:r>
              <a:rPr sz="2250" b="1">
                <a:solidFill>
                  <a:srgbClr val="FF8A3D"/>
                </a:solidFill>
              </a:rPr>
              <a:t>802.11ay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192EEAD-D9D1-429F-B2DB-9080C438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channel bonding + MIMO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at least one ≥20 Gb/s mode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3515A4-DFD9-4693-BB25-E84BC12B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67050"/>
            <a:ext cx="91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3D8DFF"/>
                </a:solidFill>
              </a:defRPr>
            </a:pPr>
            <a:r>
              <a:rPr sz="39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BA40CB-5D93-406E-97F6-F90DA7C2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60 GHz evolves from a cable-replacement idea toward high-capacity access and backhaul.</a:t>
            </a:r>
          </a:p>
        </p:txBody>
      </p:sp>
    </p:spTree>
    <p:extLst>
      <p:ext uri="{BB962C8B-B14F-4D97-AF65-F5344CB8AC3E}">
        <p14:creationId xmlns:p14="http://schemas.microsoft.com/office/powerpoint/2010/main" val="12838333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kicker">
            <a:extLst xmlns:a="http://schemas.openxmlformats.org/drawingml/2006/main">
              <a:ext uri="{FF2B5EF4-FFF2-40B4-BE49-F238E27FC236}">
                <a16:creationId xmlns:a16="http://schemas.microsoft.com/office/drawing/2014/main" id="{C1CDE599-D65C-4F69-B6DD-3D988A2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B34AB7-48CE-430F-9B23-E700AEAA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Four waveform ideas explain most of Wi‑Fi’s PHY history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0C243EE-3CEC-44A6-A6C7-502C02D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BF952D6-A9A9-4E47-B13B-B7D72123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942F96-2213-42FA-8F10-E8E4FBF6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42A"/>
                </a:solidFill>
              </a:defRPr>
            </a:pPr>
            <a:r>
              <a:rPr sz="1950" b="1">
                <a:solidFill>
                  <a:srgbClr val="20242A"/>
                </a:solidFill>
              </a:rPr>
              <a:t>DSSS / CCK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DF1FA412-895E-4B68-BB76-921118C1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FAC4B115-7B8C-499A-862E-1D95DE22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38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DF684ECB-BC22-4ADE-8218-9B79F0C3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238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38303F73-38FD-447C-A0DA-3D183627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238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85CC2361-D865-412B-A7DE-22CBC39F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2750"/>
            <a:ext cx="238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AAF5057-1A7E-4D82-B5DA-CA69EC82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52750"/>
            <a:ext cx="238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B25FA455-8C8E-4B0D-8C6E-2438216D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238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EEABD93-8DEE-4B14-8437-68F45074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Spread symbols across chips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A9F070B-BD0E-4C38-978E-03A5C7B7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OFDM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94631BAF-E25E-4DD8-B2E4-AF9FA08C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36E688B9-F807-4955-9879-A7AD0E25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01983F7-AC1E-4E2F-80EA-C3103D2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5243"/>
            <a:ext cx="76200" cy="9013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9F98430C-0D63-4B17-A076-F7D57521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48661"/>
            <a:ext cx="76200" cy="4279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892A6A2A-55AE-400E-898A-8F567499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00585"/>
            <a:ext cx="76200" cy="57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B0453A9A-F166-4808-9A76-B334CD98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0936"/>
            <a:ext cx="76200" cy="795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D4D5AA2A-BBF2-4522-8ED9-D4552166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5441"/>
            <a:ext cx="76200" cy="271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5C59ADC9-02BA-46D6-9906-F448D9FC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26205"/>
            <a:ext cx="76200" cy="950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4BDC6771-8402-493E-B480-255974C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65760"/>
            <a:ext cx="76200" cy="310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24C15B7D-61CC-499B-8FA5-0ED7E78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8941"/>
            <a:ext cx="76200" cy="727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D3ED7D1-3CFE-452F-97A9-57208615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529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Parallel orthogonal tones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DC2571F-3B15-4744-9360-1D41ABCF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19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9A96B"/>
                </a:solidFill>
              </a:defRPr>
            </a:pPr>
            <a:r>
              <a:rPr sz="1950" b="1">
                <a:solidFill>
                  <a:srgbClr val="39A96B"/>
                </a:solidFill>
              </a:rPr>
              <a:t>OFDMA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D4721392-E3EB-4017-A33D-3BCE8329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F09E7E2A-9805-4836-A67D-9F1BFD4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9A540F99-81F6-4948-A49B-C5800728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CC158631-5B52-4055-AF1E-CEAE5791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0DBCD1C1-8C70-4E31-970D-F4D3DDC4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84F52C1A-36E0-4C4A-835C-1C2AFC28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1C96AABB-E904-4FD8-81C0-4F289A0A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ox">
            <a:extLst xmlns:a="http://schemas.openxmlformats.org/drawingml/2006/main">
              <a:ext uri="{FF2B5EF4-FFF2-40B4-BE49-F238E27FC236}">
                <a16:creationId xmlns:a16="http://schemas.microsoft.com/office/drawing/2014/main" id="{89088108-D09B-43B6-A129-7DD5EDD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13DE94E6-5C52-4BD3-A32B-A85E27C6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ox">
            <a:extLst xmlns:a="http://schemas.openxmlformats.org/drawingml/2006/main">
              <a:ext uri="{FF2B5EF4-FFF2-40B4-BE49-F238E27FC236}">
                <a16:creationId xmlns:a16="http://schemas.microsoft.com/office/drawing/2014/main" id="{10CE8CF4-60A0-48DD-AA84-991EC98A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BB23A354-A8CC-44D4-A45C-FFD3273B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2CAABA43-3CDB-4694-A10B-F530AAED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4388DBCB-D608-40D1-AB83-56449C5D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99670EC3-E8AA-4450-8785-9C976D22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1B845625-039C-44E8-89AE-966E6ED4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ox">
            <a:extLst xmlns:a="http://schemas.openxmlformats.org/drawingml/2006/main">
              <a:ext uri="{FF2B5EF4-FFF2-40B4-BE49-F238E27FC236}">
                <a16:creationId xmlns:a16="http://schemas.microsoft.com/office/drawing/2014/main" id="{EC9A0A91-D6CA-41D2-82F3-CA3273DD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EC4DBE5D-D14D-4F6A-9BF7-4AC776D5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ox">
            <a:extLst xmlns:a="http://schemas.openxmlformats.org/drawingml/2006/main">
              <a:ext uri="{FF2B5EF4-FFF2-40B4-BE49-F238E27FC236}">
                <a16:creationId xmlns:a16="http://schemas.microsoft.com/office/drawing/2014/main" id="{F976CB2B-BF80-4D61-9079-66C7CC5F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6C25078A-0227-45B7-993C-C6B7C37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861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ox">
            <a:extLst xmlns:a="http://schemas.openxmlformats.org/drawingml/2006/main">
              <a:ext uri="{FF2B5EF4-FFF2-40B4-BE49-F238E27FC236}">
                <a16:creationId xmlns:a16="http://schemas.microsoft.com/office/drawing/2014/main" id="{30B66B8E-325D-4C18-96A5-3E4AF0E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861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6155D1E3-01AE-49BE-A66D-A65C351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861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ox">
            <a:extLst xmlns:a="http://schemas.openxmlformats.org/drawingml/2006/main">
              <a:ext uri="{FF2B5EF4-FFF2-40B4-BE49-F238E27FC236}">
                <a16:creationId xmlns:a16="http://schemas.microsoft.com/office/drawing/2014/main" id="{5242CF9A-B634-4E4F-AE90-F9F8AFBE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381A8B7A-9526-4F6F-937C-80C4AF10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Assign tone groups to users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576944CC-9A68-4BCB-B250-D7DC049F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19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A3D"/>
                </a:solidFill>
              </a:defRPr>
            </a:pPr>
            <a:r>
              <a:rPr sz="1950" b="1">
                <a:solidFill>
                  <a:srgbClr val="FF8A3D"/>
                </a:solidFill>
              </a:rPr>
              <a:t>60 GHz SC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480A5BA9-DB78-47EB-BE54-055AB713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ox">
            <a:extLst xmlns:a="http://schemas.openxmlformats.org/drawingml/2006/main">
              <a:ext uri="{FF2B5EF4-FFF2-40B4-BE49-F238E27FC236}">
                <a16:creationId xmlns:a16="http://schemas.microsoft.com/office/drawing/2014/main" id="{6ABA6778-4EEE-4425-9B20-A283D5B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19450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E8973EA7-3055-4BFB-89C0-D4F21C2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318177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ox">
            <a:extLst xmlns:a="http://schemas.openxmlformats.org/drawingml/2006/main">
              <a:ext uri="{FF2B5EF4-FFF2-40B4-BE49-F238E27FC236}">
                <a16:creationId xmlns:a16="http://schemas.microsoft.com/office/drawing/2014/main" id="{AE1A0CCE-974A-4B74-9DA2-F90C500C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54257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C46CB644-6562-4090-BF2B-F23D1E5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3155063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ox">
            <a:extLst xmlns:a="http://schemas.openxmlformats.org/drawingml/2006/main">
              <a:ext uri="{FF2B5EF4-FFF2-40B4-BE49-F238E27FC236}">
                <a16:creationId xmlns:a16="http://schemas.microsoft.com/office/drawing/2014/main" id="{EBACE8FA-B9F8-49A6-9A30-18B28DB1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91367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ox">
            <a:extLst xmlns:a="http://schemas.openxmlformats.org/drawingml/2006/main">
              <a:ext uri="{FF2B5EF4-FFF2-40B4-BE49-F238E27FC236}">
                <a16:creationId xmlns:a16="http://schemas.microsoft.com/office/drawing/2014/main" id="{CD8EE126-E256-4973-9980-9C4EF093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325239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ox">
            <a:extLst xmlns:a="http://schemas.openxmlformats.org/drawingml/2006/main">
              <a:ext uri="{FF2B5EF4-FFF2-40B4-BE49-F238E27FC236}">
                <a16:creationId xmlns:a16="http://schemas.microsoft.com/office/drawing/2014/main" id="{2E204B8A-655E-48E0-9E4D-06C60259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1086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ox">
            <a:extLst xmlns:a="http://schemas.openxmlformats.org/drawingml/2006/main">
              <a:ext uri="{FF2B5EF4-FFF2-40B4-BE49-F238E27FC236}">
                <a16:creationId xmlns:a16="http://schemas.microsoft.com/office/drawing/2014/main" id="{5A955751-82CC-442A-A340-0E23F0E2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333414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ox">
            <a:extLst xmlns:a="http://schemas.openxmlformats.org/drawingml/2006/main">
              <a:ext uri="{FF2B5EF4-FFF2-40B4-BE49-F238E27FC236}">
                <a16:creationId xmlns:a16="http://schemas.microsoft.com/office/drawing/2014/main" id="{6DEA2B39-981F-4B74-AB7C-A91CA5DD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0122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ox">
            <a:extLst xmlns:a="http://schemas.openxmlformats.org/drawingml/2006/main">
              <a:ext uri="{FF2B5EF4-FFF2-40B4-BE49-F238E27FC236}">
                <a16:creationId xmlns:a16="http://schemas.microsoft.com/office/drawing/2014/main" id="{A4847848-DBC9-4581-9056-C7EBF9CD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988" y="321704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ox">
            <a:extLst xmlns:a="http://schemas.openxmlformats.org/drawingml/2006/main">
              <a:ext uri="{FF2B5EF4-FFF2-40B4-BE49-F238E27FC236}">
                <a16:creationId xmlns:a16="http://schemas.microsoft.com/office/drawing/2014/main" id="{710D2ED7-88C4-49E8-A566-16E9402C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1566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ox">
            <a:extLst xmlns:a="http://schemas.openxmlformats.org/drawingml/2006/main">
              <a:ext uri="{FF2B5EF4-FFF2-40B4-BE49-F238E27FC236}">
                <a16:creationId xmlns:a16="http://schemas.microsoft.com/office/drawing/2014/main" id="{C5B5280C-AD57-4792-9B7C-533FF787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3047893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ox">
            <a:extLst xmlns:a="http://schemas.openxmlformats.org/drawingml/2006/main">
              <a:ext uri="{FF2B5EF4-FFF2-40B4-BE49-F238E27FC236}">
                <a16:creationId xmlns:a16="http://schemas.microsoft.com/office/drawing/2014/main" id="{5EF20202-0A94-484D-8EE3-B8D5AEB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5691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ox">
            <a:extLst xmlns:a="http://schemas.openxmlformats.org/drawingml/2006/main">
              <a:ext uri="{FF2B5EF4-FFF2-40B4-BE49-F238E27FC236}">
                <a16:creationId xmlns:a16="http://schemas.microsoft.com/office/drawing/2014/main" id="{2CE4357A-9095-4F20-97F6-19C4081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238" y="315317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ox">
            <a:extLst xmlns:a="http://schemas.openxmlformats.org/drawingml/2006/main">
              <a:ext uri="{FF2B5EF4-FFF2-40B4-BE49-F238E27FC236}">
                <a16:creationId xmlns:a16="http://schemas.microsoft.com/office/drawing/2014/main" id="{2DE6C925-9916-485D-96F2-98B374BA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02297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ox">
            <a:extLst xmlns:a="http://schemas.openxmlformats.org/drawingml/2006/main">
              <a:ext uri="{FF2B5EF4-FFF2-40B4-BE49-F238E27FC236}">
                <a16:creationId xmlns:a16="http://schemas.microsoft.com/office/drawing/2014/main" id="{4CD3633C-C6C3-43E1-B116-363B813D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343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ox">
            <a:extLst xmlns:a="http://schemas.openxmlformats.org/drawingml/2006/main">
              <a:ext uri="{FF2B5EF4-FFF2-40B4-BE49-F238E27FC236}">
                <a16:creationId xmlns:a16="http://schemas.microsoft.com/office/drawing/2014/main" id="{2BAB07B9-C1AA-4D40-8977-3F17BC6E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479214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ox">
            <a:extLst xmlns:a="http://schemas.openxmlformats.org/drawingml/2006/main">
              <a:ext uri="{FF2B5EF4-FFF2-40B4-BE49-F238E27FC236}">
                <a16:creationId xmlns:a16="http://schemas.microsoft.com/office/drawing/2014/main" id="{EF2C7A2D-5115-47DA-ABFA-6528FAF4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339624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ox">
            <a:extLst xmlns:a="http://schemas.openxmlformats.org/drawingml/2006/main">
              <a:ext uri="{FF2B5EF4-FFF2-40B4-BE49-F238E27FC236}">
                <a16:creationId xmlns:a16="http://schemas.microsoft.com/office/drawing/2014/main" id="{84EEEE3E-2A2E-4BB7-9CAF-5211BFA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911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ox">
            <a:extLst xmlns:a="http://schemas.openxmlformats.org/drawingml/2006/main">
              <a:ext uri="{FF2B5EF4-FFF2-40B4-BE49-F238E27FC236}">
                <a16:creationId xmlns:a16="http://schemas.microsoft.com/office/drawing/2014/main" id="{5E7787D5-E6CD-42B5-87E7-10D8BCBE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299899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ox">
            <a:extLst xmlns:a="http://schemas.openxmlformats.org/drawingml/2006/main">
              <a:ext uri="{FF2B5EF4-FFF2-40B4-BE49-F238E27FC236}">
                <a16:creationId xmlns:a16="http://schemas.microsoft.com/office/drawing/2014/main" id="{9D3ECBCB-AB90-4E9D-9BCC-A365D2D5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71180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ox">
            <a:extLst xmlns:a="http://schemas.openxmlformats.org/drawingml/2006/main">
              <a:ext uri="{FF2B5EF4-FFF2-40B4-BE49-F238E27FC236}">
                <a16:creationId xmlns:a16="http://schemas.microsoft.com/office/drawing/2014/main" id="{57532A96-2A59-4996-950C-076941D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738" y="2902964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ox">
            <a:extLst xmlns:a="http://schemas.openxmlformats.org/drawingml/2006/main">
              <a:ext uri="{FF2B5EF4-FFF2-40B4-BE49-F238E27FC236}">
                <a16:creationId xmlns:a16="http://schemas.microsoft.com/office/drawing/2014/main" id="{AD2B9B82-865F-4860-AA61-8341F478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99103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ox">
            <a:extLst xmlns:a="http://schemas.openxmlformats.org/drawingml/2006/main">
              <a:ext uri="{FF2B5EF4-FFF2-40B4-BE49-F238E27FC236}">
                <a16:creationId xmlns:a16="http://schemas.microsoft.com/office/drawing/2014/main" id="{28E23738-E075-46BA-B09A-FAFBB62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3379882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box">
            <a:extLst xmlns:a="http://schemas.openxmlformats.org/drawingml/2006/main">
              <a:ext uri="{FF2B5EF4-FFF2-40B4-BE49-F238E27FC236}">
                <a16:creationId xmlns:a16="http://schemas.microsoft.com/office/drawing/2014/main" id="{3A96B094-0168-4B6A-B950-D12CED5C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1234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box">
            <a:extLst xmlns:a="http://schemas.openxmlformats.org/drawingml/2006/main">
              <a:ext uri="{FF2B5EF4-FFF2-40B4-BE49-F238E27FC236}">
                <a16:creationId xmlns:a16="http://schemas.microsoft.com/office/drawing/2014/main" id="{791BD7DA-6880-4672-9273-5F7EEECE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988" y="3673288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box">
            <a:extLst xmlns:a="http://schemas.openxmlformats.org/drawingml/2006/main">
              <a:ext uri="{FF2B5EF4-FFF2-40B4-BE49-F238E27FC236}">
                <a16:creationId xmlns:a16="http://schemas.microsoft.com/office/drawing/2014/main" id="{A0F1A0A4-D89A-4BA0-831E-9A85DB3B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1416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box">
            <a:extLst xmlns:a="http://schemas.openxmlformats.org/drawingml/2006/main">
              <a:ext uri="{FF2B5EF4-FFF2-40B4-BE49-F238E27FC236}">
                <a16:creationId xmlns:a16="http://schemas.microsoft.com/office/drawing/2014/main" id="{0EE8BE1F-583C-4127-8832-64DAE48C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613" y="319379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box">
            <a:extLst xmlns:a="http://schemas.openxmlformats.org/drawingml/2006/main">
              <a:ext uri="{FF2B5EF4-FFF2-40B4-BE49-F238E27FC236}">
                <a16:creationId xmlns:a16="http://schemas.microsoft.com/office/drawing/2014/main" id="{F92A3780-C490-4C6C-B455-C367195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5832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box">
            <a:extLst xmlns:a="http://schemas.openxmlformats.org/drawingml/2006/main">
              <a:ext uri="{FF2B5EF4-FFF2-40B4-BE49-F238E27FC236}">
                <a16:creationId xmlns:a16="http://schemas.microsoft.com/office/drawing/2014/main" id="{479F0F0A-2E28-48BD-A6DC-B1BC91AE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238" y="2674030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box">
            <a:extLst xmlns:a="http://schemas.openxmlformats.org/drawingml/2006/main">
              <a:ext uri="{FF2B5EF4-FFF2-40B4-BE49-F238E27FC236}">
                <a16:creationId xmlns:a16="http://schemas.microsoft.com/office/drawing/2014/main" id="{61DB3E0B-5EC9-41FF-AC98-B0A773F2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44090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box">
            <a:extLst xmlns:a="http://schemas.openxmlformats.org/drawingml/2006/main">
              <a:ext uri="{FF2B5EF4-FFF2-40B4-BE49-F238E27FC236}">
                <a16:creationId xmlns:a16="http://schemas.microsoft.com/office/drawing/2014/main" id="{082C6C48-44C8-4F73-A5C7-9EEBA149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863" y="3051322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box">
            <a:extLst xmlns:a="http://schemas.openxmlformats.org/drawingml/2006/main">
              <a:ext uri="{FF2B5EF4-FFF2-40B4-BE49-F238E27FC236}">
                <a16:creationId xmlns:a16="http://schemas.microsoft.com/office/drawing/2014/main" id="{E766C175-DE26-4992-860C-C02411E3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45872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box">
            <a:extLst xmlns:a="http://schemas.openxmlformats.org/drawingml/2006/main">
              <a:ext uri="{FF2B5EF4-FFF2-40B4-BE49-F238E27FC236}">
                <a16:creationId xmlns:a16="http://schemas.microsoft.com/office/drawing/2014/main" id="{A6CDD1D4-6445-4682-8C82-E54ACF48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377130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box">
            <a:extLst xmlns:a="http://schemas.openxmlformats.org/drawingml/2006/main">
              <a:ext uri="{FF2B5EF4-FFF2-40B4-BE49-F238E27FC236}">
                <a16:creationId xmlns:a16="http://schemas.microsoft.com/office/drawing/2014/main" id="{CFF6DBE3-A53E-43C4-B536-55786EA8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3112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box">
            <a:extLst xmlns:a="http://schemas.openxmlformats.org/drawingml/2006/main">
              <a:ext uri="{FF2B5EF4-FFF2-40B4-BE49-F238E27FC236}">
                <a16:creationId xmlns:a16="http://schemas.microsoft.com/office/drawing/2014/main" id="{2FAD071B-DEF0-4F3C-A76D-5888CE14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3598277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box">
            <a:extLst xmlns:a="http://schemas.openxmlformats.org/drawingml/2006/main">
              <a:ext uri="{FF2B5EF4-FFF2-40B4-BE49-F238E27FC236}">
                <a16:creationId xmlns:a16="http://schemas.microsoft.com/office/drawing/2014/main" id="{D00B87E6-7E75-4A9E-A63C-D0B7E95E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75772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box">
            <a:extLst xmlns:a="http://schemas.openxmlformats.org/drawingml/2006/main">
              <a:ext uri="{FF2B5EF4-FFF2-40B4-BE49-F238E27FC236}">
                <a16:creationId xmlns:a16="http://schemas.microsoft.com/office/drawing/2014/main" id="{BD70512A-1026-4FAA-903C-6CA5D8AD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738" y="2763233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box">
            <a:extLst xmlns:a="http://schemas.openxmlformats.org/drawingml/2006/main">
              <a:ext uri="{FF2B5EF4-FFF2-40B4-BE49-F238E27FC236}">
                <a16:creationId xmlns:a16="http://schemas.microsoft.com/office/drawing/2014/main" id="{22372F8C-7DE7-468A-A8F5-7ED76AE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6050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box">
            <a:extLst xmlns:a="http://schemas.openxmlformats.org/drawingml/2006/main">
              <a:ext uri="{FF2B5EF4-FFF2-40B4-BE49-F238E27FC236}">
                <a16:creationId xmlns:a16="http://schemas.microsoft.com/office/drawing/2014/main" id="{6454FF8B-127D-4508-AD3D-71BE3AE7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363" y="266871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box">
            <a:extLst xmlns:a="http://schemas.openxmlformats.org/drawingml/2006/main">
              <a:ext uri="{FF2B5EF4-FFF2-40B4-BE49-F238E27FC236}">
                <a16:creationId xmlns:a16="http://schemas.microsoft.com/office/drawing/2014/main" id="{9642883E-79A8-4F29-9A3B-1D48561F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38824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box">
            <a:extLst xmlns:a="http://schemas.openxmlformats.org/drawingml/2006/main">
              <a:ext uri="{FF2B5EF4-FFF2-40B4-BE49-F238E27FC236}">
                <a16:creationId xmlns:a16="http://schemas.microsoft.com/office/drawing/2014/main" id="{DA93B8C6-FC98-4796-90DA-000BE838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349432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box">
            <a:extLst xmlns:a="http://schemas.openxmlformats.org/drawingml/2006/main">
              <a:ext uri="{FF2B5EF4-FFF2-40B4-BE49-F238E27FC236}">
                <a16:creationId xmlns:a16="http://schemas.microsoft.com/office/drawing/2014/main" id="{F0613229-9772-437D-B88B-0D3466A0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1738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box">
            <a:extLst xmlns:a="http://schemas.openxmlformats.org/drawingml/2006/main">
              <a:ext uri="{FF2B5EF4-FFF2-40B4-BE49-F238E27FC236}">
                <a16:creationId xmlns:a16="http://schemas.microsoft.com/office/drawing/2014/main" id="{09872058-E170-4BE2-B201-DABC487E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613" y="3855437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box">
            <a:extLst xmlns:a="http://schemas.openxmlformats.org/drawingml/2006/main">
              <a:ext uri="{FF2B5EF4-FFF2-40B4-BE49-F238E27FC236}">
                <a16:creationId xmlns:a16="http://schemas.microsoft.com/office/drawing/2014/main" id="{6ACF8C64-5BAB-4BD6-A621-74A22420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59490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box">
            <a:extLst xmlns:a="http://schemas.openxmlformats.org/drawingml/2006/main">
              <a:ext uri="{FF2B5EF4-FFF2-40B4-BE49-F238E27FC236}">
                <a16:creationId xmlns:a16="http://schemas.microsoft.com/office/drawing/2014/main" id="{F2C64A48-19B6-468F-B555-DAE8418F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238" y="316565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box">
            <a:extLst xmlns:a="http://schemas.openxmlformats.org/drawingml/2006/main">
              <a:ext uri="{FF2B5EF4-FFF2-40B4-BE49-F238E27FC236}">
                <a16:creationId xmlns:a16="http://schemas.microsoft.com/office/drawing/2014/main" id="{7CB7A858-BA18-4D55-9D03-CAF2A9B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7496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box">
            <a:extLst xmlns:a="http://schemas.openxmlformats.org/drawingml/2006/main">
              <a:ext uri="{FF2B5EF4-FFF2-40B4-BE49-F238E27FC236}">
                <a16:creationId xmlns:a16="http://schemas.microsoft.com/office/drawing/2014/main" id="{75555855-5034-4358-9CBA-BEC5F46D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3" y="2605293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box">
            <a:extLst xmlns:a="http://schemas.openxmlformats.org/drawingml/2006/main">
              <a:ext uri="{FF2B5EF4-FFF2-40B4-BE49-F238E27FC236}">
                <a16:creationId xmlns:a16="http://schemas.microsoft.com/office/drawing/2014/main" id="{7086985E-CE10-42EB-BBA8-CDECF202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27274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box">
            <a:extLst xmlns:a="http://schemas.openxmlformats.org/drawingml/2006/main">
              <a:ext uri="{FF2B5EF4-FFF2-40B4-BE49-F238E27FC236}">
                <a16:creationId xmlns:a16="http://schemas.microsoft.com/office/drawing/2014/main" id="{BE4D516F-EF9A-4C5A-A60E-E5B847F8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488" y="307028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box">
            <a:extLst xmlns:a="http://schemas.openxmlformats.org/drawingml/2006/main">
              <a:ext uri="{FF2B5EF4-FFF2-40B4-BE49-F238E27FC236}">
                <a16:creationId xmlns:a16="http://schemas.microsoft.com/office/drawing/2014/main" id="{B2AC08E3-A14A-4106-995D-9BE20C0B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6272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box">
            <a:extLst xmlns:a="http://schemas.openxmlformats.org/drawingml/2006/main">
              <a:ext uri="{FF2B5EF4-FFF2-40B4-BE49-F238E27FC236}">
                <a16:creationId xmlns:a16="http://schemas.microsoft.com/office/drawing/2014/main" id="{26266428-A9EF-4D5F-9645-BDAF1641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113" y="371921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box">
            <a:extLst xmlns:a="http://schemas.openxmlformats.org/drawingml/2006/main">
              <a:ext uri="{FF2B5EF4-FFF2-40B4-BE49-F238E27FC236}">
                <a16:creationId xmlns:a16="http://schemas.microsoft.com/office/drawing/2014/main" id="{168A056C-18C3-47EC-85C9-385A8968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729570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box">
            <a:extLst xmlns:a="http://schemas.openxmlformats.org/drawingml/2006/main">
              <a:ext uri="{FF2B5EF4-FFF2-40B4-BE49-F238E27FC236}">
                <a16:creationId xmlns:a16="http://schemas.microsoft.com/office/drawing/2014/main" id="{5E72AD41-8C6A-49A7-8B27-576E12B0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38" y="350635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box">
            <a:extLst xmlns:a="http://schemas.openxmlformats.org/drawingml/2006/main">
              <a:ext uri="{FF2B5EF4-FFF2-40B4-BE49-F238E27FC236}">
                <a16:creationId xmlns:a16="http://schemas.microsoft.com/office/drawing/2014/main" id="{6EBEC736-07D1-48C5-87BF-3233BD67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70374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box">
            <a:extLst xmlns:a="http://schemas.openxmlformats.org/drawingml/2006/main">
              <a:ext uri="{FF2B5EF4-FFF2-40B4-BE49-F238E27FC236}">
                <a16:creationId xmlns:a16="http://schemas.microsoft.com/office/drawing/2014/main" id="{3F841AB5-1149-4C09-8D24-8275CCB0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363" y="288546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box">
            <a:extLst xmlns:a="http://schemas.openxmlformats.org/drawingml/2006/main">
              <a:ext uri="{FF2B5EF4-FFF2-40B4-BE49-F238E27FC236}">
                <a16:creationId xmlns:a16="http://schemas.microsoft.com/office/drawing/2014/main" id="{47E54450-A1A0-425C-8EBC-E36AE2D7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77786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box">
            <a:extLst xmlns:a="http://schemas.openxmlformats.org/drawingml/2006/main">
              <a:ext uri="{FF2B5EF4-FFF2-40B4-BE49-F238E27FC236}">
                <a16:creationId xmlns:a16="http://schemas.microsoft.com/office/drawing/2014/main" id="{76634383-9111-4D47-B819-5EDE5587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988" y="2880182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box">
            <a:extLst xmlns:a="http://schemas.openxmlformats.org/drawingml/2006/main">
              <a:ext uri="{FF2B5EF4-FFF2-40B4-BE49-F238E27FC236}">
                <a16:creationId xmlns:a16="http://schemas.microsoft.com/office/drawing/2014/main" id="{0422E994-F45E-42B9-B997-B6D1807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24803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box">
            <a:extLst xmlns:a="http://schemas.openxmlformats.org/drawingml/2006/main">
              <a:ext uri="{FF2B5EF4-FFF2-40B4-BE49-F238E27FC236}">
                <a16:creationId xmlns:a16="http://schemas.microsoft.com/office/drawing/2014/main" id="{AD1574A1-FE9A-4DD9-906E-C73B2E11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3385343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box">
            <a:extLst xmlns:a="http://schemas.openxmlformats.org/drawingml/2006/main">
              <a:ext uri="{FF2B5EF4-FFF2-40B4-BE49-F238E27FC236}">
                <a16:creationId xmlns:a16="http://schemas.microsoft.com/office/drawing/2014/main" id="{E16FFE88-ABF2-4699-8C9E-37CB578D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541674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box">
            <a:extLst xmlns:a="http://schemas.openxmlformats.org/drawingml/2006/main">
              <a:ext uri="{FF2B5EF4-FFF2-40B4-BE49-F238E27FC236}">
                <a16:creationId xmlns:a16="http://schemas.microsoft.com/office/drawing/2014/main" id="{EBBE7DB6-0720-487E-93F0-9618634A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3535092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box">
            <a:extLst xmlns:a="http://schemas.openxmlformats.org/drawingml/2006/main">
              <a:ext uri="{FF2B5EF4-FFF2-40B4-BE49-F238E27FC236}">
                <a16:creationId xmlns:a16="http://schemas.microsoft.com/office/drawing/2014/main" id="{F8BBF0EE-DBB2-4F75-8DEF-CFAA7AD4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88480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box">
            <a:extLst xmlns:a="http://schemas.openxmlformats.org/drawingml/2006/main">
              <a:ext uri="{FF2B5EF4-FFF2-40B4-BE49-F238E27FC236}">
                <a16:creationId xmlns:a16="http://schemas.microsoft.com/office/drawing/2014/main" id="{31462E35-26AD-4636-989A-AE6CCA7E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863" y="3185864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box">
            <a:extLst xmlns:a="http://schemas.openxmlformats.org/drawingml/2006/main">
              <a:ext uri="{FF2B5EF4-FFF2-40B4-BE49-F238E27FC236}">
                <a16:creationId xmlns:a16="http://schemas.microsoft.com/office/drawing/2014/main" id="{F28BA84B-799A-480E-94FA-98AE411B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025902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box">
            <a:extLst xmlns:a="http://schemas.openxmlformats.org/drawingml/2006/main">
              <a:ext uri="{FF2B5EF4-FFF2-40B4-BE49-F238E27FC236}">
                <a16:creationId xmlns:a16="http://schemas.microsoft.com/office/drawing/2014/main" id="{CD4A046D-918A-49B6-A7AC-763E06FC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488" y="2974512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box">
            <a:extLst xmlns:a="http://schemas.openxmlformats.org/drawingml/2006/main">
              <a:ext uri="{FF2B5EF4-FFF2-40B4-BE49-F238E27FC236}">
                <a16:creationId xmlns:a16="http://schemas.microsoft.com/office/drawing/2014/main" id="{E7C60B41-FBDB-4B4C-9D0B-6F725597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39062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box">
            <a:extLst xmlns:a="http://schemas.openxmlformats.org/drawingml/2006/main">
              <a:ext uri="{FF2B5EF4-FFF2-40B4-BE49-F238E27FC236}">
                <a16:creationId xmlns:a16="http://schemas.microsoft.com/office/drawing/2014/main" id="{0BBA1078-F661-4CDD-8E3B-9E11D5F1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3" y="317333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box">
            <a:extLst xmlns:a="http://schemas.openxmlformats.org/drawingml/2006/main">
              <a:ext uri="{FF2B5EF4-FFF2-40B4-BE49-F238E27FC236}">
                <a16:creationId xmlns:a16="http://schemas.microsoft.com/office/drawing/2014/main" id="{75C83F41-C808-4B9B-BBA7-FDC107E0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306618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box">
            <a:extLst xmlns:a="http://schemas.openxmlformats.org/drawingml/2006/main">
              <a:ext uri="{FF2B5EF4-FFF2-40B4-BE49-F238E27FC236}">
                <a16:creationId xmlns:a16="http://schemas.microsoft.com/office/drawing/2014/main" id="{ADCA9C61-513D-413F-98A1-A7386AF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738" y="3379713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box">
            <a:extLst xmlns:a="http://schemas.openxmlformats.org/drawingml/2006/main">
              <a:ext uri="{FF2B5EF4-FFF2-40B4-BE49-F238E27FC236}">
                <a16:creationId xmlns:a16="http://schemas.microsoft.com/office/drawing/2014/main" id="{E454F3DA-33A2-4DCA-8C96-40CC952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370116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box">
            <a:extLst xmlns:a="http://schemas.openxmlformats.org/drawingml/2006/main">
              <a:ext uri="{FF2B5EF4-FFF2-40B4-BE49-F238E27FC236}">
                <a16:creationId xmlns:a16="http://schemas.microsoft.com/office/drawing/2014/main" id="{D0C50BD8-91BE-447E-8B52-2553FD4A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363" y="3296224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box">
            <a:extLst xmlns:a="http://schemas.openxmlformats.org/drawingml/2006/main">
              <a:ext uri="{FF2B5EF4-FFF2-40B4-BE49-F238E27FC236}">
                <a16:creationId xmlns:a16="http://schemas.microsoft.com/office/drawing/2014/main" id="{94BB6943-DBA7-4CD0-8F92-9D60BF9D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202077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box">
            <a:extLst xmlns:a="http://schemas.openxmlformats.org/drawingml/2006/main">
              <a:ext uri="{FF2B5EF4-FFF2-40B4-BE49-F238E27FC236}">
                <a16:creationId xmlns:a16="http://schemas.microsoft.com/office/drawing/2014/main" id="{203E03D6-77FF-49F9-A33B-0BA13E3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8988" y="3132943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box">
            <a:extLst xmlns:a="http://schemas.openxmlformats.org/drawingml/2006/main">
              <a:ext uri="{FF2B5EF4-FFF2-40B4-BE49-F238E27FC236}">
                <a16:creationId xmlns:a16="http://schemas.microsoft.com/office/drawing/2014/main" id="{69545DF2-D1BE-4FC6-979D-8A302BD1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11463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box">
            <a:extLst xmlns:a="http://schemas.openxmlformats.org/drawingml/2006/main">
              <a:ext uri="{FF2B5EF4-FFF2-40B4-BE49-F238E27FC236}">
                <a16:creationId xmlns:a16="http://schemas.microsoft.com/office/drawing/2014/main" id="{C781A627-B636-482F-9639-F4F82ADE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3" y="3145471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box">
            <a:extLst xmlns:a="http://schemas.openxmlformats.org/drawingml/2006/main">
              <a:ext uri="{FF2B5EF4-FFF2-40B4-BE49-F238E27FC236}">
                <a16:creationId xmlns:a16="http://schemas.microsoft.com/office/drawing/2014/main" id="{0CF63F0B-816A-4094-8CBF-6C91ADF2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202214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764B1526-24EF-4CBA-A0AD-BC65A683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238" y="3254747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box">
            <a:extLst xmlns:a="http://schemas.openxmlformats.org/drawingml/2006/main">
              <a:ext uri="{FF2B5EF4-FFF2-40B4-BE49-F238E27FC236}">
                <a16:creationId xmlns:a16="http://schemas.microsoft.com/office/drawing/2014/main" id="{1A45E59D-31DB-4610-8F03-5F7AC30E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28093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box">
            <a:extLst xmlns:a="http://schemas.openxmlformats.org/drawingml/2006/main">
              <a:ext uri="{FF2B5EF4-FFF2-40B4-BE49-F238E27FC236}">
                <a16:creationId xmlns:a16="http://schemas.microsoft.com/office/drawing/2014/main" id="{A207F880-5001-435A-80E6-8C57CD5E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863" y="3274929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8A6D69C7-1F46-4C6F-9F33-CF4D3C8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529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Very wide directional carrier</a:t>
            </a:r>
          </a:p>
        </p:txBody>
      </p:sp>
      <p:sp>
        <p:nvSpPr>
          <p:cNvPr id="133" name="text">
            <a:extLst xmlns:a="http://schemas.openxmlformats.org/drawingml/2006/main">
              <a:ext uri="{FF2B5EF4-FFF2-40B4-BE49-F238E27FC236}">
                <a16:creationId xmlns:a16="http://schemas.microsoft.com/office/drawing/2014/main" id="{4FD42CE1-82A4-4529-BF9A-80CB7327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62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Waveform choice follows the channel: interference, delay spread, bandwidth, mobility, and hardware constraints.</a:t>
            </a:r>
          </a:p>
        </p:txBody>
      </p:sp>
    </p:spTree>
    <p:extLst>
      <p:ext uri="{BB962C8B-B14F-4D97-AF65-F5344CB8AC3E}">
        <p14:creationId xmlns:p14="http://schemas.microsoft.com/office/powerpoint/2010/main" val="4194222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kicker">
            <a:extLst xmlns:a="http://schemas.openxmlformats.org/drawingml/2006/main">
              <a:ext uri="{FF2B5EF4-FFF2-40B4-BE49-F238E27FC236}">
                <a16:creationId xmlns:a16="http://schemas.microsoft.com/office/drawing/2014/main" id="{9FC20BDC-37EE-4214-BB5F-79E94C4B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A1EF2D-A018-47C0-AF76-97CFCA5F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The mainstream branch evolves continuously from b to be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123724E-4650-4D1B-9E73-8B2E9F0E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A977EF2-7769-4BD2-8276-E3E293F6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19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20E64DD-C156-4135-817F-A14C711C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802.11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C66987-B02A-475A-A655-FBCF3A16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476375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year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1ED08C7-86B2-47E9-886C-C7F75976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76375"/>
            <a:ext cx="1323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GHz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440649-62F1-4FD1-9FA6-A0D3123F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476375"/>
            <a:ext cx="1323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MHz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6114EF-75D2-4933-9DF1-FDDED006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76375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key PHY idea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307068B-ADCC-480A-93ED-D0BDBEB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7637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headline maximum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1A2378A2-AA71-4051-ADDB-944891EE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11163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9F212B-F61D-4EF8-AAB0-261B17C2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b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873D92-E9B8-4121-8052-7C40F201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859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1999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CD7A121-E3E8-42A3-B813-8B1413E4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859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2.4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4613F52-B102-42A1-B6E7-20A8E027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859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≈22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74BCDB-C276-457C-9C31-E86A6410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859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CCK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E2507A-94BE-465D-B766-EA795853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859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11 Mb/s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BDB82C-2D2F-4E0B-A7EB-24D29117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1B6E96F-F7E8-4611-BEF2-FE35EF77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193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1999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FE2108E-DA5F-4F5A-9376-34982EDF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8693266-AF49-44B7-9A9D-3E87A27E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193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3EF613F-EC4A-4C27-A315-DA930877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193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OFDM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6F8A378-D15C-44F1-B8CA-F45BCEA2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54 Mb/s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72C035FC-1ED6-4C15-80C6-7B713A5E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1163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99DB4D3-D6CE-44AB-8548-4AC45460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g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8B3360B-8309-41E4-8DFA-16B49785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527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1715E13-8237-443E-B211-7F979A3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2.4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A1462CA-61F3-4A2B-8255-FCD729B3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527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8A32901-34B7-4E3E-9BB0-65E28D96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OFDM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452D432-43A0-47FD-8ED7-C65CF2A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527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54 Mb/s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017EE53-5C32-45D5-8C77-2E9DC0DC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n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664F6F2-F579-42BB-B81F-2EA40059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861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2009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A236938-D841-4297-A319-9372AFE9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861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2.4/5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E8520335-990C-4C02-81F6-E6ADADF5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861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20/40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959BA6A-3E13-445B-A7F2-8990B777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861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OFDM + MIMO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460BB2E-14E1-4FF6-BD80-6B196264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861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600 Mb/s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163C83A1-D3AF-4832-A44E-AD6C64E3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11163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9EC27D5-C868-4A69-93C0-F294CB3F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ac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2005AAF-4E14-487A-A5BF-351FCB3B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9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2013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1587324-F1EB-458C-8238-BFD48804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195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2089584-35D2-4BD8-8A61-92879749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195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20–160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84ED8D80-9D10-4C34-84D8-D96AE165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195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OFDM + MU‑MIMO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8E6F5674-5630-4C91-9DB4-03E043BB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195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6.9 Gb/s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C195953-6228-424C-843B-FA2DE66D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ax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EE564BF4-DD52-4EF2-A156-59F0BEF6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529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2021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532BDAD6-C141-40C2-8662-4E8E1CD8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529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2.4/5/6*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D2AB88B0-6FB9-48B9-A5D7-32A33A4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529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20–160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BC04FF44-2729-47F7-A341-303EDA77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529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OFDMA + MU‑MIMO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21D7B86C-A946-42DC-9A0F-5E5C8AE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529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9.6 Gb/s</a:t>
            </a:r>
          </a:p>
        </p:txBody>
      </p:sp>
      <p:sp>
        <p:nvSpPr>
          <p:cNvPr id="50" name="box">
            <a:extLst xmlns:a="http://schemas.openxmlformats.org/drawingml/2006/main">
              <a:ext uri="{FF2B5EF4-FFF2-40B4-BE49-F238E27FC236}">
                <a16:creationId xmlns:a16="http://schemas.microsoft.com/office/drawing/2014/main" id="{299C5D66-E05B-4C66-9DA0-92A00CB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11163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C0839167-5DC9-4EBA-A19F-CC02542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3D"/>
                </a:solidFill>
              </a:defRPr>
            </a:pPr>
            <a:r>
              <a:rPr sz="1650" b="1">
                <a:solidFill>
                  <a:srgbClr val="FF8A3D"/>
                </a:solidFill>
              </a:rPr>
              <a:t>be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F58079B6-35CD-4BFA-AD13-0BE771D6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863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2024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96E8A88C-BD55-4765-B836-CC81A871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863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2.4/5/6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02A562E2-6FD8-4590-829A-79F5FB44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8635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20–320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749CAE52-08DD-4AF5-9B57-3C9075E4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8635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EHT + MLO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FD2F4DB6-3A86-418D-8303-652989B4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863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≥30 Gb/s†</a:t>
            </a:r>
          </a:p>
        </p:txBody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4A12472D-CCF5-43D1-825C-9DB67F6D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470"/>
                </a:solidFill>
              </a:defRPr>
            </a:pPr>
            <a:r>
              <a:rPr sz="1050" b="0">
                <a:solidFill>
                  <a:srgbClr val="5D6470"/>
                </a:solidFill>
              </a:rPr>
              <a:t>* 6 GHz via Wi‑Fi 6E certification / regulation.  † IEEE 802.11be requirement is measured at the MAC SAP.</a:t>
            </a:r>
          </a:p>
        </p:txBody>
      </p:sp>
    </p:spTree>
    <p:extLst>
      <p:ext uri="{BB962C8B-B14F-4D97-AF65-F5344CB8AC3E}">
        <p14:creationId xmlns:p14="http://schemas.microsoft.com/office/powerpoint/2010/main" val="3239141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B12ACB91-E495-4B87-A951-DD4DC8EC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0657CC-630D-4773-A807-7149FF35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 PHY rate is the product of several optimistic choices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AEB132A-2BA7-4836-88B2-AB68F370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6A12325-F535-45C3-B8BF-863D7C14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20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0F69669-DB22-4475-8062-F297AF88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Rate ∝</a:t>
            </a:r>
          </a:p>
        </p:txBody>
      </p:sp>
      <p:sp>
        <p:nvSpPr>
          <p:cNvPr id="6" name="pill">
            <a:extLst xmlns:a="http://schemas.openxmlformats.org/drawingml/2006/main">
              <a:ext uri="{FF2B5EF4-FFF2-40B4-BE49-F238E27FC236}">
                <a16:creationId xmlns:a16="http://schemas.microsoft.com/office/drawing/2014/main" id="{22B3EC2C-BF2F-45B0-8250-799F9AE0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ll-text">
            <a:extLst xmlns:a="http://schemas.openxmlformats.org/drawingml/2006/main">
              <a:ext uri="{FF2B5EF4-FFF2-40B4-BE49-F238E27FC236}">
                <a16:creationId xmlns:a16="http://schemas.microsoft.com/office/drawing/2014/main" id="{951C1BFC-DD27-432A-B3F6-12DC7FE9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bandwidth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952716-FB7D-405A-B51F-EB845E0F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D6470"/>
                </a:solidFill>
              </a:defRPr>
            </a:pPr>
            <a:r>
              <a:rPr sz="2100" b="1">
                <a:solidFill>
                  <a:srgbClr val="5D6470"/>
                </a:solidFill>
              </a:rPr>
              <a:t>×</a:t>
            </a:r>
          </a:p>
        </p:txBody>
      </p:sp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A7BDFF6B-F451-49EC-812C-86D0BBC9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ll-text">
            <a:extLst xmlns:a="http://schemas.openxmlformats.org/drawingml/2006/main">
              <a:ext uri="{FF2B5EF4-FFF2-40B4-BE49-F238E27FC236}">
                <a16:creationId xmlns:a16="http://schemas.microsoft.com/office/drawing/2014/main" id="{3B3F7168-D028-4593-880C-018299F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bits / symbol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D47D909-B63C-4A61-9913-C427E3A2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D6470"/>
                </a:solidFill>
              </a:defRPr>
            </a:pPr>
            <a:r>
              <a:rPr sz="2100" b="1">
                <a:solidFill>
                  <a:srgbClr val="5D6470"/>
                </a:solidFill>
              </a:rPr>
              <a:t>×</a:t>
            </a:r>
          </a:p>
        </p:txBody>
      </p:sp>
      <p:sp>
        <p:nvSpPr>
          <p:cNvPr id="12" name="pill">
            <a:extLst xmlns:a="http://schemas.openxmlformats.org/drawingml/2006/main">
              <a:ext uri="{FF2B5EF4-FFF2-40B4-BE49-F238E27FC236}">
                <a16:creationId xmlns:a16="http://schemas.microsoft.com/office/drawing/2014/main" id="{C6080534-577C-4D8F-9895-91A4654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ill-text">
            <a:extLst xmlns:a="http://schemas.openxmlformats.org/drawingml/2006/main">
              <a:ext uri="{FF2B5EF4-FFF2-40B4-BE49-F238E27FC236}">
                <a16:creationId xmlns:a16="http://schemas.microsoft.com/office/drawing/2014/main" id="{1092D4D4-9E32-472D-A9A7-C0F6318C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code rate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BC281EA-B5C0-4B54-AB39-F081DE2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D6470"/>
                </a:solidFill>
              </a:defRPr>
            </a:pPr>
            <a:r>
              <a:rPr sz="2100" b="1">
                <a:solidFill>
                  <a:srgbClr val="5D6470"/>
                </a:solidFill>
              </a:rPr>
              <a:t>×</a:t>
            </a:r>
          </a:p>
        </p:txBody>
      </p:sp>
      <p:sp>
        <p:nvSpPr>
          <p:cNvPr id="15" name="pill">
            <a:extLst xmlns:a="http://schemas.openxmlformats.org/drawingml/2006/main">
              <a:ext uri="{FF2B5EF4-FFF2-40B4-BE49-F238E27FC236}">
                <a16:creationId xmlns:a16="http://schemas.microsoft.com/office/drawing/2014/main" id="{6B991684-CAE1-4407-BAD7-1EF4F3A5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ill-text">
            <a:extLst xmlns:a="http://schemas.openxmlformats.org/drawingml/2006/main">
              <a:ext uri="{FF2B5EF4-FFF2-40B4-BE49-F238E27FC236}">
                <a16:creationId xmlns:a16="http://schemas.microsoft.com/office/drawing/2014/main" id="{D876FF99-21DF-4E73-A160-88EB10C2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spatial streams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2C5F50C-541B-4DA7-AC9D-4A6A16B8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preamble + pilots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BDA6158-934E-4820-9980-C5E4912A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airtime overhead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9EC9E3A6-EB5D-4AD6-B531-1ECD38FA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924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8F81EAC-4BEB-46C0-9F93-56B9EB9E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62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contention + ACK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C120CAB-7154-4540-B23A-3D73036C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19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MAC overhead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DC3BB2B4-81E1-4230-BFB1-0C6EEC5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1924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8290063-2134-4F93-88D0-907EC36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2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retries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6F5C79A-D9EB-421F-B040-3F0A61BD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9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channel loss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07420577-E42B-4090-9713-57A173D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1924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621D94D-BE56-46A2-AD80-DFABC78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62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TCP / app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0825E42-4C4C-4205-97F3-D6548500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9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protocol overhead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D9677FF2-6445-40AD-AEC9-C90A4D7D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62500"/>
            <a:ext cx="1924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EA02344-4A50-4EC0-8520-570CA9E6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Application throughput is always lower—and depends on distance, interference, clients, and scheduler behavior.</a:t>
            </a:r>
          </a:p>
        </p:txBody>
      </p:sp>
    </p:spTree>
    <p:extLst>
      <p:ext uri="{BB962C8B-B14F-4D97-AF65-F5344CB8AC3E}">
        <p14:creationId xmlns:p14="http://schemas.microsoft.com/office/powerpoint/2010/main" val="3654078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2907AB76-1018-4E58-A2F7-FDAD9C99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06842-3B4D-4461-841D-F74EF4C8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The MAC and security story evolves alongside the waveform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4D6BCDC-E276-4625-8C12-A558FE12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56DB804-058A-47C6-BE86-B201B1CC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21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85CD68F-2C7D-4BF9-A61F-AAA4879F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CB570-6F2F-481C-892F-9D7D1FC9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D096B1DE-F669-4360-8CFE-C2C49B11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228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D1D92D-B1BB-40F0-99EB-376FC13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05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1997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372E527-B9F5-41ED-B0F2-906E6F40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CSMA/CA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D80B949-C739-4CF4-981F-A52FC22A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DCF, ACK, RTS/CTS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87A96-427D-415A-B92E-3487D197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7A0CA00E-41C0-4C3A-9D69-407F59C5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28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781281-31CE-40F2-B492-118B00B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05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1999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CE1D0B1-1613-40E6-BB7A-79D0A22B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147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WEP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B98EA46-3DF7-43D0-8CD8-766984E1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33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privacy goal; later broken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0277B-175B-4B41-97BD-FF95E90D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ACEC4D65-4C99-4387-A156-CA3232A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228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95DE95E-FAB3-45AC-BCFF-84F14E0B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05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2004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2BA32F7-3F97-4BBC-A658-DAF4AADB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WPA2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05DBC45-70C8-4146-A244-3D739F78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33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802.11i / CCMP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A588C-F7E0-4E0A-B090-3F6EC31F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E97AC791-A2FD-406E-841F-9C2E258A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28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AD944D2-75CB-48AD-9625-8ADA7412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05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2009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1F07722-7301-4135-BA0B-A95F5352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aggregation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7AC8C8C-DD53-44A0-928A-A10CB243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33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A‑MPDU / A‑MSDU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A6CD19-B355-4316-A943-ABF7FAE1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5CA7D48A-1C97-4DE9-816D-FDDF0223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28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C3DFA6E-A291-4AF5-9616-C484ED97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05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2018+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F066824-6E65-4E47-BFEA-590EF792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WPA3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6A7F492-9921-4CC5-B7F9-327E3EFB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33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SAE + stronger protection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206D97-D4BD-4FBF-BFC6-84F5A98F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22EE067-224E-4B98-900F-72506745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228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0D13E48-08E3-4C11-A694-CFC0BF5D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05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470"/>
                </a:solidFill>
              </a:defRPr>
            </a:pPr>
            <a:r>
              <a:rPr sz="1200" b="1">
                <a:solidFill>
                  <a:srgbClr val="5D6470"/>
                </a:solidFill>
              </a:rPr>
              <a:t>2024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4FACB1A-F3C7-400E-8E08-6A51DE0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147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MLO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AE29761-F91F-477A-A05A-6809BCF9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33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coordinate links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5C6AD83-39A6-421D-BDC2-35644349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PHY innovation changes what is possible; MAC innovation determines who gets airtime and how safely.</a:t>
            </a:r>
          </a:p>
        </p:txBody>
      </p:sp>
    </p:spTree>
    <p:extLst>
      <p:ext uri="{BB962C8B-B14F-4D97-AF65-F5344CB8AC3E}">
        <p14:creationId xmlns:p14="http://schemas.microsoft.com/office/powerpoint/2010/main" val="1705374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">
            <a:extLst xmlns:a="http://schemas.openxmlformats.org/drawingml/2006/main">
              <a:ext uri="{FF2B5EF4-FFF2-40B4-BE49-F238E27FC236}">
                <a16:creationId xmlns:a16="http://schemas.microsoft.com/office/drawing/2014/main" id="{C152B921-FB90-4059-8236-F37AFED1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63644F-C0DF-4482-9481-E4206EF2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Wi‑Fi and cellular optimize different edges of the same network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707F684-81E8-4C4D-9550-70ECD5E0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8325161-83CB-4043-AA18-E4D72F80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22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2E185FB-EC79-4E14-BF08-83AE5472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0396AAC7-2642-4004-969A-6E62EF0C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3830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3CCDA4-157C-4F83-89B7-15D78B35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Wi‑Fi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BA3AD-78D9-4514-8F76-7C1B8F62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4470E8FD-BED1-4822-B4BF-E9F4CFCB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D40560AC-FB18-4BF0-8286-B938FB97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14625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unlicensed spectrum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A70E0-3F0D-49DE-BED4-B5AEDE17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01A71535-7D4F-4AFB-9249-230B05AC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bullet">
            <a:extLst xmlns:a="http://schemas.openxmlformats.org/drawingml/2006/main">
              <a:ext uri="{FF2B5EF4-FFF2-40B4-BE49-F238E27FC236}">
                <a16:creationId xmlns:a16="http://schemas.microsoft.com/office/drawing/2014/main" id="{A080FE32-B050-4CF0-B16E-3891694C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local ownership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60E49-3DCA-41C8-8742-2EF92FB9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C0F2E7AF-2A5B-48A5-AE5A-45DA1416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bullet">
            <a:extLst xmlns:a="http://schemas.openxmlformats.org/drawingml/2006/main">
              <a:ext uri="{FF2B5EF4-FFF2-40B4-BE49-F238E27FC236}">
                <a16:creationId xmlns:a16="http://schemas.microsoft.com/office/drawing/2014/main" id="{D81F3F46-037A-45B9-9C15-61633151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48075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contention-based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FC97F-EE5C-4A62-B88E-063AADE8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65242FFA-7F8B-4EEC-B02F-0F591313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bullet">
            <a:extLst xmlns:a="http://schemas.openxmlformats.org/drawingml/2006/main">
              <a:ext uri="{FF2B5EF4-FFF2-40B4-BE49-F238E27FC236}">
                <a16:creationId xmlns:a16="http://schemas.microsoft.com/office/drawing/2014/main" id="{1C81C737-3876-4967-BEAF-25B0892E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very wide local 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891E8-3878-46CC-A23E-A7C0147B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904206E5-9D29-4972-AD09-9C30CC9B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bullet">
            <a:extLst xmlns:a="http://schemas.openxmlformats.org/drawingml/2006/main">
              <a:ext uri="{FF2B5EF4-FFF2-40B4-BE49-F238E27FC236}">
                <a16:creationId xmlns:a16="http://schemas.microsoft.com/office/drawing/2014/main" id="{7ED10A7C-3220-45D1-AA62-ADDEBC68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81525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rapid device ecosystem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7B0D69C-8173-4D18-AD31-3505A085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3D"/>
                </a:solidFill>
              </a:defRPr>
            </a:pPr>
            <a:r>
              <a:rPr sz="2550" b="1">
                <a:solidFill>
                  <a:srgbClr val="FF8A3D"/>
                </a:solidFill>
              </a:rPr>
              <a:t>Cellular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82DD5-3204-48D3-A282-DDAD170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355F69A5-5036-4FD2-AAE0-41B84A09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bullet">
            <a:extLst xmlns:a="http://schemas.openxmlformats.org/drawingml/2006/main">
              <a:ext uri="{FF2B5EF4-FFF2-40B4-BE49-F238E27FC236}">
                <a16:creationId xmlns:a16="http://schemas.microsoft.com/office/drawing/2014/main" id="{4F55345D-AABD-47A9-A311-3C78E75D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14625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licensed / managed spectrum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8729EF-B5DA-41D9-946D-15E65F74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3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807584E9-C5A5-456F-967C-1178F422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385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bullet">
            <a:extLst xmlns:a="http://schemas.openxmlformats.org/drawingml/2006/main">
              <a:ext uri="{FF2B5EF4-FFF2-40B4-BE49-F238E27FC236}">
                <a16:creationId xmlns:a16="http://schemas.microsoft.com/office/drawing/2014/main" id="{750D1113-F5A6-4658-9BF6-7727086B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8135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operator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07DDCB-654C-45C9-B8CF-DFEFC0D1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05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1F0AD3B2-0493-4FBC-B17D-8EA4EFD2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05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bullet">
            <a:extLst xmlns:a="http://schemas.openxmlformats.org/drawingml/2006/main">
              <a:ext uri="{FF2B5EF4-FFF2-40B4-BE49-F238E27FC236}">
                <a16:creationId xmlns:a16="http://schemas.microsoft.com/office/drawing/2014/main" id="{E50B1A5A-8C99-49C9-B85F-5D871B4B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48075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scheduled access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9CFE7-FBE7-4C3B-AA85-A3BD021F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71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355806B0-481D-4A7F-ABA9-0D69E0F3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719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bullet">
            <a:extLst xmlns:a="http://schemas.openxmlformats.org/drawingml/2006/main">
              <a:ext uri="{FF2B5EF4-FFF2-40B4-BE49-F238E27FC236}">
                <a16:creationId xmlns:a16="http://schemas.microsoft.com/office/drawing/2014/main" id="{8584E78F-8F45-41B8-BE80-3841FB38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1480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wide-area mobility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22D204-44C0-43BC-B758-A46BAF8E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38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ircle-label">
            <a:extLst xmlns:a="http://schemas.openxmlformats.org/drawingml/2006/main">
              <a:ext uri="{FF2B5EF4-FFF2-40B4-BE49-F238E27FC236}">
                <a16:creationId xmlns:a16="http://schemas.microsoft.com/office/drawing/2014/main" id="{07228A5A-2CBA-4609-BAC3-2CC00AB0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386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bullet">
            <a:extLst xmlns:a="http://schemas.openxmlformats.org/drawingml/2006/main">
              <a:ext uri="{FF2B5EF4-FFF2-40B4-BE49-F238E27FC236}">
                <a16:creationId xmlns:a16="http://schemas.microsoft.com/office/drawing/2014/main" id="{51CD51F3-2F2C-46CF-B109-BFB954BA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81525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integrated service guarantees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8C11004D-52B1-49E3-A879-08F981D2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Future edge systems choose, combine, and hand off across both.</a:t>
            </a:r>
          </a:p>
        </p:txBody>
      </p:sp>
    </p:spTree>
    <p:extLst>
      <p:ext uri="{BB962C8B-B14F-4D97-AF65-F5344CB8AC3E}">
        <p14:creationId xmlns:p14="http://schemas.microsoft.com/office/powerpoint/2010/main" val="5688743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44C70F84-F9BC-4C3E-B67F-DB954425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</a:defRPr>
            </a:pPr>
            <a:r>
              <a:rPr sz="975" b="1">
                <a:solidFill>
                  <a:srgbClr val="5D6470"/>
                </a:solidFill>
              </a:rPr>
              <a:t>WI-FI HISTORY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13AFE6-E68C-4FE5-AD36-AB81A0F3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Read any new Wi‑Fi generation through five questions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09C0409-5DD8-4EE5-AA3E-DAFA570F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138904B-9422-424D-8CAC-AED8F9E0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470"/>
                </a:solidFill>
              </a:defRPr>
            </a:pPr>
            <a:r>
              <a:rPr sz="900" b="0">
                <a:solidFill>
                  <a:srgbClr val="5D6470"/>
                </a:solidFill>
              </a:rPr>
              <a:t>23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080D64-F92D-49E0-82AA-17BDF116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DB2D9FA-9B0B-44D4-9798-D48CC494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430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What spectrum does it use?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C96C527-1866-4523-98A1-31EBAB51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859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24067A-67FF-4EEE-97A7-B82DF7A6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482D21-B55F-4CC1-A88C-639D3014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What does one PPDU look like?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9A4BF99-C211-47E7-AF8F-2438E752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AFFEBD3-F516-4AE6-9717-CCE3595A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BEA31D5-2074-47CB-ABE9-99F867A7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How are users separated?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03D51192-BB7E-49D9-A9E1-E96FC25E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ECC38C9-06ED-4C24-A7DD-C3C73061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1A1805B-DB35-4249-85AA-55837839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What channel conditions does it assume?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8AE423B-7E8B-4B3F-83CF-979275ED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9BAC5AA-BF40-4D53-892D-D63BEB98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8A3D"/>
                </a:solidFill>
              </a:defRPr>
            </a:pPr>
            <a:r>
              <a:rPr sz="1950" b="1">
                <a:solidFill>
                  <a:srgbClr val="FF8A3D"/>
                </a:solidFill>
              </a:rPr>
              <a:t>05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A66B3E0-A94A-44D7-B5B0-E77FF1D3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Which bottleneck moved next?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68B42FE-B6A5-4AF1-B924-3EAE0E46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625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F2DF00E-F2F7-4542-9580-505728C9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53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b → a/g → n → ac → ax → be</a:t>
            </a:r>
          </a:p>
        </p:txBody>
      </p:sp>
    </p:spTree>
    <p:extLst>
      <p:ext uri="{BB962C8B-B14F-4D97-AF65-F5344CB8AC3E}">
        <p14:creationId xmlns:p14="http://schemas.microsoft.com/office/powerpoint/2010/main" val="406489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2026-09-03T13:59:52.0010000Z</dcterms:created>
  <dcterms:modified xsi:type="dcterms:W3CDTF">2026-09-03T13:59:52.0010000Z</dcterms:modified>
</coreProperties>
</file>