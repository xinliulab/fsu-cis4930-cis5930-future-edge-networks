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Slides/notesSlide12.xml" ContentType="application/vnd.openxmlformats-officedocument.presentationml.notesSlide+xml"/>
  <Override PartName="/ppt/charts/chart6.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50"/>
  </p:notesMasterIdLst>
  <p:sldIdLst>
    <p:sldId id="286" r:id="rId5"/>
    <p:sldId id="287" r:id="rId6"/>
    <p:sldId id="288" r:id="rId7"/>
    <p:sldId id="293" r:id="rId8"/>
    <p:sldId id="299" r:id="rId9"/>
    <p:sldId id="289" r:id="rId10"/>
    <p:sldId id="290" r:id="rId11"/>
    <p:sldId id="300" r:id="rId12"/>
    <p:sldId id="301" r:id="rId13"/>
    <p:sldId id="302" r:id="rId14"/>
    <p:sldId id="303" r:id="rId15"/>
    <p:sldId id="304" r:id="rId16"/>
    <p:sldId id="292" r:id="rId17"/>
    <p:sldId id="291" r:id="rId18"/>
    <p:sldId id="294" r:id="rId19"/>
    <p:sldId id="295" r:id="rId20"/>
    <p:sldId id="280" r:id="rId21"/>
    <p:sldId id="279" r:id="rId22"/>
    <p:sldId id="281" r:id="rId23"/>
    <p:sldId id="275" r:id="rId24"/>
    <p:sldId id="274" r:id="rId25"/>
    <p:sldId id="276" r:id="rId26"/>
    <p:sldId id="305" r:id="rId27"/>
    <p:sldId id="306" r:id="rId28"/>
    <p:sldId id="277" r:id="rId29"/>
    <p:sldId id="307" r:id="rId30"/>
    <p:sldId id="270" r:id="rId31"/>
    <p:sldId id="296" r:id="rId32"/>
    <p:sldId id="271" r:id="rId33"/>
    <p:sldId id="272" r:id="rId34"/>
    <p:sldId id="273" r:id="rId35"/>
    <p:sldId id="297" r:id="rId36"/>
    <p:sldId id="278" r:id="rId37"/>
    <p:sldId id="298" r:id="rId38"/>
    <p:sldId id="259" r:id="rId39"/>
    <p:sldId id="257" r:id="rId40"/>
    <p:sldId id="264" r:id="rId41"/>
    <p:sldId id="265" r:id="rId42"/>
    <p:sldId id="282" r:id="rId43"/>
    <p:sldId id="283" r:id="rId44"/>
    <p:sldId id="284" r:id="rId45"/>
    <p:sldId id="308" r:id="rId46"/>
    <p:sldId id="309" r:id="rId47"/>
    <p:sldId id="310" r:id="rId48"/>
    <p:sldId id="311"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82F40"/>
    <a:srgbClr val="5729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39C30F-4B68-4EFF-A643-ADAA877A21E8}" v="123" dt="2026-01-19T03:00:06.256"/>
    <p1510:client id="{C02C9800-05D5-488A-9EF4-21E07C60C3F0}" v="1" dt="2026-01-19T17:18:11.5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044" autoAdjust="0"/>
  </p:normalViewPr>
  <p:slideViewPr>
    <p:cSldViewPr snapToGrid="0">
      <p:cViewPr varScale="1">
        <p:scale>
          <a:sx n="109" d="100"/>
          <a:sy n="109" d="100"/>
        </p:scale>
        <p:origin x="965"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glo S" userId="b90a62515e0f8a67" providerId="LiveId" clId="{66523EC2-CAA1-47CB-9BFC-419183B0E21A}"/>
    <pc:docChg chg="undo custSel addSld delSld modSld sldOrd">
      <pc:chgData name="Raglo S" userId="b90a62515e0f8a67" providerId="LiveId" clId="{66523EC2-CAA1-47CB-9BFC-419183B0E21A}" dt="2026-01-19T17:19:37.066" v="1947" actId="1076"/>
      <pc:docMkLst>
        <pc:docMk/>
      </pc:docMkLst>
      <pc:sldChg chg="addSp delSp modSp new mod ord">
        <pc:chgData name="Raglo S" userId="b90a62515e0f8a67" providerId="LiveId" clId="{66523EC2-CAA1-47CB-9BFC-419183B0E21A}" dt="2026-01-16T15:13:56.337" v="25" actId="1076"/>
        <pc:sldMkLst>
          <pc:docMk/>
          <pc:sldMk cId="2020069983" sldId="270"/>
        </pc:sldMkLst>
        <pc:spChg chg="mod">
          <ac:chgData name="Raglo S" userId="b90a62515e0f8a67" providerId="LiveId" clId="{66523EC2-CAA1-47CB-9BFC-419183B0E21A}" dt="2026-01-16T15:13:21.453" v="22" actId="20577"/>
          <ac:spMkLst>
            <pc:docMk/>
            <pc:sldMk cId="2020069983" sldId="270"/>
            <ac:spMk id="2" creationId="{BDB3FFB3-8589-D6F1-5228-1F6DA4F0CAC7}"/>
          </ac:spMkLst>
        </pc:spChg>
        <pc:picChg chg="add mod">
          <ac:chgData name="Raglo S" userId="b90a62515e0f8a67" providerId="LiveId" clId="{66523EC2-CAA1-47CB-9BFC-419183B0E21A}" dt="2026-01-16T15:13:56.337" v="25" actId="1076"/>
          <ac:picMkLst>
            <pc:docMk/>
            <pc:sldMk cId="2020069983" sldId="270"/>
            <ac:picMk id="1026" creationId="{882BCCC8-9C85-8455-320A-C82903B904B6}"/>
          </ac:picMkLst>
        </pc:picChg>
      </pc:sldChg>
      <pc:sldChg chg="addSp modSp new mod">
        <pc:chgData name="Raglo S" userId="b90a62515e0f8a67" providerId="LiveId" clId="{66523EC2-CAA1-47CB-9BFC-419183B0E21A}" dt="2026-01-16T15:19:35.283" v="86" actId="20577"/>
        <pc:sldMkLst>
          <pc:docMk/>
          <pc:sldMk cId="3277351123" sldId="271"/>
        </pc:sldMkLst>
        <pc:spChg chg="mod">
          <ac:chgData name="Raglo S" userId="b90a62515e0f8a67" providerId="LiveId" clId="{66523EC2-CAA1-47CB-9BFC-419183B0E21A}" dt="2026-01-16T15:14:06.764" v="56" actId="20577"/>
          <ac:spMkLst>
            <pc:docMk/>
            <pc:sldMk cId="3277351123" sldId="271"/>
            <ac:spMk id="2" creationId="{4937C1BF-8105-6A53-DFD7-E161694AF8A6}"/>
          </ac:spMkLst>
        </pc:spChg>
        <pc:spChg chg="mod">
          <ac:chgData name="Raglo S" userId="b90a62515e0f8a67" providerId="LiveId" clId="{66523EC2-CAA1-47CB-9BFC-419183B0E21A}" dt="2026-01-16T15:19:35.283" v="86" actId="20577"/>
          <ac:spMkLst>
            <pc:docMk/>
            <pc:sldMk cId="3277351123" sldId="271"/>
            <ac:spMk id="3" creationId="{12110D7B-2438-5038-2937-FA2F5510584D}"/>
          </ac:spMkLst>
        </pc:spChg>
      </pc:sldChg>
      <pc:sldChg chg="addSp delSp modSp new mod">
        <pc:chgData name="Raglo S" userId="b90a62515e0f8a67" providerId="LiveId" clId="{66523EC2-CAA1-47CB-9BFC-419183B0E21A}" dt="2026-01-16T15:27:14.014" v="223" actId="20577"/>
        <pc:sldMkLst>
          <pc:docMk/>
          <pc:sldMk cId="199500155" sldId="272"/>
        </pc:sldMkLst>
        <pc:spChg chg="mod">
          <ac:chgData name="Raglo S" userId="b90a62515e0f8a67" providerId="LiveId" clId="{66523EC2-CAA1-47CB-9BFC-419183B0E21A}" dt="2026-01-16T15:19:46.676" v="88"/>
          <ac:spMkLst>
            <pc:docMk/>
            <pc:sldMk cId="199500155" sldId="272"/>
            <ac:spMk id="2" creationId="{FD70353B-A52C-CC75-2DE8-F20F5FC9C219}"/>
          </ac:spMkLst>
        </pc:spChg>
        <pc:spChg chg="add del mod">
          <ac:chgData name="Raglo S" userId="b90a62515e0f8a67" providerId="LiveId" clId="{66523EC2-CAA1-47CB-9BFC-419183B0E21A}" dt="2026-01-16T15:27:14.014" v="223" actId="20577"/>
          <ac:spMkLst>
            <pc:docMk/>
            <pc:sldMk cId="199500155" sldId="272"/>
            <ac:spMk id="3" creationId="{E5A824A3-2545-4F2B-208D-40C7DF20E5C7}"/>
          </ac:spMkLst>
        </pc:spChg>
      </pc:sldChg>
      <pc:sldChg chg="addSp modSp new mod">
        <pc:chgData name="Raglo S" userId="b90a62515e0f8a67" providerId="LiveId" clId="{66523EC2-CAA1-47CB-9BFC-419183B0E21A}" dt="2026-01-16T16:02:30.849" v="635" actId="20577"/>
        <pc:sldMkLst>
          <pc:docMk/>
          <pc:sldMk cId="2612900446" sldId="273"/>
        </pc:sldMkLst>
        <pc:spChg chg="mod">
          <ac:chgData name="Raglo S" userId="b90a62515e0f8a67" providerId="LiveId" clId="{66523EC2-CAA1-47CB-9BFC-419183B0E21A}" dt="2026-01-16T15:27:22.506" v="228" actId="27636"/>
          <ac:spMkLst>
            <pc:docMk/>
            <pc:sldMk cId="2612900446" sldId="273"/>
            <ac:spMk id="2" creationId="{9012FC5D-338E-E7A7-4752-D75C165A3A30}"/>
          </ac:spMkLst>
        </pc:spChg>
        <pc:spChg chg="mod">
          <ac:chgData name="Raglo S" userId="b90a62515e0f8a67" providerId="LiveId" clId="{66523EC2-CAA1-47CB-9BFC-419183B0E21A}" dt="2026-01-16T16:02:30.849" v="635" actId="20577"/>
          <ac:spMkLst>
            <pc:docMk/>
            <pc:sldMk cId="2612900446" sldId="273"/>
            <ac:spMk id="3" creationId="{DAD2D844-84E7-70D2-5640-8AE26C12E23B}"/>
          </ac:spMkLst>
        </pc:spChg>
      </pc:sldChg>
      <pc:sldChg chg="addSp delSp modSp new mod ord">
        <pc:chgData name="Raglo S" userId="b90a62515e0f8a67" providerId="LiveId" clId="{66523EC2-CAA1-47CB-9BFC-419183B0E21A}" dt="2026-01-16T15:46:28.118" v="294" actId="1076"/>
        <pc:sldMkLst>
          <pc:docMk/>
          <pc:sldMk cId="2545080264" sldId="274"/>
        </pc:sldMkLst>
        <pc:spChg chg="mod">
          <ac:chgData name="Raglo S" userId="b90a62515e0f8a67" providerId="LiveId" clId="{66523EC2-CAA1-47CB-9BFC-419183B0E21A}" dt="2026-01-16T15:40:57.636" v="282" actId="20577"/>
          <ac:spMkLst>
            <pc:docMk/>
            <pc:sldMk cId="2545080264" sldId="274"/>
            <ac:spMk id="2" creationId="{8EBFD95A-F373-8855-06DC-3AA61B112698}"/>
          </ac:spMkLst>
        </pc:spChg>
        <pc:picChg chg="add mod">
          <ac:chgData name="Raglo S" userId="b90a62515e0f8a67" providerId="LiveId" clId="{66523EC2-CAA1-47CB-9BFC-419183B0E21A}" dt="2026-01-16T15:46:28.118" v="294" actId="1076"/>
          <ac:picMkLst>
            <pc:docMk/>
            <pc:sldMk cId="2545080264" sldId="274"/>
            <ac:picMk id="5124" creationId="{80A2145E-5C2A-C384-AB0C-6B1F13BCAF8F}"/>
          </ac:picMkLst>
        </pc:picChg>
      </pc:sldChg>
      <pc:sldChg chg="addSp delSp modSp new mod">
        <pc:chgData name="Raglo S" userId="b90a62515e0f8a67" providerId="LiveId" clId="{66523EC2-CAA1-47CB-9BFC-419183B0E21A}" dt="2026-01-16T15:57:20.153" v="534" actId="14100"/>
        <pc:sldMkLst>
          <pc:docMk/>
          <pc:sldMk cId="2237816634" sldId="275"/>
        </pc:sldMkLst>
        <pc:spChg chg="mod">
          <ac:chgData name="Raglo S" userId="b90a62515e0f8a67" providerId="LiveId" clId="{66523EC2-CAA1-47CB-9BFC-419183B0E21A}" dt="2026-01-16T15:48:51.516" v="316" actId="20577"/>
          <ac:spMkLst>
            <pc:docMk/>
            <pc:sldMk cId="2237816634" sldId="275"/>
            <ac:spMk id="2" creationId="{C46C18C9-44FD-7C5D-6CD5-E9958B2565F9}"/>
          </ac:spMkLst>
        </pc:spChg>
        <pc:spChg chg="add del mod">
          <ac:chgData name="Raglo S" userId="b90a62515e0f8a67" providerId="LiveId" clId="{66523EC2-CAA1-47CB-9BFC-419183B0E21A}" dt="2026-01-16T15:57:20.153" v="534" actId="14100"/>
          <ac:spMkLst>
            <pc:docMk/>
            <pc:sldMk cId="2237816634" sldId="275"/>
            <ac:spMk id="3" creationId="{9F83CF9A-46BA-D3A0-B5DE-CC1BC34C4FDC}"/>
          </ac:spMkLst>
        </pc:spChg>
        <pc:picChg chg="add mod">
          <ac:chgData name="Raglo S" userId="b90a62515e0f8a67" providerId="LiveId" clId="{66523EC2-CAA1-47CB-9BFC-419183B0E21A}" dt="2026-01-16T15:50:14.227" v="347" actId="1076"/>
          <ac:picMkLst>
            <pc:docMk/>
            <pc:sldMk cId="2237816634" sldId="275"/>
            <ac:picMk id="6147" creationId="{25BD167F-F59F-4CBD-AEB4-0F85C922FC6F}"/>
          </ac:picMkLst>
        </pc:picChg>
      </pc:sldChg>
      <pc:sldChg chg="addSp delSp modSp new mod">
        <pc:chgData name="Raglo S" userId="b90a62515e0f8a67" providerId="LiveId" clId="{66523EC2-CAA1-47CB-9BFC-419183B0E21A}" dt="2026-01-16T15:56:28.261" v="529" actId="20577"/>
        <pc:sldMkLst>
          <pc:docMk/>
          <pc:sldMk cId="3741772529" sldId="276"/>
        </pc:sldMkLst>
        <pc:spChg chg="mod">
          <ac:chgData name="Raglo S" userId="b90a62515e0f8a67" providerId="LiveId" clId="{66523EC2-CAA1-47CB-9BFC-419183B0E21A}" dt="2026-01-16T15:51:14.533" v="384" actId="20577"/>
          <ac:spMkLst>
            <pc:docMk/>
            <pc:sldMk cId="3741772529" sldId="276"/>
            <ac:spMk id="2" creationId="{5862DA9C-C0E6-2FC0-E1FE-2E9B7AAF1D8D}"/>
          </ac:spMkLst>
        </pc:spChg>
        <pc:spChg chg="mod">
          <ac:chgData name="Raglo S" userId="b90a62515e0f8a67" providerId="LiveId" clId="{66523EC2-CAA1-47CB-9BFC-419183B0E21A}" dt="2026-01-16T15:56:28.261" v="529" actId="20577"/>
          <ac:spMkLst>
            <pc:docMk/>
            <pc:sldMk cId="3741772529" sldId="276"/>
            <ac:spMk id="3" creationId="{68F2C3B4-F8C3-D0D8-E5DE-DCCD4010A71A}"/>
          </ac:spMkLst>
        </pc:spChg>
      </pc:sldChg>
      <pc:sldChg chg="addSp modSp new mod">
        <pc:chgData name="Raglo S" userId="b90a62515e0f8a67" providerId="LiveId" clId="{66523EC2-CAA1-47CB-9BFC-419183B0E21A}" dt="2026-01-16T15:59:19.673" v="600"/>
        <pc:sldMkLst>
          <pc:docMk/>
          <pc:sldMk cId="1294134233" sldId="277"/>
        </pc:sldMkLst>
        <pc:spChg chg="mod">
          <ac:chgData name="Raglo S" userId="b90a62515e0f8a67" providerId="LiveId" clId="{66523EC2-CAA1-47CB-9BFC-419183B0E21A}" dt="2026-01-16T15:58:01.120" v="563" actId="20577"/>
          <ac:spMkLst>
            <pc:docMk/>
            <pc:sldMk cId="1294134233" sldId="277"/>
            <ac:spMk id="2" creationId="{91993B10-728D-BDC1-9F04-6AA70574F20C}"/>
          </ac:spMkLst>
        </pc:spChg>
        <pc:spChg chg="mod">
          <ac:chgData name="Raglo S" userId="b90a62515e0f8a67" providerId="LiveId" clId="{66523EC2-CAA1-47CB-9BFC-419183B0E21A}" dt="2026-01-16T15:59:19.673" v="600"/>
          <ac:spMkLst>
            <pc:docMk/>
            <pc:sldMk cId="1294134233" sldId="277"/>
            <ac:spMk id="3" creationId="{4C82E090-36A0-DF56-EE95-B717F10B88AF}"/>
          </ac:spMkLst>
        </pc:spChg>
        <pc:spChg chg="add mod">
          <ac:chgData name="Raglo S" userId="b90a62515e0f8a67" providerId="LiveId" clId="{66523EC2-CAA1-47CB-9BFC-419183B0E21A}" dt="2026-01-16T15:58:55.942" v="594"/>
          <ac:spMkLst>
            <pc:docMk/>
            <pc:sldMk cId="1294134233" sldId="277"/>
            <ac:spMk id="4" creationId="{58A303FA-DD5E-33D9-30BA-6066AAAC2E0D}"/>
          </ac:spMkLst>
        </pc:spChg>
      </pc:sldChg>
      <pc:sldChg chg="addSp delSp modSp new mod">
        <pc:chgData name="Raglo S" userId="b90a62515e0f8a67" providerId="LiveId" clId="{66523EC2-CAA1-47CB-9BFC-419183B0E21A}" dt="2026-01-16T16:05:23.379" v="929" actId="242"/>
        <pc:sldMkLst>
          <pc:docMk/>
          <pc:sldMk cId="1218450009" sldId="278"/>
        </pc:sldMkLst>
        <pc:spChg chg="mod">
          <ac:chgData name="Raglo S" userId="b90a62515e0f8a67" providerId="LiveId" clId="{66523EC2-CAA1-47CB-9BFC-419183B0E21A}" dt="2026-01-16T16:02:41.606" v="666" actId="20577"/>
          <ac:spMkLst>
            <pc:docMk/>
            <pc:sldMk cId="1218450009" sldId="278"/>
            <ac:spMk id="2" creationId="{DE011523-6E46-9628-94E8-4B440053E868}"/>
          </ac:spMkLst>
        </pc:spChg>
        <pc:graphicFrameChg chg="add mod modGraphic">
          <ac:chgData name="Raglo S" userId="b90a62515e0f8a67" providerId="LiveId" clId="{66523EC2-CAA1-47CB-9BFC-419183B0E21A}" dt="2026-01-16T16:05:23.379" v="929" actId="242"/>
          <ac:graphicFrameMkLst>
            <pc:docMk/>
            <pc:sldMk cId="1218450009" sldId="278"/>
            <ac:graphicFrameMk id="4" creationId="{41D8696C-AB68-8A9E-4BA5-78F9C174B3B9}"/>
          </ac:graphicFrameMkLst>
        </pc:graphicFrameChg>
      </pc:sldChg>
      <pc:sldChg chg="addSp delSp modSp new mod ord">
        <pc:chgData name="Raglo S" userId="b90a62515e0f8a67" providerId="LiveId" clId="{66523EC2-CAA1-47CB-9BFC-419183B0E21A}" dt="2026-01-16T17:28:26.656" v="967" actId="1076"/>
        <pc:sldMkLst>
          <pc:docMk/>
          <pc:sldMk cId="3034435445" sldId="279"/>
        </pc:sldMkLst>
        <pc:spChg chg="mod">
          <ac:chgData name="Raglo S" userId="b90a62515e0f8a67" providerId="LiveId" clId="{66523EC2-CAA1-47CB-9BFC-419183B0E21A}" dt="2026-01-16T17:25:50.156" v="964" actId="20577"/>
          <ac:spMkLst>
            <pc:docMk/>
            <pc:sldMk cId="3034435445" sldId="279"/>
            <ac:spMk id="2" creationId="{8527E758-76C5-BFB3-8A8F-178B324B39DB}"/>
          </ac:spMkLst>
        </pc:spChg>
        <pc:picChg chg="add mod">
          <ac:chgData name="Raglo S" userId="b90a62515e0f8a67" providerId="LiveId" clId="{66523EC2-CAA1-47CB-9BFC-419183B0E21A}" dt="2026-01-16T17:28:26.656" v="967" actId="1076"/>
          <ac:picMkLst>
            <pc:docMk/>
            <pc:sldMk cId="3034435445" sldId="279"/>
            <ac:picMk id="9218" creationId="{0C987D4A-E357-2DB0-89C5-BDC3F3309F8D}"/>
          </ac:picMkLst>
        </pc:picChg>
      </pc:sldChg>
      <pc:sldChg chg="addSp modSp new mod">
        <pc:chgData name="Raglo S" userId="b90a62515e0f8a67" providerId="LiveId" clId="{66523EC2-CAA1-47CB-9BFC-419183B0E21A}" dt="2026-01-16T17:30:20.114" v="1155" actId="20577"/>
        <pc:sldMkLst>
          <pc:docMk/>
          <pc:sldMk cId="580808550" sldId="280"/>
        </pc:sldMkLst>
        <pc:spChg chg="mod">
          <ac:chgData name="Raglo S" userId="b90a62515e0f8a67" providerId="LiveId" clId="{66523EC2-CAA1-47CB-9BFC-419183B0E21A}" dt="2026-01-16T17:28:34.116" v="985" actId="20577"/>
          <ac:spMkLst>
            <pc:docMk/>
            <pc:sldMk cId="580808550" sldId="280"/>
            <ac:spMk id="2" creationId="{1838C5F0-5265-885D-0694-0479E58D35B1}"/>
          </ac:spMkLst>
        </pc:spChg>
        <pc:spChg chg="mod">
          <ac:chgData name="Raglo S" userId="b90a62515e0f8a67" providerId="LiveId" clId="{66523EC2-CAA1-47CB-9BFC-419183B0E21A}" dt="2026-01-16T17:30:20.114" v="1155" actId="20577"/>
          <ac:spMkLst>
            <pc:docMk/>
            <pc:sldMk cId="580808550" sldId="280"/>
            <ac:spMk id="3" creationId="{02D6F4EB-2611-D868-8544-439FC1AEF7E5}"/>
          </ac:spMkLst>
        </pc:spChg>
      </pc:sldChg>
      <pc:sldChg chg="addSp modSp new mod">
        <pc:chgData name="Raglo S" userId="b90a62515e0f8a67" providerId="LiveId" clId="{66523EC2-CAA1-47CB-9BFC-419183B0E21A}" dt="2026-01-16T17:36:27.100" v="1647"/>
        <pc:sldMkLst>
          <pc:docMk/>
          <pc:sldMk cId="2300903679" sldId="281"/>
        </pc:sldMkLst>
        <pc:spChg chg="mod">
          <ac:chgData name="Raglo S" userId="b90a62515e0f8a67" providerId="LiveId" clId="{66523EC2-CAA1-47CB-9BFC-419183B0E21A}" dt="2026-01-16T17:35:58.128" v="1622" actId="1076"/>
          <ac:spMkLst>
            <pc:docMk/>
            <pc:sldMk cId="2300903679" sldId="281"/>
            <ac:spMk id="2" creationId="{7EE5AF81-0599-737C-9380-26DB2B0FF7E0}"/>
          </ac:spMkLst>
        </pc:spChg>
        <pc:spChg chg="mod">
          <ac:chgData name="Raglo S" userId="b90a62515e0f8a67" providerId="LiveId" clId="{66523EC2-CAA1-47CB-9BFC-419183B0E21A}" dt="2026-01-16T17:35:39.661" v="1614" actId="14100"/>
          <ac:spMkLst>
            <pc:docMk/>
            <pc:sldMk cId="2300903679" sldId="281"/>
            <ac:spMk id="3" creationId="{8839AA0A-17A5-EF78-BB45-C3302271EA28}"/>
          </ac:spMkLst>
        </pc:spChg>
        <pc:spChg chg="add mod">
          <ac:chgData name="Raglo S" userId="b90a62515e0f8a67" providerId="LiveId" clId="{66523EC2-CAA1-47CB-9BFC-419183B0E21A}" dt="2026-01-16T17:36:27.100" v="1647"/>
          <ac:spMkLst>
            <pc:docMk/>
            <pc:sldMk cId="2300903679" sldId="281"/>
            <ac:spMk id="4" creationId="{4A06CC08-1477-2185-B30B-7EC38419CBCD}"/>
          </ac:spMkLst>
        </pc:spChg>
      </pc:sldChg>
      <pc:sldChg chg="addSp delSp modSp new mod">
        <pc:chgData name="Raglo S" userId="b90a62515e0f8a67" providerId="LiveId" clId="{66523EC2-CAA1-47CB-9BFC-419183B0E21A}" dt="2026-01-16T17:46:42.768" v="1846" actId="15"/>
        <pc:sldMkLst>
          <pc:docMk/>
          <pc:sldMk cId="3769185489" sldId="282"/>
        </pc:sldMkLst>
        <pc:spChg chg="mod">
          <ac:chgData name="Raglo S" userId="b90a62515e0f8a67" providerId="LiveId" clId="{66523EC2-CAA1-47CB-9BFC-419183B0E21A}" dt="2026-01-16T17:43:07.115" v="1670" actId="20577"/>
          <ac:spMkLst>
            <pc:docMk/>
            <pc:sldMk cId="3769185489" sldId="282"/>
            <ac:spMk id="2" creationId="{5FC6AB45-4387-6029-37ED-4E6FC29FECD1}"/>
          </ac:spMkLst>
        </pc:spChg>
        <pc:spChg chg="mod">
          <ac:chgData name="Raglo S" userId="b90a62515e0f8a67" providerId="LiveId" clId="{66523EC2-CAA1-47CB-9BFC-419183B0E21A}" dt="2026-01-16T17:46:42.768" v="1846" actId="15"/>
          <ac:spMkLst>
            <pc:docMk/>
            <pc:sldMk cId="3769185489" sldId="282"/>
            <ac:spMk id="3" creationId="{440D0034-C6DA-3823-B717-C629D322887F}"/>
          </ac:spMkLst>
        </pc:spChg>
      </pc:sldChg>
      <pc:sldChg chg="addSp delSp modSp new mod">
        <pc:chgData name="Raglo S" userId="b90a62515e0f8a67" providerId="LiveId" clId="{66523EC2-CAA1-47CB-9BFC-419183B0E21A}" dt="2026-01-16T17:45:51.420" v="1770" actId="1076"/>
        <pc:sldMkLst>
          <pc:docMk/>
          <pc:sldMk cId="1736426053" sldId="283"/>
        </pc:sldMkLst>
        <pc:spChg chg="mod">
          <ac:chgData name="Raglo S" userId="b90a62515e0f8a67" providerId="LiveId" clId="{66523EC2-CAA1-47CB-9BFC-419183B0E21A}" dt="2026-01-16T17:45:26.918" v="1765" actId="20577"/>
          <ac:spMkLst>
            <pc:docMk/>
            <pc:sldMk cId="1736426053" sldId="283"/>
            <ac:spMk id="2" creationId="{F35F5E01-D125-3AF4-FA76-09041F7DFA05}"/>
          </ac:spMkLst>
        </pc:spChg>
        <pc:picChg chg="add mod">
          <ac:chgData name="Raglo S" userId="b90a62515e0f8a67" providerId="LiveId" clId="{66523EC2-CAA1-47CB-9BFC-419183B0E21A}" dt="2026-01-16T17:45:51.420" v="1770" actId="1076"/>
          <ac:picMkLst>
            <pc:docMk/>
            <pc:sldMk cId="1736426053" sldId="283"/>
            <ac:picMk id="11266" creationId="{D4BAD3BC-EADE-BEE1-DBA6-F2770200C500}"/>
          </ac:picMkLst>
        </pc:picChg>
      </pc:sldChg>
      <pc:sldChg chg="addSp modSp new mod">
        <pc:chgData name="Raglo S" userId="b90a62515e0f8a67" providerId="LiveId" clId="{66523EC2-CAA1-47CB-9BFC-419183B0E21A}" dt="2026-01-16T17:48:02.595" v="1879"/>
        <pc:sldMkLst>
          <pc:docMk/>
          <pc:sldMk cId="1636093581" sldId="284"/>
        </pc:sldMkLst>
        <pc:spChg chg="mod">
          <ac:chgData name="Raglo S" userId="b90a62515e0f8a67" providerId="LiveId" clId="{66523EC2-CAA1-47CB-9BFC-419183B0E21A}" dt="2026-01-16T17:47:09.246" v="1850" actId="20577"/>
          <ac:spMkLst>
            <pc:docMk/>
            <pc:sldMk cId="1636093581" sldId="284"/>
            <ac:spMk id="2" creationId="{BA6C4C7D-7DD2-CFBC-EE98-FFEDDA2F35E3}"/>
          </ac:spMkLst>
        </pc:spChg>
        <pc:spChg chg="mod">
          <ac:chgData name="Raglo S" userId="b90a62515e0f8a67" providerId="LiveId" clId="{66523EC2-CAA1-47CB-9BFC-419183B0E21A}" dt="2026-01-16T17:48:02.595" v="1879"/>
          <ac:spMkLst>
            <pc:docMk/>
            <pc:sldMk cId="1636093581" sldId="284"/>
            <ac:spMk id="3" creationId="{6F531F4C-0168-04DA-DBF8-3B1E6837CA11}"/>
          </ac:spMkLst>
        </pc:spChg>
      </pc:sldChg>
      <pc:sldChg chg="modSp mod">
        <pc:chgData name="Raglo S" userId="b90a62515e0f8a67" providerId="LiveId" clId="{66523EC2-CAA1-47CB-9BFC-419183B0E21A}" dt="2026-01-19T17:19:37.066" v="1947" actId="1076"/>
        <pc:sldMkLst>
          <pc:docMk/>
          <pc:sldMk cId="1605349498" sldId="289"/>
        </pc:sldMkLst>
        <pc:spChg chg="mod">
          <ac:chgData name="Raglo S" userId="b90a62515e0f8a67" providerId="LiveId" clId="{66523EC2-CAA1-47CB-9BFC-419183B0E21A}" dt="2026-01-19T17:19:12.743" v="1944" actId="1076"/>
          <ac:spMkLst>
            <pc:docMk/>
            <pc:sldMk cId="1605349498" sldId="289"/>
            <ac:spMk id="16" creationId="{2602F1D6-AC6B-D40B-172B-835AA0C4543F}"/>
          </ac:spMkLst>
        </pc:spChg>
        <pc:spChg chg="mod">
          <ac:chgData name="Raglo S" userId="b90a62515e0f8a67" providerId="LiveId" clId="{66523EC2-CAA1-47CB-9BFC-419183B0E21A}" dt="2026-01-19T17:19:02.803" v="1943" actId="14100"/>
          <ac:spMkLst>
            <pc:docMk/>
            <pc:sldMk cId="1605349498" sldId="289"/>
            <ac:spMk id="44" creationId="{1EC3A7C4-400F-731C-9696-832B3606BCCE}"/>
          </ac:spMkLst>
        </pc:spChg>
        <pc:spChg chg="mod">
          <ac:chgData name="Raglo S" userId="b90a62515e0f8a67" providerId="LiveId" clId="{66523EC2-CAA1-47CB-9BFC-419183B0E21A}" dt="2026-01-19T17:18:57.033" v="1941" actId="1076"/>
          <ac:spMkLst>
            <pc:docMk/>
            <pc:sldMk cId="1605349498" sldId="289"/>
            <ac:spMk id="84" creationId="{A5E877E8-D5DF-8FEC-4AED-FF2F46A657F6}"/>
          </ac:spMkLst>
        </pc:spChg>
        <pc:spChg chg="mod">
          <ac:chgData name="Raglo S" userId="b90a62515e0f8a67" providerId="LiveId" clId="{66523EC2-CAA1-47CB-9BFC-419183B0E21A}" dt="2026-01-19T17:19:37.066" v="1947" actId="1076"/>
          <ac:spMkLst>
            <pc:docMk/>
            <pc:sldMk cId="1605349498" sldId="289"/>
            <ac:spMk id="85" creationId="{D9B2F6BA-5037-51BB-D1A0-5D9220844A58}"/>
          </ac:spMkLst>
        </pc:spChg>
        <pc:spChg chg="mod">
          <ac:chgData name="Raglo S" userId="b90a62515e0f8a67" providerId="LiveId" clId="{66523EC2-CAA1-47CB-9BFC-419183B0E21A}" dt="2026-01-19T17:18:51.832" v="1940" actId="1076"/>
          <ac:spMkLst>
            <pc:docMk/>
            <pc:sldMk cId="1605349498" sldId="289"/>
            <ac:spMk id="87" creationId="{979D2FCF-8489-2FE8-3C12-7782E7EAA5A1}"/>
          </ac:spMkLst>
        </pc:spChg>
        <pc:spChg chg="mod">
          <ac:chgData name="Raglo S" userId="b90a62515e0f8a67" providerId="LiveId" clId="{66523EC2-CAA1-47CB-9BFC-419183B0E21A}" dt="2026-01-19T17:18:41.572" v="1938" actId="20577"/>
          <ac:spMkLst>
            <pc:docMk/>
            <pc:sldMk cId="1605349498" sldId="289"/>
            <ac:spMk id="89" creationId="{14AC7416-1F19-6FB3-EFF7-2CBFF4EE6D54}"/>
          </ac:spMkLst>
        </pc:spChg>
        <pc:picChg chg="mod">
          <ac:chgData name="Raglo S" userId="b90a62515e0f8a67" providerId="LiveId" clId="{66523EC2-CAA1-47CB-9BFC-419183B0E21A}" dt="2026-01-19T17:19:17.415" v="1946" actId="1076"/>
          <ac:picMkLst>
            <pc:docMk/>
            <pc:sldMk cId="1605349498" sldId="289"/>
            <ac:picMk id="82" creationId="{1BD5BBC6-C7E7-57BD-6DBF-1AA219E0F466}"/>
          </ac:picMkLst>
        </pc:picChg>
        <pc:picChg chg="mod">
          <ac:chgData name="Raglo S" userId="b90a62515e0f8a67" providerId="LiveId" clId="{66523EC2-CAA1-47CB-9BFC-419183B0E21A}" dt="2026-01-19T17:19:15.008" v="1945" actId="1076"/>
          <ac:picMkLst>
            <pc:docMk/>
            <pc:sldMk cId="1605349498" sldId="289"/>
            <ac:picMk id="86" creationId="{3F58D9E8-26F1-E8CD-8DA3-63655C0CB50E}"/>
          </ac:picMkLst>
        </pc:picChg>
      </pc:sldChg>
    </pc:docChg>
  </pc:docChgLst>
  <pc:docChgLst>
    <pc:chgData name="Raglo S" userId="b90a62515e0f8a67" providerId="LiveId" clId="{D75413AA-BDE9-404E-91FF-9A070E36E98C}"/>
    <pc:docChg chg="undo custSel addSld delSld modSld sldOrd">
      <pc:chgData name="Raglo S" userId="b90a62515e0f8a67" providerId="LiveId" clId="{D75413AA-BDE9-404E-91FF-9A070E36E98C}" dt="2026-01-19T02:59:57.339" v="1528" actId="20577"/>
      <pc:docMkLst>
        <pc:docMk/>
      </pc:docMkLst>
      <pc:sldChg chg="modSp mod ord">
        <pc:chgData name="Raglo S" userId="b90a62515e0f8a67" providerId="LiveId" clId="{D75413AA-BDE9-404E-91FF-9A070E36E98C}" dt="2026-01-19T02:57:02.997" v="1460" actId="20577"/>
        <pc:sldMkLst>
          <pc:docMk/>
          <pc:sldMk cId="930978517" sldId="259"/>
        </pc:sldMkLst>
        <pc:spChg chg="mod">
          <ac:chgData name="Raglo S" userId="b90a62515e0f8a67" providerId="LiveId" clId="{D75413AA-BDE9-404E-91FF-9A070E36E98C}" dt="2026-01-19T02:57:02.997" v="1460" actId="20577"/>
          <ac:spMkLst>
            <pc:docMk/>
            <pc:sldMk cId="930978517" sldId="259"/>
            <ac:spMk id="2" creationId="{3FE506D3-DC82-C3D5-2D0B-AEB5155FEACD}"/>
          </ac:spMkLst>
        </pc:spChg>
      </pc:sldChg>
      <pc:sldChg chg="del">
        <pc:chgData name="Raglo S" userId="b90a62515e0f8a67" providerId="LiveId" clId="{D75413AA-BDE9-404E-91FF-9A070E36E98C}" dt="2026-01-19T02:57:58.674" v="1478" actId="47"/>
        <pc:sldMkLst>
          <pc:docMk/>
          <pc:sldMk cId="2266739271" sldId="261"/>
        </pc:sldMkLst>
      </pc:sldChg>
      <pc:sldChg chg="del">
        <pc:chgData name="Raglo S" userId="b90a62515e0f8a67" providerId="LiveId" clId="{D75413AA-BDE9-404E-91FF-9A070E36E98C}" dt="2026-01-19T02:57:59.683" v="1479" actId="47"/>
        <pc:sldMkLst>
          <pc:docMk/>
          <pc:sldMk cId="3727383022" sldId="262"/>
        </pc:sldMkLst>
      </pc:sldChg>
      <pc:sldChg chg="del">
        <pc:chgData name="Raglo S" userId="b90a62515e0f8a67" providerId="LiveId" clId="{D75413AA-BDE9-404E-91FF-9A070E36E98C}" dt="2026-01-19T02:57:57.586" v="1477" actId="47"/>
        <pc:sldMkLst>
          <pc:docMk/>
          <pc:sldMk cId="2928214663" sldId="263"/>
        </pc:sldMkLst>
      </pc:sldChg>
      <pc:sldChg chg="ord">
        <pc:chgData name="Raglo S" userId="b90a62515e0f8a67" providerId="LiveId" clId="{D75413AA-BDE9-404E-91FF-9A070E36E98C}" dt="2026-01-19T02:57:23.993" v="1464"/>
        <pc:sldMkLst>
          <pc:docMk/>
          <pc:sldMk cId="2706456082" sldId="264"/>
        </pc:sldMkLst>
      </pc:sldChg>
      <pc:sldChg chg="ord">
        <pc:chgData name="Raglo S" userId="b90a62515e0f8a67" providerId="LiveId" clId="{D75413AA-BDE9-404E-91FF-9A070E36E98C}" dt="2026-01-19T02:57:22.095" v="1462"/>
        <pc:sldMkLst>
          <pc:docMk/>
          <pc:sldMk cId="1513945595" sldId="265"/>
        </pc:sldMkLst>
      </pc:sldChg>
      <pc:sldChg chg="del">
        <pc:chgData name="Raglo S" userId="b90a62515e0f8a67" providerId="LiveId" clId="{D75413AA-BDE9-404E-91FF-9A070E36E98C}" dt="2026-01-19T02:58:00.633" v="1480" actId="47"/>
        <pc:sldMkLst>
          <pc:docMk/>
          <pc:sldMk cId="12309860" sldId="266"/>
        </pc:sldMkLst>
      </pc:sldChg>
      <pc:sldChg chg="del">
        <pc:chgData name="Raglo S" userId="b90a62515e0f8a67" providerId="LiveId" clId="{D75413AA-BDE9-404E-91FF-9A070E36E98C}" dt="2026-01-19T02:58:01.463" v="1481" actId="47"/>
        <pc:sldMkLst>
          <pc:docMk/>
          <pc:sldMk cId="2603965718" sldId="267"/>
        </pc:sldMkLst>
      </pc:sldChg>
      <pc:sldChg chg="del">
        <pc:chgData name="Raglo S" userId="b90a62515e0f8a67" providerId="LiveId" clId="{D75413AA-BDE9-404E-91FF-9A070E36E98C}" dt="2026-01-19T02:58:02.244" v="1482" actId="47"/>
        <pc:sldMkLst>
          <pc:docMk/>
          <pc:sldMk cId="4276888068" sldId="268"/>
        </pc:sldMkLst>
      </pc:sldChg>
      <pc:sldChg chg="del">
        <pc:chgData name="Raglo S" userId="b90a62515e0f8a67" providerId="LiveId" clId="{D75413AA-BDE9-404E-91FF-9A070E36E98C}" dt="2026-01-19T02:58:03.832" v="1483" actId="47"/>
        <pc:sldMkLst>
          <pc:docMk/>
          <pc:sldMk cId="450089185" sldId="269"/>
        </pc:sldMkLst>
      </pc:sldChg>
      <pc:sldChg chg="modSp mod">
        <pc:chgData name="Raglo S" userId="b90a62515e0f8a67" providerId="LiveId" clId="{D75413AA-BDE9-404E-91FF-9A070E36E98C}" dt="2026-01-19T02:49:04.752" v="1139" actId="20577"/>
        <pc:sldMkLst>
          <pc:docMk/>
          <pc:sldMk cId="3277351123" sldId="271"/>
        </pc:sldMkLst>
        <pc:spChg chg="mod">
          <ac:chgData name="Raglo S" userId="b90a62515e0f8a67" providerId="LiveId" clId="{D75413AA-BDE9-404E-91FF-9A070E36E98C}" dt="2026-01-19T02:49:04.752" v="1139" actId="20577"/>
          <ac:spMkLst>
            <pc:docMk/>
            <pc:sldMk cId="3277351123" sldId="271"/>
            <ac:spMk id="2" creationId="{4937C1BF-8105-6A53-DFD7-E161694AF8A6}"/>
          </ac:spMkLst>
        </pc:spChg>
      </pc:sldChg>
      <pc:sldChg chg="modSp mod ord">
        <pc:chgData name="Raglo S" userId="b90a62515e0f8a67" providerId="LiveId" clId="{D75413AA-BDE9-404E-91FF-9A070E36E98C}" dt="2026-01-19T02:46:48.704" v="1057" actId="20577"/>
        <pc:sldMkLst>
          <pc:docMk/>
          <pc:sldMk cId="2237816634" sldId="275"/>
        </pc:sldMkLst>
        <pc:spChg chg="mod">
          <ac:chgData name="Raglo S" userId="b90a62515e0f8a67" providerId="LiveId" clId="{D75413AA-BDE9-404E-91FF-9A070E36E98C}" dt="2026-01-19T02:46:48.704" v="1057" actId="20577"/>
          <ac:spMkLst>
            <pc:docMk/>
            <pc:sldMk cId="2237816634" sldId="275"/>
            <ac:spMk id="2" creationId="{C46C18C9-44FD-7C5D-6CD5-E9958B2565F9}"/>
          </ac:spMkLst>
        </pc:spChg>
      </pc:sldChg>
      <pc:sldChg chg="modSp mod ord">
        <pc:chgData name="Raglo S" userId="b90a62515e0f8a67" providerId="LiveId" clId="{D75413AA-BDE9-404E-91FF-9A070E36E98C}" dt="2026-01-19T02:46:20.691" v="1043" actId="113"/>
        <pc:sldMkLst>
          <pc:docMk/>
          <pc:sldMk cId="580808550" sldId="280"/>
        </pc:sldMkLst>
        <pc:spChg chg="mod">
          <ac:chgData name="Raglo S" userId="b90a62515e0f8a67" providerId="LiveId" clId="{D75413AA-BDE9-404E-91FF-9A070E36E98C}" dt="2026-01-19T02:46:16.483" v="1042"/>
          <ac:spMkLst>
            <pc:docMk/>
            <pc:sldMk cId="580808550" sldId="280"/>
            <ac:spMk id="2" creationId="{1838C5F0-5265-885D-0694-0479E58D35B1}"/>
          </ac:spMkLst>
        </pc:spChg>
        <pc:spChg chg="mod">
          <ac:chgData name="Raglo S" userId="b90a62515e0f8a67" providerId="LiveId" clId="{D75413AA-BDE9-404E-91FF-9A070E36E98C}" dt="2026-01-19T02:46:20.691" v="1043" actId="113"/>
          <ac:spMkLst>
            <pc:docMk/>
            <pc:sldMk cId="580808550" sldId="280"/>
            <ac:spMk id="3" creationId="{02D6F4EB-2611-D868-8544-439FC1AEF7E5}"/>
          </ac:spMkLst>
        </pc:spChg>
      </pc:sldChg>
      <pc:sldChg chg="modSp mod ord">
        <pc:chgData name="Raglo S" userId="b90a62515e0f8a67" providerId="LiveId" clId="{D75413AA-BDE9-404E-91FF-9A070E36E98C}" dt="2026-01-19T02:57:47.981" v="1476" actId="20577"/>
        <pc:sldMkLst>
          <pc:docMk/>
          <pc:sldMk cId="3769185489" sldId="282"/>
        </pc:sldMkLst>
        <pc:spChg chg="mod">
          <ac:chgData name="Raglo S" userId="b90a62515e0f8a67" providerId="LiveId" clId="{D75413AA-BDE9-404E-91FF-9A070E36E98C}" dt="2026-01-19T02:57:47.981" v="1476" actId="20577"/>
          <ac:spMkLst>
            <pc:docMk/>
            <pc:sldMk cId="3769185489" sldId="282"/>
            <ac:spMk id="2" creationId="{5FC6AB45-4387-6029-37ED-4E6FC29FECD1}"/>
          </ac:spMkLst>
        </pc:spChg>
      </pc:sldChg>
      <pc:sldChg chg="modSp new del mod ord">
        <pc:chgData name="Raglo S" userId="b90a62515e0f8a67" providerId="LiveId" clId="{D75413AA-BDE9-404E-91FF-9A070E36E98C}" dt="2026-01-19T02:13:52.848" v="131" actId="47"/>
        <pc:sldMkLst>
          <pc:docMk/>
          <pc:sldMk cId="1748147390" sldId="285"/>
        </pc:sldMkLst>
        <pc:spChg chg="mod">
          <ac:chgData name="Raglo S" userId="b90a62515e0f8a67" providerId="LiveId" clId="{D75413AA-BDE9-404E-91FF-9A070E36E98C}" dt="2026-01-19T02:11:12.626" v="38" actId="20577"/>
          <ac:spMkLst>
            <pc:docMk/>
            <pc:sldMk cId="1748147390" sldId="285"/>
            <ac:spMk id="2" creationId="{8F3C6F2A-BECA-76BE-6F7B-DEB2D8A14A10}"/>
          </ac:spMkLst>
        </pc:spChg>
        <pc:spChg chg="mod">
          <ac:chgData name="Raglo S" userId="b90a62515e0f8a67" providerId="LiveId" clId="{D75413AA-BDE9-404E-91FF-9A070E36E98C}" dt="2026-01-19T02:11:30.565" v="95" actId="20577"/>
          <ac:spMkLst>
            <pc:docMk/>
            <pc:sldMk cId="1748147390" sldId="285"/>
            <ac:spMk id="3" creationId="{11BF798D-1352-3D2B-B410-5F3AFB61AC06}"/>
          </ac:spMkLst>
        </pc:spChg>
      </pc:sldChg>
      <pc:sldChg chg="modSp new mod">
        <pc:chgData name="Raglo S" userId="b90a62515e0f8a67" providerId="LiveId" clId="{D75413AA-BDE9-404E-91FF-9A070E36E98C}" dt="2026-01-19T02:13:50.389" v="130"/>
        <pc:sldMkLst>
          <pc:docMk/>
          <pc:sldMk cId="422975958" sldId="286"/>
        </pc:sldMkLst>
        <pc:spChg chg="mod">
          <ac:chgData name="Raglo S" userId="b90a62515e0f8a67" providerId="LiveId" clId="{D75413AA-BDE9-404E-91FF-9A070E36E98C}" dt="2026-01-19T02:13:45.051" v="129" actId="20577"/>
          <ac:spMkLst>
            <pc:docMk/>
            <pc:sldMk cId="422975958" sldId="286"/>
            <ac:spMk id="2" creationId="{1BA7EEC9-DE2C-2495-9C51-28DD1EA785EF}"/>
          </ac:spMkLst>
        </pc:spChg>
        <pc:spChg chg="mod">
          <ac:chgData name="Raglo S" userId="b90a62515e0f8a67" providerId="LiveId" clId="{D75413AA-BDE9-404E-91FF-9A070E36E98C}" dt="2026-01-19T02:13:50.389" v="130"/>
          <ac:spMkLst>
            <pc:docMk/>
            <pc:sldMk cId="422975958" sldId="286"/>
            <ac:spMk id="3" creationId="{B7F5CF1C-6AC3-9759-7F85-BA75A651323C}"/>
          </ac:spMkLst>
        </pc:spChg>
      </pc:sldChg>
      <pc:sldChg chg="modSp new mod">
        <pc:chgData name="Raglo S" userId="b90a62515e0f8a67" providerId="LiveId" clId="{D75413AA-BDE9-404E-91FF-9A070E36E98C}" dt="2026-01-19T02:56:23.001" v="1360" actId="20577"/>
        <pc:sldMkLst>
          <pc:docMk/>
          <pc:sldMk cId="3842380056" sldId="287"/>
        </pc:sldMkLst>
        <pc:spChg chg="mod">
          <ac:chgData name="Raglo S" userId="b90a62515e0f8a67" providerId="LiveId" clId="{D75413AA-BDE9-404E-91FF-9A070E36E98C}" dt="2026-01-19T02:14:34.291" v="156" actId="20577"/>
          <ac:spMkLst>
            <pc:docMk/>
            <pc:sldMk cId="3842380056" sldId="287"/>
            <ac:spMk id="2" creationId="{F08C819A-43D7-63BA-8430-4373EA7A4F22}"/>
          </ac:spMkLst>
        </pc:spChg>
        <pc:spChg chg="mod">
          <ac:chgData name="Raglo S" userId="b90a62515e0f8a67" providerId="LiveId" clId="{D75413AA-BDE9-404E-91FF-9A070E36E98C}" dt="2026-01-19T02:56:23.001" v="1360" actId="20577"/>
          <ac:spMkLst>
            <pc:docMk/>
            <pc:sldMk cId="3842380056" sldId="287"/>
            <ac:spMk id="3" creationId="{A6B2EC3D-E84C-7ECF-8585-1810F045DCB9}"/>
          </ac:spMkLst>
        </pc:spChg>
      </pc:sldChg>
      <pc:sldChg chg="addSp delSp modSp add mod">
        <pc:chgData name="Raglo S" userId="b90a62515e0f8a67" providerId="LiveId" clId="{D75413AA-BDE9-404E-91FF-9A070E36E98C}" dt="2026-01-19T02:21:55.227" v="518" actId="1076"/>
        <pc:sldMkLst>
          <pc:docMk/>
          <pc:sldMk cId="4278798381" sldId="288"/>
        </pc:sldMkLst>
        <pc:spChg chg="mod">
          <ac:chgData name="Raglo S" userId="b90a62515e0f8a67" providerId="LiveId" clId="{D75413AA-BDE9-404E-91FF-9A070E36E98C}" dt="2026-01-19T02:21:35.498" v="516" actId="1076"/>
          <ac:spMkLst>
            <pc:docMk/>
            <pc:sldMk cId="4278798381" sldId="288"/>
            <ac:spMk id="2" creationId="{4FD6F1CB-1620-2388-81DB-405F8972CCC8}"/>
          </ac:spMkLst>
        </pc:spChg>
        <pc:spChg chg="mod">
          <ac:chgData name="Raglo S" userId="b90a62515e0f8a67" providerId="LiveId" clId="{D75413AA-BDE9-404E-91FF-9A070E36E98C}" dt="2026-01-19T02:21:55.227" v="518" actId="1076"/>
          <ac:spMkLst>
            <pc:docMk/>
            <pc:sldMk cId="4278798381" sldId="288"/>
            <ac:spMk id="4" creationId="{8443A65C-9F52-34B2-5A05-F7CD902AA65D}"/>
          </ac:spMkLst>
        </pc:spChg>
        <pc:spChg chg="mod">
          <ac:chgData name="Raglo S" userId="b90a62515e0f8a67" providerId="LiveId" clId="{D75413AA-BDE9-404E-91FF-9A070E36E98C}" dt="2026-01-19T02:20:36.654" v="476" actId="1076"/>
          <ac:spMkLst>
            <pc:docMk/>
            <pc:sldMk cId="4278798381" sldId="288"/>
            <ac:spMk id="5" creationId="{90D0950A-4B8A-3D8E-634B-28877DDD9FD5}"/>
          </ac:spMkLst>
        </pc:spChg>
        <pc:spChg chg="mod">
          <ac:chgData name="Raglo S" userId="b90a62515e0f8a67" providerId="LiveId" clId="{D75413AA-BDE9-404E-91FF-9A070E36E98C}" dt="2026-01-19T02:20:43.926" v="477" actId="1076"/>
          <ac:spMkLst>
            <pc:docMk/>
            <pc:sldMk cId="4278798381" sldId="288"/>
            <ac:spMk id="6" creationId="{8CEDB28B-B125-A96D-FD49-CD1CE6C8B762}"/>
          </ac:spMkLst>
        </pc:spChg>
        <pc:spChg chg="mod">
          <ac:chgData name="Raglo S" userId="b90a62515e0f8a67" providerId="LiveId" clId="{D75413AA-BDE9-404E-91FF-9A070E36E98C}" dt="2026-01-19T02:21:06.830" v="482" actId="1076"/>
          <ac:spMkLst>
            <pc:docMk/>
            <pc:sldMk cId="4278798381" sldId="288"/>
            <ac:spMk id="9" creationId="{E58BF1C3-1BDC-ABB0-5DD0-516ACB1AB38E}"/>
          </ac:spMkLst>
        </pc:spChg>
        <pc:spChg chg="mod">
          <ac:chgData name="Raglo S" userId="b90a62515e0f8a67" providerId="LiveId" clId="{D75413AA-BDE9-404E-91FF-9A070E36E98C}" dt="2026-01-19T02:20:33.044" v="475" actId="1076"/>
          <ac:spMkLst>
            <pc:docMk/>
            <pc:sldMk cId="4278798381" sldId="288"/>
            <ac:spMk id="10" creationId="{FAC301DA-8870-FE7B-A9A1-555E2E6B9F15}"/>
          </ac:spMkLst>
        </pc:spChg>
        <pc:spChg chg="mod">
          <ac:chgData name="Raglo S" userId="b90a62515e0f8a67" providerId="LiveId" clId="{D75413AA-BDE9-404E-91FF-9A070E36E98C}" dt="2026-01-19T02:21:55.227" v="518" actId="1076"/>
          <ac:spMkLst>
            <pc:docMk/>
            <pc:sldMk cId="4278798381" sldId="288"/>
            <ac:spMk id="11" creationId="{D9FBCCEC-34E5-5CE7-5B6C-EBB214F1BB8E}"/>
          </ac:spMkLst>
        </pc:spChg>
        <pc:spChg chg="add mod">
          <ac:chgData name="Raglo S" userId="b90a62515e0f8a67" providerId="LiveId" clId="{D75413AA-BDE9-404E-91FF-9A070E36E98C}" dt="2026-01-19T02:21:27.507" v="514" actId="20577"/>
          <ac:spMkLst>
            <pc:docMk/>
            <pc:sldMk cId="4278798381" sldId="288"/>
            <ac:spMk id="12" creationId="{8C392450-5543-FECB-2191-110696808221}"/>
          </ac:spMkLst>
        </pc:spChg>
        <pc:spChg chg="mod">
          <ac:chgData name="Raglo S" userId="b90a62515e0f8a67" providerId="LiveId" clId="{D75413AA-BDE9-404E-91FF-9A070E36E98C}" dt="2026-01-19T02:21:55.227" v="518" actId="1076"/>
          <ac:spMkLst>
            <pc:docMk/>
            <pc:sldMk cId="4278798381" sldId="288"/>
            <ac:spMk id="13" creationId="{59B23275-EBE7-AB6A-5A5D-ECEF96D5FAC8}"/>
          </ac:spMkLst>
        </pc:spChg>
        <pc:spChg chg="mod">
          <ac:chgData name="Raglo S" userId="b90a62515e0f8a67" providerId="LiveId" clId="{D75413AA-BDE9-404E-91FF-9A070E36E98C}" dt="2026-01-19T02:21:55.227" v="518" actId="1076"/>
          <ac:spMkLst>
            <pc:docMk/>
            <pc:sldMk cId="4278798381" sldId="288"/>
            <ac:spMk id="14" creationId="{D405BBC0-7165-D224-EB85-DFF9F91FFE57}"/>
          </ac:spMkLst>
        </pc:spChg>
        <pc:spChg chg="mod">
          <ac:chgData name="Raglo S" userId="b90a62515e0f8a67" providerId="LiveId" clId="{D75413AA-BDE9-404E-91FF-9A070E36E98C}" dt="2026-01-19T02:21:55.227" v="518" actId="1076"/>
          <ac:spMkLst>
            <pc:docMk/>
            <pc:sldMk cId="4278798381" sldId="288"/>
            <ac:spMk id="17" creationId="{E01735B4-B54D-B1C2-B6A6-A142D326309C}"/>
          </ac:spMkLst>
        </pc:spChg>
        <pc:spChg chg="mod">
          <ac:chgData name="Raglo S" userId="b90a62515e0f8a67" providerId="LiveId" clId="{D75413AA-BDE9-404E-91FF-9A070E36E98C}" dt="2026-01-19T02:21:55.227" v="518" actId="1076"/>
          <ac:spMkLst>
            <pc:docMk/>
            <pc:sldMk cId="4278798381" sldId="288"/>
            <ac:spMk id="18" creationId="{E9A1A199-B264-29D8-D96D-7D8F251AC9B4}"/>
          </ac:spMkLst>
        </pc:spChg>
        <pc:spChg chg="del">
          <ac:chgData name="Raglo S" userId="b90a62515e0f8a67" providerId="LiveId" clId="{D75413AA-BDE9-404E-91FF-9A070E36E98C}" dt="2026-01-19T02:20:48.469" v="479" actId="478"/>
          <ac:spMkLst>
            <pc:docMk/>
            <pc:sldMk cId="4278798381" sldId="288"/>
            <ac:spMk id="20" creationId="{73690A9B-2B88-7B6E-1A9F-851B8474B104}"/>
          </ac:spMkLst>
        </pc:spChg>
        <pc:picChg chg="mod">
          <ac:chgData name="Raglo S" userId="b90a62515e0f8a67" providerId="LiveId" clId="{D75413AA-BDE9-404E-91FF-9A070E36E98C}" dt="2026-01-19T02:21:55.227" v="518" actId="1076"/>
          <ac:picMkLst>
            <pc:docMk/>
            <pc:sldMk cId="4278798381" sldId="288"/>
            <ac:picMk id="3" creationId="{EF4FC2F0-65AD-ECAB-364B-DA1351B99FC1}"/>
          </ac:picMkLst>
        </pc:picChg>
        <pc:picChg chg="mod">
          <ac:chgData name="Raglo S" userId="b90a62515e0f8a67" providerId="LiveId" clId="{D75413AA-BDE9-404E-91FF-9A070E36E98C}" dt="2026-01-19T02:20:24.894" v="473" actId="14100"/>
          <ac:picMkLst>
            <pc:docMk/>
            <pc:sldMk cId="4278798381" sldId="288"/>
            <ac:picMk id="7" creationId="{38FD732B-39E7-4CB6-7EF5-295B72816CE4}"/>
          </ac:picMkLst>
        </pc:picChg>
        <pc:picChg chg="mod">
          <ac:chgData name="Raglo S" userId="b90a62515e0f8a67" providerId="LiveId" clId="{D75413AA-BDE9-404E-91FF-9A070E36E98C}" dt="2026-01-19T02:21:03.852" v="481" actId="1076"/>
          <ac:picMkLst>
            <pc:docMk/>
            <pc:sldMk cId="4278798381" sldId="288"/>
            <ac:picMk id="8" creationId="{401D66E6-3140-EE2A-8785-36A52E64F69A}"/>
          </ac:picMkLst>
        </pc:picChg>
        <pc:picChg chg="del">
          <ac:chgData name="Raglo S" userId="b90a62515e0f8a67" providerId="LiveId" clId="{D75413AA-BDE9-404E-91FF-9A070E36E98C}" dt="2026-01-19T02:20:45.987" v="478" actId="478"/>
          <ac:picMkLst>
            <pc:docMk/>
            <pc:sldMk cId="4278798381" sldId="288"/>
            <ac:picMk id="19" creationId="{10BE60CA-16EA-C856-14E7-7266125128E2}"/>
          </ac:picMkLst>
        </pc:picChg>
        <pc:cxnChg chg="mod">
          <ac:chgData name="Raglo S" userId="b90a62515e0f8a67" providerId="LiveId" clId="{D75413AA-BDE9-404E-91FF-9A070E36E98C}" dt="2026-01-19T02:21:55.227" v="518" actId="1076"/>
          <ac:cxnSpMkLst>
            <pc:docMk/>
            <pc:sldMk cId="4278798381" sldId="288"/>
            <ac:cxnSpMk id="15" creationId="{1ABF0B26-5E61-BE01-ABFC-1AD82C64EE55}"/>
          </ac:cxnSpMkLst>
        </pc:cxnChg>
        <pc:cxnChg chg="mod">
          <ac:chgData name="Raglo S" userId="b90a62515e0f8a67" providerId="LiveId" clId="{D75413AA-BDE9-404E-91FF-9A070E36E98C}" dt="2026-01-19T02:21:55.227" v="518" actId="1076"/>
          <ac:cxnSpMkLst>
            <pc:docMk/>
            <pc:sldMk cId="4278798381" sldId="288"/>
            <ac:cxnSpMk id="16" creationId="{85F8C9CC-671C-261B-A261-3F6E34F09FF6}"/>
          </ac:cxnSpMkLst>
        </pc:cxnChg>
      </pc:sldChg>
      <pc:sldChg chg="modSp add mod">
        <pc:chgData name="Raglo S" userId="b90a62515e0f8a67" providerId="LiveId" clId="{D75413AA-BDE9-404E-91FF-9A070E36E98C}" dt="2026-01-19T02:19:02.904" v="471" actId="20577"/>
        <pc:sldMkLst>
          <pc:docMk/>
          <pc:sldMk cId="1605349498" sldId="289"/>
        </pc:sldMkLst>
        <pc:spChg chg="mod">
          <ac:chgData name="Raglo S" userId="b90a62515e0f8a67" providerId="LiveId" clId="{D75413AA-BDE9-404E-91FF-9A070E36E98C}" dt="2026-01-19T02:19:02.904" v="471" actId="20577"/>
          <ac:spMkLst>
            <pc:docMk/>
            <pc:sldMk cId="1605349498" sldId="289"/>
            <ac:spMk id="2" creationId="{D97B2562-D514-288A-589A-003D89105EA7}"/>
          </ac:spMkLst>
        </pc:spChg>
      </pc:sldChg>
      <pc:sldChg chg="add">
        <pc:chgData name="Raglo S" userId="b90a62515e0f8a67" providerId="LiveId" clId="{D75413AA-BDE9-404E-91FF-9A070E36E98C}" dt="2026-01-19T02:18:54.677" v="435"/>
        <pc:sldMkLst>
          <pc:docMk/>
          <pc:sldMk cId="4204130159" sldId="290"/>
        </pc:sldMkLst>
      </pc:sldChg>
      <pc:sldChg chg="addSp delSp modSp new mod">
        <pc:chgData name="Raglo S" userId="b90a62515e0f8a67" providerId="LiveId" clId="{D75413AA-BDE9-404E-91FF-9A070E36E98C}" dt="2026-01-19T02:30:49.544" v="565" actId="1076"/>
        <pc:sldMkLst>
          <pc:docMk/>
          <pc:sldMk cId="1069138977" sldId="291"/>
        </pc:sldMkLst>
        <pc:spChg chg="mod">
          <ac:chgData name="Raglo S" userId="b90a62515e0f8a67" providerId="LiveId" clId="{D75413AA-BDE9-404E-91FF-9A070E36E98C}" dt="2026-01-19T02:25:31.132" v="553" actId="20577"/>
          <ac:spMkLst>
            <pc:docMk/>
            <pc:sldMk cId="1069138977" sldId="291"/>
            <ac:spMk id="2" creationId="{C67A8A8E-E360-360F-BFC8-8610817C7143}"/>
          </ac:spMkLst>
        </pc:spChg>
        <pc:spChg chg="add del">
          <ac:chgData name="Raglo S" userId="b90a62515e0f8a67" providerId="LiveId" clId="{D75413AA-BDE9-404E-91FF-9A070E36E98C}" dt="2026-01-19T02:28:33.272" v="557" actId="478"/>
          <ac:spMkLst>
            <pc:docMk/>
            <pc:sldMk cId="1069138977" sldId="291"/>
            <ac:spMk id="3" creationId="{1A703C52-9317-90C7-FE8A-899F62A0590A}"/>
          </ac:spMkLst>
        </pc:spChg>
        <pc:picChg chg="add del mod">
          <ac:chgData name="Raglo S" userId="b90a62515e0f8a67" providerId="LiveId" clId="{D75413AA-BDE9-404E-91FF-9A070E36E98C}" dt="2026-01-19T02:28:49.494" v="561" actId="478"/>
          <ac:picMkLst>
            <pc:docMk/>
            <pc:sldMk cId="1069138977" sldId="291"/>
            <ac:picMk id="1026" creationId="{99D90B76-0019-C3BE-90EB-B93C8CC7BC19}"/>
          </ac:picMkLst>
        </pc:picChg>
        <pc:picChg chg="add mod">
          <ac:chgData name="Raglo S" userId="b90a62515e0f8a67" providerId="LiveId" clId="{D75413AA-BDE9-404E-91FF-9A070E36E98C}" dt="2026-01-19T02:30:49.544" v="565" actId="1076"/>
          <ac:picMkLst>
            <pc:docMk/>
            <pc:sldMk cId="1069138977" sldId="291"/>
            <ac:picMk id="1028" creationId="{058422AA-8253-F88F-0B64-E3FA9A798743}"/>
          </ac:picMkLst>
        </pc:picChg>
      </pc:sldChg>
      <pc:sldChg chg="modSp add mod ord">
        <pc:chgData name="Raglo S" userId="b90a62515e0f8a67" providerId="LiveId" clId="{D75413AA-BDE9-404E-91FF-9A070E36E98C}" dt="2026-01-19T02:39:16.833" v="868"/>
        <pc:sldMkLst>
          <pc:docMk/>
          <pc:sldMk cId="598121628" sldId="292"/>
        </pc:sldMkLst>
        <pc:spChg chg="mod">
          <ac:chgData name="Raglo S" userId="b90a62515e0f8a67" providerId="LiveId" clId="{D75413AA-BDE9-404E-91FF-9A070E36E98C}" dt="2026-01-19T02:39:05.350" v="865"/>
          <ac:spMkLst>
            <pc:docMk/>
            <pc:sldMk cId="598121628" sldId="292"/>
            <ac:spMk id="3" creationId="{D8AFA6E6-88B9-D88A-CB99-C5DEC5D52892}"/>
          </ac:spMkLst>
        </pc:spChg>
      </pc:sldChg>
      <pc:sldChg chg="addSp delSp modSp new mod">
        <pc:chgData name="Raglo S" userId="b90a62515e0f8a67" providerId="LiveId" clId="{D75413AA-BDE9-404E-91FF-9A070E36E98C}" dt="2026-01-19T02:36:24.426" v="678" actId="1076"/>
        <pc:sldMkLst>
          <pc:docMk/>
          <pc:sldMk cId="1079899182" sldId="293"/>
        </pc:sldMkLst>
        <pc:spChg chg="mod">
          <ac:chgData name="Raglo S" userId="b90a62515e0f8a67" providerId="LiveId" clId="{D75413AA-BDE9-404E-91FF-9A070E36E98C}" dt="2026-01-19T02:32:46.273" v="598" actId="20577"/>
          <ac:spMkLst>
            <pc:docMk/>
            <pc:sldMk cId="1079899182" sldId="293"/>
            <ac:spMk id="2" creationId="{7B7A86FE-B08E-11D6-38E3-6D3643EFD14E}"/>
          </ac:spMkLst>
        </pc:spChg>
        <pc:spChg chg="del">
          <ac:chgData name="Raglo S" userId="b90a62515e0f8a67" providerId="LiveId" clId="{D75413AA-BDE9-404E-91FF-9A070E36E98C}" dt="2026-01-19T02:31:39.146" v="595" actId="478"/>
          <ac:spMkLst>
            <pc:docMk/>
            <pc:sldMk cId="1079899182" sldId="293"/>
            <ac:spMk id="3" creationId="{AD3F1CB4-DB10-053F-326F-B98C1166EFAE}"/>
          </ac:spMkLst>
        </pc:spChg>
        <pc:spChg chg="add mod">
          <ac:chgData name="Raglo S" userId="b90a62515e0f8a67" providerId="LiveId" clId="{D75413AA-BDE9-404E-91FF-9A070E36E98C}" dt="2026-01-19T02:35:50.990" v="634" actId="1076"/>
          <ac:spMkLst>
            <pc:docMk/>
            <pc:sldMk cId="1079899182" sldId="293"/>
            <ac:spMk id="4" creationId="{883FD69F-BEE1-F63B-6CA4-462164BB9D89}"/>
          </ac:spMkLst>
        </pc:spChg>
        <pc:spChg chg="add mod">
          <ac:chgData name="Raglo S" userId="b90a62515e0f8a67" providerId="LiveId" clId="{D75413AA-BDE9-404E-91FF-9A070E36E98C}" dt="2026-01-19T02:36:24.426" v="678" actId="1076"/>
          <ac:spMkLst>
            <pc:docMk/>
            <pc:sldMk cId="1079899182" sldId="293"/>
            <ac:spMk id="5" creationId="{5155812A-8CE2-6452-F78A-9A299CAFB1CE}"/>
          </ac:spMkLst>
        </pc:spChg>
        <pc:picChg chg="add mod">
          <ac:chgData name="Raglo S" userId="b90a62515e0f8a67" providerId="LiveId" clId="{D75413AA-BDE9-404E-91FF-9A070E36E98C}" dt="2026-01-19T02:35:12.376" v="607" actId="1076"/>
          <ac:picMkLst>
            <pc:docMk/>
            <pc:sldMk cId="1079899182" sldId="293"/>
            <ac:picMk id="2050" creationId="{CA802B6B-6F59-390A-EA63-568B3B92A300}"/>
          </ac:picMkLst>
        </pc:picChg>
        <pc:picChg chg="add mod">
          <ac:chgData name="Raglo S" userId="b90a62515e0f8a67" providerId="LiveId" clId="{D75413AA-BDE9-404E-91FF-9A070E36E98C}" dt="2026-01-19T02:35:42.185" v="632" actId="1076"/>
          <ac:picMkLst>
            <pc:docMk/>
            <pc:sldMk cId="1079899182" sldId="293"/>
            <ac:picMk id="2052" creationId="{34AAAECA-7B5A-4046-3C5A-6C74F496078B}"/>
          </ac:picMkLst>
        </pc:picChg>
      </pc:sldChg>
      <pc:sldChg chg="addSp modSp new mod">
        <pc:chgData name="Raglo S" userId="b90a62515e0f8a67" providerId="LiveId" clId="{D75413AA-BDE9-404E-91FF-9A070E36E98C}" dt="2026-01-19T02:43:11.180" v="976" actId="1076"/>
        <pc:sldMkLst>
          <pc:docMk/>
          <pc:sldMk cId="91384411" sldId="294"/>
        </pc:sldMkLst>
        <pc:spChg chg="mod">
          <ac:chgData name="Raglo S" userId="b90a62515e0f8a67" providerId="LiveId" clId="{D75413AA-BDE9-404E-91FF-9A070E36E98C}" dt="2026-01-19T02:39:33.268" v="890" actId="20577"/>
          <ac:spMkLst>
            <pc:docMk/>
            <pc:sldMk cId="91384411" sldId="294"/>
            <ac:spMk id="2" creationId="{2B46F706-158D-B8BB-87BE-0F9806A98248}"/>
          </ac:spMkLst>
        </pc:spChg>
        <pc:spChg chg="mod">
          <ac:chgData name="Raglo S" userId="b90a62515e0f8a67" providerId="LiveId" clId="{D75413AA-BDE9-404E-91FF-9A070E36E98C}" dt="2026-01-19T02:41:16.556" v="959" actId="1076"/>
          <ac:spMkLst>
            <pc:docMk/>
            <pc:sldMk cId="91384411" sldId="294"/>
            <ac:spMk id="3" creationId="{2DB35EE3-0833-CBA1-3075-F4429D021AFA}"/>
          </ac:spMkLst>
        </pc:spChg>
        <pc:spChg chg="add mod">
          <ac:chgData name="Raglo S" userId="b90a62515e0f8a67" providerId="LiveId" clId="{D75413AA-BDE9-404E-91FF-9A070E36E98C}" dt="2026-01-19T02:41:44.331" v="971" actId="113"/>
          <ac:spMkLst>
            <pc:docMk/>
            <pc:sldMk cId="91384411" sldId="294"/>
            <ac:spMk id="4" creationId="{103521D0-8EE5-3ABC-5E2F-6AC5571064DD}"/>
          </ac:spMkLst>
        </pc:spChg>
        <pc:picChg chg="add mod">
          <ac:chgData name="Raglo S" userId="b90a62515e0f8a67" providerId="LiveId" clId="{D75413AA-BDE9-404E-91FF-9A070E36E98C}" dt="2026-01-19T02:43:11.180" v="976" actId="1076"/>
          <ac:picMkLst>
            <pc:docMk/>
            <pc:sldMk cId="91384411" sldId="294"/>
            <ac:picMk id="3074" creationId="{16725192-0450-D1FC-B0ED-A9ED75F5B9B6}"/>
          </ac:picMkLst>
        </pc:picChg>
      </pc:sldChg>
      <pc:sldChg chg="addSp modSp new mod">
        <pc:chgData name="Raglo S" userId="b90a62515e0f8a67" providerId="LiveId" clId="{D75413AA-BDE9-404E-91FF-9A070E36E98C}" dt="2026-01-19T02:45:14.514" v="1039" actId="20577"/>
        <pc:sldMkLst>
          <pc:docMk/>
          <pc:sldMk cId="1432490847" sldId="295"/>
        </pc:sldMkLst>
        <pc:spChg chg="mod">
          <ac:chgData name="Raglo S" userId="b90a62515e0f8a67" providerId="LiveId" clId="{D75413AA-BDE9-404E-91FF-9A070E36E98C}" dt="2026-01-19T02:43:41.504" v="1010" actId="20577"/>
          <ac:spMkLst>
            <pc:docMk/>
            <pc:sldMk cId="1432490847" sldId="295"/>
            <ac:spMk id="2" creationId="{20300BAF-F5F1-44D0-8E03-12DCAFB7902D}"/>
          </ac:spMkLst>
        </pc:spChg>
        <pc:spChg chg="mod">
          <ac:chgData name="Raglo S" userId="b90a62515e0f8a67" providerId="LiveId" clId="{D75413AA-BDE9-404E-91FF-9A070E36E98C}" dt="2026-01-19T02:45:14.514" v="1039" actId="20577"/>
          <ac:spMkLst>
            <pc:docMk/>
            <pc:sldMk cId="1432490847" sldId="295"/>
            <ac:spMk id="3" creationId="{56133A12-48BD-3F7E-8048-107D7C5AB0BD}"/>
          </ac:spMkLst>
        </pc:spChg>
        <pc:spChg chg="add mod">
          <ac:chgData name="Raglo S" userId="b90a62515e0f8a67" providerId="LiveId" clId="{D75413AA-BDE9-404E-91FF-9A070E36E98C}" dt="2026-01-19T02:44:26.386" v="1019" actId="15"/>
          <ac:spMkLst>
            <pc:docMk/>
            <pc:sldMk cId="1432490847" sldId="295"/>
            <ac:spMk id="4" creationId="{2D930C6F-43C8-1067-187B-70A5228EC8EA}"/>
          </ac:spMkLst>
        </pc:spChg>
      </pc:sldChg>
      <pc:sldChg chg="modSp new mod">
        <pc:chgData name="Raglo S" userId="b90a62515e0f8a67" providerId="LiveId" clId="{D75413AA-BDE9-404E-91FF-9A070E36E98C}" dt="2026-01-19T02:48:19.423" v="1117" actId="20577"/>
        <pc:sldMkLst>
          <pc:docMk/>
          <pc:sldMk cId="826539228" sldId="296"/>
        </pc:sldMkLst>
        <pc:spChg chg="mod">
          <ac:chgData name="Raglo S" userId="b90a62515e0f8a67" providerId="LiveId" clId="{D75413AA-BDE9-404E-91FF-9A070E36E98C}" dt="2026-01-19T02:48:19.423" v="1117" actId="20577"/>
          <ac:spMkLst>
            <pc:docMk/>
            <pc:sldMk cId="826539228" sldId="296"/>
            <ac:spMk id="2" creationId="{05D2A0B5-FF7E-497E-5EF2-898A700F55EB}"/>
          </ac:spMkLst>
        </pc:spChg>
      </pc:sldChg>
      <pc:sldChg chg="new del ord">
        <pc:chgData name="Raglo S" userId="b90a62515e0f8a67" providerId="LiveId" clId="{D75413AA-BDE9-404E-91FF-9A070E36E98C}" dt="2026-01-19T02:47:48.389" v="1061" actId="47"/>
        <pc:sldMkLst>
          <pc:docMk/>
          <pc:sldMk cId="2534615795" sldId="296"/>
        </pc:sldMkLst>
      </pc:sldChg>
      <pc:sldChg chg="addSp delSp modSp new mod">
        <pc:chgData name="Raglo S" userId="b90a62515e0f8a67" providerId="LiveId" clId="{D75413AA-BDE9-404E-91FF-9A070E36E98C}" dt="2026-01-19T02:50:40.945" v="1176" actId="1076"/>
        <pc:sldMkLst>
          <pc:docMk/>
          <pc:sldMk cId="4185503013" sldId="297"/>
        </pc:sldMkLst>
        <pc:spChg chg="mod">
          <ac:chgData name="Raglo S" userId="b90a62515e0f8a67" providerId="LiveId" clId="{D75413AA-BDE9-404E-91FF-9A070E36E98C}" dt="2026-01-19T02:49:14.570" v="1164" actId="20577"/>
          <ac:spMkLst>
            <pc:docMk/>
            <pc:sldMk cId="4185503013" sldId="297"/>
            <ac:spMk id="2" creationId="{E9D0E40B-FCAE-4662-6854-09664D3B3D03}"/>
          </ac:spMkLst>
        </pc:spChg>
        <pc:spChg chg="del">
          <ac:chgData name="Raglo S" userId="b90a62515e0f8a67" providerId="LiveId" clId="{D75413AA-BDE9-404E-91FF-9A070E36E98C}" dt="2026-01-19T02:49:36.402" v="1165" actId="478"/>
          <ac:spMkLst>
            <pc:docMk/>
            <pc:sldMk cId="4185503013" sldId="297"/>
            <ac:spMk id="3" creationId="{F407CEA1-CF75-6B9C-6ECD-0557DEF9413A}"/>
          </ac:spMkLst>
        </pc:spChg>
        <pc:spChg chg="add">
          <ac:chgData name="Raglo S" userId="b90a62515e0f8a67" providerId="LiveId" clId="{D75413AA-BDE9-404E-91FF-9A070E36E98C}" dt="2026-01-19T02:49:37.518" v="1166"/>
          <ac:spMkLst>
            <pc:docMk/>
            <pc:sldMk cId="4185503013" sldId="297"/>
            <ac:spMk id="6" creationId="{6D5AE733-62B3-8ABB-8CA1-6BA76141568D}"/>
          </ac:spMkLst>
        </pc:spChg>
        <pc:spChg chg="add del">
          <ac:chgData name="Raglo S" userId="b90a62515e0f8a67" providerId="LiveId" clId="{D75413AA-BDE9-404E-91FF-9A070E36E98C}" dt="2026-01-19T02:49:43.298" v="1168" actId="478"/>
          <ac:spMkLst>
            <pc:docMk/>
            <pc:sldMk cId="4185503013" sldId="297"/>
            <ac:spMk id="7" creationId="{250C75CB-0CEF-97D3-2E8F-40F1CE6FE000}"/>
          </ac:spMkLst>
        </pc:spChg>
        <pc:spChg chg="add del">
          <ac:chgData name="Raglo S" userId="b90a62515e0f8a67" providerId="LiveId" clId="{D75413AA-BDE9-404E-91FF-9A070E36E98C}" dt="2026-01-19T02:49:50.018" v="1170" actId="478"/>
          <ac:spMkLst>
            <pc:docMk/>
            <pc:sldMk cId="4185503013" sldId="297"/>
            <ac:spMk id="8" creationId="{24347497-B38C-39A2-CDFC-E2138A766297}"/>
          </ac:spMkLst>
        </pc:spChg>
        <pc:spChg chg="add del">
          <ac:chgData name="Raglo S" userId="b90a62515e0f8a67" providerId="LiveId" clId="{D75413AA-BDE9-404E-91FF-9A070E36E98C}" dt="2026-01-19T02:50:20.040" v="1172" actId="478"/>
          <ac:spMkLst>
            <pc:docMk/>
            <pc:sldMk cId="4185503013" sldId="297"/>
            <ac:spMk id="9" creationId="{4050FE79-7CD6-C443-E3ED-63A92BE1DB60}"/>
          </ac:spMkLst>
        </pc:spChg>
        <pc:picChg chg="add mod">
          <ac:chgData name="Raglo S" userId="b90a62515e0f8a67" providerId="LiveId" clId="{D75413AA-BDE9-404E-91FF-9A070E36E98C}" dt="2026-01-19T02:50:40.945" v="1176" actId="1076"/>
          <ac:picMkLst>
            <pc:docMk/>
            <pc:sldMk cId="4185503013" sldId="297"/>
            <ac:picMk id="11" creationId="{C957CB5E-BE2A-6664-BBE2-41C9C6ADBC76}"/>
          </ac:picMkLst>
        </pc:picChg>
      </pc:sldChg>
      <pc:sldChg chg="modSp new mod">
        <pc:chgData name="Raglo S" userId="b90a62515e0f8a67" providerId="LiveId" clId="{D75413AA-BDE9-404E-91FF-9A070E36E98C}" dt="2026-01-19T02:59:57.339" v="1528" actId="20577"/>
        <pc:sldMkLst>
          <pc:docMk/>
          <pc:sldMk cId="4047797701" sldId="298"/>
        </pc:sldMkLst>
        <pc:spChg chg="mod">
          <ac:chgData name="Raglo S" userId="b90a62515e0f8a67" providerId="LiveId" clId="{D75413AA-BDE9-404E-91FF-9A070E36E98C}" dt="2026-01-19T02:52:00.133" v="1206" actId="20577"/>
          <ac:spMkLst>
            <pc:docMk/>
            <pc:sldMk cId="4047797701" sldId="298"/>
            <ac:spMk id="2" creationId="{E033C9D6-64C3-73FF-644E-AA2F74502F6F}"/>
          </ac:spMkLst>
        </pc:spChg>
        <pc:spChg chg="mod">
          <ac:chgData name="Raglo S" userId="b90a62515e0f8a67" providerId="LiveId" clId="{D75413AA-BDE9-404E-91FF-9A070E36E98C}" dt="2026-01-19T02:59:57.339" v="1528" actId="20577"/>
          <ac:spMkLst>
            <pc:docMk/>
            <pc:sldMk cId="4047797701" sldId="298"/>
            <ac:spMk id="3" creationId="{B7E2B50E-17D0-6341-D1E5-F029FC4598AE}"/>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Sigmoid</c:v>
                </c:pt>
              </c:strCache>
            </c:strRef>
          </c:tx>
          <c:spPr>
            <a:ln w="38100">
              <a:solidFill>
                <a:schemeClr val="accent4"/>
              </a:solidFill>
            </a:ln>
          </c:spPr>
          <c:marker>
            <c:symbol val="none"/>
          </c:marker>
          <c:xVal>
            <c:numRef>
              <c:f>Sheet1!$A$2:$A$62</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c:v>
                </c:pt>
                <c:pt idx="56">
                  <c:v>2.6</c:v>
                </c:pt>
                <c:pt idx="57">
                  <c:v>2.7</c:v>
                </c:pt>
                <c:pt idx="58">
                  <c:v>2.8</c:v>
                </c:pt>
                <c:pt idx="59">
                  <c:v>2.9</c:v>
                </c:pt>
                <c:pt idx="60">
                  <c:v>3</c:v>
                </c:pt>
              </c:numCache>
            </c:numRef>
          </c:xVal>
          <c:yVal>
            <c:numRef>
              <c:f>Sheet1!$B$2:$B$62</c:f>
              <c:numCache>
                <c:formatCode>General</c:formatCode>
                <c:ptCount val="61"/>
                <c:pt idx="0">
                  <c:v>4.7425873177566781E-2</c:v>
                </c:pt>
                <c:pt idx="1">
                  <c:v>5.2153563078417738E-2</c:v>
                </c:pt>
                <c:pt idx="2">
                  <c:v>5.7324175898868755E-2</c:v>
                </c:pt>
                <c:pt idx="3">
                  <c:v>6.2973356056996485E-2</c:v>
                </c:pt>
                <c:pt idx="4">
                  <c:v>6.9138420343346815E-2</c:v>
                </c:pt>
                <c:pt idx="5">
                  <c:v>7.5858180021243546E-2</c:v>
                </c:pt>
                <c:pt idx="6">
                  <c:v>8.317269649392238E-2</c:v>
                </c:pt>
                <c:pt idx="7">
                  <c:v>9.112296101485616E-2</c:v>
                </c:pt>
                <c:pt idx="8">
                  <c:v>9.9750489119685135E-2</c:v>
                </c:pt>
                <c:pt idx="9">
                  <c:v>0.10909682119561294</c:v>
                </c:pt>
                <c:pt idx="10">
                  <c:v>0.11920292202211755</c:v>
                </c:pt>
                <c:pt idx="11">
                  <c:v>0.13010847436299786</c:v>
                </c:pt>
                <c:pt idx="12">
                  <c:v>0.14185106490048777</c:v>
                </c:pt>
                <c:pt idx="13">
                  <c:v>0.1544652650835347</c:v>
                </c:pt>
                <c:pt idx="14">
                  <c:v>0.16798161486607552</c:v>
                </c:pt>
                <c:pt idx="15">
                  <c:v>0.18242552380635635</c:v>
                </c:pt>
                <c:pt idx="16">
                  <c:v>0.19781611144141825</c:v>
                </c:pt>
                <c:pt idx="17">
                  <c:v>0.21416501695744139</c:v>
                </c:pt>
                <c:pt idx="18">
                  <c:v>0.23147521650098238</c:v>
                </c:pt>
                <c:pt idx="19">
                  <c:v>0.24973989440488234</c:v>
                </c:pt>
                <c:pt idx="20">
                  <c:v>0.2689414213699951</c:v>
                </c:pt>
                <c:pt idx="21">
                  <c:v>0.289050497374996</c:v>
                </c:pt>
                <c:pt idx="22">
                  <c:v>0.31002551887238755</c:v>
                </c:pt>
                <c:pt idx="23">
                  <c:v>0.33181222783183389</c:v>
                </c:pt>
                <c:pt idx="24">
                  <c:v>0.35434369377420455</c:v>
                </c:pt>
                <c:pt idx="25">
                  <c:v>0.37754066879814541</c:v>
                </c:pt>
                <c:pt idx="26">
                  <c:v>0.401312339887548</c:v>
                </c:pt>
                <c:pt idx="27">
                  <c:v>0.42555748318834102</c:v>
                </c:pt>
                <c:pt idx="28">
                  <c:v>0.45016600268752216</c:v>
                </c:pt>
                <c:pt idx="29">
                  <c:v>0.47502081252105999</c:v>
                </c:pt>
                <c:pt idx="30">
                  <c:v>0.5</c:v>
                </c:pt>
                <c:pt idx="31">
                  <c:v>0.52497918747894001</c:v>
                </c:pt>
                <c:pt idx="32">
                  <c:v>0.54983399731247795</c:v>
                </c:pt>
                <c:pt idx="33">
                  <c:v>0.57444251681165903</c:v>
                </c:pt>
                <c:pt idx="34">
                  <c:v>0.598687660112452</c:v>
                </c:pt>
                <c:pt idx="35">
                  <c:v>0.62245933120185459</c:v>
                </c:pt>
                <c:pt idx="36">
                  <c:v>0.6456563062257954</c:v>
                </c:pt>
                <c:pt idx="37">
                  <c:v>0.66818777216816616</c:v>
                </c:pt>
                <c:pt idx="38">
                  <c:v>0.6899744811276125</c:v>
                </c:pt>
                <c:pt idx="39">
                  <c:v>0.71094950262500389</c:v>
                </c:pt>
                <c:pt idx="40">
                  <c:v>0.7310585786300049</c:v>
                </c:pt>
                <c:pt idx="41">
                  <c:v>0.75026010559511769</c:v>
                </c:pt>
                <c:pt idx="42">
                  <c:v>0.76852478349901754</c:v>
                </c:pt>
                <c:pt idx="43">
                  <c:v>0.78583498304255861</c:v>
                </c:pt>
                <c:pt idx="44">
                  <c:v>0.80218388855858169</c:v>
                </c:pt>
                <c:pt idx="45">
                  <c:v>0.81757447619364365</c:v>
                </c:pt>
                <c:pt idx="46">
                  <c:v>0.83201838513392445</c:v>
                </c:pt>
                <c:pt idx="47">
                  <c:v>0.84553473491646525</c:v>
                </c:pt>
                <c:pt idx="48">
                  <c:v>0.85814893509951229</c:v>
                </c:pt>
                <c:pt idx="49">
                  <c:v>0.86989152563700212</c:v>
                </c:pt>
                <c:pt idx="50">
                  <c:v>0.88079707797788231</c:v>
                </c:pt>
                <c:pt idx="51">
                  <c:v>0.89090317880438707</c:v>
                </c:pt>
                <c:pt idx="52">
                  <c:v>0.9002495108803148</c:v>
                </c:pt>
                <c:pt idx="53">
                  <c:v>0.90887703898514383</c:v>
                </c:pt>
                <c:pt idx="54">
                  <c:v>0.91682730350607766</c:v>
                </c:pt>
                <c:pt idx="55">
                  <c:v>0.92414181997875655</c:v>
                </c:pt>
                <c:pt idx="56">
                  <c:v>0.93086157965665328</c:v>
                </c:pt>
                <c:pt idx="57">
                  <c:v>0.9370266439430035</c:v>
                </c:pt>
                <c:pt idx="58">
                  <c:v>0.94267582410113127</c:v>
                </c:pt>
                <c:pt idx="59">
                  <c:v>0.94784643692158232</c:v>
                </c:pt>
                <c:pt idx="60">
                  <c:v>0.95257412682243336</c:v>
                </c:pt>
              </c:numCache>
            </c:numRef>
          </c:yVal>
          <c:smooth val="0"/>
          <c:extLst>
            <c:ext xmlns:c16="http://schemas.microsoft.com/office/drawing/2014/chart" uri="{C3380CC4-5D6E-409C-BE32-E72D297353CC}">
              <c16:uniqueId val="{00000000-AC43-471E-BA76-38377084D97F}"/>
            </c:ext>
          </c:extLst>
        </c:ser>
        <c:ser>
          <c:idx val="1"/>
          <c:order val="1"/>
          <c:tx>
            <c:strRef>
              <c:f>Sheet1!$B$64</c:f>
              <c:strCache>
                <c:ptCount val="1"/>
                <c:pt idx="0">
                  <c:v>Tanh</c:v>
                </c:pt>
              </c:strCache>
            </c:strRef>
          </c:tx>
          <c:spPr>
            <a:ln w="38100">
              <a:solidFill>
                <a:schemeClr val="accent3"/>
              </a:solidFill>
            </a:ln>
          </c:spPr>
          <c:marker>
            <c:symbol val="none"/>
          </c:marker>
          <c:xVal>
            <c:numRef>
              <c:f>Sheet1!$A$65:$A$125</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c:v>
                </c:pt>
                <c:pt idx="56">
                  <c:v>2.6</c:v>
                </c:pt>
                <c:pt idx="57">
                  <c:v>2.7</c:v>
                </c:pt>
                <c:pt idx="58">
                  <c:v>2.8</c:v>
                </c:pt>
                <c:pt idx="59">
                  <c:v>2.9</c:v>
                </c:pt>
                <c:pt idx="60">
                  <c:v>3</c:v>
                </c:pt>
              </c:numCache>
            </c:numRef>
          </c:xVal>
          <c:yVal>
            <c:numRef>
              <c:f>Sheet1!$B$65:$B$125</c:f>
              <c:numCache>
                <c:formatCode>General</c:formatCode>
                <c:ptCount val="61"/>
                <c:pt idx="0">
                  <c:v>-0.99505475368673046</c:v>
                </c:pt>
                <c:pt idx="1">
                  <c:v>-0.99396316735058321</c:v>
                </c:pt>
                <c:pt idx="2">
                  <c:v>-0.99263152020112799</c:v>
                </c:pt>
                <c:pt idx="3">
                  <c:v>-0.99100745367811771</c:v>
                </c:pt>
                <c:pt idx="4">
                  <c:v>-0.98902740220109919</c:v>
                </c:pt>
                <c:pt idx="5">
                  <c:v>-0.98661429815143031</c:v>
                </c:pt>
                <c:pt idx="6">
                  <c:v>-0.98367485769368024</c:v>
                </c:pt>
                <c:pt idx="7">
                  <c:v>-0.98009639626619138</c:v>
                </c:pt>
                <c:pt idx="8">
                  <c:v>-0.97574313003145152</c:v>
                </c:pt>
                <c:pt idx="9">
                  <c:v>-0.97045193661345397</c:v>
                </c:pt>
                <c:pt idx="10">
                  <c:v>-0.9640275800758169</c:v>
                </c:pt>
                <c:pt idx="11">
                  <c:v>-0.95623745812773908</c:v>
                </c:pt>
                <c:pt idx="12">
                  <c:v>-0.94680601284626831</c:v>
                </c:pt>
                <c:pt idx="13">
                  <c:v>-0.93540907060309897</c:v>
                </c:pt>
                <c:pt idx="14">
                  <c:v>-0.92166855440647133</c:v>
                </c:pt>
                <c:pt idx="15">
                  <c:v>-0.90514825364486651</c:v>
                </c:pt>
                <c:pt idx="16">
                  <c:v>-0.88535164820226242</c:v>
                </c:pt>
                <c:pt idx="17">
                  <c:v>-0.86172315931330634</c:v>
                </c:pt>
                <c:pt idx="18">
                  <c:v>-0.83365460701215521</c:v>
                </c:pt>
                <c:pt idx="19">
                  <c:v>-0.8004990217606297</c:v>
                </c:pt>
                <c:pt idx="20">
                  <c:v>-0.76159415595576485</c:v>
                </c:pt>
                <c:pt idx="21">
                  <c:v>-0.71629787019902447</c:v>
                </c:pt>
                <c:pt idx="22">
                  <c:v>-0.66403677026784902</c:v>
                </c:pt>
                <c:pt idx="23">
                  <c:v>-0.60436777711716339</c:v>
                </c:pt>
                <c:pt idx="24">
                  <c:v>-0.53704956699803519</c:v>
                </c:pt>
                <c:pt idx="25">
                  <c:v>-0.46211715726000974</c:v>
                </c:pt>
                <c:pt idx="26">
                  <c:v>-0.3799489622552249</c:v>
                </c:pt>
                <c:pt idx="27">
                  <c:v>-0.2913126124515909</c:v>
                </c:pt>
                <c:pt idx="28">
                  <c:v>-0.19737532022490401</c:v>
                </c:pt>
                <c:pt idx="29">
                  <c:v>-9.9667994624955819E-2</c:v>
                </c:pt>
                <c:pt idx="30">
                  <c:v>0</c:v>
                </c:pt>
                <c:pt idx="31">
                  <c:v>9.9667994624955819E-2</c:v>
                </c:pt>
                <c:pt idx="32">
                  <c:v>0.19737532022490401</c:v>
                </c:pt>
                <c:pt idx="33">
                  <c:v>0.2913126124515909</c:v>
                </c:pt>
                <c:pt idx="34">
                  <c:v>0.3799489622552249</c:v>
                </c:pt>
                <c:pt idx="35">
                  <c:v>0.46211715726000974</c:v>
                </c:pt>
                <c:pt idx="36">
                  <c:v>0.53704956699803519</c:v>
                </c:pt>
                <c:pt idx="37">
                  <c:v>0.60436777711716339</c:v>
                </c:pt>
                <c:pt idx="38">
                  <c:v>0.66403677026784902</c:v>
                </c:pt>
                <c:pt idx="39">
                  <c:v>0.71629787019902447</c:v>
                </c:pt>
                <c:pt idx="40">
                  <c:v>0.76159415595576485</c:v>
                </c:pt>
                <c:pt idx="41">
                  <c:v>0.8004990217606297</c:v>
                </c:pt>
                <c:pt idx="42">
                  <c:v>0.83365460701215521</c:v>
                </c:pt>
                <c:pt idx="43">
                  <c:v>0.86172315931330634</c:v>
                </c:pt>
                <c:pt idx="44">
                  <c:v>0.88535164820226242</c:v>
                </c:pt>
                <c:pt idx="45">
                  <c:v>0.90514825364486651</c:v>
                </c:pt>
                <c:pt idx="46">
                  <c:v>0.92166855440647133</c:v>
                </c:pt>
                <c:pt idx="47">
                  <c:v>0.93540907060309897</c:v>
                </c:pt>
                <c:pt idx="48">
                  <c:v>0.94680601284626831</c:v>
                </c:pt>
                <c:pt idx="49">
                  <c:v>0.95623745812773908</c:v>
                </c:pt>
                <c:pt idx="50">
                  <c:v>0.9640275800758169</c:v>
                </c:pt>
                <c:pt idx="51">
                  <c:v>0.97045193661345397</c:v>
                </c:pt>
                <c:pt idx="52">
                  <c:v>0.97574313003145152</c:v>
                </c:pt>
                <c:pt idx="53">
                  <c:v>0.98009639626619138</c:v>
                </c:pt>
                <c:pt idx="54">
                  <c:v>0.98367485769368024</c:v>
                </c:pt>
                <c:pt idx="55">
                  <c:v>0.98661429815143031</c:v>
                </c:pt>
                <c:pt idx="56">
                  <c:v>0.98902740220109919</c:v>
                </c:pt>
                <c:pt idx="57">
                  <c:v>0.99100745367811771</c:v>
                </c:pt>
                <c:pt idx="58">
                  <c:v>0.99263152020112799</c:v>
                </c:pt>
                <c:pt idx="59">
                  <c:v>0.99396316735058321</c:v>
                </c:pt>
                <c:pt idx="60">
                  <c:v>0.99505475368673046</c:v>
                </c:pt>
              </c:numCache>
            </c:numRef>
          </c:yVal>
          <c:smooth val="0"/>
          <c:extLst>
            <c:ext xmlns:c16="http://schemas.microsoft.com/office/drawing/2014/chart" uri="{C3380CC4-5D6E-409C-BE32-E72D297353CC}">
              <c16:uniqueId val="{00000001-AC43-471E-BA76-38377084D97F}"/>
            </c:ext>
          </c:extLst>
        </c:ser>
        <c:ser>
          <c:idx val="2"/>
          <c:order val="2"/>
          <c:tx>
            <c:strRef>
              <c:f>Sheet1!$B$127</c:f>
              <c:strCache>
                <c:ptCount val="1"/>
                <c:pt idx="0">
                  <c:v>ReLU</c:v>
                </c:pt>
              </c:strCache>
            </c:strRef>
          </c:tx>
          <c:spPr>
            <a:ln w="44450">
              <a:solidFill>
                <a:schemeClr val="accent1"/>
              </a:solidFill>
            </a:ln>
          </c:spPr>
          <c:marker>
            <c:symbol val="none"/>
          </c:marker>
          <c:xVal>
            <c:numRef>
              <c:f>Sheet1!$A$128:$A$188</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c:v>
                </c:pt>
                <c:pt idx="56">
                  <c:v>2.6</c:v>
                </c:pt>
                <c:pt idx="57">
                  <c:v>2.7</c:v>
                </c:pt>
                <c:pt idx="58">
                  <c:v>2.8</c:v>
                </c:pt>
                <c:pt idx="59">
                  <c:v>2.9</c:v>
                </c:pt>
                <c:pt idx="60">
                  <c:v>3</c:v>
                </c:pt>
              </c:numCache>
            </c:numRef>
          </c:xVal>
          <c:yVal>
            <c:numRef>
              <c:f>Sheet1!$B$128:$B$188</c:f>
              <c:numCache>
                <c:formatCode>General</c:formatCode>
                <c:ptCount val="6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0.1</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c:v>
                </c:pt>
                <c:pt idx="46">
                  <c:v>1.6</c:v>
                </c:pt>
                <c:pt idx="47">
                  <c:v>1.7</c:v>
                </c:pt>
                <c:pt idx="48">
                  <c:v>1.8</c:v>
                </c:pt>
                <c:pt idx="49">
                  <c:v>1.9</c:v>
                </c:pt>
                <c:pt idx="50">
                  <c:v>2</c:v>
                </c:pt>
                <c:pt idx="51">
                  <c:v>2.1</c:v>
                </c:pt>
                <c:pt idx="52">
                  <c:v>2.2000000000000002</c:v>
                </c:pt>
                <c:pt idx="53">
                  <c:v>2.2999999999999998</c:v>
                </c:pt>
                <c:pt idx="54">
                  <c:v>2.4</c:v>
                </c:pt>
                <c:pt idx="55">
                  <c:v>2.5</c:v>
                </c:pt>
                <c:pt idx="56">
                  <c:v>2.6</c:v>
                </c:pt>
                <c:pt idx="57">
                  <c:v>2.7</c:v>
                </c:pt>
                <c:pt idx="58">
                  <c:v>2.8</c:v>
                </c:pt>
                <c:pt idx="59">
                  <c:v>2.9</c:v>
                </c:pt>
                <c:pt idx="60">
                  <c:v>3</c:v>
                </c:pt>
              </c:numCache>
            </c:numRef>
          </c:yVal>
          <c:smooth val="0"/>
          <c:extLst>
            <c:ext xmlns:c16="http://schemas.microsoft.com/office/drawing/2014/chart" uri="{C3380CC4-5D6E-409C-BE32-E72D297353CC}">
              <c16:uniqueId val="{00000002-AC43-471E-BA76-38377084D97F}"/>
            </c:ext>
          </c:extLst>
        </c:ser>
        <c:dLbls>
          <c:showLegendKey val="0"/>
          <c:showVal val="0"/>
          <c:showCatName val="0"/>
          <c:showSerName val="0"/>
          <c:showPercent val="0"/>
          <c:showBubbleSize val="0"/>
        </c:dLbls>
        <c:axId val="-2128940872"/>
        <c:axId val="-2129643912"/>
      </c:scatterChart>
      <c:valAx>
        <c:axId val="-2128940872"/>
        <c:scaling>
          <c:orientation val="minMax"/>
          <c:max val="3"/>
          <c:min val="-3"/>
        </c:scaling>
        <c:delete val="0"/>
        <c:axPos val="b"/>
        <c:numFmt formatCode="General" sourceLinked="1"/>
        <c:majorTickMark val="out"/>
        <c:minorTickMark val="none"/>
        <c:tickLblPos val="low"/>
        <c:spPr>
          <a:ln>
            <a:solidFill>
              <a:srgbClr val="7F7F7F"/>
            </a:solidFill>
          </a:ln>
        </c:spPr>
        <c:txPr>
          <a:bodyPr/>
          <a:lstStyle/>
          <a:p>
            <a:pPr>
              <a:defRPr sz="1400">
                <a:solidFill>
                  <a:srgbClr val="000000"/>
                </a:solidFill>
              </a:defRPr>
            </a:pPr>
            <a:endParaRPr lang="en-US"/>
          </a:p>
        </c:txPr>
        <c:crossAx val="-2129643912"/>
        <c:crosses val="autoZero"/>
        <c:crossBetween val="midCat"/>
        <c:majorUnit val="1"/>
      </c:valAx>
      <c:valAx>
        <c:axId val="-2129643912"/>
        <c:scaling>
          <c:orientation val="minMax"/>
          <c:max val="3"/>
          <c:min val="-1.5"/>
        </c:scaling>
        <c:delete val="0"/>
        <c:axPos val="l"/>
        <c:majorGridlines>
          <c:spPr>
            <a:ln w="9525">
              <a:solidFill>
                <a:srgbClr val="D9D9D9"/>
              </a:solidFill>
            </a:ln>
          </c:spPr>
        </c:majorGridlines>
        <c:numFmt formatCode="0.0" sourceLinked="0"/>
        <c:majorTickMark val="out"/>
        <c:minorTickMark val="none"/>
        <c:tickLblPos val="low"/>
        <c:spPr>
          <a:ln>
            <a:solidFill>
              <a:srgbClr val="7F7F7F"/>
            </a:solidFill>
          </a:ln>
        </c:spPr>
        <c:txPr>
          <a:bodyPr/>
          <a:lstStyle/>
          <a:p>
            <a:pPr>
              <a:defRPr sz="1400">
                <a:solidFill>
                  <a:srgbClr val="000000"/>
                </a:solidFill>
              </a:defRPr>
            </a:pPr>
            <a:endParaRPr lang="en-US"/>
          </a:p>
        </c:txPr>
        <c:crossAx val="-2128940872"/>
        <c:crosses val="autoZero"/>
        <c:crossBetween val="midCat"/>
        <c:majorUnit val="0.5"/>
      </c:valAx>
    </c:plotArea>
    <c:legend>
      <c:legendPos val="b"/>
      <c:overlay val="0"/>
      <c:txPr>
        <a:bodyPr/>
        <a:lstStyle/>
        <a:p>
          <a:pPr>
            <a:defRPr sz="1400">
              <a:solidFill>
                <a:srgbClr val="000000"/>
              </a:solidFill>
            </a:defRPr>
          </a:pPr>
          <a:endParaRPr lang="en-US"/>
        </a:p>
      </c:txPr>
    </c:legend>
    <c:plotVisOnly val="1"/>
    <c:dispBlanksAs val="gap"/>
    <c:showDLblsOverMax val="0"/>
  </c:chart>
  <c:txPr>
    <a:bodyPr/>
    <a:lstStyle/>
    <a:p>
      <a:pPr>
        <a:defRPr sz="1400">
          <a:solidFill>
            <a:srgbClr val="000000"/>
          </a:solidFill>
          <a:latin typeface="Open San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Loss L(w)</c:v>
                </c:pt>
              </c:strCache>
            </c:strRef>
          </c:tx>
          <c:spPr>
            <a:ln w="38100">
              <a:solidFill>
                <a:schemeClr val="accent3"/>
              </a:solidFill>
            </a:ln>
          </c:spPr>
          <c:marker>
            <c:symbol val="none"/>
          </c:marker>
          <c:xVal>
            <c:numRef>
              <c:f>Sheet1!$A$2:$A$42</c:f>
              <c:numCache>
                <c:formatCode>General</c:formatCode>
                <c:ptCount val="41"/>
                <c:pt idx="0">
                  <c:v>-2</c:v>
                </c:pt>
                <c:pt idx="1">
                  <c:v>-1.8</c:v>
                </c:pt>
                <c:pt idx="2">
                  <c:v>-1.6</c:v>
                </c:pt>
                <c:pt idx="3">
                  <c:v>-1.4</c:v>
                </c:pt>
                <c:pt idx="4">
                  <c:v>-1.2</c:v>
                </c:pt>
                <c:pt idx="5">
                  <c:v>-1</c:v>
                </c:pt>
                <c:pt idx="6">
                  <c:v>-0.8</c:v>
                </c:pt>
                <c:pt idx="7">
                  <c:v>-0.6</c:v>
                </c:pt>
                <c:pt idx="8">
                  <c:v>-0.4</c:v>
                </c:pt>
                <c:pt idx="9">
                  <c:v>-0.2</c:v>
                </c:pt>
                <c:pt idx="10">
                  <c:v>0</c:v>
                </c:pt>
                <c:pt idx="11">
                  <c:v>0.2</c:v>
                </c:pt>
                <c:pt idx="12">
                  <c:v>0.4</c:v>
                </c:pt>
                <c:pt idx="13">
                  <c:v>0.6</c:v>
                </c:pt>
                <c:pt idx="14">
                  <c:v>0.8</c:v>
                </c:pt>
                <c:pt idx="15">
                  <c:v>1</c:v>
                </c:pt>
                <c:pt idx="16">
                  <c:v>1.2</c:v>
                </c:pt>
                <c:pt idx="17">
                  <c:v>1.4</c:v>
                </c:pt>
                <c:pt idx="18">
                  <c:v>1.6</c:v>
                </c:pt>
                <c:pt idx="19">
                  <c:v>1.8</c:v>
                </c:pt>
                <c:pt idx="20">
                  <c:v>2</c:v>
                </c:pt>
                <c:pt idx="21">
                  <c:v>2.2000000000000002</c:v>
                </c:pt>
                <c:pt idx="22">
                  <c:v>2.4</c:v>
                </c:pt>
                <c:pt idx="23">
                  <c:v>2.6</c:v>
                </c:pt>
                <c:pt idx="24">
                  <c:v>2.8</c:v>
                </c:pt>
                <c:pt idx="25">
                  <c:v>3</c:v>
                </c:pt>
                <c:pt idx="26">
                  <c:v>3.2</c:v>
                </c:pt>
                <c:pt idx="27">
                  <c:v>3.4</c:v>
                </c:pt>
                <c:pt idx="28">
                  <c:v>3.6</c:v>
                </c:pt>
                <c:pt idx="29">
                  <c:v>3.8</c:v>
                </c:pt>
                <c:pt idx="30">
                  <c:v>4</c:v>
                </c:pt>
                <c:pt idx="31">
                  <c:v>4.2</c:v>
                </c:pt>
                <c:pt idx="32">
                  <c:v>4.4000000000000004</c:v>
                </c:pt>
                <c:pt idx="33">
                  <c:v>4.5999999999999996</c:v>
                </c:pt>
                <c:pt idx="34">
                  <c:v>4.8</c:v>
                </c:pt>
                <c:pt idx="35">
                  <c:v>5</c:v>
                </c:pt>
                <c:pt idx="36">
                  <c:v>5.2</c:v>
                </c:pt>
                <c:pt idx="37">
                  <c:v>5.4</c:v>
                </c:pt>
                <c:pt idx="38">
                  <c:v>5.6</c:v>
                </c:pt>
                <c:pt idx="39">
                  <c:v>5.8</c:v>
                </c:pt>
                <c:pt idx="40">
                  <c:v>6</c:v>
                </c:pt>
              </c:numCache>
            </c:numRef>
          </c:xVal>
          <c:yVal>
            <c:numRef>
              <c:f>Sheet1!$B$2:$B$42</c:f>
              <c:numCache>
                <c:formatCode>General</c:formatCode>
                <c:ptCount val="41"/>
                <c:pt idx="0">
                  <c:v>16</c:v>
                </c:pt>
                <c:pt idx="1">
                  <c:v>14.44</c:v>
                </c:pt>
                <c:pt idx="2">
                  <c:v>12.96</c:v>
                </c:pt>
                <c:pt idx="3">
                  <c:v>11.559999999999999</c:v>
                </c:pt>
                <c:pt idx="4">
                  <c:v>10.240000000000002</c:v>
                </c:pt>
                <c:pt idx="5">
                  <c:v>9</c:v>
                </c:pt>
                <c:pt idx="6">
                  <c:v>7.839999999999999</c:v>
                </c:pt>
                <c:pt idx="7">
                  <c:v>6.7600000000000007</c:v>
                </c:pt>
                <c:pt idx="8">
                  <c:v>5.76</c:v>
                </c:pt>
                <c:pt idx="9">
                  <c:v>4.8400000000000007</c:v>
                </c:pt>
                <c:pt idx="10">
                  <c:v>4</c:v>
                </c:pt>
                <c:pt idx="11">
                  <c:v>3.24</c:v>
                </c:pt>
                <c:pt idx="12">
                  <c:v>2.5600000000000005</c:v>
                </c:pt>
                <c:pt idx="13">
                  <c:v>1.9599999999999997</c:v>
                </c:pt>
                <c:pt idx="14">
                  <c:v>1.44</c:v>
                </c:pt>
                <c:pt idx="15">
                  <c:v>1</c:v>
                </c:pt>
                <c:pt idx="16">
                  <c:v>0.64000000000000012</c:v>
                </c:pt>
                <c:pt idx="17">
                  <c:v>0.3600000000000001</c:v>
                </c:pt>
                <c:pt idx="18">
                  <c:v>0.15999999999999992</c:v>
                </c:pt>
                <c:pt idx="19">
                  <c:v>3.999999999999998E-2</c:v>
                </c:pt>
                <c:pt idx="20">
                  <c:v>0</c:v>
                </c:pt>
                <c:pt idx="21">
                  <c:v>4.000000000000007E-2</c:v>
                </c:pt>
                <c:pt idx="22">
                  <c:v>0.15999999999999992</c:v>
                </c:pt>
                <c:pt idx="23">
                  <c:v>0.3600000000000001</c:v>
                </c:pt>
                <c:pt idx="24">
                  <c:v>0.63999999999999968</c:v>
                </c:pt>
                <c:pt idx="25">
                  <c:v>1</c:v>
                </c:pt>
                <c:pt idx="26">
                  <c:v>1.4400000000000004</c:v>
                </c:pt>
                <c:pt idx="27">
                  <c:v>1.9599999999999997</c:v>
                </c:pt>
                <c:pt idx="28">
                  <c:v>2.5600000000000005</c:v>
                </c:pt>
                <c:pt idx="29">
                  <c:v>3.2399999999999993</c:v>
                </c:pt>
                <c:pt idx="30">
                  <c:v>4</c:v>
                </c:pt>
                <c:pt idx="31">
                  <c:v>4.8400000000000007</c:v>
                </c:pt>
                <c:pt idx="32">
                  <c:v>5.7600000000000016</c:v>
                </c:pt>
                <c:pt idx="33">
                  <c:v>6.759999999999998</c:v>
                </c:pt>
                <c:pt idx="34">
                  <c:v>7.839999999999999</c:v>
                </c:pt>
                <c:pt idx="35">
                  <c:v>9</c:v>
                </c:pt>
                <c:pt idx="36">
                  <c:v>10.240000000000002</c:v>
                </c:pt>
                <c:pt idx="37">
                  <c:v>11.560000000000002</c:v>
                </c:pt>
                <c:pt idx="38">
                  <c:v>12.959999999999997</c:v>
                </c:pt>
                <c:pt idx="39">
                  <c:v>14.44</c:v>
                </c:pt>
                <c:pt idx="40">
                  <c:v>16</c:v>
                </c:pt>
              </c:numCache>
            </c:numRef>
          </c:yVal>
          <c:smooth val="0"/>
          <c:extLst>
            <c:ext xmlns:c16="http://schemas.microsoft.com/office/drawing/2014/chart" uri="{C3380CC4-5D6E-409C-BE32-E72D297353CC}">
              <c16:uniqueId val="{00000000-2571-487D-86B6-84B4C4F47428}"/>
            </c:ext>
          </c:extLst>
        </c:ser>
        <c:ser>
          <c:idx val="1"/>
          <c:order val="1"/>
          <c:tx>
            <c:strRef>
              <c:f>Sheet1!$B$44</c:f>
              <c:strCache>
                <c:ptCount val="1"/>
                <c:pt idx="0">
                  <c:v>Gradient-descent steps (η = 0.3)</c:v>
                </c:pt>
              </c:strCache>
            </c:strRef>
          </c:tx>
          <c:spPr>
            <a:ln w="25400">
              <a:solidFill>
                <a:schemeClr val="accent1"/>
              </a:solidFill>
              <a:prstDash val="dash"/>
            </a:ln>
          </c:spPr>
          <c:marker>
            <c:symbol val="circle"/>
            <c:size val="11"/>
            <c:spPr>
              <a:solidFill>
                <a:schemeClr val="accent1"/>
              </a:solidFill>
              <a:ln>
                <a:solidFill>
                  <a:schemeClr val="accent1"/>
                </a:solidFill>
              </a:ln>
            </c:spPr>
          </c:marker>
          <c:dLbls>
            <c:dLbl>
              <c:idx val="0"/>
              <c:tx>
                <c:rich>
                  <a:bodyPr/>
                  <a:lstStyle/>
                  <a:p>
                    <a:r>
                      <a:rPr lang="en-US" sz="1400" b="1">
                        <a:solidFill>
                          <a:srgbClr val="000000"/>
                        </a:solidFill>
                      </a:rPr>
                      <a:t>start</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2571-487D-86B6-84B4C4F47428}"/>
                </c:ext>
              </c:extLst>
            </c:dLbl>
            <c:dLbl>
              <c:idx val="4"/>
              <c:tx>
                <c:rich>
                  <a:bodyPr/>
                  <a:lstStyle/>
                  <a:p>
                    <a:r>
                      <a:rPr lang="en-US" sz="1400" b="1">
                        <a:solidFill>
                          <a:srgbClr val="000000"/>
                        </a:solidFill>
                      </a:rPr>
                      <a:t>w ≈ 2</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2571-487D-86B6-84B4C4F4742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Sheet1!$A$45:$A$49</c:f>
              <c:numCache>
                <c:formatCode>General</c:formatCode>
                <c:ptCount val="5"/>
                <c:pt idx="0">
                  <c:v>-1</c:v>
                </c:pt>
                <c:pt idx="1">
                  <c:v>0.8</c:v>
                </c:pt>
                <c:pt idx="2">
                  <c:v>1.52</c:v>
                </c:pt>
                <c:pt idx="3">
                  <c:v>1.8080000000000001</c:v>
                </c:pt>
                <c:pt idx="4">
                  <c:v>1.9232</c:v>
                </c:pt>
              </c:numCache>
            </c:numRef>
          </c:xVal>
          <c:yVal>
            <c:numRef>
              <c:f>Sheet1!$B$45:$B$49</c:f>
              <c:numCache>
                <c:formatCode>General</c:formatCode>
                <c:ptCount val="5"/>
                <c:pt idx="0">
                  <c:v>9</c:v>
                </c:pt>
                <c:pt idx="1">
                  <c:v>1.44</c:v>
                </c:pt>
                <c:pt idx="2">
                  <c:v>0.23039999999999999</c:v>
                </c:pt>
                <c:pt idx="3">
                  <c:v>3.6900000000000002E-2</c:v>
                </c:pt>
                <c:pt idx="4">
                  <c:v>5.8999999999999999E-3</c:v>
                </c:pt>
              </c:numCache>
            </c:numRef>
          </c:yVal>
          <c:smooth val="0"/>
          <c:extLst>
            <c:ext xmlns:c16="http://schemas.microsoft.com/office/drawing/2014/chart" uri="{C3380CC4-5D6E-409C-BE32-E72D297353CC}">
              <c16:uniqueId val="{00000003-2571-487D-86B6-84B4C4F47428}"/>
            </c:ext>
          </c:extLst>
        </c:ser>
        <c:dLbls>
          <c:showLegendKey val="0"/>
          <c:showVal val="0"/>
          <c:showCatName val="0"/>
          <c:showSerName val="0"/>
          <c:showPercent val="0"/>
          <c:showBubbleSize val="0"/>
        </c:dLbls>
        <c:axId val="-2128940872"/>
        <c:axId val="-2129643912"/>
      </c:scatterChart>
      <c:valAx>
        <c:axId val="-2128940872"/>
        <c:scaling>
          <c:orientation val="minMax"/>
          <c:max val="6"/>
          <c:min val="-2"/>
        </c:scaling>
        <c:delete val="0"/>
        <c:axPos val="b"/>
        <c:title>
          <c:tx>
            <c:rich>
              <a:bodyPr/>
              <a:lstStyle/>
              <a:p>
                <a:r>
                  <a:rPr lang="en-US" sz="1400" b="0">
                    <a:solidFill>
                      <a:srgbClr val="000000"/>
                    </a:solidFill>
                    <a:latin typeface="Open Sans"/>
                  </a:rPr>
                  <a:t>parameter w</a:t>
                </a:r>
              </a:p>
            </c:rich>
          </c:tx>
          <c:overlay val="0"/>
        </c:title>
        <c:numFmt formatCode="General" sourceLinked="1"/>
        <c:majorTickMark val="out"/>
        <c:minorTickMark val="none"/>
        <c:tickLblPos val="low"/>
        <c:spPr>
          <a:ln>
            <a:solidFill>
              <a:srgbClr val="7F7F7F"/>
            </a:solidFill>
          </a:ln>
        </c:spPr>
        <c:txPr>
          <a:bodyPr/>
          <a:lstStyle/>
          <a:p>
            <a:pPr>
              <a:defRPr sz="1400">
                <a:solidFill>
                  <a:srgbClr val="000000"/>
                </a:solidFill>
              </a:defRPr>
            </a:pPr>
            <a:endParaRPr lang="en-US"/>
          </a:p>
        </c:txPr>
        <c:crossAx val="-2129643912"/>
        <c:crosses val="min"/>
        <c:crossBetween val="midCat"/>
        <c:majorUnit val="1"/>
      </c:valAx>
      <c:valAx>
        <c:axId val="-2129643912"/>
        <c:scaling>
          <c:orientation val="minMax"/>
          <c:max val="16"/>
          <c:min val="0"/>
        </c:scaling>
        <c:delete val="0"/>
        <c:axPos val="l"/>
        <c:majorGridlines>
          <c:spPr>
            <a:ln w="9525">
              <a:solidFill>
                <a:srgbClr val="D9D9D9"/>
              </a:solidFill>
            </a:ln>
          </c:spPr>
        </c:majorGridlines>
        <c:title>
          <c:tx>
            <c:rich>
              <a:bodyPr/>
              <a:lstStyle/>
              <a:p>
                <a:r>
                  <a:rPr lang="en-US" sz="1400" b="0">
                    <a:solidFill>
                      <a:srgbClr val="000000"/>
                    </a:solidFill>
                    <a:latin typeface="Open Sans"/>
                  </a:rPr>
                  <a:t>loss L</a:t>
                </a:r>
              </a:p>
            </c:rich>
          </c:tx>
          <c:overlay val="0"/>
        </c:title>
        <c:numFmt formatCode="General" sourceLinked="1"/>
        <c:majorTickMark val="out"/>
        <c:minorTickMark val="none"/>
        <c:tickLblPos val="low"/>
        <c:spPr>
          <a:ln>
            <a:solidFill>
              <a:srgbClr val="7F7F7F"/>
            </a:solidFill>
          </a:ln>
        </c:spPr>
        <c:txPr>
          <a:bodyPr/>
          <a:lstStyle/>
          <a:p>
            <a:pPr>
              <a:defRPr sz="1400">
                <a:solidFill>
                  <a:srgbClr val="000000"/>
                </a:solidFill>
              </a:defRPr>
            </a:pPr>
            <a:endParaRPr lang="en-US"/>
          </a:p>
        </c:txPr>
        <c:crossAx val="-2128940872"/>
        <c:crosses val="min"/>
        <c:crossBetween val="midCat"/>
        <c:majorUnit val="4"/>
      </c:valAx>
    </c:plotArea>
    <c:legend>
      <c:legendPos val="b"/>
      <c:overlay val="0"/>
      <c:txPr>
        <a:bodyPr/>
        <a:lstStyle/>
        <a:p>
          <a:pPr>
            <a:defRPr sz="1400">
              <a:solidFill>
                <a:srgbClr val="000000"/>
              </a:solidFill>
            </a:defRPr>
          </a:pPr>
          <a:endParaRPr lang="en-US"/>
        </a:p>
      </c:txPr>
    </c:legend>
    <c:plotVisOnly val="1"/>
    <c:dispBlanksAs val="gap"/>
    <c:showDLblsOverMax val="0"/>
  </c:chart>
  <c:txPr>
    <a:bodyPr/>
    <a:lstStyle/>
    <a:p>
      <a:pPr>
        <a:defRPr sz="1400">
          <a:solidFill>
            <a:srgbClr val="000000"/>
          </a:solidFill>
          <a:latin typeface="Open San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Model fit</c:v>
                </c:pt>
              </c:strCache>
            </c:strRef>
          </c:tx>
          <c:spPr>
            <a:ln w="44450">
              <a:solidFill>
                <a:schemeClr val="accent2"/>
              </a:solidFill>
            </a:ln>
          </c:spPr>
          <c:marker>
            <c:symbol val="none"/>
          </c:marker>
          <c:xVal>
            <c:numRef>
              <c:f>Sheet1!$A$2:$A$91</c:f>
              <c:numCache>
                <c:formatCode>General</c:formatCode>
                <c:ptCount val="90"/>
                <c:pt idx="0">
                  <c:v>0</c:v>
                </c:pt>
                <c:pt idx="1">
                  <c:v>1.0999999999999999E-2</c:v>
                </c:pt>
                <c:pt idx="2">
                  <c:v>2.1999999999999999E-2</c:v>
                </c:pt>
                <c:pt idx="3">
                  <c:v>3.4000000000000002E-2</c:v>
                </c:pt>
                <c:pt idx="4">
                  <c:v>4.4999999999999998E-2</c:v>
                </c:pt>
                <c:pt idx="5">
                  <c:v>5.6000000000000001E-2</c:v>
                </c:pt>
                <c:pt idx="6">
                  <c:v>6.7000000000000004E-2</c:v>
                </c:pt>
                <c:pt idx="7">
                  <c:v>7.9000000000000001E-2</c:v>
                </c:pt>
                <c:pt idx="8">
                  <c:v>0.09</c:v>
                </c:pt>
                <c:pt idx="9">
                  <c:v>0.10100000000000001</c:v>
                </c:pt>
                <c:pt idx="10">
                  <c:v>0.112</c:v>
                </c:pt>
                <c:pt idx="11">
                  <c:v>0.124</c:v>
                </c:pt>
                <c:pt idx="12">
                  <c:v>0.13500000000000001</c:v>
                </c:pt>
                <c:pt idx="13">
                  <c:v>0.14599999999999999</c:v>
                </c:pt>
                <c:pt idx="14">
                  <c:v>0.157</c:v>
                </c:pt>
                <c:pt idx="15">
                  <c:v>0.16900000000000001</c:v>
                </c:pt>
                <c:pt idx="16">
                  <c:v>0.18</c:v>
                </c:pt>
                <c:pt idx="17">
                  <c:v>0.191</c:v>
                </c:pt>
                <c:pt idx="18">
                  <c:v>0.20200000000000001</c:v>
                </c:pt>
                <c:pt idx="19">
                  <c:v>0.21299999999999999</c:v>
                </c:pt>
                <c:pt idx="20">
                  <c:v>0.22500000000000001</c:v>
                </c:pt>
                <c:pt idx="21">
                  <c:v>0.23599999999999999</c:v>
                </c:pt>
                <c:pt idx="22">
                  <c:v>0.247</c:v>
                </c:pt>
                <c:pt idx="23">
                  <c:v>0.25800000000000001</c:v>
                </c:pt>
                <c:pt idx="24">
                  <c:v>0.27</c:v>
                </c:pt>
                <c:pt idx="25">
                  <c:v>0.28100000000000003</c:v>
                </c:pt>
                <c:pt idx="26">
                  <c:v>0.29199999999999998</c:v>
                </c:pt>
                <c:pt idx="27">
                  <c:v>0.30299999999999999</c:v>
                </c:pt>
                <c:pt idx="28">
                  <c:v>0.315</c:v>
                </c:pt>
                <c:pt idx="29">
                  <c:v>0.32600000000000001</c:v>
                </c:pt>
                <c:pt idx="30">
                  <c:v>0.33700000000000002</c:v>
                </c:pt>
                <c:pt idx="31">
                  <c:v>0.34799999999999998</c:v>
                </c:pt>
                <c:pt idx="32">
                  <c:v>0.36</c:v>
                </c:pt>
                <c:pt idx="33">
                  <c:v>0.371</c:v>
                </c:pt>
                <c:pt idx="34">
                  <c:v>0.38200000000000001</c:v>
                </c:pt>
                <c:pt idx="35">
                  <c:v>0.39300000000000002</c:v>
                </c:pt>
                <c:pt idx="36">
                  <c:v>0.40400000000000003</c:v>
                </c:pt>
                <c:pt idx="37">
                  <c:v>0.41599999999999998</c:v>
                </c:pt>
                <c:pt idx="38">
                  <c:v>0.42699999999999999</c:v>
                </c:pt>
                <c:pt idx="39">
                  <c:v>0.438</c:v>
                </c:pt>
                <c:pt idx="40">
                  <c:v>0.44900000000000001</c:v>
                </c:pt>
                <c:pt idx="41">
                  <c:v>0.46100000000000002</c:v>
                </c:pt>
                <c:pt idx="42">
                  <c:v>0.47199999999999998</c:v>
                </c:pt>
                <c:pt idx="43">
                  <c:v>0.48299999999999998</c:v>
                </c:pt>
                <c:pt idx="44">
                  <c:v>0.49399999999999999</c:v>
                </c:pt>
                <c:pt idx="45">
                  <c:v>0.50600000000000001</c:v>
                </c:pt>
                <c:pt idx="46">
                  <c:v>0.51700000000000002</c:v>
                </c:pt>
                <c:pt idx="47">
                  <c:v>0.52800000000000002</c:v>
                </c:pt>
                <c:pt idx="48">
                  <c:v>0.53900000000000003</c:v>
                </c:pt>
                <c:pt idx="49">
                  <c:v>0.55100000000000005</c:v>
                </c:pt>
                <c:pt idx="50">
                  <c:v>0.56200000000000006</c:v>
                </c:pt>
                <c:pt idx="51">
                  <c:v>0.57299999999999995</c:v>
                </c:pt>
                <c:pt idx="52">
                  <c:v>0.58399999999999996</c:v>
                </c:pt>
                <c:pt idx="53">
                  <c:v>0.59599999999999997</c:v>
                </c:pt>
                <c:pt idx="54">
                  <c:v>0.60699999999999998</c:v>
                </c:pt>
                <c:pt idx="55">
                  <c:v>0.61799999999999999</c:v>
                </c:pt>
                <c:pt idx="56">
                  <c:v>0.629</c:v>
                </c:pt>
                <c:pt idx="57">
                  <c:v>0.64</c:v>
                </c:pt>
                <c:pt idx="58">
                  <c:v>0.65200000000000002</c:v>
                </c:pt>
                <c:pt idx="59">
                  <c:v>0.66300000000000003</c:v>
                </c:pt>
                <c:pt idx="60">
                  <c:v>0.67400000000000004</c:v>
                </c:pt>
                <c:pt idx="61">
                  <c:v>0.68500000000000005</c:v>
                </c:pt>
                <c:pt idx="62">
                  <c:v>0.69699999999999995</c:v>
                </c:pt>
                <c:pt idx="63">
                  <c:v>0.70799999999999996</c:v>
                </c:pt>
                <c:pt idx="64">
                  <c:v>0.71899999999999997</c:v>
                </c:pt>
                <c:pt idx="65">
                  <c:v>0.73</c:v>
                </c:pt>
                <c:pt idx="66">
                  <c:v>0.74199999999999999</c:v>
                </c:pt>
                <c:pt idx="67">
                  <c:v>0.753</c:v>
                </c:pt>
                <c:pt idx="68">
                  <c:v>0.76400000000000001</c:v>
                </c:pt>
                <c:pt idx="69">
                  <c:v>0.77500000000000002</c:v>
                </c:pt>
                <c:pt idx="70">
                  <c:v>0.78700000000000003</c:v>
                </c:pt>
                <c:pt idx="71">
                  <c:v>0.79800000000000004</c:v>
                </c:pt>
                <c:pt idx="72">
                  <c:v>0.80900000000000005</c:v>
                </c:pt>
                <c:pt idx="73">
                  <c:v>0.82</c:v>
                </c:pt>
                <c:pt idx="74">
                  <c:v>0.83099999999999996</c:v>
                </c:pt>
                <c:pt idx="75">
                  <c:v>0.84299999999999997</c:v>
                </c:pt>
                <c:pt idx="76">
                  <c:v>0.85399999999999998</c:v>
                </c:pt>
                <c:pt idx="77">
                  <c:v>0.86499999999999999</c:v>
                </c:pt>
                <c:pt idx="78">
                  <c:v>0.876</c:v>
                </c:pt>
                <c:pt idx="79">
                  <c:v>0.88800000000000001</c:v>
                </c:pt>
                <c:pt idx="80">
                  <c:v>0.89900000000000002</c:v>
                </c:pt>
                <c:pt idx="81">
                  <c:v>0.91</c:v>
                </c:pt>
                <c:pt idx="82">
                  <c:v>0.92100000000000004</c:v>
                </c:pt>
                <c:pt idx="83">
                  <c:v>0.93300000000000005</c:v>
                </c:pt>
                <c:pt idx="84">
                  <c:v>0.94399999999999995</c:v>
                </c:pt>
                <c:pt idx="85">
                  <c:v>0.95499999999999996</c:v>
                </c:pt>
                <c:pt idx="86">
                  <c:v>0.96599999999999997</c:v>
                </c:pt>
                <c:pt idx="87">
                  <c:v>0.97799999999999998</c:v>
                </c:pt>
                <c:pt idx="88">
                  <c:v>0.98899999999999999</c:v>
                </c:pt>
                <c:pt idx="89">
                  <c:v>1</c:v>
                </c:pt>
              </c:numCache>
            </c:numRef>
          </c:xVal>
          <c:yVal>
            <c:numRef>
              <c:f>Sheet1!$B$2:$B$91</c:f>
              <c:numCache>
                <c:formatCode>General</c:formatCode>
                <c:ptCount val="90"/>
                <c:pt idx="0">
                  <c:v>0.85565034369330029</c:v>
                </c:pt>
                <c:pt idx="1">
                  <c:v>0.84746065835665529</c:v>
                </c:pt>
                <c:pt idx="2">
                  <c:v>0.83927097302001019</c:v>
                </c:pt>
                <c:pt idx="3">
                  <c:v>0.83033677083457924</c:v>
                </c:pt>
                <c:pt idx="4">
                  <c:v>0.82214708549793425</c:v>
                </c:pt>
                <c:pt idx="5">
                  <c:v>0.81395740016128915</c:v>
                </c:pt>
                <c:pt idx="6">
                  <c:v>0.80576771482464415</c:v>
                </c:pt>
                <c:pt idx="7">
                  <c:v>0.7968335126392132</c:v>
                </c:pt>
                <c:pt idx="8">
                  <c:v>0.78864382730256821</c:v>
                </c:pt>
                <c:pt idx="9">
                  <c:v>0.78045414196592311</c:v>
                </c:pt>
                <c:pt idx="10">
                  <c:v>0.77226445662927812</c:v>
                </c:pt>
                <c:pt idx="11">
                  <c:v>0.76333025444384717</c:v>
                </c:pt>
                <c:pt idx="12">
                  <c:v>0.75514056910720206</c:v>
                </c:pt>
                <c:pt idx="13">
                  <c:v>0.74695088377055707</c:v>
                </c:pt>
                <c:pt idx="14">
                  <c:v>0.73876119843391197</c:v>
                </c:pt>
                <c:pt idx="15">
                  <c:v>0.72982699624848102</c:v>
                </c:pt>
                <c:pt idx="16">
                  <c:v>0.72163731091183603</c:v>
                </c:pt>
                <c:pt idx="17">
                  <c:v>0.71344762557519092</c:v>
                </c:pt>
                <c:pt idx="18">
                  <c:v>0.70525794023854593</c:v>
                </c:pt>
                <c:pt idx="19">
                  <c:v>0.69706825490190094</c:v>
                </c:pt>
                <c:pt idx="20">
                  <c:v>0.68813405271646988</c:v>
                </c:pt>
                <c:pt idx="21">
                  <c:v>0.67994436737982489</c:v>
                </c:pt>
                <c:pt idx="22">
                  <c:v>0.6717546820431799</c:v>
                </c:pt>
                <c:pt idx="23">
                  <c:v>0.66356499670653479</c:v>
                </c:pt>
                <c:pt idx="24">
                  <c:v>0.65463079452110384</c:v>
                </c:pt>
                <c:pt idx="25">
                  <c:v>0.64644110918445885</c:v>
                </c:pt>
                <c:pt idx="26">
                  <c:v>0.63825142384781386</c:v>
                </c:pt>
                <c:pt idx="27">
                  <c:v>0.63006173851116876</c:v>
                </c:pt>
                <c:pt idx="28">
                  <c:v>0.62112753632573781</c:v>
                </c:pt>
                <c:pt idx="29">
                  <c:v>0.61293785098909281</c:v>
                </c:pt>
                <c:pt idx="30">
                  <c:v>0.60474816565244771</c:v>
                </c:pt>
                <c:pt idx="31">
                  <c:v>0.59655848031580272</c:v>
                </c:pt>
                <c:pt idx="32">
                  <c:v>0.58762427813037177</c:v>
                </c:pt>
                <c:pt idx="33">
                  <c:v>0.57943459279372678</c:v>
                </c:pt>
                <c:pt idx="34">
                  <c:v>0.57124490745708167</c:v>
                </c:pt>
                <c:pt idx="35">
                  <c:v>0.56305522212043657</c:v>
                </c:pt>
                <c:pt idx="36">
                  <c:v>0.55486553678379158</c:v>
                </c:pt>
                <c:pt idx="37">
                  <c:v>0.54593133459836063</c:v>
                </c:pt>
                <c:pt idx="38">
                  <c:v>0.53774164926171553</c:v>
                </c:pt>
                <c:pt idx="39">
                  <c:v>0.52955196392507053</c:v>
                </c:pt>
                <c:pt idx="40">
                  <c:v>0.52136227858842554</c:v>
                </c:pt>
                <c:pt idx="41">
                  <c:v>0.51242807640299448</c:v>
                </c:pt>
                <c:pt idx="42">
                  <c:v>0.50423839106634949</c:v>
                </c:pt>
                <c:pt idx="43">
                  <c:v>0.4960487057297045</c:v>
                </c:pt>
                <c:pt idx="44">
                  <c:v>0.48785902039305945</c:v>
                </c:pt>
                <c:pt idx="45">
                  <c:v>0.4789248182076285</c:v>
                </c:pt>
                <c:pt idx="46">
                  <c:v>0.47073513287098345</c:v>
                </c:pt>
                <c:pt idx="47">
                  <c:v>0.46254544753433841</c:v>
                </c:pt>
                <c:pt idx="48">
                  <c:v>0.45435576219769336</c:v>
                </c:pt>
                <c:pt idx="49">
                  <c:v>0.44542156001226241</c:v>
                </c:pt>
                <c:pt idx="50">
                  <c:v>0.43723187467561736</c:v>
                </c:pt>
                <c:pt idx="51">
                  <c:v>0.42904218933897237</c:v>
                </c:pt>
                <c:pt idx="52">
                  <c:v>0.42085250400232732</c:v>
                </c:pt>
                <c:pt idx="53">
                  <c:v>0.41191830181689637</c:v>
                </c:pt>
                <c:pt idx="54">
                  <c:v>0.40372861648025132</c:v>
                </c:pt>
                <c:pt idx="55">
                  <c:v>0.39553893114360628</c:v>
                </c:pt>
                <c:pt idx="56">
                  <c:v>0.38734924580696123</c:v>
                </c:pt>
                <c:pt idx="57">
                  <c:v>0.37915956047031618</c:v>
                </c:pt>
                <c:pt idx="58">
                  <c:v>0.37022535828488523</c:v>
                </c:pt>
                <c:pt idx="59">
                  <c:v>0.36203567294824018</c:v>
                </c:pt>
                <c:pt idx="60">
                  <c:v>0.35384598761159514</c:v>
                </c:pt>
                <c:pt idx="61">
                  <c:v>0.34565630227495014</c:v>
                </c:pt>
                <c:pt idx="62">
                  <c:v>0.33672210008951919</c:v>
                </c:pt>
                <c:pt idx="63">
                  <c:v>0.3285324147528742</c:v>
                </c:pt>
                <c:pt idx="64">
                  <c:v>0.3203427294162291</c:v>
                </c:pt>
                <c:pt idx="65">
                  <c:v>0.31215304407958411</c:v>
                </c:pt>
                <c:pt idx="66">
                  <c:v>0.30321884189415316</c:v>
                </c:pt>
                <c:pt idx="67">
                  <c:v>0.29502915655750805</c:v>
                </c:pt>
                <c:pt idx="68">
                  <c:v>0.28683947122086306</c:v>
                </c:pt>
                <c:pt idx="69">
                  <c:v>0.27864978588421796</c:v>
                </c:pt>
                <c:pt idx="70">
                  <c:v>0.26971558369878701</c:v>
                </c:pt>
                <c:pt idx="71">
                  <c:v>0.26152589836214202</c:v>
                </c:pt>
                <c:pt idx="72">
                  <c:v>0.25333621302549691</c:v>
                </c:pt>
                <c:pt idx="73">
                  <c:v>0.24514652768885192</c:v>
                </c:pt>
                <c:pt idx="74">
                  <c:v>0.23695684235220693</c:v>
                </c:pt>
                <c:pt idx="75">
                  <c:v>0.22802264016677598</c:v>
                </c:pt>
                <c:pt idx="76">
                  <c:v>0.21983295483013088</c:v>
                </c:pt>
                <c:pt idx="77">
                  <c:v>0.21164326949348589</c:v>
                </c:pt>
                <c:pt idx="78">
                  <c:v>0.20345358415684078</c:v>
                </c:pt>
                <c:pt idx="79">
                  <c:v>0.19451938197140983</c:v>
                </c:pt>
                <c:pt idx="80">
                  <c:v>0.18632969663476484</c:v>
                </c:pt>
                <c:pt idx="81">
                  <c:v>0.17814001129811974</c:v>
                </c:pt>
                <c:pt idx="82">
                  <c:v>0.16995032596147475</c:v>
                </c:pt>
                <c:pt idx="83">
                  <c:v>0.1610161237760438</c:v>
                </c:pt>
                <c:pt idx="84">
                  <c:v>0.1528264384393988</c:v>
                </c:pt>
                <c:pt idx="85">
                  <c:v>0.14463675310275381</c:v>
                </c:pt>
                <c:pt idx="86">
                  <c:v>0.13644706776610871</c:v>
                </c:pt>
                <c:pt idx="87">
                  <c:v>0.12751286558067776</c:v>
                </c:pt>
                <c:pt idx="88">
                  <c:v>0.11932318024403266</c:v>
                </c:pt>
                <c:pt idx="89">
                  <c:v>0.11113349490738766</c:v>
                </c:pt>
              </c:numCache>
            </c:numRef>
          </c:yVal>
          <c:smooth val="0"/>
          <c:extLst>
            <c:ext xmlns:c16="http://schemas.microsoft.com/office/drawing/2014/chart" uri="{C3380CC4-5D6E-409C-BE32-E72D297353CC}">
              <c16:uniqueId val="{00000000-1431-4C34-8300-CCAC737AF24B}"/>
            </c:ext>
          </c:extLst>
        </c:ser>
        <c:ser>
          <c:idx val="1"/>
          <c:order val="1"/>
          <c:tx>
            <c:strRef>
              <c:f>Sheet1!$B$93</c:f>
              <c:strCache>
                <c:ptCount val="1"/>
                <c:pt idx="0">
                  <c:v>Training data</c:v>
                </c:pt>
              </c:strCache>
            </c:strRef>
          </c:tx>
          <c:spPr>
            <a:ln>
              <a:noFill/>
            </a:ln>
          </c:spPr>
          <c:marker>
            <c:symbol val="circle"/>
            <c:size val="9"/>
            <c:spPr>
              <a:solidFill>
                <a:schemeClr val="accent3"/>
              </a:solidFill>
              <a:ln>
                <a:solidFill>
                  <a:schemeClr val="accent3"/>
                </a:solidFill>
              </a:ln>
            </c:spPr>
          </c:marker>
          <c:xVal>
            <c:numRef>
              <c:f>Sheet1!$A$94:$A$103</c:f>
              <c:numCache>
                <c:formatCode>General</c:formatCode>
                <c:ptCount val="10"/>
                <c:pt idx="0">
                  <c:v>0.04</c:v>
                </c:pt>
                <c:pt idx="1">
                  <c:v>0.14222222222222222</c:v>
                </c:pt>
                <c:pt idx="2">
                  <c:v>0.24444444444444444</c:v>
                </c:pt>
                <c:pt idx="3">
                  <c:v>0.34666666666666662</c:v>
                </c:pt>
                <c:pt idx="4">
                  <c:v>0.44888888888888884</c:v>
                </c:pt>
                <c:pt idx="5">
                  <c:v>0.55111111111111111</c:v>
                </c:pt>
                <c:pt idx="6">
                  <c:v>0.65333333333333332</c:v>
                </c:pt>
                <c:pt idx="7">
                  <c:v>0.75555555555555554</c:v>
                </c:pt>
                <c:pt idx="8">
                  <c:v>0.85777777777777775</c:v>
                </c:pt>
                <c:pt idx="9">
                  <c:v>0.96</c:v>
                </c:pt>
              </c:numCache>
            </c:numRef>
          </c:xVal>
          <c:yVal>
            <c:numRef>
              <c:f>Sheet1!$B$94:$B$103</c:f>
              <c:numCache>
                <c:formatCode>General</c:formatCode>
                <c:ptCount val="10"/>
                <c:pt idx="0">
                  <c:v>0.54771598013798939</c:v>
                </c:pt>
                <c:pt idx="1">
                  <c:v>0.75574624747683672</c:v>
                </c:pt>
                <c:pt idx="2">
                  <c:v>0.90697926238135662</c:v>
                </c:pt>
                <c:pt idx="3">
                  <c:v>0.94118219512752854</c:v>
                </c:pt>
                <c:pt idx="4">
                  <c:v>0.59710891884621164</c:v>
                </c:pt>
                <c:pt idx="5">
                  <c:v>0.27459244711270026</c:v>
                </c:pt>
                <c:pt idx="6">
                  <c:v>9.9654156795558738E-2</c:v>
                </c:pt>
                <c:pt idx="7">
                  <c:v>0.26021426928239166</c:v>
                </c:pt>
                <c:pt idx="8">
                  <c:v>0.15672792648545611</c:v>
                </c:pt>
                <c:pt idx="9">
                  <c:v>0.29399778935741522</c:v>
                </c:pt>
              </c:numCache>
            </c:numRef>
          </c:yVal>
          <c:smooth val="0"/>
          <c:extLst>
            <c:ext xmlns:c16="http://schemas.microsoft.com/office/drawing/2014/chart" uri="{C3380CC4-5D6E-409C-BE32-E72D297353CC}">
              <c16:uniqueId val="{00000001-1431-4C34-8300-CCAC737AF24B}"/>
            </c:ext>
          </c:extLst>
        </c:ser>
        <c:dLbls>
          <c:showLegendKey val="0"/>
          <c:showVal val="0"/>
          <c:showCatName val="0"/>
          <c:showSerName val="0"/>
          <c:showPercent val="0"/>
          <c:showBubbleSize val="0"/>
        </c:dLbls>
        <c:axId val="-2128940872"/>
        <c:axId val="-2129643912"/>
      </c:scatterChart>
      <c:valAx>
        <c:axId val="-2128940872"/>
        <c:scaling>
          <c:orientation val="minMax"/>
          <c:max val="1"/>
          <c:min val="0"/>
        </c:scaling>
        <c:delete val="0"/>
        <c:axPos val="b"/>
        <c:numFmt formatCode="General" sourceLinked="1"/>
        <c:majorTickMark val="out"/>
        <c:minorTickMark val="none"/>
        <c:tickLblPos val="none"/>
        <c:spPr>
          <a:ln>
            <a:solidFill>
              <a:srgbClr val="7F7F7F"/>
            </a:solidFill>
          </a:ln>
        </c:spPr>
        <c:crossAx val="-2129643912"/>
        <c:crosses val="min"/>
        <c:crossBetween val="midCat"/>
        <c:majorUnit val="0.25"/>
      </c:valAx>
      <c:valAx>
        <c:axId val="-2129643912"/>
        <c:scaling>
          <c:orientation val="minMax"/>
          <c:max val="1.3"/>
          <c:min val="-0.2"/>
        </c:scaling>
        <c:delete val="0"/>
        <c:axPos val="l"/>
        <c:numFmt formatCode="General" sourceLinked="1"/>
        <c:majorTickMark val="out"/>
        <c:minorTickMark val="none"/>
        <c:tickLblPos val="none"/>
        <c:spPr>
          <a:ln>
            <a:solidFill>
              <a:srgbClr val="7F7F7F"/>
            </a:solidFill>
          </a:ln>
        </c:spPr>
        <c:crossAx val="-2128940872"/>
        <c:crosses val="min"/>
        <c:crossBetween val="midCat"/>
        <c:majorUnit val="0.25"/>
      </c:valAx>
    </c:plotArea>
    <c:plotVisOnly val="1"/>
    <c:dispBlanksAs val="gap"/>
    <c:showDLblsOverMax val="0"/>
  </c:chart>
  <c:txPr>
    <a:bodyPr/>
    <a:lstStyle/>
    <a:p>
      <a:pPr>
        <a:defRPr sz="1400">
          <a:solidFill>
            <a:srgbClr val="000000"/>
          </a:solidFill>
          <a:latin typeface="Open San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Model fit</c:v>
                </c:pt>
              </c:strCache>
            </c:strRef>
          </c:tx>
          <c:spPr>
            <a:ln w="44450">
              <a:solidFill>
                <a:schemeClr val="accent4"/>
              </a:solidFill>
            </a:ln>
          </c:spPr>
          <c:marker>
            <c:symbol val="none"/>
          </c:marker>
          <c:xVal>
            <c:numRef>
              <c:f>Sheet1!$A$2:$A$91</c:f>
              <c:numCache>
                <c:formatCode>General</c:formatCode>
                <c:ptCount val="90"/>
                <c:pt idx="0">
                  <c:v>0</c:v>
                </c:pt>
                <c:pt idx="1">
                  <c:v>1.0999999999999999E-2</c:v>
                </c:pt>
                <c:pt idx="2">
                  <c:v>2.1999999999999999E-2</c:v>
                </c:pt>
                <c:pt idx="3">
                  <c:v>3.4000000000000002E-2</c:v>
                </c:pt>
                <c:pt idx="4">
                  <c:v>4.4999999999999998E-2</c:v>
                </c:pt>
                <c:pt idx="5">
                  <c:v>5.6000000000000001E-2</c:v>
                </c:pt>
                <c:pt idx="6">
                  <c:v>6.7000000000000004E-2</c:v>
                </c:pt>
                <c:pt idx="7">
                  <c:v>7.9000000000000001E-2</c:v>
                </c:pt>
                <c:pt idx="8">
                  <c:v>0.09</c:v>
                </c:pt>
                <c:pt idx="9">
                  <c:v>0.10100000000000001</c:v>
                </c:pt>
                <c:pt idx="10">
                  <c:v>0.112</c:v>
                </c:pt>
                <c:pt idx="11">
                  <c:v>0.124</c:v>
                </c:pt>
                <c:pt idx="12">
                  <c:v>0.13500000000000001</c:v>
                </c:pt>
                <c:pt idx="13">
                  <c:v>0.14599999999999999</c:v>
                </c:pt>
                <c:pt idx="14">
                  <c:v>0.157</c:v>
                </c:pt>
                <c:pt idx="15">
                  <c:v>0.16900000000000001</c:v>
                </c:pt>
                <c:pt idx="16">
                  <c:v>0.18</c:v>
                </c:pt>
                <c:pt idx="17">
                  <c:v>0.191</c:v>
                </c:pt>
                <c:pt idx="18">
                  <c:v>0.20200000000000001</c:v>
                </c:pt>
                <c:pt idx="19">
                  <c:v>0.21299999999999999</c:v>
                </c:pt>
                <c:pt idx="20">
                  <c:v>0.22500000000000001</c:v>
                </c:pt>
                <c:pt idx="21">
                  <c:v>0.23599999999999999</c:v>
                </c:pt>
                <c:pt idx="22">
                  <c:v>0.247</c:v>
                </c:pt>
                <c:pt idx="23">
                  <c:v>0.25800000000000001</c:v>
                </c:pt>
                <c:pt idx="24">
                  <c:v>0.27</c:v>
                </c:pt>
                <c:pt idx="25">
                  <c:v>0.28100000000000003</c:v>
                </c:pt>
                <c:pt idx="26">
                  <c:v>0.29199999999999998</c:v>
                </c:pt>
                <c:pt idx="27">
                  <c:v>0.30299999999999999</c:v>
                </c:pt>
                <c:pt idx="28">
                  <c:v>0.315</c:v>
                </c:pt>
                <c:pt idx="29">
                  <c:v>0.32600000000000001</c:v>
                </c:pt>
                <c:pt idx="30">
                  <c:v>0.33700000000000002</c:v>
                </c:pt>
                <c:pt idx="31">
                  <c:v>0.34799999999999998</c:v>
                </c:pt>
                <c:pt idx="32">
                  <c:v>0.36</c:v>
                </c:pt>
                <c:pt idx="33">
                  <c:v>0.371</c:v>
                </c:pt>
                <c:pt idx="34">
                  <c:v>0.38200000000000001</c:v>
                </c:pt>
                <c:pt idx="35">
                  <c:v>0.39300000000000002</c:v>
                </c:pt>
                <c:pt idx="36">
                  <c:v>0.40400000000000003</c:v>
                </c:pt>
                <c:pt idx="37">
                  <c:v>0.41599999999999998</c:v>
                </c:pt>
                <c:pt idx="38">
                  <c:v>0.42699999999999999</c:v>
                </c:pt>
                <c:pt idx="39">
                  <c:v>0.438</c:v>
                </c:pt>
                <c:pt idx="40">
                  <c:v>0.44900000000000001</c:v>
                </c:pt>
                <c:pt idx="41">
                  <c:v>0.46100000000000002</c:v>
                </c:pt>
                <c:pt idx="42">
                  <c:v>0.47199999999999998</c:v>
                </c:pt>
                <c:pt idx="43">
                  <c:v>0.48299999999999998</c:v>
                </c:pt>
                <c:pt idx="44">
                  <c:v>0.49399999999999999</c:v>
                </c:pt>
                <c:pt idx="45">
                  <c:v>0.50600000000000001</c:v>
                </c:pt>
                <c:pt idx="46">
                  <c:v>0.51700000000000002</c:v>
                </c:pt>
                <c:pt idx="47">
                  <c:v>0.52800000000000002</c:v>
                </c:pt>
                <c:pt idx="48">
                  <c:v>0.53900000000000003</c:v>
                </c:pt>
                <c:pt idx="49">
                  <c:v>0.55100000000000005</c:v>
                </c:pt>
                <c:pt idx="50">
                  <c:v>0.56200000000000006</c:v>
                </c:pt>
                <c:pt idx="51">
                  <c:v>0.57299999999999995</c:v>
                </c:pt>
                <c:pt idx="52">
                  <c:v>0.58399999999999996</c:v>
                </c:pt>
                <c:pt idx="53">
                  <c:v>0.59599999999999997</c:v>
                </c:pt>
                <c:pt idx="54">
                  <c:v>0.60699999999999998</c:v>
                </c:pt>
                <c:pt idx="55">
                  <c:v>0.61799999999999999</c:v>
                </c:pt>
                <c:pt idx="56">
                  <c:v>0.629</c:v>
                </c:pt>
                <c:pt idx="57">
                  <c:v>0.64</c:v>
                </c:pt>
                <c:pt idx="58">
                  <c:v>0.65200000000000002</c:v>
                </c:pt>
                <c:pt idx="59">
                  <c:v>0.66300000000000003</c:v>
                </c:pt>
                <c:pt idx="60">
                  <c:v>0.67400000000000004</c:v>
                </c:pt>
                <c:pt idx="61">
                  <c:v>0.68500000000000005</c:v>
                </c:pt>
                <c:pt idx="62">
                  <c:v>0.69699999999999995</c:v>
                </c:pt>
                <c:pt idx="63">
                  <c:v>0.70799999999999996</c:v>
                </c:pt>
                <c:pt idx="64">
                  <c:v>0.71899999999999997</c:v>
                </c:pt>
                <c:pt idx="65">
                  <c:v>0.73</c:v>
                </c:pt>
                <c:pt idx="66">
                  <c:v>0.74199999999999999</c:v>
                </c:pt>
                <c:pt idx="67">
                  <c:v>0.753</c:v>
                </c:pt>
                <c:pt idx="68">
                  <c:v>0.76400000000000001</c:v>
                </c:pt>
                <c:pt idx="69">
                  <c:v>0.77500000000000002</c:v>
                </c:pt>
                <c:pt idx="70">
                  <c:v>0.78700000000000003</c:v>
                </c:pt>
                <c:pt idx="71">
                  <c:v>0.79800000000000004</c:v>
                </c:pt>
                <c:pt idx="72">
                  <c:v>0.80900000000000005</c:v>
                </c:pt>
                <c:pt idx="73">
                  <c:v>0.82</c:v>
                </c:pt>
                <c:pt idx="74">
                  <c:v>0.83099999999999996</c:v>
                </c:pt>
                <c:pt idx="75">
                  <c:v>0.84299999999999997</c:v>
                </c:pt>
                <c:pt idx="76">
                  <c:v>0.85399999999999998</c:v>
                </c:pt>
                <c:pt idx="77">
                  <c:v>0.86499999999999999</c:v>
                </c:pt>
                <c:pt idx="78">
                  <c:v>0.876</c:v>
                </c:pt>
                <c:pt idx="79">
                  <c:v>0.88800000000000001</c:v>
                </c:pt>
                <c:pt idx="80">
                  <c:v>0.89900000000000002</c:v>
                </c:pt>
                <c:pt idx="81">
                  <c:v>0.91</c:v>
                </c:pt>
                <c:pt idx="82">
                  <c:v>0.92100000000000004</c:v>
                </c:pt>
                <c:pt idx="83">
                  <c:v>0.93300000000000005</c:v>
                </c:pt>
                <c:pt idx="84">
                  <c:v>0.94399999999999995</c:v>
                </c:pt>
                <c:pt idx="85">
                  <c:v>0.95499999999999996</c:v>
                </c:pt>
                <c:pt idx="86">
                  <c:v>0.96599999999999997</c:v>
                </c:pt>
                <c:pt idx="87">
                  <c:v>0.97799999999999998</c:v>
                </c:pt>
                <c:pt idx="88">
                  <c:v>0.98899999999999999</c:v>
                </c:pt>
                <c:pt idx="89">
                  <c:v>1</c:v>
                </c:pt>
              </c:numCache>
            </c:numRef>
          </c:xVal>
          <c:yVal>
            <c:numRef>
              <c:f>Sheet1!$B$2:$B$91</c:f>
              <c:numCache>
                <c:formatCode>General</c:formatCode>
                <c:ptCount val="90"/>
                <c:pt idx="0">
                  <c:v>0.35865924807621746</c:v>
                </c:pt>
                <c:pt idx="1">
                  <c:v>0.41246616584863571</c:v>
                </c:pt>
                <c:pt idx="2">
                  <c:v>0.46294501823780199</c:v>
                </c:pt>
                <c:pt idx="3">
                  <c:v>0.51430309246394745</c:v>
                </c:pt>
                <c:pt idx="4">
                  <c:v>0.55805943289000559</c:v>
                </c:pt>
                <c:pt idx="5">
                  <c:v>0.59871360986503852</c:v>
                </c:pt>
                <c:pt idx="6">
                  <c:v>0.63633870930829595</c:v>
                </c:pt>
                <c:pt idx="7">
                  <c:v>0.67401550200257176</c:v>
                </c:pt>
                <c:pt idx="8">
                  <c:v>0.70554324589944484</c:v>
                </c:pt>
                <c:pt idx="9">
                  <c:v>0.7342678141967689</c:v>
                </c:pt>
                <c:pt idx="10">
                  <c:v>0.76026229281379387</c:v>
                </c:pt>
                <c:pt idx="11">
                  <c:v>0.78559212992493843</c:v>
                </c:pt>
                <c:pt idx="12">
                  <c:v>0.8061144094123025</c:v>
                </c:pt>
                <c:pt idx="13">
                  <c:v>0.8241325011515942</c:v>
                </c:pt>
                <c:pt idx="14">
                  <c:v>0.83971949106206356</c:v>
                </c:pt>
                <c:pt idx="15">
                  <c:v>0.85403669853881459</c:v>
                </c:pt>
                <c:pt idx="16">
                  <c:v>0.86477664573634638</c:v>
                </c:pt>
                <c:pt idx="17">
                  <c:v>0.87331139303728245</c:v>
                </c:pt>
                <c:pt idx="18">
                  <c:v>0.87971402636087248</c:v>
                </c:pt>
                <c:pt idx="19">
                  <c:v>0.88405763162636619</c:v>
                </c:pt>
                <c:pt idx="20">
                  <c:v>0.88653367717934439</c:v>
                </c:pt>
                <c:pt idx="21">
                  <c:v>0.88680821216160099</c:v>
                </c:pt>
                <c:pt idx="22">
                  <c:v>0.88524962101798832</c:v>
                </c:pt>
                <c:pt idx="23">
                  <c:v>0.88193098966775607</c:v>
                </c:pt>
                <c:pt idx="24">
                  <c:v>0.87638922604906333</c:v>
                </c:pt>
                <c:pt idx="25">
                  <c:v>0.86962668083231764</c:v>
                </c:pt>
                <c:pt idx="26">
                  <c:v>0.86132999734117877</c:v>
                </c:pt>
                <c:pt idx="27">
                  <c:v>0.85157226149489662</c:v>
                </c:pt>
                <c:pt idx="28">
                  <c:v>0.83934701465327199</c:v>
                </c:pt>
                <c:pt idx="29">
                  <c:v>0.82677052135719986</c:v>
                </c:pt>
                <c:pt idx="30">
                  <c:v>0.81295887763821129</c:v>
                </c:pt>
                <c:pt idx="31">
                  <c:v>0.79798516941555597</c:v>
                </c:pt>
                <c:pt idx="32">
                  <c:v>0.78041076529973696</c:v>
                </c:pt>
                <c:pt idx="33">
                  <c:v>0.76324345604401556</c:v>
                </c:pt>
                <c:pt idx="34">
                  <c:v>0.74513998421685357</c:v>
                </c:pt>
                <c:pt idx="35">
                  <c:v>0.72617343573750182</c:v>
                </c:pt>
                <c:pt idx="36">
                  <c:v>0.70641689652520923</c:v>
                </c:pt>
                <c:pt idx="37">
                  <c:v>0.68404920720053175</c:v>
                </c:pt>
                <c:pt idx="38">
                  <c:v>0.66287703938487352</c:v>
                </c:pt>
                <c:pt idx="39">
                  <c:v>0.64114078276850162</c:v>
                </c:pt>
                <c:pt idx="40">
                  <c:v>0.61891352327066484</c:v>
                </c:pt>
                <c:pt idx="41">
                  <c:v>0.59419149713451658</c:v>
                </c:pt>
                <c:pt idx="42">
                  <c:v>0.57117376545003862</c:v>
                </c:pt>
                <c:pt idx="43">
                  <c:v>0.5478909328163224</c:v>
                </c:pt>
                <c:pt idx="44">
                  <c:v>0.52441608515261962</c:v>
                </c:pt>
                <c:pt idx="45">
                  <c:v>0.49867404815373778</c:v>
                </c:pt>
                <c:pt idx="46">
                  <c:v>0.47503388472011521</c:v>
                </c:pt>
                <c:pt idx="47">
                  <c:v>0.45142760818873279</c:v>
                </c:pt>
                <c:pt idx="48">
                  <c:v>0.42792830447883889</c:v>
                </c:pt>
                <c:pt idx="49">
                  <c:v>0.40250058256596222</c:v>
                </c:pt>
                <c:pt idx="50">
                  <c:v>0.37946111950287342</c:v>
                </c:pt>
                <c:pt idx="51">
                  <c:v>0.35675453119349981</c:v>
                </c:pt>
                <c:pt idx="52">
                  <c:v>0.33445390355709226</c:v>
                </c:pt>
                <c:pt idx="53">
                  <c:v>0.31067482267895885</c:v>
                </c:pt>
                <c:pt idx="54">
                  <c:v>0.28945919210607896</c:v>
                </c:pt>
                <c:pt idx="55">
                  <c:v>0.26887542413839172</c:v>
                </c:pt>
                <c:pt idx="56">
                  <c:v>0.24899660469514592</c:v>
                </c:pt>
                <c:pt idx="57">
                  <c:v>0.22989581969559247</c:v>
                </c:pt>
                <c:pt idx="58">
                  <c:v>0.21003182483750044</c:v>
                </c:pt>
                <c:pt idx="59">
                  <c:v>0.19279400933117499</c:v>
                </c:pt>
                <c:pt idx="60">
                  <c:v>0.17656013020076861</c:v>
                </c:pt>
                <c:pt idx="61">
                  <c:v>0.16140327336553051</c:v>
                </c:pt>
                <c:pt idx="62">
                  <c:v>0.14618274000490442</c:v>
                </c:pt>
                <c:pt idx="63">
                  <c:v>0.13351400907961908</c:v>
                </c:pt>
                <c:pt idx="64">
                  <c:v>0.12214820238172744</c:v>
                </c:pt>
                <c:pt idx="65">
                  <c:v>0.11215840583048181</c:v>
                </c:pt>
                <c:pt idx="66">
                  <c:v>0.10291565991605961</c:v>
                </c:pt>
                <c:pt idx="67">
                  <c:v>9.6039145691489025E-2</c:v>
                </c:pt>
                <c:pt idx="68">
                  <c:v>9.0764543545789889E-2</c:v>
                </c:pt>
                <c:pt idx="69">
                  <c:v>8.7164939398212682E-2</c:v>
                </c:pt>
                <c:pt idx="70">
                  <c:v>8.5234306878732402E-2</c:v>
                </c:pt>
                <c:pt idx="71">
                  <c:v>8.5373141474554382E-2</c:v>
                </c:pt>
                <c:pt idx="72">
                  <c:v>8.7412876000724393E-2</c:v>
                </c:pt>
                <c:pt idx="73">
                  <c:v>9.1426596376492086E-2</c:v>
                </c:pt>
                <c:pt idx="74">
                  <c:v>9.748738852110661E-2</c:v>
                </c:pt>
                <c:pt idx="75">
                  <c:v>0.10651971873658295</c:v>
                </c:pt>
                <c:pt idx="76">
                  <c:v>0.11709692205429784</c:v>
                </c:pt>
                <c:pt idx="77">
                  <c:v>0.12994709907308696</c:v>
                </c:pt>
                <c:pt idx="78">
                  <c:v>0.14514333571220014</c:v>
                </c:pt>
                <c:pt idx="79">
                  <c:v>0.16448259978534152</c:v>
                </c:pt>
                <c:pt idx="80">
                  <c:v>0.18482040401427705</c:v>
                </c:pt>
                <c:pt idx="81">
                  <c:v>0.20773016979576411</c:v>
                </c:pt>
                <c:pt idx="82">
                  <c:v>0.23328498304905249</c:v>
                </c:pt>
                <c:pt idx="83">
                  <c:v>0.26426550692859774</c:v>
                </c:pt>
                <c:pt idx="84">
                  <c:v>0.29558704418843207</c:v>
                </c:pt>
                <c:pt idx="85">
                  <c:v>0.32977953085229356</c:v>
                </c:pt>
                <c:pt idx="86">
                  <c:v>0.3669160528394329</c:v>
                </c:pt>
                <c:pt idx="87">
                  <c:v>0.4108721624741184</c:v>
                </c:pt>
                <c:pt idx="88">
                  <c:v>0.45440056488452801</c:v>
                </c:pt>
                <c:pt idx="89">
                  <c:v>0.50109890455044126</c:v>
                </c:pt>
              </c:numCache>
            </c:numRef>
          </c:yVal>
          <c:smooth val="0"/>
          <c:extLst>
            <c:ext xmlns:c16="http://schemas.microsoft.com/office/drawing/2014/chart" uri="{C3380CC4-5D6E-409C-BE32-E72D297353CC}">
              <c16:uniqueId val="{00000000-9DC8-480C-AFC8-CE8D8920FE1B}"/>
            </c:ext>
          </c:extLst>
        </c:ser>
        <c:ser>
          <c:idx val="1"/>
          <c:order val="1"/>
          <c:tx>
            <c:strRef>
              <c:f>Sheet1!$B$93</c:f>
              <c:strCache>
                <c:ptCount val="1"/>
                <c:pt idx="0">
                  <c:v>Training data</c:v>
                </c:pt>
              </c:strCache>
            </c:strRef>
          </c:tx>
          <c:spPr>
            <a:ln>
              <a:noFill/>
            </a:ln>
          </c:spPr>
          <c:marker>
            <c:symbol val="circle"/>
            <c:size val="9"/>
            <c:spPr>
              <a:solidFill>
                <a:schemeClr val="accent3"/>
              </a:solidFill>
              <a:ln>
                <a:solidFill>
                  <a:schemeClr val="accent3"/>
                </a:solidFill>
              </a:ln>
            </c:spPr>
          </c:marker>
          <c:xVal>
            <c:numRef>
              <c:f>Sheet1!$A$94:$A$103</c:f>
              <c:numCache>
                <c:formatCode>General</c:formatCode>
                <c:ptCount val="10"/>
                <c:pt idx="0">
                  <c:v>0.04</c:v>
                </c:pt>
                <c:pt idx="1">
                  <c:v>0.14222222222222222</c:v>
                </c:pt>
                <c:pt idx="2">
                  <c:v>0.24444444444444444</c:v>
                </c:pt>
                <c:pt idx="3">
                  <c:v>0.34666666666666662</c:v>
                </c:pt>
                <c:pt idx="4">
                  <c:v>0.44888888888888884</c:v>
                </c:pt>
                <c:pt idx="5">
                  <c:v>0.55111111111111111</c:v>
                </c:pt>
                <c:pt idx="6">
                  <c:v>0.65333333333333332</c:v>
                </c:pt>
                <c:pt idx="7">
                  <c:v>0.75555555555555554</c:v>
                </c:pt>
                <c:pt idx="8">
                  <c:v>0.85777777777777775</c:v>
                </c:pt>
                <c:pt idx="9">
                  <c:v>0.96</c:v>
                </c:pt>
              </c:numCache>
            </c:numRef>
          </c:xVal>
          <c:yVal>
            <c:numRef>
              <c:f>Sheet1!$B$94:$B$103</c:f>
              <c:numCache>
                <c:formatCode>General</c:formatCode>
                <c:ptCount val="10"/>
                <c:pt idx="0">
                  <c:v>0.54771598013798939</c:v>
                </c:pt>
                <c:pt idx="1">
                  <c:v>0.75574624747683672</c:v>
                </c:pt>
                <c:pt idx="2">
                  <c:v>0.90697926238135662</c:v>
                </c:pt>
                <c:pt idx="3">
                  <c:v>0.94118219512752854</c:v>
                </c:pt>
                <c:pt idx="4">
                  <c:v>0.59710891884621164</c:v>
                </c:pt>
                <c:pt idx="5">
                  <c:v>0.27459244711270026</c:v>
                </c:pt>
                <c:pt idx="6">
                  <c:v>9.9654156795558738E-2</c:v>
                </c:pt>
                <c:pt idx="7">
                  <c:v>0.26021426928239166</c:v>
                </c:pt>
                <c:pt idx="8">
                  <c:v>0.15672792648545611</c:v>
                </c:pt>
                <c:pt idx="9">
                  <c:v>0.29399778935741522</c:v>
                </c:pt>
              </c:numCache>
            </c:numRef>
          </c:yVal>
          <c:smooth val="0"/>
          <c:extLst>
            <c:ext xmlns:c16="http://schemas.microsoft.com/office/drawing/2014/chart" uri="{C3380CC4-5D6E-409C-BE32-E72D297353CC}">
              <c16:uniqueId val="{00000001-9DC8-480C-AFC8-CE8D8920FE1B}"/>
            </c:ext>
          </c:extLst>
        </c:ser>
        <c:dLbls>
          <c:showLegendKey val="0"/>
          <c:showVal val="0"/>
          <c:showCatName val="0"/>
          <c:showSerName val="0"/>
          <c:showPercent val="0"/>
          <c:showBubbleSize val="0"/>
        </c:dLbls>
        <c:axId val="-2128940872"/>
        <c:axId val="-2129643912"/>
      </c:scatterChart>
      <c:valAx>
        <c:axId val="-2128940872"/>
        <c:scaling>
          <c:orientation val="minMax"/>
          <c:max val="1"/>
          <c:min val="0"/>
        </c:scaling>
        <c:delete val="0"/>
        <c:axPos val="b"/>
        <c:numFmt formatCode="General" sourceLinked="1"/>
        <c:majorTickMark val="out"/>
        <c:minorTickMark val="none"/>
        <c:tickLblPos val="none"/>
        <c:spPr>
          <a:ln>
            <a:solidFill>
              <a:srgbClr val="7F7F7F"/>
            </a:solidFill>
          </a:ln>
        </c:spPr>
        <c:crossAx val="-2129643912"/>
        <c:crosses val="min"/>
        <c:crossBetween val="midCat"/>
        <c:majorUnit val="0.25"/>
      </c:valAx>
      <c:valAx>
        <c:axId val="-2129643912"/>
        <c:scaling>
          <c:orientation val="minMax"/>
          <c:max val="1.3"/>
          <c:min val="-0.2"/>
        </c:scaling>
        <c:delete val="0"/>
        <c:axPos val="l"/>
        <c:numFmt formatCode="General" sourceLinked="1"/>
        <c:majorTickMark val="out"/>
        <c:minorTickMark val="none"/>
        <c:tickLblPos val="none"/>
        <c:spPr>
          <a:ln>
            <a:solidFill>
              <a:srgbClr val="7F7F7F"/>
            </a:solidFill>
          </a:ln>
        </c:spPr>
        <c:crossAx val="-2128940872"/>
        <c:crosses val="min"/>
        <c:crossBetween val="midCat"/>
        <c:majorUnit val="0.25"/>
      </c:valAx>
    </c:plotArea>
    <c:plotVisOnly val="1"/>
    <c:dispBlanksAs val="gap"/>
    <c:showDLblsOverMax val="0"/>
  </c:chart>
  <c:txPr>
    <a:bodyPr/>
    <a:lstStyle/>
    <a:p>
      <a:pPr>
        <a:defRPr sz="1400">
          <a:solidFill>
            <a:srgbClr val="000000"/>
          </a:solidFill>
          <a:latin typeface="Open San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Model fit</c:v>
                </c:pt>
              </c:strCache>
            </c:strRef>
          </c:tx>
          <c:spPr>
            <a:ln w="44450">
              <a:solidFill>
                <a:schemeClr val="accent1"/>
              </a:solidFill>
            </a:ln>
          </c:spPr>
          <c:marker>
            <c:symbol val="none"/>
          </c:marker>
          <c:xVal>
            <c:numRef>
              <c:f>Sheet1!$A$2:$A$91</c:f>
              <c:numCache>
                <c:formatCode>General</c:formatCode>
                <c:ptCount val="90"/>
                <c:pt idx="0">
                  <c:v>0</c:v>
                </c:pt>
                <c:pt idx="1">
                  <c:v>1.0999999999999999E-2</c:v>
                </c:pt>
                <c:pt idx="2">
                  <c:v>2.1999999999999999E-2</c:v>
                </c:pt>
                <c:pt idx="3">
                  <c:v>3.4000000000000002E-2</c:v>
                </c:pt>
                <c:pt idx="4">
                  <c:v>4.4999999999999998E-2</c:v>
                </c:pt>
                <c:pt idx="5">
                  <c:v>5.6000000000000001E-2</c:v>
                </c:pt>
                <c:pt idx="6">
                  <c:v>6.7000000000000004E-2</c:v>
                </c:pt>
                <c:pt idx="7">
                  <c:v>7.9000000000000001E-2</c:v>
                </c:pt>
                <c:pt idx="8">
                  <c:v>0.09</c:v>
                </c:pt>
                <c:pt idx="9">
                  <c:v>0.10100000000000001</c:v>
                </c:pt>
                <c:pt idx="10">
                  <c:v>0.112</c:v>
                </c:pt>
                <c:pt idx="11">
                  <c:v>0.124</c:v>
                </c:pt>
                <c:pt idx="12">
                  <c:v>0.13500000000000001</c:v>
                </c:pt>
                <c:pt idx="13">
                  <c:v>0.14599999999999999</c:v>
                </c:pt>
                <c:pt idx="14">
                  <c:v>0.157</c:v>
                </c:pt>
                <c:pt idx="15">
                  <c:v>0.16900000000000001</c:v>
                </c:pt>
                <c:pt idx="16">
                  <c:v>0.18</c:v>
                </c:pt>
                <c:pt idx="17">
                  <c:v>0.191</c:v>
                </c:pt>
                <c:pt idx="18">
                  <c:v>0.20200000000000001</c:v>
                </c:pt>
                <c:pt idx="19">
                  <c:v>0.21299999999999999</c:v>
                </c:pt>
                <c:pt idx="20">
                  <c:v>0.22500000000000001</c:v>
                </c:pt>
                <c:pt idx="21">
                  <c:v>0.23599999999999999</c:v>
                </c:pt>
                <c:pt idx="22">
                  <c:v>0.247</c:v>
                </c:pt>
                <c:pt idx="23">
                  <c:v>0.25800000000000001</c:v>
                </c:pt>
                <c:pt idx="24">
                  <c:v>0.27</c:v>
                </c:pt>
                <c:pt idx="25">
                  <c:v>0.28100000000000003</c:v>
                </c:pt>
                <c:pt idx="26">
                  <c:v>0.29199999999999998</c:v>
                </c:pt>
                <c:pt idx="27">
                  <c:v>0.30299999999999999</c:v>
                </c:pt>
                <c:pt idx="28">
                  <c:v>0.315</c:v>
                </c:pt>
                <c:pt idx="29">
                  <c:v>0.32600000000000001</c:v>
                </c:pt>
                <c:pt idx="30">
                  <c:v>0.33700000000000002</c:v>
                </c:pt>
                <c:pt idx="31">
                  <c:v>0.34799999999999998</c:v>
                </c:pt>
                <c:pt idx="32">
                  <c:v>0.36</c:v>
                </c:pt>
                <c:pt idx="33">
                  <c:v>0.371</c:v>
                </c:pt>
                <c:pt idx="34">
                  <c:v>0.38200000000000001</c:v>
                </c:pt>
                <c:pt idx="35">
                  <c:v>0.39300000000000002</c:v>
                </c:pt>
                <c:pt idx="36">
                  <c:v>0.40400000000000003</c:v>
                </c:pt>
                <c:pt idx="37">
                  <c:v>0.41599999999999998</c:v>
                </c:pt>
                <c:pt idx="38">
                  <c:v>0.42699999999999999</c:v>
                </c:pt>
                <c:pt idx="39">
                  <c:v>0.438</c:v>
                </c:pt>
                <c:pt idx="40">
                  <c:v>0.44900000000000001</c:v>
                </c:pt>
                <c:pt idx="41">
                  <c:v>0.46100000000000002</c:v>
                </c:pt>
                <c:pt idx="42">
                  <c:v>0.47199999999999998</c:v>
                </c:pt>
                <c:pt idx="43">
                  <c:v>0.48299999999999998</c:v>
                </c:pt>
                <c:pt idx="44">
                  <c:v>0.49399999999999999</c:v>
                </c:pt>
                <c:pt idx="45">
                  <c:v>0.50600000000000001</c:v>
                </c:pt>
                <c:pt idx="46">
                  <c:v>0.51700000000000002</c:v>
                </c:pt>
                <c:pt idx="47">
                  <c:v>0.52800000000000002</c:v>
                </c:pt>
                <c:pt idx="48">
                  <c:v>0.53900000000000003</c:v>
                </c:pt>
                <c:pt idx="49">
                  <c:v>0.55100000000000005</c:v>
                </c:pt>
                <c:pt idx="50">
                  <c:v>0.56200000000000006</c:v>
                </c:pt>
                <c:pt idx="51">
                  <c:v>0.57299999999999995</c:v>
                </c:pt>
                <c:pt idx="52">
                  <c:v>0.58399999999999996</c:v>
                </c:pt>
                <c:pt idx="53">
                  <c:v>0.59599999999999997</c:v>
                </c:pt>
                <c:pt idx="54">
                  <c:v>0.60699999999999998</c:v>
                </c:pt>
                <c:pt idx="55">
                  <c:v>0.61799999999999999</c:v>
                </c:pt>
                <c:pt idx="56">
                  <c:v>0.629</c:v>
                </c:pt>
                <c:pt idx="57">
                  <c:v>0.64</c:v>
                </c:pt>
                <c:pt idx="58">
                  <c:v>0.65200000000000002</c:v>
                </c:pt>
                <c:pt idx="59">
                  <c:v>0.66300000000000003</c:v>
                </c:pt>
                <c:pt idx="60">
                  <c:v>0.67400000000000004</c:v>
                </c:pt>
                <c:pt idx="61">
                  <c:v>0.68500000000000005</c:v>
                </c:pt>
                <c:pt idx="62">
                  <c:v>0.69699999999999995</c:v>
                </c:pt>
                <c:pt idx="63">
                  <c:v>0.70799999999999996</c:v>
                </c:pt>
                <c:pt idx="64">
                  <c:v>0.71899999999999997</c:v>
                </c:pt>
                <c:pt idx="65">
                  <c:v>0.73</c:v>
                </c:pt>
                <c:pt idx="66">
                  <c:v>0.74199999999999999</c:v>
                </c:pt>
                <c:pt idx="67">
                  <c:v>0.753</c:v>
                </c:pt>
                <c:pt idx="68">
                  <c:v>0.76400000000000001</c:v>
                </c:pt>
                <c:pt idx="69">
                  <c:v>0.77500000000000002</c:v>
                </c:pt>
                <c:pt idx="70">
                  <c:v>0.78700000000000003</c:v>
                </c:pt>
                <c:pt idx="71">
                  <c:v>0.79800000000000004</c:v>
                </c:pt>
                <c:pt idx="72">
                  <c:v>0.80900000000000005</c:v>
                </c:pt>
                <c:pt idx="73">
                  <c:v>0.82</c:v>
                </c:pt>
                <c:pt idx="74">
                  <c:v>0.83099999999999996</c:v>
                </c:pt>
                <c:pt idx="75">
                  <c:v>0.84299999999999997</c:v>
                </c:pt>
                <c:pt idx="76">
                  <c:v>0.85399999999999998</c:v>
                </c:pt>
                <c:pt idx="77">
                  <c:v>0.86499999999999999</c:v>
                </c:pt>
                <c:pt idx="78">
                  <c:v>0.876</c:v>
                </c:pt>
                <c:pt idx="79">
                  <c:v>0.88800000000000001</c:v>
                </c:pt>
                <c:pt idx="80">
                  <c:v>0.89900000000000002</c:v>
                </c:pt>
                <c:pt idx="81">
                  <c:v>0.91</c:v>
                </c:pt>
                <c:pt idx="82">
                  <c:v>0.92100000000000004</c:v>
                </c:pt>
                <c:pt idx="83">
                  <c:v>0.93300000000000005</c:v>
                </c:pt>
                <c:pt idx="84">
                  <c:v>0.94399999999999995</c:v>
                </c:pt>
                <c:pt idx="85">
                  <c:v>0.95499999999999996</c:v>
                </c:pt>
                <c:pt idx="86">
                  <c:v>0.96599999999999997</c:v>
                </c:pt>
                <c:pt idx="87">
                  <c:v>0.97799999999999998</c:v>
                </c:pt>
                <c:pt idx="88">
                  <c:v>0.98899999999999999</c:v>
                </c:pt>
                <c:pt idx="89">
                  <c:v>1</c:v>
                </c:pt>
              </c:numCache>
            </c:numRef>
          </c:xVal>
          <c:yVal>
            <c:numRef>
              <c:f>Sheet1!$B$2:$B$91</c:f>
              <c:numCache>
                <c:formatCode>General</c:formatCode>
                <c:ptCount val="90"/>
                <c:pt idx="0">
                  <c:v>0.14261681648910307</c:v>
                </c:pt>
                <c:pt idx="1">
                  <c:v>0.29627574545819124</c:v>
                </c:pt>
                <c:pt idx="2">
                  <c:v>0.41415784725752613</c:v>
                </c:pt>
                <c:pt idx="3">
                  <c:v>0.510096540443433</c:v>
                </c:pt>
                <c:pt idx="4">
                  <c:v>0.57451506837685984</c:v>
                </c:pt>
                <c:pt idx="5">
                  <c:v>0.62165187965294022</c:v>
                </c:pt>
                <c:pt idx="6">
                  <c:v>0.65577239705509716</c:v>
                </c:pt>
                <c:pt idx="7">
                  <c:v>0.68231543843700104</c:v>
                </c:pt>
                <c:pt idx="8">
                  <c:v>0.6999808714876925</c:v>
                </c:pt>
                <c:pt idx="9">
                  <c:v>0.71366653112853384</c:v>
                </c:pt>
                <c:pt idx="10">
                  <c:v>0.72518992804352067</c:v>
                </c:pt>
                <c:pt idx="11">
                  <c:v>0.73690750520635362</c:v>
                </c:pt>
                <c:pt idx="12">
                  <c:v>0.74792727108263168</c:v>
                </c:pt>
                <c:pt idx="13">
                  <c:v>0.75988445039488539</c:v>
                </c:pt>
                <c:pt idx="14">
                  <c:v>0.77314606485959902</c:v>
                </c:pt>
                <c:pt idx="15">
                  <c:v>0.78925322576647083</c:v>
                </c:pt>
                <c:pt idx="16">
                  <c:v>0.80545055112254782</c:v>
                </c:pt>
                <c:pt idx="17">
                  <c:v>0.82278872910824419</c:v>
                </c:pt>
                <c:pt idx="18">
                  <c:v>0.84092358886296348</c:v>
                </c:pt>
                <c:pt idx="19">
                  <c:v>0.85942319052022609</c:v>
                </c:pt>
                <c:pt idx="20">
                  <c:v>0.87944118078970168</c:v>
                </c:pt>
                <c:pt idx="21">
                  <c:v>0.89707185691085534</c:v>
                </c:pt>
                <c:pt idx="22">
                  <c:v>0.91345678897909854</c:v>
                </c:pt>
                <c:pt idx="23">
                  <c:v>0.92806154319311041</c:v>
                </c:pt>
                <c:pt idx="24">
                  <c:v>0.94136451412240152</c:v>
                </c:pt>
                <c:pt idx="25">
                  <c:v>0.95064137373250157</c:v>
                </c:pt>
                <c:pt idx="26">
                  <c:v>0.95669525035302161</c:v>
                </c:pt>
                <c:pt idx="27">
                  <c:v>0.95916769754493325</c:v>
                </c:pt>
                <c:pt idx="28">
                  <c:v>0.95744014328046245</c:v>
                </c:pt>
                <c:pt idx="29">
                  <c:v>0.95156901807161609</c:v>
                </c:pt>
                <c:pt idx="30">
                  <c:v>0.94145598133132846</c:v>
                </c:pt>
                <c:pt idx="31">
                  <c:v>0.92704455471059966</c:v>
                </c:pt>
                <c:pt idx="32">
                  <c:v>0.90644880595923238</c:v>
                </c:pt>
                <c:pt idx="33">
                  <c:v>0.88321227177376482</c:v>
                </c:pt>
                <c:pt idx="34">
                  <c:v>0.85599277929033135</c:v>
                </c:pt>
                <c:pt idx="35">
                  <c:v>0.82504185442030897</c:v>
                </c:pt>
                <c:pt idx="36">
                  <c:v>0.7906765871833904</c:v>
                </c:pt>
                <c:pt idx="37">
                  <c:v>0.74973720182508585</c:v>
                </c:pt>
                <c:pt idx="38">
                  <c:v>0.70951173582801874</c:v>
                </c:pt>
                <c:pt idx="39">
                  <c:v>0.66719752727524795</c:v>
                </c:pt>
                <c:pt idx="40">
                  <c:v>0.62330884487272642</c:v>
                </c:pt>
                <c:pt idx="41">
                  <c:v>0.5742714996785494</c:v>
                </c:pt>
                <c:pt idx="42">
                  <c:v>0.52886178183753874</c:v>
                </c:pt>
                <c:pt idx="43">
                  <c:v>0.48359892925359022</c:v>
                </c:pt>
                <c:pt idx="44">
                  <c:v>0.43904975263124196</c:v>
                </c:pt>
                <c:pt idx="45">
                  <c:v>0.39191661863067823</c:v>
                </c:pt>
                <c:pt idx="46">
                  <c:v>0.35062917297990803</c:v>
                </c:pt>
                <c:pt idx="47">
                  <c:v>0.31169285896442928</c:v>
                </c:pt>
                <c:pt idx="48">
                  <c:v>0.27556807421444807</c:v>
                </c:pt>
                <c:pt idx="49">
                  <c:v>0.23984790976651282</c:v>
                </c:pt>
                <c:pt idx="50">
                  <c:v>0.21086481607381191</c:v>
                </c:pt>
                <c:pt idx="51">
                  <c:v>0.185773258167723</c:v>
                </c:pt>
                <c:pt idx="52">
                  <c:v>0.16478650315769305</c:v>
                </c:pt>
                <c:pt idx="53">
                  <c:v>0.14673165699024468</c:v>
                </c:pt>
                <c:pt idx="54">
                  <c:v>0.13467333691988212</c:v>
                </c:pt>
                <c:pt idx="55">
                  <c:v>0.1268754960772599</c:v>
                </c:pt>
                <c:pt idx="56">
                  <c:v>0.12321434724354559</c:v>
                </c:pt>
                <c:pt idx="57">
                  <c:v>0.12347881963639661</c:v>
                </c:pt>
                <c:pt idx="58">
                  <c:v>0.12789279007759755</c:v>
                </c:pt>
                <c:pt idx="59">
                  <c:v>0.13530613796537888</c:v>
                </c:pt>
                <c:pt idx="60">
                  <c:v>0.14546053961887587</c:v>
                </c:pt>
                <c:pt idx="61">
                  <c:v>0.15781607075995724</c:v>
                </c:pt>
                <c:pt idx="62">
                  <c:v>0.17309391111236597</c:v>
                </c:pt>
                <c:pt idx="63">
                  <c:v>0.18803709858614137</c:v>
                </c:pt>
                <c:pt idx="64">
                  <c:v>0.20315587708019403</c:v>
                </c:pt>
                <c:pt idx="65">
                  <c:v>0.21772408455032718</c:v>
                </c:pt>
                <c:pt idx="66">
                  <c:v>0.23212781183006254</c:v>
                </c:pt>
                <c:pt idx="67">
                  <c:v>0.24319308093537637</c:v>
                </c:pt>
                <c:pt idx="68">
                  <c:v>0.25151338604380669</c:v>
                </c:pt>
                <c:pt idx="69">
                  <c:v>0.25647536288577616</c:v>
                </c:pt>
                <c:pt idx="70">
                  <c:v>0.25745101901742085</c:v>
                </c:pt>
                <c:pt idx="71">
                  <c:v>0.25386120086492359</c:v>
                </c:pt>
                <c:pt idx="72">
                  <c:v>0.24575571671928631</c:v>
                </c:pt>
                <c:pt idx="73">
                  <c:v>0.23312201144883832</c:v>
                </c:pt>
                <c:pt idx="74">
                  <c:v>0.21619312918093786</c:v>
                </c:pt>
                <c:pt idx="75">
                  <c:v>0.19345169806915063</c:v>
                </c:pt>
                <c:pt idx="76">
                  <c:v>0.16963846600401722</c:v>
                </c:pt>
                <c:pt idx="77">
                  <c:v>0.14431485821438939</c:v>
                </c:pt>
                <c:pt idx="78">
                  <c:v>0.11923511440260076</c:v>
                </c:pt>
                <c:pt idx="79">
                  <c:v>9.4838633961263685E-2</c:v>
                </c:pt>
                <c:pt idx="80">
                  <c:v>7.8298329616090859E-2</c:v>
                </c:pt>
                <c:pt idx="81">
                  <c:v>7.0992243526277532E-2</c:v>
                </c:pt>
                <c:pt idx="82">
                  <c:v>7.7226504102896304E-2</c:v>
                </c:pt>
                <c:pt idx="83">
                  <c:v>0.10550947695607776</c:v>
                </c:pt>
                <c:pt idx="84">
                  <c:v>0.15765498398348268</c:v>
                </c:pt>
                <c:pt idx="85">
                  <c:v>0.24216738227313056</c:v>
                </c:pt>
                <c:pt idx="86">
                  <c:v>0.36722998407837648</c:v>
                </c:pt>
                <c:pt idx="87">
                  <c:v>0.56095247568122253</c:v>
                </c:pt>
                <c:pt idx="88">
                  <c:v>0.80259559840667805</c:v>
                </c:pt>
                <c:pt idx="89">
                  <c:v>1.1180431986962158</c:v>
                </c:pt>
              </c:numCache>
            </c:numRef>
          </c:yVal>
          <c:smooth val="0"/>
          <c:extLst>
            <c:ext xmlns:c16="http://schemas.microsoft.com/office/drawing/2014/chart" uri="{C3380CC4-5D6E-409C-BE32-E72D297353CC}">
              <c16:uniqueId val="{00000000-B9D7-4B19-98F4-042877AA2C7D}"/>
            </c:ext>
          </c:extLst>
        </c:ser>
        <c:ser>
          <c:idx val="1"/>
          <c:order val="1"/>
          <c:tx>
            <c:strRef>
              <c:f>Sheet1!$B$93</c:f>
              <c:strCache>
                <c:ptCount val="1"/>
                <c:pt idx="0">
                  <c:v>Training data</c:v>
                </c:pt>
              </c:strCache>
            </c:strRef>
          </c:tx>
          <c:spPr>
            <a:ln>
              <a:noFill/>
            </a:ln>
          </c:spPr>
          <c:marker>
            <c:symbol val="circle"/>
            <c:size val="9"/>
            <c:spPr>
              <a:solidFill>
                <a:schemeClr val="accent3"/>
              </a:solidFill>
              <a:ln>
                <a:solidFill>
                  <a:schemeClr val="accent3"/>
                </a:solidFill>
              </a:ln>
            </c:spPr>
          </c:marker>
          <c:xVal>
            <c:numRef>
              <c:f>Sheet1!$A$94:$A$103</c:f>
              <c:numCache>
                <c:formatCode>General</c:formatCode>
                <c:ptCount val="10"/>
                <c:pt idx="0">
                  <c:v>0.04</c:v>
                </c:pt>
                <c:pt idx="1">
                  <c:v>0.14222222222222222</c:v>
                </c:pt>
                <c:pt idx="2">
                  <c:v>0.24444444444444444</c:v>
                </c:pt>
                <c:pt idx="3">
                  <c:v>0.34666666666666662</c:v>
                </c:pt>
                <c:pt idx="4">
                  <c:v>0.44888888888888884</c:v>
                </c:pt>
                <c:pt idx="5">
                  <c:v>0.55111111111111111</c:v>
                </c:pt>
                <c:pt idx="6">
                  <c:v>0.65333333333333332</c:v>
                </c:pt>
                <c:pt idx="7">
                  <c:v>0.75555555555555554</c:v>
                </c:pt>
                <c:pt idx="8">
                  <c:v>0.85777777777777775</c:v>
                </c:pt>
                <c:pt idx="9">
                  <c:v>0.96</c:v>
                </c:pt>
              </c:numCache>
            </c:numRef>
          </c:xVal>
          <c:yVal>
            <c:numRef>
              <c:f>Sheet1!$B$94:$B$103</c:f>
              <c:numCache>
                <c:formatCode>General</c:formatCode>
                <c:ptCount val="10"/>
                <c:pt idx="0">
                  <c:v>0.54771598013798939</c:v>
                </c:pt>
                <c:pt idx="1">
                  <c:v>0.75574624747683672</c:v>
                </c:pt>
                <c:pt idx="2">
                  <c:v>0.90697926238135662</c:v>
                </c:pt>
                <c:pt idx="3">
                  <c:v>0.94118219512752854</c:v>
                </c:pt>
                <c:pt idx="4">
                  <c:v>0.59710891884621164</c:v>
                </c:pt>
                <c:pt idx="5">
                  <c:v>0.27459244711270026</c:v>
                </c:pt>
                <c:pt idx="6">
                  <c:v>9.9654156795558738E-2</c:v>
                </c:pt>
                <c:pt idx="7">
                  <c:v>0.26021426928239166</c:v>
                </c:pt>
                <c:pt idx="8">
                  <c:v>0.15672792648545611</c:v>
                </c:pt>
                <c:pt idx="9">
                  <c:v>0.29399778935741522</c:v>
                </c:pt>
              </c:numCache>
            </c:numRef>
          </c:yVal>
          <c:smooth val="0"/>
          <c:extLst>
            <c:ext xmlns:c16="http://schemas.microsoft.com/office/drawing/2014/chart" uri="{C3380CC4-5D6E-409C-BE32-E72D297353CC}">
              <c16:uniqueId val="{00000001-B9D7-4B19-98F4-042877AA2C7D}"/>
            </c:ext>
          </c:extLst>
        </c:ser>
        <c:dLbls>
          <c:showLegendKey val="0"/>
          <c:showVal val="0"/>
          <c:showCatName val="0"/>
          <c:showSerName val="0"/>
          <c:showPercent val="0"/>
          <c:showBubbleSize val="0"/>
        </c:dLbls>
        <c:axId val="-2128940872"/>
        <c:axId val="-2129643912"/>
      </c:scatterChart>
      <c:valAx>
        <c:axId val="-2128940872"/>
        <c:scaling>
          <c:orientation val="minMax"/>
          <c:max val="1"/>
          <c:min val="0"/>
        </c:scaling>
        <c:delete val="0"/>
        <c:axPos val="b"/>
        <c:numFmt formatCode="General" sourceLinked="1"/>
        <c:majorTickMark val="out"/>
        <c:minorTickMark val="none"/>
        <c:tickLblPos val="none"/>
        <c:spPr>
          <a:ln>
            <a:solidFill>
              <a:srgbClr val="7F7F7F"/>
            </a:solidFill>
          </a:ln>
        </c:spPr>
        <c:crossAx val="-2129643912"/>
        <c:crosses val="min"/>
        <c:crossBetween val="midCat"/>
        <c:majorUnit val="0.25"/>
      </c:valAx>
      <c:valAx>
        <c:axId val="-2129643912"/>
        <c:scaling>
          <c:orientation val="minMax"/>
          <c:max val="1.3"/>
          <c:min val="-0.2"/>
        </c:scaling>
        <c:delete val="0"/>
        <c:axPos val="l"/>
        <c:numFmt formatCode="General" sourceLinked="1"/>
        <c:majorTickMark val="out"/>
        <c:minorTickMark val="none"/>
        <c:tickLblPos val="none"/>
        <c:spPr>
          <a:ln>
            <a:solidFill>
              <a:srgbClr val="7F7F7F"/>
            </a:solidFill>
          </a:ln>
        </c:spPr>
        <c:crossAx val="-2128940872"/>
        <c:crosses val="min"/>
        <c:crossBetween val="midCat"/>
        <c:majorUnit val="0.25"/>
      </c:valAx>
    </c:plotArea>
    <c:plotVisOnly val="1"/>
    <c:dispBlanksAs val="gap"/>
    <c:showDLblsOverMax val="0"/>
  </c:chart>
  <c:txPr>
    <a:bodyPr/>
    <a:lstStyle/>
    <a:p>
      <a:pPr>
        <a:defRPr sz="1400">
          <a:solidFill>
            <a:srgbClr val="000000"/>
          </a:solidFill>
          <a:latin typeface="Open Sans"/>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Training loss</c:v>
                </c:pt>
              </c:strCache>
            </c:strRef>
          </c:tx>
          <c:spPr>
            <a:ln w="38100">
              <a:solidFill>
                <a:schemeClr val="accent1"/>
              </a:solidFill>
            </a:ln>
          </c:spPr>
          <c:marker>
            <c:symbol val="none"/>
          </c:marker>
          <c:xVal>
            <c:numRef>
              <c:f>Sheet1!$A$2:$A$52</c:f>
              <c:numCache>
                <c:formatCode>General</c:formatCode>
                <c:ptCount val="5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numCache>
            </c:numRef>
          </c:xVal>
          <c:yVal>
            <c:numRef>
              <c:f>Sheet1!$B$2:$B$52</c:f>
              <c:numCache>
                <c:formatCode>General</c:formatCode>
                <c:ptCount val="51"/>
                <c:pt idx="0">
                  <c:v>0.98</c:v>
                </c:pt>
                <c:pt idx="1">
                  <c:v>0.88535538513293277</c:v>
                </c:pt>
                <c:pt idx="2">
                  <c:v>0.80066366262512723</c:v>
                </c:pt>
                <c:pt idx="3">
                  <c:v>0.72487817951641031</c:v>
                </c:pt>
                <c:pt idx="4">
                  <c:v>0.65706234958695908</c:v>
                </c:pt>
                <c:pt idx="5">
                  <c:v>0.59637807866368941</c:v>
                </c:pt>
                <c:pt idx="6">
                  <c:v>0.54207540712933278</c:v>
                </c:pt>
                <c:pt idx="7">
                  <c:v>0.49348324163233398</c:v>
                </c:pt>
                <c:pt idx="8">
                  <c:v>0.45000106145646873</c:v>
                </c:pt>
                <c:pt idx="9">
                  <c:v>0.41109149705429815</c:v>
                </c:pt>
                <c:pt idx="10">
                  <c:v>0.37627368902711505</c:v>
                </c:pt>
                <c:pt idx="11">
                  <c:v>0.34511734547909662</c:v>
                </c:pt>
                <c:pt idx="12">
                  <c:v>0.31723742430415408</c:v>
                </c:pt>
                <c:pt idx="13">
                  <c:v>0.29228937468713001</c:v>
                </c:pt>
                <c:pt idx="14">
                  <c:v>0.26996487901198118</c:v>
                </c:pt>
                <c:pt idx="15">
                  <c:v>0.24998804255380563</c:v>
                </c:pt>
                <c:pt idx="16">
                  <c:v>0.2321119838654595</c:v>
                </c:pt>
                <c:pt idx="17">
                  <c:v>0.21611578372144619</c:v>
                </c:pt>
                <c:pt idx="18">
                  <c:v>0.20180175491295144</c:v>
                </c:pt>
                <c:pt idx="19">
                  <c:v>0.18899299915309675</c:v>
                </c:pt>
                <c:pt idx="20">
                  <c:v>0.17753122089970627</c:v>
                </c:pt>
                <c:pt idx="21">
                  <c:v>0.16727477107796457</c:v>
                </c:pt>
                <c:pt idx="22">
                  <c:v>0.1580968965265363</c:v>
                </c:pt>
                <c:pt idx="23">
                  <c:v>0.14988417353312833</c:v>
                </c:pt>
                <c:pt idx="24">
                  <c:v>0.14253510610052139</c:v>
                </c:pt>
                <c:pt idx="25">
                  <c:v>0.13595887161990469</c:v>
                </c:pt>
                <c:pt idx="26">
                  <c:v>0.13007419845005852</c:v>
                </c:pt>
                <c:pt idx="27">
                  <c:v>0.12480836153107755</c:v>
                </c:pt>
                <c:pt idx="28">
                  <c:v>0.12009628362004073</c:v>
                </c:pt>
                <c:pt idx="29">
                  <c:v>0.11587973104135244</c:v>
                </c:pt>
                <c:pt idx="30">
                  <c:v>0.11210659401252715</c:v>
                </c:pt>
                <c:pt idx="31">
                  <c:v>0.10873024265140613</c:v>
                </c:pt>
                <c:pt idx="32">
                  <c:v>0.10570895070609534</c:v>
                </c:pt>
                <c:pt idx="33">
                  <c:v>0.10300537988585666</c:v>
                </c:pt>
                <c:pt idx="34">
                  <c:v>0.10058611842011503</c:v>
                </c:pt>
                <c:pt idx="35">
                  <c:v>9.8421268142915436E-2</c:v>
                </c:pt>
                <c:pt idx="36">
                  <c:v>9.6484074999860767E-2</c:v>
                </c:pt>
                <c:pt idx="37">
                  <c:v>9.4750598411192238E-2</c:v>
                </c:pt>
                <c:pt idx="38">
                  <c:v>9.3199415404874392E-2</c:v>
                </c:pt>
                <c:pt idx="39">
                  <c:v>9.1811355863246874E-2</c:v>
                </c:pt>
                <c:pt idx="40">
                  <c:v>9.0569265611319227E-2</c:v>
                </c:pt>
                <c:pt idx="41">
                  <c:v>8.9457794418862507E-2</c:v>
                </c:pt>
                <c:pt idx="42">
                  <c:v>8.8463206296345687E-2</c:v>
                </c:pt>
                <c:pt idx="43">
                  <c:v>8.7573209740281044E-2</c:v>
                </c:pt>
                <c:pt idx="44">
                  <c:v>8.6776805830085027E-2</c:v>
                </c:pt>
                <c:pt idx="45">
                  <c:v>8.6064152299176924E-2</c:v>
                </c:pt>
                <c:pt idx="46">
                  <c:v>8.5426441900453773E-2</c:v>
                </c:pt>
                <c:pt idx="47">
                  <c:v>8.485579356293492E-2</c:v>
                </c:pt>
                <c:pt idx="48">
                  <c:v>8.4345154994448293E-2</c:v>
                </c:pt>
                <c:pt idx="49">
                  <c:v>8.3888215526684656E-2</c:v>
                </c:pt>
                <c:pt idx="50">
                  <c:v>8.3479328125525526E-2</c:v>
                </c:pt>
              </c:numCache>
            </c:numRef>
          </c:yVal>
          <c:smooth val="0"/>
          <c:extLst>
            <c:ext xmlns:c16="http://schemas.microsoft.com/office/drawing/2014/chart" uri="{C3380CC4-5D6E-409C-BE32-E72D297353CC}">
              <c16:uniqueId val="{00000000-1170-42DD-9BEB-2AC8B4CB6B50}"/>
            </c:ext>
          </c:extLst>
        </c:ser>
        <c:ser>
          <c:idx val="1"/>
          <c:order val="1"/>
          <c:tx>
            <c:strRef>
              <c:f>Sheet1!$B$54</c:f>
              <c:strCache>
                <c:ptCount val="1"/>
                <c:pt idx="0">
                  <c:v>Validation loss</c:v>
                </c:pt>
              </c:strCache>
            </c:strRef>
          </c:tx>
          <c:spPr>
            <a:ln w="38100">
              <a:solidFill>
                <a:schemeClr val="accent3"/>
              </a:solidFill>
            </a:ln>
          </c:spPr>
          <c:marker>
            <c:symbol val="none"/>
          </c:marker>
          <c:xVal>
            <c:numRef>
              <c:f>Sheet1!$A$55:$A$105</c:f>
              <c:numCache>
                <c:formatCode>General</c:formatCode>
                <c:ptCount val="5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numCache>
            </c:numRef>
          </c:xVal>
          <c:yVal>
            <c:numRef>
              <c:f>Sheet1!$B$55:$B$105</c:f>
              <c:numCache>
                <c:formatCode>General</c:formatCode>
                <c:ptCount val="51"/>
                <c:pt idx="0">
                  <c:v>1.01</c:v>
                </c:pt>
                <c:pt idx="1">
                  <c:v>0.9101223671969062</c:v>
                </c:pt>
                <c:pt idx="2">
                  <c:v>0.82198066561069416</c:v>
                </c:pt>
                <c:pt idx="3">
                  <c:v>0.74419588697232641</c:v>
                </c:pt>
                <c:pt idx="4">
                  <c:v>0.67555106075573845</c:v>
                </c:pt>
                <c:pt idx="5">
                  <c:v>0.61497221424114168</c:v>
                </c:pt>
                <c:pt idx="6">
                  <c:v>0.5615115698298625</c:v>
                </c:pt>
                <c:pt idx="7">
                  <c:v>0.51433271672673209</c:v>
                </c:pt>
                <c:pt idx="8">
                  <c:v>0.47269752499572593</c:v>
                </c:pt>
                <c:pt idx="9">
                  <c:v>0.43595459725459729</c:v>
                </c:pt>
                <c:pt idx="10">
                  <c:v>0.40352907733116161</c:v>
                </c:pt>
                <c:pt idx="11">
                  <c:v>0.37491365643403451</c:v>
                </c:pt>
                <c:pt idx="12">
                  <c:v>0.34966063612616538</c:v>
                </c:pt>
                <c:pt idx="13">
                  <c:v>0.32737492392356493</c:v>
                </c:pt>
                <c:pt idx="14">
                  <c:v>0.30770785193287836</c:v>
                </c:pt>
                <c:pt idx="15">
                  <c:v>0.29035172181818919</c:v>
                </c:pt>
                <c:pt idx="16">
                  <c:v>0.27523499075112079</c:v>
                </c:pt>
                <c:pt idx="17">
                  <c:v>0.2623180230267117</c:v>
                </c:pt>
                <c:pt idx="18">
                  <c:v>0.25138934087758469</c:v>
                </c:pt>
                <c:pt idx="19">
                  <c:v>0.24226231582906396</c:v>
                </c:pt>
                <c:pt idx="20">
                  <c:v>0.234772248830314</c:v>
                </c:pt>
                <c:pt idx="21">
                  <c:v>0.22877379347911375</c:v>
                </c:pt>
                <c:pt idx="22">
                  <c:v>0.22413868202570145</c:v>
                </c:pt>
                <c:pt idx="23">
                  <c:v>0.22075371857821077</c:v>
                </c:pt>
                <c:pt idx="24">
                  <c:v>0.21851900811268435</c:v>
                </c:pt>
                <c:pt idx="25">
                  <c:v>0.2173463935798963</c:v>
                </c:pt>
                <c:pt idx="26">
                  <c:v>0.21715807665696371</c:v>
                </c:pt>
                <c:pt idx="27">
                  <c:v>0.21788540056491612</c:v>
                </c:pt>
                <c:pt idx="28">
                  <c:v>0.21946777590897074</c:v>
                </c:pt>
                <c:pt idx="29">
                  <c:v>0.22185173273590214</c:v>
                </c:pt>
                <c:pt idx="30">
                  <c:v>0.22499008397760775</c:v>
                </c:pt>
                <c:pt idx="31">
                  <c:v>0.22884118719264479</c:v>
                </c:pt>
                <c:pt idx="32">
                  <c:v>0.23336829305542406</c:v>
                </c:pt>
                <c:pt idx="33">
                  <c:v>0.23853897039994099</c:v>
                </c:pt>
                <c:pt idx="34">
                  <c:v>0.2443245988226494</c:v>
                </c:pt>
                <c:pt idx="35">
                  <c:v>0.25069992090606891</c:v>
                </c:pt>
                <c:pt idx="36">
                  <c:v>0.25764264705750595</c:v>
                </c:pt>
                <c:pt idx="37">
                  <c:v>0.26513310678044855</c:v>
                </c:pt>
                <c:pt idx="38">
                  <c:v>0.27315394092265255</c:v>
                </c:pt>
                <c:pt idx="39">
                  <c:v>0.28168983008603099</c:v>
                </c:pt>
                <c:pt idx="40">
                  <c:v>0.29072725494922269</c:v>
                </c:pt>
                <c:pt idx="41">
                  <c:v>0.30025428475300131</c:v>
                </c:pt>
                <c:pt idx="42">
                  <c:v>0.31026039063930422</c:v>
                </c:pt>
                <c:pt idx="43">
                  <c:v>0.32073628092350326</c:v>
                </c:pt>
                <c:pt idx="44">
                  <c:v>0.33167375572269447</c:v>
                </c:pt>
                <c:pt idx="45">
                  <c:v>0.34306557866561338</c:v>
                </c:pt>
                <c:pt idx="46">
                  <c:v>0.35490536367703324</c:v>
                </c:pt>
                <c:pt idx="47">
                  <c:v>0.36718747506534666</c:v>
                </c:pt>
                <c:pt idx="48">
                  <c:v>0.37990693935016639</c:v>
                </c:pt>
                <c:pt idx="49">
                  <c:v>0.39305936745045544</c:v>
                </c:pt>
                <c:pt idx="50">
                  <c:v>0.40664088601579357</c:v>
                </c:pt>
              </c:numCache>
            </c:numRef>
          </c:yVal>
          <c:smooth val="0"/>
          <c:extLst>
            <c:ext xmlns:c16="http://schemas.microsoft.com/office/drawing/2014/chart" uri="{C3380CC4-5D6E-409C-BE32-E72D297353CC}">
              <c16:uniqueId val="{00000001-1170-42DD-9BEB-2AC8B4CB6B50}"/>
            </c:ext>
          </c:extLst>
        </c:ser>
        <c:ser>
          <c:idx val="2"/>
          <c:order val="2"/>
          <c:tx>
            <c:strRef>
              <c:f>Sheet1!$B$107</c:f>
              <c:strCache>
                <c:ptCount val="1"/>
                <c:pt idx="0">
                  <c:v>Early stop</c:v>
                </c:pt>
              </c:strCache>
            </c:strRef>
          </c:tx>
          <c:spPr>
            <a:ln w="31750">
              <a:solidFill>
                <a:schemeClr val="accent2"/>
              </a:solidFill>
              <a:prstDash val="dash"/>
            </a:ln>
          </c:spPr>
          <c:marker>
            <c:symbol val="none"/>
          </c:marker>
          <c:xVal>
            <c:numRef>
              <c:f>Sheet1!$A$108:$A$109</c:f>
              <c:numCache>
                <c:formatCode>General</c:formatCode>
                <c:ptCount val="2"/>
                <c:pt idx="0">
                  <c:v>52</c:v>
                </c:pt>
                <c:pt idx="1">
                  <c:v>52</c:v>
                </c:pt>
              </c:numCache>
            </c:numRef>
          </c:xVal>
          <c:yVal>
            <c:numRef>
              <c:f>Sheet1!$B$108:$B$109</c:f>
              <c:numCache>
                <c:formatCode>General</c:formatCode>
                <c:ptCount val="2"/>
                <c:pt idx="0">
                  <c:v>0</c:v>
                </c:pt>
                <c:pt idx="1">
                  <c:v>1.1000000000000001</c:v>
                </c:pt>
              </c:numCache>
            </c:numRef>
          </c:yVal>
          <c:smooth val="0"/>
          <c:extLst>
            <c:ext xmlns:c16="http://schemas.microsoft.com/office/drawing/2014/chart" uri="{C3380CC4-5D6E-409C-BE32-E72D297353CC}">
              <c16:uniqueId val="{00000002-1170-42DD-9BEB-2AC8B4CB6B50}"/>
            </c:ext>
          </c:extLst>
        </c:ser>
        <c:dLbls>
          <c:showLegendKey val="0"/>
          <c:showVal val="0"/>
          <c:showCatName val="0"/>
          <c:showSerName val="0"/>
          <c:showPercent val="0"/>
          <c:showBubbleSize val="0"/>
        </c:dLbls>
        <c:axId val="-2128940872"/>
        <c:axId val="-2129643912"/>
      </c:scatterChart>
      <c:valAx>
        <c:axId val="-2128940872"/>
        <c:scaling>
          <c:orientation val="minMax"/>
          <c:max val="100"/>
          <c:min val="0"/>
        </c:scaling>
        <c:delete val="0"/>
        <c:axPos val="b"/>
        <c:title>
          <c:tx>
            <c:rich>
              <a:bodyPr/>
              <a:lstStyle/>
              <a:p>
                <a:r>
                  <a:rPr lang="en-US" sz="1400" b="0">
                    <a:solidFill>
                      <a:srgbClr val="000000"/>
                    </a:solidFill>
                    <a:latin typeface="Open Sans"/>
                  </a:rPr>
                  <a:t>epoch</a:t>
                </a:r>
              </a:p>
            </c:rich>
          </c:tx>
          <c:overlay val="0"/>
        </c:title>
        <c:numFmt formatCode="General" sourceLinked="1"/>
        <c:majorTickMark val="out"/>
        <c:minorTickMark val="none"/>
        <c:tickLblPos val="low"/>
        <c:spPr>
          <a:ln>
            <a:solidFill>
              <a:srgbClr val="7F7F7F"/>
            </a:solidFill>
          </a:ln>
        </c:spPr>
        <c:txPr>
          <a:bodyPr/>
          <a:lstStyle/>
          <a:p>
            <a:pPr>
              <a:defRPr sz="1400">
                <a:solidFill>
                  <a:srgbClr val="000000"/>
                </a:solidFill>
              </a:defRPr>
            </a:pPr>
            <a:endParaRPr lang="en-US"/>
          </a:p>
        </c:txPr>
        <c:crossAx val="-2129643912"/>
        <c:crosses val="min"/>
        <c:crossBetween val="midCat"/>
        <c:majorUnit val="20"/>
      </c:valAx>
      <c:valAx>
        <c:axId val="-2129643912"/>
        <c:scaling>
          <c:orientation val="minMax"/>
          <c:max val="1.1000000000000001"/>
          <c:min val="0"/>
        </c:scaling>
        <c:delete val="0"/>
        <c:axPos val="l"/>
        <c:majorGridlines>
          <c:spPr>
            <a:ln w="9525">
              <a:solidFill>
                <a:srgbClr val="D9D9D9"/>
              </a:solidFill>
            </a:ln>
          </c:spPr>
        </c:majorGridlines>
        <c:title>
          <c:tx>
            <c:rich>
              <a:bodyPr/>
              <a:lstStyle/>
              <a:p>
                <a:r>
                  <a:rPr lang="en-US" sz="1400" b="0">
                    <a:solidFill>
                      <a:srgbClr val="000000"/>
                    </a:solidFill>
                    <a:latin typeface="Open Sans"/>
                  </a:rPr>
                  <a:t>loss</a:t>
                </a:r>
              </a:p>
            </c:rich>
          </c:tx>
          <c:overlay val="0"/>
        </c:title>
        <c:numFmt formatCode="0.00" sourceLinked="0"/>
        <c:majorTickMark val="out"/>
        <c:minorTickMark val="none"/>
        <c:tickLblPos val="low"/>
        <c:spPr>
          <a:ln>
            <a:solidFill>
              <a:srgbClr val="7F7F7F"/>
            </a:solidFill>
          </a:ln>
        </c:spPr>
        <c:txPr>
          <a:bodyPr/>
          <a:lstStyle/>
          <a:p>
            <a:pPr>
              <a:defRPr sz="1400">
                <a:solidFill>
                  <a:srgbClr val="000000"/>
                </a:solidFill>
              </a:defRPr>
            </a:pPr>
            <a:endParaRPr lang="en-US"/>
          </a:p>
        </c:txPr>
        <c:crossAx val="-2128940872"/>
        <c:crosses val="min"/>
        <c:crossBetween val="midCat"/>
        <c:majorUnit val="0.25"/>
      </c:valAx>
    </c:plotArea>
    <c:legend>
      <c:legendPos val="b"/>
      <c:overlay val="0"/>
      <c:txPr>
        <a:bodyPr/>
        <a:lstStyle/>
        <a:p>
          <a:pPr>
            <a:defRPr sz="1400">
              <a:solidFill>
                <a:srgbClr val="000000"/>
              </a:solidFill>
            </a:defRPr>
          </a:pPr>
          <a:endParaRPr lang="en-US"/>
        </a:p>
      </c:txPr>
    </c:legend>
    <c:plotVisOnly val="1"/>
    <c:dispBlanksAs val="gap"/>
    <c:showDLblsOverMax val="0"/>
  </c:chart>
  <c:txPr>
    <a:bodyPr/>
    <a:lstStyle/>
    <a:p>
      <a:pPr>
        <a:defRPr sz="1400">
          <a:solidFill>
            <a:srgbClr val="000000"/>
          </a:solidFill>
          <a:latin typeface="Open Sans"/>
        </a:defRPr>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D7BDE1-58CF-4F23-A775-A4D878033503}" type="doc">
      <dgm:prSet loTypeId="urn:microsoft.com/office/officeart/2005/8/layout/process2" loCatId="process" qsTypeId="urn:microsoft.com/office/officeart/2005/8/quickstyle/simple1" qsCatId="simple" csTypeId="urn:microsoft.com/office/officeart/2005/8/colors/accent1_2" csCatId="accent1" phldr="1"/>
      <dgm:spPr/>
    </dgm:pt>
    <dgm:pt modelId="{94D491A3-A342-4E97-AB7B-45374A38F679}">
      <dgm:prSet phldrT="[Text]" phldr="0"/>
      <dgm:spPr/>
      <dgm:t>
        <a:bodyPr/>
        <a:lstStyle/>
        <a:p>
          <a:pPr rtl="0"/>
          <a:r>
            <a:rPr lang="en-US" dirty="0">
              <a:latin typeface="Open Sans SemiBold"/>
            </a:rPr>
            <a:t>Pre-process data</a:t>
          </a:r>
          <a:endParaRPr lang="en-US" dirty="0"/>
        </a:p>
      </dgm:t>
    </dgm:pt>
    <dgm:pt modelId="{5CC361DF-EADD-4107-9B31-856E2DE21E38}" type="parTrans" cxnId="{403401D2-E408-49EB-A003-5DF8F022187E}">
      <dgm:prSet/>
      <dgm:spPr/>
      <dgm:t>
        <a:bodyPr/>
        <a:lstStyle/>
        <a:p>
          <a:endParaRPr lang="en-US"/>
        </a:p>
      </dgm:t>
    </dgm:pt>
    <dgm:pt modelId="{653DC788-2E95-4942-BB9C-4DC9FE652CD5}" type="sibTrans" cxnId="{403401D2-E408-49EB-A003-5DF8F022187E}">
      <dgm:prSet/>
      <dgm:spPr/>
      <dgm:t>
        <a:bodyPr/>
        <a:lstStyle/>
        <a:p>
          <a:endParaRPr lang="en-US"/>
        </a:p>
      </dgm:t>
    </dgm:pt>
    <dgm:pt modelId="{6C816680-C3E5-4E61-8E6A-236F01BC7F3E}">
      <dgm:prSet phldrT="[Text]" phldr="0"/>
      <dgm:spPr/>
      <dgm:t>
        <a:bodyPr/>
        <a:lstStyle/>
        <a:p>
          <a:pPr rtl="0"/>
          <a:r>
            <a:rPr lang="en-US" dirty="0">
              <a:latin typeface="Open Sans SemiBold"/>
            </a:rPr>
            <a:t>Define network</a:t>
          </a:r>
          <a:endParaRPr lang="en-US" dirty="0"/>
        </a:p>
      </dgm:t>
    </dgm:pt>
    <dgm:pt modelId="{3745AE2C-7CC8-41B8-B9DA-6D1A4AE99A88}" type="parTrans" cxnId="{33BC2A2C-B55A-440E-B45B-D4FAF1E5F270}">
      <dgm:prSet/>
      <dgm:spPr/>
      <dgm:t>
        <a:bodyPr/>
        <a:lstStyle/>
        <a:p>
          <a:endParaRPr lang="en-US"/>
        </a:p>
      </dgm:t>
    </dgm:pt>
    <dgm:pt modelId="{ECF73052-AADC-46B1-9FC9-7CEB98C4BB2C}" type="sibTrans" cxnId="{33BC2A2C-B55A-440E-B45B-D4FAF1E5F270}">
      <dgm:prSet/>
      <dgm:spPr/>
      <dgm:t>
        <a:bodyPr/>
        <a:lstStyle/>
        <a:p>
          <a:endParaRPr lang="en-US"/>
        </a:p>
      </dgm:t>
    </dgm:pt>
    <dgm:pt modelId="{47376DD6-802F-4BB5-8C9D-BCE74AE1978C}">
      <dgm:prSet phldrT="[Text]" phldr="0"/>
      <dgm:spPr/>
      <dgm:t>
        <a:bodyPr/>
        <a:lstStyle/>
        <a:p>
          <a:pPr rtl="0"/>
          <a:r>
            <a:rPr lang="en-US" dirty="0">
              <a:latin typeface="Open Sans SemiBold"/>
            </a:rPr>
            <a:t> Define loss function</a:t>
          </a:r>
          <a:endParaRPr lang="en-US" dirty="0"/>
        </a:p>
      </dgm:t>
    </dgm:pt>
    <dgm:pt modelId="{845C7DA5-1B9C-4703-8097-60DB8C1B73F3}" type="parTrans" cxnId="{A01780D8-CFEC-4506-A270-6A45CD5B0720}">
      <dgm:prSet/>
      <dgm:spPr/>
      <dgm:t>
        <a:bodyPr/>
        <a:lstStyle/>
        <a:p>
          <a:endParaRPr lang="en-US"/>
        </a:p>
      </dgm:t>
    </dgm:pt>
    <dgm:pt modelId="{B422843B-8933-42BA-8C0C-BFECFB3A098A}" type="sibTrans" cxnId="{A01780D8-CFEC-4506-A270-6A45CD5B0720}">
      <dgm:prSet/>
      <dgm:spPr/>
      <dgm:t>
        <a:bodyPr/>
        <a:lstStyle/>
        <a:p>
          <a:endParaRPr lang="en-US"/>
        </a:p>
      </dgm:t>
    </dgm:pt>
    <dgm:pt modelId="{A4DDCA11-1EE5-453A-8C93-CC441975963E}">
      <dgm:prSet phldr="0"/>
      <dgm:spPr/>
      <dgm:t>
        <a:bodyPr/>
        <a:lstStyle/>
        <a:p>
          <a:pPr rtl="0"/>
          <a:r>
            <a:rPr lang="en-US" dirty="0">
              <a:latin typeface="Open Sans SemiBold"/>
            </a:rPr>
            <a:t> Define optimizer </a:t>
          </a:r>
        </a:p>
      </dgm:t>
    </dgm:pt>
    <dgm:pt modelId="{CCF704E1-5723-444F-B1C7-B44F468A0CD1}" type="parTrans" cxnId="{6B20EB70-3F61-4A6C-A542-90E995F9E163}">
      <dgm:prSet/>
      <dgm:spPr/>
      <dgm:t>
        <a:bodyPr/>
        <a:lstStyle/>
        <a:p>
          <a:endParaRPr lang="en-US"/>
        </a:p>
      </dgm:t>
    </dgm:pt>
    <dgm:pt modelId="{E8161659-9467-4F7D-8210-0636EFB6576B}" type="sibTrans" cxnId="{6B20EB70-3F61-4A6C-A542-90E995F9E163}">
      <dgm:prSet/>
      <dgm:spPr/>
      <dgm:t>
        <a:bodyPr/>
        <a:lstStyle/>
        <a:p>
          <a:endParaRPr lang="en-US"/>
        </a:p>
      </dgm:t>
    </dgm:pt>
    <dgm:pt modelId="{77E20074-493F-4F9E-BF2D-A80B219C5DE4}">
      <dgm:prSet phldr="0"/>
      <dgm:spPr/>
      <dgm:t>
        <a:bodyPr/>
        <a:lstStyle/>
        <a:p>
          <a:pPr rtl="0"/>
          <a:r>
            <a:rPr lang="en-US" dirty="0">
              <a:latin typeface="Open Sans SemiBold"/>
            </a:rPr>
            <a:t> Training model</a:t>
          </a:r>
        </a:p>
      </dgm:t>
    </dgm:pt>
    <dgm:pt modelId="{FACD4B1A-EADE-429B-919E-A59DF918931F}" type="parTrans" cxnId="{A64755CA-26F5-4B93-9B27-028124EC2D53}">
      <dgm:prSet/>
      <dgm:spPr/>
      <dgm:t>
        <a:bodyPr/>
        <a:lstStyle/>
        <a:p>
          <a:endParaRPr lang="en-US"/>
        </a:p>
      </dgm:t>
    </dgm:pt>
    <dgm:pt modelId="{91CED7B6-48E4-463E-B6E2-4D6D2D5C66E4}" type="sibTrans" cxnId="{A64755CA-26F5-4B93-9B27-028124EC2D53}">
      <dgm:prSet/>
      <dgm:spPr/>
      <dgm:t>
        <a:bodyPr/>
        <a:lstStyle/>
        <a:p>
          <a:endParaRPr lang="en-US"/>
        </a:p>
      </dgm:t>
    </dgm:pt>
    <dgm:pt modelId="{D8935579-0307-4C67-9819-661756B54B38}">
      <dgm:prSet phldr="0"/>
      <dgm:spPr/>
      <dgm:t>
        <a:bodyPr/>
        <a:lstStyle/>
        <a:p>
          <a:pPr rtl="0"/>
          <a:r>
            <a:rPr lang="en-US" dirty="0">
              <a:latin typeface="Open Sans SemiBold"/>
            </a:rPr>
            <a:t> Validation and Testing</a:t>
          </a:r>
        </a:p>
      </dgm:t>
    </dgm:pt>
    <dgm:pt modelId="{9AB14174-CDBF-4516-B8DA-63E14154EA49}" type="parTrans" cxnId="{6A16E6D0-7D73-461A-A8C3-F8A8CDC41AA8}">
      <dgm:prSet/>
      <dgm:spPr/>
      <dgm:t>
        <a:bodyPr/>
        <a:lstStyle/>
        <a:p>
          <a:endParaRPr lang="en-US"/>
        </a:p>
      </dgm:t>
    </dgm:pt>
    <dgm:pt modelId="{74D7A4A3-2104-42BD-9B84-1206FFA7DC4D}" type="sibTrans" cxnId="{6A16E6D0-7D73-461A-A8C3-F8A8CDC41AA8}">
      <dgm:prSet/>
      <dgm:spPr/>
      <dgm:t>
        <a:bodyPr/>
        <a:lstStyle/>
        <a:p>
          <a:endParaRPr lang="en-US"/>
        </a:p>
      </dgm:t>
    </dgm:pt>
    <dgm:pt modelId="{827ACE22-AA45-42AB-A3B3-4F8C79B37C76}" type="pres">
      <dgm:prSet presAssocID="{DFD7BDE1-58CF-4F23-A775-A4D878033503}" presName="linearFlow" presStyleCnt="0">
        <dgm:presLayoutVars>
          <dgm:resizeHandles val="exact"/>
        </dgm:presLayoutVars>
      </dgm:prSet>
      <dgm:spPr/>
    </dgm:pt>
    <dgm:pt modelId="{9B422A48-40CB-4B38-ADC8-1A64BB9A10F0}" type="pres">
      <dgm:prSet presAssocID="{94D491A3-A342-4E97-AB7B-45374A38F679}" presName="node" presStyleLbl="node1" presStyleIdx="0" presStyleCnt="6">
        <dgm:presLayoutVars>
          <dgm:bulletEnabled val="1"/>
        </dgm:presLayoutVars>
      </dgm:prSet>
      <dgm:spPr/>
    </dgm:pt>
    <dgm:pt modelId="{89DD1ADB-6455-43E0-9E86-D5911474B8D5}" type="pres">
      <dgm:prSet presAssocID="{653DC788-2E95-4942-BB9C-4DC9FE652CD5}" presName="sibTrans" presStyleLbl="sibTrans2D1" presStyleIdx="0" presStyleCnt="5"/>
      <dgm:spPr/>
    </dgm:pt>
    <dgm:pt modelId="{CCB4366C-4B48-48F3-98EA-1C0F6E455B0F}" type="pres">
      <dgm:prSet presAssocID="{653DC788-2E95-4942-BB9C-4DC9FE652CD5}" presName="connectorText" presStyleLbl="sibTrans2D1" presStyleIdx="0" presStyleCnt="5"/>
      <dgm:spPr/>
    </dgm:pt>
    <dgm:pt modelId="{A5FCD2E6-5691-46B9-A46C-C4E9358636B7}" type="pres">
      <dgm:prSet presAssocID="{6C816680-C3E5-4E61-8E6A-236F01BC7F3E}" presName="node" presStyleLbl="node1" presStyleIdx="1" presStyleCnt="6">
        <dgm:presLayoutVars>
          <dgm:bulletEnabled val="1"/>
        </dgm:presLayoutVars>
      </dgm:prSet>
      <dgm:spPr/>
    </dgm:pt>
    <dgm:pt modelId="{31B12B69-51D4-4060-BC27-36605A1CC847}" type="pres">
      <dgm:prSet presAssocID="{ECF73052-AADC-46B1-9FC9-7CEB98C4BB2C}" presName="sibTrans" presStyleLbl="sibTrans2D1" presStyleIdx="1" presStyleCnt="5"/>
      <dgm:spPr/>
    </dgm:pt>
    <dgm:pt modelId="{DDE31239-F013-4710-AA9B-7C83DF6A7C77}" type="pres">
      <dgm:prSet presAssocID="{ECF73052-AADC-46B1-9FC9-7CEB98C4BB2C}" presName="connectorText" presStyleLbl="sibTrans2D1" presStyleIdx="1" presStyleCnt="5"/>
      <dgm:spPr/>
    </dgm:pt>
    <dgm:pt modelId="{CBDCBF8A-6657-4297-89D0-B0F4A6B0C746}" type="pres">
      <dgm:prSet presAssocID="{47376DD6-802F-4BB5-8C9D-BCE74AE1978C}" presName="node" presStyleLbl="node1" presStyleIdx="2" presStyleCnt="6">
        <dgm:presLayoutVars>
          <dgm:bulletEnabled val="1"/>
        </dgm:presLayoutVars>
      </dgm:prSet>
      <dgm:spPr/>
    </dgm:pt>
    <dgm:pt modelId="{AD5E6300-24A3-4C18-88EA-CEB3138EAC2A}" type="pres">
      <dgm:prSet presAssocID="{B422843B-8933-42BA-8C0C-BFECFB3A098A}" presName="sibTrans" presStyleLbl="sibTrans2D1" presStyleIdx="2" presStyleCnt="5"/>
      <dgm:spPr/>
    </dgm:pt>
    <dgm:pt modelId="{35ADA0A5-AE63-462F-A492-5F621F436323}" type="pres">
      <dgm:prSet presAssocID="{B422843B-8933-42BA-8C0C-BFECFB3A098A}" presName="connectorText" presStyleLbl="sibTrans2D1" presStyleIdx="2" presStyleCnt="5"/>
      <dgm:spPr/>
    </dgm:pt>
    <dgm:pt modelId="{E901E20B-1380-480C-AA6F-769F878B0877}" type="pres">
      <dgm:prSet presAssocID="{A4DDCA11-1EE5-453A-8C93-CC441975963E}" presName="node" presStyleLbl="node1" presStyleIdx="3" presStyleCnt="6">
        <dgm:presLayoutVars>
          <dgm:bulletEnabled val="1"/>
        </dgm:presLayoutVars>
      </dgm:prSet>
      <dgm:spPr/>
    </dgm:pt>
    <dgm:pt modelId="{A2977621-4F92-41CE-B487-5F31A9ECEFBA}" type="pres">
      <dgm:prSet presAssocID="{E8161659-9467-4F7D-8210-0636EFB6576B}" presName="sibTrans" presStyleLbl="sibTrans2D1" presStyleIdx="3" presStyleCnt="5"/>
      <dgm:spPr/>
    </dgm:pt>
    <dgm:pt modelId="{BF6EC35F-3D90-48B0-A310-3B8552C28649}" type="pres">
      <dgm:prSet presAssocID="{E8161659-9467-4F7D-8210-0636EFB6576B}" presName="connectorText" presStyleLbl="sibTrans2D1" presStyleIdx="3" presStyleCnt="5"/>
      <dgm:spPr/>
    </dgm:pt>
    <dgm:pt modelId="{79C9033E-9C63-4E12-A312-062E84336916}" type="pres">
      <dgm:prSet presAssocID="{77E20074-493F-4F9E-BF2D-A80B219C5DE4}" presName="node" presStyleLbl="node1" presStyleIdx="4" presStyleCnt="6">
        <dgm:presLayoutVars>
          <dgm:bulletEnabled val="1"/>
        </dgm:presLayoutVars>
      </dgm:prSet>
      <dgm:spPr/>
    </dgm:pt>
    <dgm:pt modelId="{F95AFEB4-0A6C-468A-8351-C5389CC06F18}" type="pres">
      <dgm:prSet presAssocID="{91CED7B6-48E4-463E-B6E2-4D6D2D5C66E4}" presName="sibTrans" presStyleLbl="sibTrans2D1" presStyleIdx="4" presStyleCnt="5"/>
      <dgm:spPr/>
    </dgm:pt>
    <dgm:pt modelId="{15243BAA-EE92-4D1A-BCF6-D4DC61987673}" type="pres">
      <dgm:prSet presAssocID="{91CED7B6-48E4-463E-B6E2-4D6D2D5C66E4}" presName="connectorText" presStyleLbl="sibTrans2D1" presStyleIdx="4" presStyleCnt="5"/>
      <dgm:spPr/>
    </dgm:pt>
    <dgm:pt modelId="{8C0A3405-6B62-4357-B570-DB9354BF2917}" type="pres">
      <dgm:prSet presAssocID="{D8935579-0307-4C67-9819-661756B54B38}" presName="node" presStyleLbl="node1" presStyleIdx="5" presStyleCnt="6">
        <dgm:presLayoutVars>
          <dgm:bulletEnabled val="1"/>
        </dgm:presLayoutVars>
      </dgm:prSet>
      <dgm:spPr/>
    </dgm:pt>
  </dgm:ptLst>
  <dgm:cxnLst>
    <dgm:cxn modelId="{25A5BC10-F623-46A2-9FB6-AFFFA889D3F7}" type="presOf" srcId="{DFD7BDE1-58CF-4F23-A775-A4D878033503}" destId="{827ACE22-AA45-42AB-A3B3-4F8C79B37C76}" srcOrd="0" destOrd="0" presId="urn:microsoft.com/office/officeart/2005/8/layout/process2"/>
    <dgm:cxn modelId="{18CE6314-6971-4EB3-9F64-1BE61AA78FAD}" type="presOf" srcId="{ECF73052-AADC-46B1-9FC9-7CEB98C4BB2C}" destId="{DDE31239-F013-4710-AA9B-7C83DF6A7C77}" srcOrd="1" destOrd="0" presId="urn:microsoft.com/office/officeart/2005/8/layout/process2"/>
    <dgm:cxn modelId="{CA838F14-5BDB-48B2-860C-F0172C344290}" type="presOf" srcId="{B422843B-8933-42BA-8C0C-BFECFB3A098A}" destId="{35ADA0A5-AE63-462F-A492-5F621F436323}" srcOrd="1" destOrd="0" presId="urn:microsoft.com/office/officeart/2005/8/layout/process2"/>
    <dgm:cxn modelId="{820C701E-3627-40A7-A8DB-91BDB17384DB}" type="presOf" srcId="{D8935579-0307-4C67-9819-661756B54B38}" destId="{8C0A3405-6B62-4357-B570-DB9354BF2917}" srcOrd="0" destOrd="0" presId="urn:microsoft.com/office/officeart/2005/8/layout/process2"/>
    <dgm:cxn modelId="{33BC2A2C-B55A-440E-B45B-D4FAF1E5F270}" srcId="{DFD7BDE1-58CF-4F23-A775-A4D878033503}" destId="{6C816680-C3E5-4E61-8E6A-236F01BC7F3E}" srcOrd="1" destOrd="0" parTransId="{3745AE2C-7CC8-41B8-B9DA-6D1A4AE99A88}" sibTransId="{ECF73052-AADC-46B1-9FC9-7CEB98C4BB2C}"/>
    <dgm:cxn modelId="{4788AC37-F6C6-4D46-8044-E8377F8D3C37}" type="presOf" srcId="{77E20074-493F-4F9E-BF2D-A80B219C5DE4}" destId="{79C9033E-9C63-4E12-A312-062E84336916}" srcOrd="0" destOrd="0" presId="urn:microsoft.com/office/officeart/2005/8/layout/process2"/>
    <dgm:cxn modelId="{4633705D-4597-4900-ABC1-0037B3C5A89A}" type="presOf" srcId="{91CED7B6-48E4-463E-B6E2-4D6D2D5C66E4}" destId="{15243BAA-EE92-4D1A-BCF6-D4DC61987673}" srcOrd="1" destOrd="0" presId="urn:microsoft.com/office/officeart/2005/8/layout/process2"/>
    <dgm:cxn modelId="{A38D9A62-7FA8-464E-A83D-5A3178C6DD80}" type="presOf" srcId="{6C816680-C3E5-4E61-8E6A-236F01BC7F3E}" destId="{A5FCD2E6-5691-46B9-A46C-C4E9358636B7}" srcOrd="0" destOrd="0" presId="urn:microsoft.com/office/officeart/2005/8/layout/process2"/>
    <dgm:cxn modelId="{6B20EB70-3F61-4A6C-A542-90E995F9E163}" srcId="{DFD7BDE1-58CF-4F23-A775-A4D878033503}" destId="{A4DDCA11-1EE5-453A-8C93-CC441975963E}" srcOrd="3" destOrd="0" parTransId="{CCF704E1-5723-444F-B1C7-B44F468A0CD1}" sibTransId="{E8161659-9467-4F7D-8210-0636EFB6576B}"/>
    <dgm:cxn modelId="{3E848E51-356C-4165-95CF-B54E46D5F87A}" type="presOf" srcId="{B422843B-8933-42BA-8C0C-BFECFB3A098A}" destId="{AD5E6300-24A3-4C18-88EA-CEB3138EAC2A}" srcOrd="0" destOrd="0" presId="urn:microsoft.com/office/officeart/2005/8/layout/process2"/>
    <dgm:cxn modelId="{8BB84C97-7533-467B-929F-914BCF4E0E2F}" type="presOf" srcId="{A4DDCA11-1EE5-453A-8C93-CC441975963E}" destId="{E901E20B-1380-480C-AA6F-769F878B0877}" srcOrd="0" destOrd="0" presId="urn:microsoft.com/office/officeart/2005/8/layout/process2"/>
    <dgm:cxn modelId="{2F7AFC97-BC5D-4860-88CD-70C2A8FA9AA3}" type="presOf" srcId="{653DC788-2E95-4942-BB9C-4DC9FE652CD5}" destId="{CCB4366C-4B48-48F3-98EA-1C0F6E455B0F}" srcOrd="1" destOrd="0" presId="urn:microsoft.com/office/officeart/2005/8/layout/process2"/>
    <dgm:cxn modelId="{75581598-10F2-4A9F-8AC4-21A9B16A0055}" type="presOf" srcId="{E8161659-9467-4F7D-8210-0636EFB6576B}" destId="{BF6EC35F-3D90-48B0-A310-3B8552C28649}" srcOrd="1" destOrd="0" presId="urn:microsoft.com/office/officeart/2005/8/layout/process2"/>
    <dgm:cxn modelId="{CD8F6FBE-DEB0-47AF-8827-09E37B6CC54E}" type="presOf" srcId="{91CED7B6-48E4-463E-B6E2-4D6D2D5C66E4}" destId="{F95AFEB4-0A6C-468A-8351-C5389CC06F18}" srcOrd="0" destOrd="0" presId="urn:microsoft.com/office/officeart/2005/8/layout/process2"/>
    <dgm:cxn modelId="{4B9CDFC9-7C6D-488C-B742-1FCFCD40DEDF}" type="presOf" srcId="{94D491A3-A342-4E97-AB7B-45374A38F679}" destId="{9B422A48-40CB-4B38-ADC8-1A64BB9A10F0}" srcOrd="0" destOrd="0" presId="urn:microsoft.com/office/officeart/2005/8/layout/process2"/>
    <dgm:cxn modelId="{A64755CA-26F5-4B93-9B27-028124EC2D53}" srcId="{DFD7BDE1-58CF-4F23-A775-A4D878033503}" destId="{77E20074-493F-4F9E-BF2D-A80B219C5DE4}" srcOrd="4" destOrd="0" parTransId="{FACD4B1A-EADE-429B-919E-A59DF918931F}" sibTransId="{91CED7B6-48E4-463E-B6E2-4D6D2D5C66E4}"/>
    <dgm:cxn modelId="{88823ACB-653C-47BE-AB85-620381EECB2C}" type="presOf" srcId="{47376DD6-802F-4BB5-8C9D-BCE74AE1978C}" destId="{CBDCBF8A-6657-4297-89D0-B0F4A6B0C746}" srcOrd="0" destOrd="0" presId="urn:microsoft.com/office/officeart/2005/8/layout/process2"/>
    <dgm:cxn modelId="{6A16E6D0-7D73-461A-A8C3-F8A8CDC41AA8}" srcId="{DFD7BDE1-58CF-4F23-A775-A4D878033503}" destId="{D8935579-0307-4C67-9819-661756B54B38}" srcOrd="5" destOrd="0" parTransId="{9AB14174-CDBF-4516-B8DA-63E14154EA49}" sibTransId="{74D7A4A3-2104-42BD-9B84-1206FFA7DC4D}"/>
    <dgm:cxn modelId="{DED351D1-D31F-4057-B4A0-7A5AC91E57F7}" type="presOf" srcId="{ECF73052-AADC-46B1-9FC9-7CEB98C4BB2C}" destId="{31B12B69-51D4-4060-BC27-36605A1CC847}" srcOrd="0" destOrd="0" presId="urn:microsoft.com/office/officeart/2005/8/layout/process2"/>
    <dgm:cxn modelId="{403401D2-E408-49EB-A003-5DF8F022187E}" srcId="{DFD7BDE1-58CF-4F23-A775-A4D878033503}" destId="{94D491A3-A342-4E97-AB7B-45374A38F679}" srcOrd="0" destOrd="0" parTransId="{5CC361DF-EADD-4107-9B31-856E2DE21E38}" sibTransId="{653DC788-2E95-4942-BB9C-4DC9FE652CD5}"/>
    <dgm:cxn modelId="{A01780D8-CFEC-4506-A270-6A45CD5B0720}" srcId="{DFD7BDE1-58CF-4F23-A775-A4D878033503}" destId="{47376DD6-802F-4BB5-8C9D-BCE74AE1978C}" srcOrd="2" destOrd="0" parTransId="{845C7DA5-1B9C-4703-8097-60DB8C1B73F3}" sibTransId="{B422843B-8933-42BA-8C0C-BFECFB3A098A}"/>
    <dgm:cxn modelId="{5CBF87E2-E4BE-4123-882C-2934E5818037}" type="presOf" srcId="{E8161659-9467-4F7D-8210-0636EFB6576B}" destId="{A2977621-4F92-41CE-B487-5F31A9ECEFBA}" srcOrd="0" destOrd="0" presId="urn:microsoft.com/office/officeart/2005/8/layout/process2"/>
    <dgm:cxn modelId="{60155CF3-9DD9-443A-80F3-2400E758271D}" type="presOf" srcId="{653DC788-2E95-4942-BB9C-4DC9FE652CD5}" destId="{89DD1ADB-6455-43E0-9E86-D5911474B8D5}" srcOrd="0" destOrd="0" presId="urn:microsoft.com/office/officeart/2005/8/layout/process2"/>
    <dgm:cxn modelId="{B4597B26-1C9E-4A53-B9D6-F694A23EF662}" type="presParOf" srcId="{827ACE22-AA45-42AB-A3B3-4F8C79B37C76}" destId="{9B422A48-40CB-4B38-ADC8-1A64BB9A10F0}" srcOrd="0" destOrd="0" presId="urn:microsoft.com/office/officeart/2005/8/layout/process2"/>
    <dgm:cxn modelId="{4F35C5C2-614A-4881-B26E-584DC8A3E9D3}" type="presParOf" srcId="{827ACE22-AA45-42AB-A3B3-4F8C79B37C76}" destId="{89DD1ADB-6455-43E0-9E86-D5911474B8D5}" srcOrd="1" destOrd="0" presId="urn:microsoft.com/office/officeart/2005/8/layout/process2"/>
    <dgm:cxn modelId="{9DAA1C85-3E04-4544-8930-0F8C5F61DEE1}" type="presParOf" srcId="{89DD1ADB-6455-43E0-9E86-D5911474B8D5}" destId="{CCB4366C-4B48-48F3-98EA-1C0F6E455B0F}" srcOrd="0" destOrd="0" presId="urn:microsoft.com/office/officeart/2005/8/layout/process2"/>
    <dgm:cxn modelId="{39D4DFCE-8389-4147-B110-C36167EC6D61}" type="presParOf" srcId="{827ACE22-AA45-42AB-A3B3-4F8C79B37C76}" destId="{A5FCD2E6-5691-46B9-A46C-C4E9358636B7}" srcOrd="2" destOrd="0" presId="urn:microsoft.com/office/officeart/2005/8/layout/process2"/>
    <dgm:cxn modelId="{80ED65C4-8E09-4835-96C5-06A051F8E121}" type="presParOf" srcId="{827ACE22-AA45-42AB-A3B3-4F8C79B37C76}" destId="{31B12B69-51D4-4060-BC27-36605A1CC847}" srcOrd="3" destOrd="0" presId="urn:microsoft.com/office/officeart/2005/8/layout/process2"/>
    <dgm:cxn modelId="{27290F01-C8EB-440A-84F5-7300B84436F5}" type="presParOf" srcId="{31B12B69-51D4-4060-BC27-36605A1CC847}" destId="{DDE31239-F013-4710-AA9B-7C83DF6A7C77}" srcOrd="0" destOrd="0" presId="urn:microsoft.com/office/officeart/2005/8/layout/process2"/>
    <dgm:cxn modelId="{030F4279-51F8-436A-9FD2-21ED89E26EC1}" type="presParOf" srcId="{827ACE22-AA45-42AB-A3B3-4F8C79B37C76}" destId="{CBDCBF8A-6657-4297-89D0-B0F4A6B0C746}" srcOrd="4" destOrd="0" presId="urn:microsoft.com/office/officeart/2005/8/layout/process2"/>
    <dgm:cxn modelId="{CA4DE5DC-9E0C-4A1A-AA72-651D888FABCC}" type="presParOf" srcId="{827ACE22-AA45-42AB-A3B3-4F8C79B37C76}" destId="{AD5E6300-24A3-4C18-88EA-CEB3138EAC2A}" srcOrd="5" destOrd="0" presId="urn:microsoft.com/office/officeart/2005/8/layout/process2"/>
    <dgm:cxn modelId="{D5130B43-969F-4237-B28B-B6A64180F04B}" type="presParOf" srcId="{AD5E6300-24A3-4C18-88EA-CEB3138EAC2A}" destId="{35ADA0A5-AE63-462F-A492-5F621F436323}" srcOrd="0" destOrd="0" presId="urn:microsoft.com/office/officeart/2005/8/layout/process2"/>
    <dgm:cxn modelId="{0549818C-7719-4D1A-B4B4-7E2D186FF79E}" type="presParOf" srcId="{827ACE22-AA45-42AB-A3B3-4F8C79B37C76}" destId="{E901E20B-1380-480C-AA6F-769F878B0877}" srcOrd="6" destOrd="0" presId="urn:microsoft.com/office/officeart/2005/8/layout/process2"/>
    <dgm:cxn modelId="{2AA8ED5D-3094-4C87-9959-932E561AB770}" type="presParOf" srcId="{827ACE22-AA45-42AB-A3B3-4F8C79B37C76}" destId="{A2977621-4F92-41CE-B487-5F31A9ECEFBA}" srcOrd="7" destOrd="0" presId="urn:microsoft.com/office/officeart/2005/8/layout/process2"/>
    <dgm:cxn modelId="{D38DF9F6-22EA-4B23-9760-8BD2797C9237}" type="presParOf" srcId="{A2977621-4F92-41CE-B487-5F31A9ECEFBA}" destId="{BF6EC35F-3D90-48B0-A310-3B8552C28649}" srcOrd="0" destOrd="0" presId="urn:microsoft.com/office/officeart/2005/8/layout/process2"/>
    <dgm:cxn modelId="{279E2DAE-F8E4-48DE-B038-7F1173E3A92F}" type="presParOf" srcId="{827ACE22-AA45-42AB-A3B3-4F8C79B37C76}" destId="{79C9033E-9C63-4E12-A312-062E84336916}" srcOrd="8" destOrd="0" presId="urn:microsoft.com/office/officeart/2005/8/layout/process2"/>
    <dgm:cxn modelId="{DFF8E88F-EE9A-4AD3-BA3A-8300D53A5C08}" type="presParOf" srcId="{827ACE22-AA45-42AB-A3B3-4F8C79B37C76}" destId="{F95AFEB4-0A6C-468A-8351-C5389CC06F18}" srcOrd="9" destOrd="0" presId="urn:microsoft.com/office/officeart/2005/8/layout/process2"/>
    <dgm:cxn modelId="{4D77C90B-F21F-4AA1-97F7-9637DAF7F5A9}" type="presParOf" srcId="{F95AFEB4-0A6C-468A-8351-C5389CC06F18}" destId="{15243BAA-EE92-4D1A-BCF6-D4DC61987673}" srcOrd="0" destOrd="0" presId="urn:microsoft.com/office/officeart/2005/8/layout/process2"/>
    <dgm:cxn modelId="{3C24EC14-C559-4713-96A3-86D05CDD291A}" type="presParOf" srcId="{827ACE22-AA45-42AB-A3B3-4F8C79B37C76}" destId="{8C0A3405-6B62-4357-B570-DB9354BF2917}" srcOrd="10"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FD7BDE1-58CF-4F23-A775-A4D878033503}" type="doc">
      <dgm:prSet loTypeId="urn:microsoft.com/office/officeart/2005/8/layout/process2" loCatId="process" qsTypeId="urn:microsoft.com/office/officeart/2005/8/quickstyle/simple1" qsCatId="simple" csTypeId="urn:microsoft.com/office/officeart/2005/8/colors/accent1_2" csCatId="accent1" phldr="1"/>
      <dgm:spPr/>
    </dgm:pt>
    <dgm:pt modelId="{94D491A3-A342-4E97-AB7B-45374A38F679}">
      <dgm:prSet phldrT="[Text]" phldr="0"/>
      <dgm:spPr/>
      <dgm:t>
        <a:bodyPr/>
        <a:lstStyle/>
        <a:p>
          <a:pPr rtl="0"/>
          <a:r>
            <a:rPr lang="en-US" dirty="0">
              <a:latin typeface="Open Sans SemiBold"/>
            </a:rPr>
            <a:t>Pre-process data</a:t>
          </a:r>
          <a:endParaRPr lang="en-US" dirty="0"/>
        </a:p>
      </dgm:t>
    </dgm:pt>
    <dgm:pt modelId="{5CC361DF-EADD-4107-9B31-856E2DE21E38}" type="parTrans" cxnId="{403401D2-E408-49EB-A003-5DF8F022187E}">
      <dgm:prSet/>
      <dgm:spPr/>
      <dgm:t>
        <a:bodyPr/>
        <a:lstStyle/>
        <a:p>
          <a:endParaRPr lang="en-US"/>
        </a:p>
      </dgm:t>
    </dgm:pt>
    <dgm:pt modelId="{653DC788-2E95-4942-BB9C-4DC9FE652CD5}" type="sibTrans" cxnId="{403401D2-E408-49EB-A003-5DF8F022187E}">
      <dgm:prSet/>
      <dgm:spPr/>
      <dgm:t>
        <a:bodyPr/>
        <a:lstStyle/>
        <a:p>
          <a:endParaRPr lang="en-US"/>
        </a:p>
      </dgm:t>
    </dgm:pt>
    <dgm:pt modelId="{6C816680-C3E5-4E61-8E6A-236F01BC7F3E}">
      <dgm:prSet phldrT="[Text]" phldr="0"/>
      <dgm:spPr/>
      <dgm:t>
        <a:bodyPr/>
        <a:lstStyle/>
        <a:p>
          <a:pPr rtl="0"/>
          <a:r>
            <a:rPr lang="en-US" dirty="0">
              <a:latin typeface="Open Sans SemiBold"/>
            </a:rPr>
            <a:t>Define network</a:t>
          </a:r>
          <a:endParaRPr lang="en-US" dirty="0"/>
        </a:p>
      </dgm:t>
    </dgm:pt>
    <dgm:pt modelId="{3745AE2C-7CC8-41B8-B9DA-6D1A4AE99A88}" type="parTrans" cxnId="{33BC2A2C-B55A-440E-B45B-D4FAF1E5F270}">
      <dgm:prSet/>
      <dgm:spPr/>
      <dgm:t>
        <a:bodyPr/>
        <a:lstStyle/>
        <a:p>
          <a:endParaRPr lang="en-US"/>
        </a:p>
      </dgm:t>
    </dgm:pt>
    <dgm:pt modelId="{ECF73052-AADC-46B1-9FC9-7CEB98C4BB2C}" type="sibTrans" cxnId="{33BC2A2C-B55A-440E-B45B-D4FAF1E5F270}">
      <dgm:prSet/>
      <dgm:spPr/>
      <dgm:t>
        <a:bodyPr/>
        <a:lstStyle/>
        <a:p>
          <a:endParaRPr lang="en-US"/>
        </a:p>
      </dgm:t>
    </dgm:pt>
    <dgm:pt modelId="{47376DD6-802F-4BB5-8C9D-BCE74AE1978C}">
      <dgm:prSet phldrT="[Text]" phldr="0"/>
      <dgm:spPr/>
      <dgm:t>
        <a:bodyPr/>
        <a:lstStyle/>
        <a:p>
          <a:pPr rtl="0"/>
          <a:r>
            <a:rPr lang="en-US" dirty="0">
              <a:latin typeface="Open Sans SemiBold"/>
            </a:rPr>
            <a:t> Define loss function</a:t>
          </a:r>
          <a:endParaRPr lang="en-US" dirty="0"/>
        </a:p>
      </dgm:t>
    </dgm:pt>
    <dgm:pt modelId="{845C7DA5-1B9C-4703-8097-60DB8C1B73F3}" type="parTrans" cxnId="{A01780D8-CFEC-4506-A270-6A45CD5B0720}">
      <dgm:prSet/>
      <dgm:spPr/>
      <dgm:t>
        <a:bodyPr/>
        <a:lstStyle/>
        <a:p>
          <a:endParaRPr lang="en-US"/>
        </a:p>
      </dgm:t>
    </dgm:pt>
    <dgm:pt modelId="{B422843B-8933-42BA-8C0C-BFECFB3A098A}" type="sibTrans" cxnId="{A01780D8-CFEC-4506-A270-6A45CD5B0720}">
      <dgm:prSet/>
      <dgm:spPr/>
      <dgm:t>
        <a:bodyPr/>
        <a:lstStyle/>
        <a:p>
          <a:endParaRPr lang="en-US"/>
        </a:p>
      </dgm:t>
    </dgm:pt>
    <dgm:pt modelId="{A4DDCA11-1EE5-453A-8C93-CC441975963E}">
      <dgm:prSet phldr="0"/>
      <dgm:spPr/>
      <dgm:t>
        <a:bodyPr/>
        <a:lstStyle/>
        <a:p>
          <a:pPr rtl="0"/>
          <a:r>
            <a:rPr lang="en-US" dirty="0">
              <a:latin typeface="Open Sans SemiBold"/>
            </a:rPr>
            <a:t> Define optimizer </a:t>
          </a:r>
        </a:p>
      </dgm:t>
    </dgm:pt>
    <dgm:pt modelId="{CCF704E1-5723-444F-B1C7-B44F468A0CD1}" type="parTrans" cxnId="{6B20EB70-3F61-4A6C-A542-90E995F9E163}">
      <dgm:prSet/>
      <dgm:spPr/>
      <dgm:t>
        <a:bodyPr/>
        <a:lstStyle/>
        <a:p>
          <a:endParaRPr lang="en-US"/>
        </a:p>
      </dgm:t>
    </dgm:pt>
    <dgm:pt modelId="{E8161659-9467-4F7D-8210-0636EFB6576B}" type="sibTrans" cxnId="{6B20EB70-3F61-4A6C-A542-90E995F9E163}">
      <dgm:prSet/>
      <dgm:spPr/>
      <dgm:t>
        <a:bodyPr/>
        <a:lstStyle/>
        <a:p>
          <a:endParaRPr lang="en-US"/>
        </a:p>
      </dgm:t>
    </dgm:pt>
    <dgm:pt modelId="{77E20074-493F-4F9E-BF2D-A80B219C5DE4}">
      <dgm:prSet phldr="0"/>
      <dgm:spPr/>
      <dgm:t>
        <a:bodyPr/>
        <a:lstStyle/>
        <a:p>
          <a:pPr rtl="0"/>
          <a:r>
            <a:rPr lang="en-US" dirty="0">
              <a:latin typeface="Open Sans SemiBold"/>
            </a:rPr>
            <a:t> Training model</a:t>
          </a:r>
        </a:p>
      </dgm:t>
    </dgm:pt>
    <dgm:pt modelId="{FACD4B1A-EADE-429B-919E-A59DF918931F}" type="parTrans" cxnId="{A64755CA-26F5-4B93-9B27-028124EC2D53}">
      <dgm:prSet/>
      <dgm:spPr/>
      <dgm:t>
        <a:bodyPr/>
        <a:lstStyle/>
        <a:p>
          <a:endParaRPr lang="en-US"/>
        </a:p>
      </dgm:t>
    </dgm:pt>
    <dgm:pt modelId="{91CED7B6-48E4-463E-B6E2-4D6D2D5C66E4}" type="sibTrans" cxnId="{A64755CA-26F5-4B93-9B27-028124EC2D53}">
      <dgm:prSet/>
      <dgm:spPr/>
      <dgm:t>
        <a:bodyPr/>
        <a:lstStyle/>
        <a:p>
          <a:endParaRPr lang="en-US"/>
        </a:p>
      </dgm:t>
    </dgm:pt>
    <dgm:pt modelId="{D8935579-0307-4C67-9819-661756B54B38}">
      <dgm:prSet phldr="0"/>
      <dgm:spPr/>
      <dgm:t>
        <a:bodyPr/>
        <a:lstStyle/>
        <a:p>
          <a:pPr rtl="0"/>
          <a:r>
            <a:rPr lang="en-US" dirty="0">
              <a:latin typeface="Open Sans SemiBold"/>
            </a:rPr>
            <a:t> Validation and Testing</a:t>
          </a:r>
        </a:p>
      </dgm:t>
    </dgm:pt>
    <dgm:pt modelId="{9AB14174-CDBF-4516-B8DA-63E14154EA49}" type="parTrans" cxnId="{6A16E6D0-7D73-461A-A8C3-F8A8CDC41AA8}">
      <dgm:prSet/>
      <dgm:spPr/>
      <dgm:t>
        <a:bodyPr/>
        <a:lstStyle/>
        <a:p>
          <a:endParaRPr lang="en-US"/>
        </a:p>
      </dgm:t>
    </dgm:pt>
    <dgm:pt modelId="{74D7A4A3-2104-42BD-9B84-1206FFA7DC4D}" type="sibTrans" cxnId="{6A16E6D0-7D73-461A-A8C3-F8A8CDC41AA8}">
      <dgm:prSet/>
      <dgm:spPr/>
      <dgm:t>
        <a:bodyPr/>
        <a:lstStyle/>
        <a:p>
          <a:endParaRPr lang="en-US"/>
        </a:p>
      </dgm:t>
    </dgm:pt>
    <dgm:pt modelId="{827ACE22-AA45-42AB-A3B3-4F8C79B37C76}" type="pres">
      <dgm:prSet presAssocID="{DFD7BDE1-58CF-4F23-A775-A4D878033503}" presName="linearFlow" presStyleCnt="0">
        <dgm:presLayoutVars>
          <dgm:resizeHandles val="exact"/>
        </dgm:presLayoutVars>
      </dgm:prSet>
      <dgm:spPr/>
    </dgm:pt>
    <dgm:pt modelId="{9B422A48-40CB-4B38-ADC8-1A64BB9A10F0}" type="pres">
      <dgm:prSet presAssocID="{94D491A3-A342-4E97-AB7B-45374A38F679}" presName="node" presStyleLbl="node1" presStyleIdx="0" presStyleCnt="6">
        <dgm:presLayoutVars>
          <dgm:bulletEnabled val="1"/>
        </dgm:presLayoutVars>
      </dgm:prSet>
      <dgm:spPr/>
    </dgm:pt>
    <dgm:pt modelId="{89DD1ADB-6455-43E0-9E86-D5911474B8D5}" type="pres">
      <dgm:prSet presAssocID="{653DC788-2E95-4942-BB9C-4DC9FE652CD5}" presName="sibTrans" presStyleLbl="sibTrans2D1" presStyleIdx="0" presStyleCnt="5"/>
      <dgm:spPr/>
    </dgm:pt>
    <dgm:pt modelId="{CCB4366C-4B48-48F3-98EA-1C0F6E455B0F}" type="pres">
      <dgm:prSet presAssocID="{653DC788-2E95-4942-BB9C-4DC9FE652CD5}" presName="connectorText" presStyleLbl="sibTrans2D1" presStyleIdx="0" presStyleCnt="5"/>
      <dgm:spPr/>
    </dgm:pt>
    <dgm:pt modelId="{A5FCD2E6-5691-46B9-A46C-C4E9358636B7}" type="pres">
      <dgm:prSet presAssocID="{6C816680-C3E5-4E61-8E6A-236F01BC7F3E}" presName="node" presStyleLbl="node1" presStyleIdx="1" presStyleCnt="6">
        <dgm:presLayoutVars>
          <dgm:bulletEnabled val="1"/>
        </dgm:presLayoutVars>
      </dgm:prSet>
      <dgm:spPr/>
    </dgm:pt>
    <dgm:pt modelId="{31B12B69-51D4-4060-BC27-36605A1CC847}" type="pres">
      <dgm:prSet presAssocID="{ECF73052-AADC-46B1-9FC9-7CEB98C4BB2C}" presName="sibTrans" presStyleLbl="sibTrans2D1" presStyleIdx="1" presStyleCnt="5"/>
      <dgm:spPr/>
    </dgm:pt>
    <dgm:pt modelId="{DDE31239-F013-4710-AA9B-7C83DF6A7C77}" type="pres">
      <dgm:prSet presAssocID="{ECF73052-AADC-46B1-9FC9-7CEB98C4BB2C}" presName="connectorText" presStyleLbl="sibTrans2D1" presStyleIdx="1" presStyleCnt="5"/>
      <dgm:spPr/>
    </dgm:pt>
    <dgm:pt modelId="{CBDCBF8A-6657-4297-89D0-B0F4A6B0C746}" type="pres">
      <dgm:prSet presAssocID="{47376DD6-802F-4BB5-8C9D-BCE74AE1978C}" presName="node" presStyleLbl="node1" presStyleIdx="2" presStyleCnt="6">
        <dgm:presLayoutVars>
          <dgm:bulletEnabled val="1"/>
        </dgm:presLayoutVars>
      </dgm:prSet>
      <dgm:spPr/>
    </dgm:pt>
    <dgm:pt modelId="{AD5E6300-24A3-4C18-88EA-CEB3138EAC2A}" type="pres">
      <dgm:prSet presAssocID="{B422843B-8933-42BA-8C0C-BFECFB3A098A}" presName="sibTrans" presStyleLbl="sibTrans2D1" presStyleIdx="2" presStyleCnt="5"/>
      <dgm:spPr/>
    </dgm:pt>
    <dgm:pt modelId="{35ADA0A5-AE63-462F-A492-5F621F436323}" type="pres">
      <dgm:prSet presAssocID="{B422843B-8933-42BA-8C0C-BFECFB3A098A}" presName="connectorText" presStyleLbl="sibTrans2D1" presStyleIdx="2" presStyleCnt="5"/>
      <dgm:spPr/>
    </dgm:pt>
    <dgm:pt modelId="{E901E20B-1380-480C-AA6F-769F878B0877}" type="pres">
      <dgm:prSet presAssocID="{A4DDCA11-1EE5-453A-8C93-CC441975963E}" presName="node" presStyleLbl="node1" presStyleIdx="3" presStyleCnt="6">
        <dgm:presLayoutVars>
          <dgm:bulletEnabled val="1"/>
        </dgm:presLayoutVars>
      </dgm:prSet>
      <dgm:spPr/>
    </dgm:pt>
    <dgm:pt modelId="{A2977621-4F92-41CE-B487-5F31A9ECEFBA}" type="pres">
      <dgm:prSet presAssocID="{E8161659-9467-4F7D-8210-0636EFB6576B}" presName="sibTrans" presStyleLbl="sibTrans2D1" presStyleIdx="3" presStyleCnt="5"/>
      <dgm:spPr/>
    </dgm:pt>
    <dgm:pt modelId="{BF6EC35F-3D90-48B0-A310-3B8552C28649}" type="pres">
      <dgm:prSet presAssocID="{E8161659-9467-4F7D-8210-0636EFB6576B}" presName="connectorText" presStyleLbl="sibTrans2D1" presStyleIdx="3" presStyleCnt="5"/>
      <dgm:spPr/>
    </dgm:pt>
    <dgm:pt modelId="{79C9033E-9C63-4E12-A312-062E84336916}" type="pres">
      <dgm:prSet presAssocID="{77E20074-493F-4F9E-BF2D-A80B219C5DE4}" presName="node" presStyleLbl="node1" presStyleIdx="4" presStyleCnt="6">
        <dgm:presLayoutVars>
          <dgm:bulletEnabled val="1"/>
        </dgm:presLayoutVars>
      </dgm:prSet>
      <dgm:spPr/>
    </dgm:pt>
    <dgm:pt modelId="{F95AFEB4-0A6C-468A-8351-C5389CC06F18}" type="pres">
      <dgm:prSet presAssocID="{91CED7B6-48E4-463E-B6E2-4D6D2D5C66E4}" presName="sibTrans" presStyleLbl="sibTrans2D1" presStyleIdx="4" presStyleCnt="5"/>
      <dgm:spPr/>
    </dgm:pt>
    <dgm:pt modelId="{15243BAA-EE92-4D1A-BCF6-D4DC61987673}" type="pres">
      <dgm:prSet presAssocID="{91CED7B6-48E4-463E-B6E2-4D6D2D5C66E4}" presName="connectorText" presStyleLbl="sibTrans2D1" presStyleIdx="4" presStyleCnt="5"/>
      <dgm:spPr/>
    </dgm:pt>
    <dgm:pt modelId="{8C0A3405-6B62-4357-B570-DB9354BF2917}" type="pres">
      <dgm:prSet presAssocID="{D8935579-0307-4C67-9819-661756B54B38}" presName="node" presStyleLbl="node1" presStyleIdx="5" presStyleCnt="6">
        <dgm:presLayoutVars>
          <dgm:bulletEnabled val="1"/>
        </dgm:presLayoutVars>
      </dgm:prSet>
      <dgm:spPr/>
    </dgm:pt>
  </dgm:ptLst>
  <dgm:cxnLst>
    <dgm:cxn modelId="{25A5BC10-F623-46A2-9FB6-AFFFA889D3F7}" type="presOf" srcId="{DFD7BDE1-58CF-4F23-A775-A4D878033503}" destId="{827ACE22-AA45-42AB-A3B3-4F8C79B37C76}" srcOrd="0" destOrd="0" presId="urn:microsoft.com/office/officeart/2005/8/layout/process2"/>
    <dgm:cxn modelId="{18CE6314-6971-4EB3-9F64-1BE61AA78FAD}" type="presOf" srcId="{ECF73052-AADC-46B1-9FC9-7CEB98C4BB2C}" destId="{DDE31239-F013-4710-AA9B-7C83DF6A7C77}" srcOrd="1" destOrd="0" presId="urn:microsoft.com/office/officeart/2005/8/layout/process2"/>
    <dgm:cxn modelId="{CA838F14-5BDB-48B2-860C-F0172C344290}" type="presOf" srcId="{B422843B-8933-42BA-8C0C-BFECFB3A098A}" destId="{35ADA0A5-AE63-462F-A492-5F621F436323}" srcOrd="1" destOrd="0" presId="urn:microsoft.com/office/officeart/2005/8/layout/process2"/>
    <dgm:cxn modelId="{820C701E-3627-40A7-A8DB-91BDB17384DB}" type="presOf" srcId="{D8935579-0307-4C67-9819-661756B54B38}" destId="{8C0A3405-6B62-4357-B570-DB9354BF2917}" srcOrd="0" destOrd="0" presId="urn:microsoft.com/office/officeart/2005/8/layout/process2"/>
    <dgm:cxn modelId="{33BC2A2C-B55A-440E-B45B-D4FAF1E5F270}" srcId="{DFD7BDE1-58CF-4F23-A775-A4D878033503}" destId="{6C816680-C3E5-4E61-8E6A-236F01BC7F3E}" srcOrd="1" destOrd="0" parTransId="{3745AE2C-7CC8-41B8-B9DA-6D1A4AE99A88}" sibTransId="{ECF73052-AADC-46B1-9FC9-7CEB98C4BB2C}"/>
    <dgm:cxn modelId="{4788AC37-F6C6-4D46-8044-E8377F8D3C37}" type="presOf" srcId="{77E20074-493F-4F9E-BF2D-A80B219C5DE4}" destId="{79C9033E-9C63-4E12-A312-062E84336916}" srcOrd="0" destOrd="0" presId="urn:microsoft.com/office/officeart/2005/8/layout/process2"/>
    <dgm:cxn modelId="{4633705D-4597-4900-ABC1-0037B3C5A89A}" type="presOf" srcId="{91CED7B6-48E4-463E-B6E2-4D6D2D5C66E4}" destId="{15243BAA-EE92-4D1A-BCF6-D4DC61987673}" srcOrd="1" destOrd="0" presId="urn:microsoft.com/office/officeart/2005/8/layout/process2"/>
    <dgm:cxn modelId="{A38D9A62-7FA8-464E-A83D-5A3178C6DD80}" type="presOf" srcId="{6C816680-C3E5-4E61-8E6A-236F01BC7F3E}" destId="{A5FCD2E6-5691-46B9-A46C-C4E9358636B7}" srcOrd="0" destOrd="0" presId="urn:microsoft.com/office/officeart/2005/8/layout/process2"/>
    <dgm:cxn modelId="{6B20EB70-3F61-4A6C-A542-90E995F9E163}" srcId="{DFD7BDE1-58CF-4F23-A775-A4D878033503}" destId="{A4DDCA11-1EE5-453A-8C93-CC441975963E}" srcOrd="3" destOrd="0" parTransId="{CCF704E1-5723-444F-B1C7-B44F468A0CD1}" sibTransId="{E8161659-9467-4F7D-8210-0636EFB6576B}"/>
    <dgm:cxn modelId="{3E848E51-356C-4165-95CF-B54E46D5F87A}" type="presOf" srcId="{B422843B-8933-42BA-8C0C-BFECFB3A098A}" destId="{AD5E6300-24A3-4C18-88EA-CEB3138EAC2A}" srcOrd="0" destOrd="0" presId="urn:microsoft.com/office/officeart/2005/8/layout/process2"/>
    <dgm:cxn modelId="{8BB84C97-7533-467B-929F-914BCF4E0E2F}" type="presOf" srcId="{A4DDCA11-1EE5-453A-8C93-CC441975963E}" destId="{E901E20B-1380-480C-AA6F-769F878B0877}" srcOrd="0" destOrd="0" presId="urn:microsoft.com/office/officeart/2005/8/layout/process2"/>
    <dgm:cxn modelId="{2F7AFC97-BC5D-4860-88CD-70C2A8FA9AA3}" type="presOf" srcId="{653DC788-2E95-4942-BB9C-4DC9FE652CD5}" destId="{CCB4366C-4B48-48F3-98EA-1C0F6E455B0F}" srcOrd="1" destOrd="0" presId="urn:microsoft.com/office/officeart/2005/8/layout/process2"/>
    <dgm:cxn modelId="{75581598-10F2-4A9F-8AC4-21A9B16A0055}" type="presOf" srcId="{E8161659-9467-4F7D-8210-0636EFB6576B}" destId="{BF6EC35F-3D90-48B0-A310-3B8552C28649}" srcOrd="1" destOrd="0" presId="urn:microsoft.com/office/officeart/2005/8/layout/process2"/>
    <dgm:cxn modelId="{CD8F6FBE-DEB0-47AF-8827-09E37B6CC54E}" type="presOf" srcId="{91CED7B6-48E4-463E-B6E2-4D6D2D5C66E4}" destId="{F95AFEB4-0A6C-468A-8351-C5389CC06F18}" srcOrd="0" destOrd="0" presId="urn:microsoft.com/office/officeart/2005/8/layout/process2"/>
    <dgm:cxn modelId="{4B9CDFC9-7C6D-488C-B742-1FCFCD40DEDF}" type="presOf" srcId="{94D491A3-A342-4E97-AB7B-45374A38F679}" destId="{9B422A48-40CB-4B38-ADC8-1A64BB9A10F0}" srcOrd="0" destOrd="0" presId="urn:microsoft.com/office/officeart/2005/8/layout/process2"/>
    <dgm:cxn modelId="{A64755CA-26F5-4B93-9B27-028124EC2D53}" srcId="{DFD7BDE1-58CF-4F23-A775-A4D878033503}" destId="{77E20074-493F-4F9E-BF2D-A80B219C5DE4}" srcOrd="4" destOrd="0" parTransId="{FACD4B1A-EADE-429B-919E-A59DF918931F}" sibTransId="{91CED7B6-48E4-463E-B6E2-4D6D2D5C66E4}"/>
    <dgm:cxn modelId="{88823ACB-653C-47BE-AB85-620381EECB2C}" type="presOf" srcId="{47376DD6-802F-4BB5-8C9D-BCE74AE1978C}" destId="{CBDCBF8A-6657-4297-89D0-B0F4A6B0C746}" srcOrd="0" destOrd="0" presId="urn:microsoft.com/office/officeart/2005/8/layout/process2"/>
    <dgm:cxn modelId="{6A16E6D0-7D73-461A-A8C3-F8A8CDC41AA8}" srcId="{DFD7BDE1-58CF-4F23-A775-A4D878033503}" destId="{D8935579-0307-4C67-9819-661756B54B38}" srcOrd="5" destOrd="0" parTransId="{9AB14174-CDBF-4516-B8DA-63E14154EA49}" sibTransId="{74D7A4A3-2104-42BD-9B84-1206FFA7DC4D}"/>
    <dgm:cxn modelId="{DED351D1-D31F-4057-B4A0-7A5AC91E57F7}" type="presOf" srcId="{ECF73052-AADC-46B1-9FC9-7CEB98C4BB2C}" destId="{31B12B69-51D4-4060-BC27-36605A1CC847}" srcOrd="0" destOrd="0" presId="urn:microsoft.com/office/officeart/2005/8/layout/process2"/>
    <dgm:cxn modelId="{403401D2-E408-49EB-A003-5DF8F022187E}" srcId="{DFD7BDE1-58CF-4F23-A775-A4D878033503}" destId="{94D491A3-A342-4E97-AB7B-45374A38F679}" srcOrd="0" destOrd="0" parTransId="{5CC361DF-EADD-4107-9B31-856E2DE21E38}" sibTransId="{653DC788-2E95-4942-BB9C-4DC9FE652CD5}"/>
    <dgm:cxn modelId="{A01780D8-CFEC-4506-A270-6A45CD5B0720}" srcId="{DFD7BDE1-58CF-4F23-A775-A4D878033503}" destId="{47376DD6-802F-4BB5-8C9D-BCE74AE1978C}" srcOrd="2" destOrd="0" parTransId="{845C7DA5-1B9C-4703-8097-60DB8C1B73F3}" sibTransId="{B422843B-8933-42BA-8C0C-BFECFB3A098A}"/>
    <dgm:cxn modelId="{5CBF87E2-E4BE-4123-882C-2934E5818037}" type="presOf" srcId="{E8161659-9467-4F7D-8210-0636EFB6576B}" destId="{A2977621-4F92-41CE-B487-5F31A9ECEFBA}" srcOrd="0" destOrd="0" presId="urn:microsoft.com/office/officeart/2005/8/layout/process2"/>
    <dgm:cxn modelId="{60155CF3-9DD9-443A-80F3-2400E758271D}" type="presOf" srcId="{653DC788-2E95-4942-BB9C-4DC9FE652CD5}" destId="{89DD1ADB-6455-43E0-9E86-D5911474B8D5}" srcOrd="0" destOrd="0" presId="urn:microsoft.com/office/officeart/2005/8/layout/process2"/>
    <dgm:cxn modelId="{B4597B26-1C9E-4A53-B9D6-F694A23EF662}" type="presParOf" srcId="{827ACE22-AA45-42AB-A3B3-4F8C79B37C76}" destId="{9B422A48-40CB-4B38-ADC8-1A64BB9A10F0}" srcOrd="0" destOrd="0" presId="urn:microsoft.com/office/officeart/2005/8/layout/process2"/>
    <dgm:cxn modelId="{4F35C5C2-614A-4881-B26E-584DC8A3E9D3}" type="presParOf" srcId="{827ACE22-AA45-42AB-A3B3-4F8C79B37C76}" destId="{89DD1ADB-6455-43E0-9E86-D5911474B8D5}" srcOrd="1" destOrd="0" presId="urn:microsoft.com/office/officeart/2005/8/layout/process2"/>
    <dgm:cxn modelId="{9DAA1C85-3E04-4544-8930-0F8C5F61DEE1}" type="presParOf" srcId="{89DD1ADB-6455-43E0-9E86-D5911474B8D5}" destId="{CCB4366C-4B48-48F3-98EA-1C0F6E455B0F}" srcOrd="0" destOrd="0" presId="urn:microsoft.com/office/officeart/2005/8/layout/process2"/>
    <dgm:cxn modelId="{39D4DFCE-8389-4147-B110-C36167EC6D61}" type="presParOf" srcId="{827ACE22-AA45-42AB-A3B3-4F8C79B37C76}" destId="{A5FCD2E6-5691-46B9-A46C-C4E9358636B7}" srcOrd="2" destOrd="0" presId="urn:microsoft.com/office/officeart/2005/8/layout/process2"/>
    <dgm:cxn modelId="{80ED65C4-8E09-4835-96C5-06A051F8E121}" type="presParOf" srcId="{827ACE22-AA45-42AB-A3B3-4F8C79B37C76}" destId="{31B12B69-51D4-4060-BC27-36605A1CC847}" srcOrd="3" destOrd="0" presId="urn:microsoft.com/office/officeart/2005/8/layout/process2"/>
    <dgm:cxn modelId="{27290F01-C8EB-440A-84F5-7300B84436F5}" type="presParOf" srcId="{31B12B69-51D4-4060-BC27-36605A1CC847}" destId="{DDE31239-F013-4710-AA9B-7C83DF6A7C77}" srcOrd="0" destOrd="0" presId="urn:microsoft.com/office/officeart/2005/8/layout/process2"/>
    <dgm:cxn modelId="{030F4279-51F8-436A-9FD2-21ED89E26EC1}" type="presParOf" srcId="{827ACE22-AA45-42AB-A3B3-4F8C79B37C76}" destId="{CBDCBF8A-6657-4297-89D0-B0F4A6B0C746}" srcOrd="4" destOrd="0" presId="urn:microsoft.com/office/officeart/2005/8/layout/process2"/>
    <dgm:cxn modelId="{CA4DE5DC-9E0C-4A1A-AA72-651D888FABCC}" type="presParOf" srcId="{827ACE22-AA45-42AB-A3B3-4F8C79B37C76}" destId="{AD5E6300-24A3-4C18-88EA-CEB3138EAC2A}" srcOrd="5" destOrd="0" presId="urn:microsoft.com/office/officeart/2005/8/layout/process2"/>
    <dgm:cxn modelId="{D5130B43-969F-4237-B28B-B6A64180F04B}" type="presParOf" srcId="{AD5E6300-24A3-4C18-88EA-CEB3138EAC2A}" destId="{35ADA0A5-AE63-462F-A492-5F621F436323}" srcOrd="0" destOrd="0" presId="urn:microsoft.com/office/officeart/2005/8/layout/process2"/>
    <dgm:cxn modelId="{0549818C-7719-4D1A-B4B4-7E2D186FF79E}" type="presParOf" srcId="{827ACE22-AA45-42AB-A3B3-4F8C79B37C76}" destId="{E901E20B-1380-480C-AA6F-769F878B0877}" srcOrd="6" destOrd="0" presId="urn:microsoft.com/office/officeart/2005/8/layout/process2"/>
    <dgm:cxn modelId="{2AA8ED5D-3094-4C87-9959-932E561AB770}" type="presParOf" srcId="{827ACE22-AA45-42AB-A3B3-4F8C79B37C76}" destId="{A2977621-4F92-41CE-B487-5F31A9ECEFBA}" srcOrd="7" destOrd="0" presId="urn:microsoft.com/office/officeart/2005/8/layout/process2"/>
    <dgm:cxn modelId="{D38DF9F6-22EA-4B23-9760-8BD2797C9237}" type="presParOf" srcId="{A2977621-4F92-41CE-B487-5F31A9ECEFBA}" destId="{BF6EC35F-3D90-48B0-A310-3B8552C28649}" srcOrd="0" destOrd="0" presId="urn:microsoft.com/office/officeart/2005/8/layout/process2"/>
    <dgm:cxn modelId="{279E2DAE-F8E4-48DE-B038-7F1173E3A92F}" type="presParOf" srcId="{827ACE22-AA45-42AB-A3B3-4F8C79B37C76}" destId="{79C9033E-9C63-4E12-A312-062E84336916}" srcOrd="8" destOrd="0" presId="urn:microsoft.com/office/officeart/2005/8/layout/process2"/>
    <dgm:cxn modelId="{DFF8E88F-EE9A-4AD3-BA3A-8300D53A5C08}" type="presParOf" srcId="{827ACE22-AA45-42AB-A3B3-4F8C79B37C76}" destId="{F95AFEB4-0A6C-468A-8351-C5389CC06F18}" srcOrd="9" destOrd="0" presId="urn:microsoft.com/office/officeart/2005/8/layout/process2"/>
    <dgm:cxn modelId="{4D77C90B-F21F-4AA1-97F7-9637DAF7F5A9}" type="presParOf" srcId="{F95AFEB4-0A6C-468A-8351-C5389CC06F18}" destId="{15243BAA-EE92-4D1A-BCF6-D4DC61987673}" srcOrd="0" destOrd="0" presId="urn:microsoft.com/office/officeart/2005/8/layout/process2"/>
    <dgm:cxn modelId="{3C24EC14-C559-4713-96A3-86D05CDD291A}" type="presParOf" srcId="{827ACE22-AA45-42AB-A3B3-4F8C79B37C76}" destId="{8C0A3405-6B62-4357-B570-DB9354BF2917}" srcOrd="10" destOrd="0" presId="urn:microsoft.com/office/officeart/2005/8/layout/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422A48-40CB-4B38-ADC8-1A64BB9A10F0}">
      <dsp:nvSpPr>
        <dsp:cNvPr id="0" name=""/>
        <dsp:cNvSpPr/>
      </dsp:nvSpPr>
      <dsp:spPr>
        <a:xfrm>
          <a:off x="1678738" y="1597"/>
          <a:ext cx="1787908" cy="47342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Open Sans SemiBold"/>
            </a:rPr>
            <a:t>Pre-process data</a:t>
          </a:r>
          <a:endParaRPr lang="en-US" sz="1200" kern="1200" dirty="0"/>
        </a:p>
      </dsp:txBody>
      <dsp:txXfrm>
        <a:off x="1692604" y="15463"/>
        <a:ext cx="1760176" cy="445690"/>
      </dsp:txXfrm>
    </dsp:sp>
    <dsp:sp modelId="{89DD1ADB-6455-43E0-9E86-D5911474B8D5}">
      <dsp:nvSpPr>
        <dsp:cNvPr id="0" name=""/>
        <dsp:cNvSpPr/>
      </dsp:nvSpPr>
      <dsp:spPr>
        <a:xfrm rot="5400000">
          <a:off x="2483926" y="486855"/>
          <a:ext cx="177533" cy="21303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5400000">
        <a:off x="2508781" y="504608"/>
        <a:ext cx="127823" cy="124273"/>
      </dsp:txXfrm>
    </dsp:sp>
    <dsp:sp modelId="{A5FCD2E6-5691-46B9-A46C-C4E9358636B7}">
      <dsp:nvSpPr>
        <dsp:cNvPr id="0" name=""/>
        <dsp:cNvSpPr/>
      </dsp:nvSpPr>
      <dsp:spPr>
        <a:xfrm>
          <a:off x="1678738" y="711730"/>
          <a:ext cx="1787908" cy="47342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Open Sans SemiBold"/>
            </a:rPr>
            <a:t>Define network</a:t>
          </a:r>
          <a:endParaRPr lang="en-US" sz="1200" kern="1200" dirty="0"/>
        </a:p>
      </dsp:txBody>
      <dsp:txXfrm>
        <a:off x="1692604" y="725596"/>
        <a:ext cx="1760176" cy="445690"/>
      </dsp:txXfrm>
    </dsp:sp>
    <dsp:sp modelId="{31B12B69-51D4-4060-BC27-36605A1CC847}">
      <dsp:nvSpPr>
        <dsp:cNvPr id="0" name=""/>
        <dsp:cNvSpPr/>
      </dsp:nvSpPr>
      <dsp:spPr>
        <a:xfrm rot="5400000">
          <a:off x="2483926" y="1196988"/>
          <a:ext cx="177533" cy="21303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5400000">
        <a:off x="2508781" y="1214741"/>
        <a:ext cx="127823" cy="124273"/>
      </dsp:txXfrm>
    </dsp:sp>
    <dsp:sp modelId="{CBDCBF8A-6657-4297-89D0-B0F4A6B0C746}">
      <dsp:nvSpPr>
        <dsp:cNvPr id="0" name=""/>
        <dsp:cNvSpPr/>
      </dsp:nvSpPr>
      <dsp:spPr>
        <a:xfrm>
          <a:off x="1678738" y="1421863"/>
          <a:ext cx="1787908" cy="47342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Open Sans SemiBold"/>
            </a:rPr>
            <a:t> Define loss function</a:t>
          </a:r>
          <a:endParaRPr lang="en-US" sz="1200" kern="1200" dirty="0"/>
        </a:p>
      </dsp:txBody>
      <dsp:txXfrm>
        <a:off x="1692604" y="1435729"/>
        <a:ext cx="1760176" cy="445690"/>
      </dsp:txXfrm>
    </dsp:sp>
    <dsp:sp modelId="{AD5E6300-24A3-4C18-88EA-CEB3138EAC2A}">
      <dsp:nvSpPr>
        <dsp:cNvPr id="0" name=""/>
        <dsp:cNvSpPr/>
      </dsp:nvSpPr>
      <dsp:spPr>
        <a:xfrm rot="5400000">
          <a:off x="2483926" y="1907121"/>
          <a:ext cx="177533" cy="21303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5400000">
        <a:off x="2508781" y="1924874"/>
        <a:ext cx="127823" cy="124273"/>
      </dsp:txXfrm>
    </dsp:sp>
    <dsp:sp modelId="{E901E20B-1380-480C-AA6F-769F878B0877}">
      <dsp:nvSpPr>
        <dsp:cNvPr id="0" name=""/>
        <dsp:cNvSpPr/>
      </dsp:nvSpPr>
      <dsp:spPr>
        <a:xfrm>
          <a:off x="1678738" y="2131997"/>
          <a:ext cx="1787908" cy="47342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Open Sans SemiBold"/>
            </a:rPr>
            <a:t> Define optimizer </a:t>
          </a:r>
        </a:p>
      </dsp:txBody>
      <dsp:txXfrm>
        <a:off x="1692604" y="2145863"/>
        <a:ext cx="1760176" cy="445690"/>
      </dsp:txXfrm>
    </dsp:sp>
    <dsp:sp modelId="{A2977621-4F92-41CE-B487-5F31A9ECEFBA}">
      <dsp:nvSpPr>
        <dsp:cNvPr id="0" name=""/>
        <dsp:cNvSpPr/>
      </dsp:nvSpPr>
      <dsp:spPr>
        <a:xfrm rot="5400000">
          <a:off x="2483926" y="2617254"/>
          <a:ext cx="177533" cy="21303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5400000">
        <a:off x="2508781" y="2635007"/>
        <a:ext cx="127823" cy="124273"/>
      </dsp:txXfrm>
    </dsp:sp>
    <dsp:sp modelId="{79C9033E-9C63-4E12-A312-062E84336916}">
      <dsp:nvSpPr>
        <dsp:cNvPr id="0" name=""/>
        <dsp:cNvSpPr/>
      </dsp:nvSpPr>
      <dsp:spPr>
        <a:xfrm>
          <a:off x="1678738" y="2842130"/>
          <a:ext cx="1787908" cy="47342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Open Sans SemiBold"/>
            </a:rPr>
            <a:t> Training model</a:t>
          </a:r>
        </a:p>
      </dsp:txBody>
      <dsp:txXfrm>
        <a:off x="1692604" y="2855996"/>
        <a:ext cx="1760176" cy="445690"/>
      </dsp:txXfrm>
    </dsp:sp>
    <dsp:sp modelId="{F95AFEB4-0A6C-468A-8351-C5389CC06F18}">
      <dsp:nvSpPr>
        <dsp:cNvPr id="0" name=""/>
        <dsp:cNvSpPr/>
      </dsp:nvSpPr>
      <dsp:spPr>
        <a:xfrm rot="5400000">
          <a:off x="2483926" y="3327387"/>
          <a:ext cx="177533" cy="21303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5400000">
        <a:off x="2508781" y="3345140"/>
        <a:ext cx="127823" cy="124273"/>
      </dsp:txXfrm>
    </dsp:sp>
    <dsp:sp modelId="{8C0A3405-6B62-4357-B570-DB9354BF2917}">
      <dsp:nvSpPr>
        <dsp:cNvPr id="0" name=""/>
        <dsp:cNvSpPr/>
      </dsp:nvSpPr>
      <dsp:spPr>
        <a:xfrm>
          <a:off x="1678738" y="3552263"/>
          <a:ext cx="1787908" cy="47342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Open Sans SemiBold"/>
            </a:rPr>
            <a:t> Validation and Testing</a:t>
          </a:r>
        </a:p>
      </dsp:txBody>
      <dsp:txXfrm>
        <a:off x="1692604" y="3566129"/>
        <a:ext cx="1760176" cy="4456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422A48-40CB-4B38-ADC8-1A64BB9A10F0}">
      <dsp:nvSpPr>
        <dsp:cNvPr id="0" name=""/>
        <dsp:cNvSpPr/>
      </dsp:nvSpPr>
      <dsp:spPr>
        <a:xfrm>
          <a:off x="1678738" y="1597"/>
          <a:ext cx="1787908" cy="47342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Open Sans SemiBold"/>
            </a:rPr>
            <a:t>Pre-process data</a:t>
          </a:r>
          <a:endParaRPr lang="en-US" sz="1200" kern="1200" dirty="0"/>
        </a:p>
      </dsp:txBody>
      <dsp:txXfrm>
        <a:off x="1692604" y="15463"/>
        <a:ext cx="1760176" cy="445690"/>
      </dsp:txXfrm>
    </dsp:sp>
    <dsp:sp modelId="{89DD1ADB-6455-43E0-9E86-D5911474B8D5}">
      <dsp:nvSpPr>
        <dsp:cNvPr id="0" name=""/>
        <dsp:cNvSpPr/>
      </dsp:nvSpPr>
      <dsp:spPr>
        <a:xfrm rot="5400000">
          <a:off x="2483926" y="486855"/>
          <a:ext cx="177533" cy="21303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5400000">
        <a:off x="2508781" y="504608"/>
        <a:ext cx="127823" cy="124273"/>
      </dsp:txXfrm>
    </dsp:sp>
    <dsp:sp modelId="{A5FCD2E6-5691-46B9-A46C-C4E9358636B7}">
      <dsp:nvSpPr>
        <dsp:cNvPr id="0" name=""/>
        <dsp:cNvSpPr/>
      </dsp:nvSpPr>
      <dsp:spPr>
        <a:xfrm>
          <a:off x="1678738" y="711730"/>
          <a:ext cx="1787908" cy="47342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Open Sans SemiBold"/>
            </a:rPr>
            <a:t>Define network</a:t>
          </a:r>
          <a:endParaRPr lang="en-US" sz="1200" kern="1200" dirty="0"/>
        </a:p>
      </dsp:txBody>
      <dsp:txXfrm>
        <a:off x="1692604" y="725596"/>
        <a:ext cx="1760176" cy="445690"/>
      </dsp:txXfrm>
    </dsp:sp>
    <dsp:sp modelId="{31B12B69-51D4-4060-BC27-36605A1CC847}">
      <dsp:nvSpPr>
        <dsp:cNvPr id="0" name=""/>
        <dsp:cNvSpPr/>
      </dsp:nvSpPr>
      <dsp:spPr>
        <a:xfrm rot="5400000">
          <a:off x="2483926" y="1196988"/>
          <a:ext cx="177533" cy="21303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5400000">
        <a:off x="2508781" y="1214741"/>
        <a:ext cx="127823" cy="124273"/>
      </dsp:txXfrm>
    </dsp:sp>
    <dsp:sp modelId="{CBDCBF8A-6657-4297-89D0-B0F4A6B0C746}">
      <dsp:nvSpPr>
        <dsp:cNvPr id="0" name=""/>
        <dsp:cNvSpPr/>
      </dsp:nvSpPr>
      <dsp:spPr>
        <a:xfrm>
          <a:off x="1678738" y="1421863"/>
          <a:ext cx="1787908" cy="47342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Open Sans SemiBold"/>
            </a:rPr>
            <a:t> Define loss function</a:t>
          </a:r>
          <a:endParaRPr lang="en-US" sz="1200" kern="1200" dirty="0"/>
        </a:p>
      </dsp:txBody>
      <dsp:txXfrm>
        <a:off x="1692604" y="1435729"/>
        <a:ext cx="1760176" cy="445690"/>
      </dsp:txXfrm>
    </dsp:sp>
    <dsp:sp modelId="{AD5E6300-24A3-4C18-88EA-CEB3138EAC2A}">
      <dsp:nvSpPr>
        <dsp:cNvPr id="0" name=""/>
        <dsp:cNvSpPr/>
      </dsp:nvSpPr>
      <dsp:spPr>
        <a:xfrm rot="5400000">
          <a:off x="2483926" y="1907121"/>
          <a:ext cx="177533" cy="21303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5400000">
        <a:off x="2508781" y="1924874"/>
        <a:ext cx="127823" cy="124273"/>
      </dsp:txXfrm>
    </dsp:sp>
    <dsp:sp modelId="{E901E20B-1380-480C-AA6F-769F878B0877}">
      <dsp:nvSpPr>
        <dsp:cNvPr id="0" name=""/>
        <dsp:cNvSpPr/>
      </dsp:nvSpPr>
      <dsp:spPr>
        <a:xfrm>
          <a:off x="1678738" y="2131997"/>
          <a:ext cx="1787908" cy="47342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Open Sans SemiBold"/>
            </a:rPr>
            <a:t> Define optimizer </a:t>
          </a:r>
        </a:p>
      </dsp:txBody>
      <dsp:txXfrm>
        <a:off x="1692604" y="2145863"/>
        <a:ext cx="1760176" cy="445690"/>
      </dsp:txXfrm>
    </dsp:sp>
    <dsp:sp modelId="{A2977621-4F92-41CE-B487-5F31A9ECEFBA}">
      <dsp:nvSpPr>
        <dsp:cNvPr id="0" name=""/>
        <dsp:cNvSpPr/>
      </dsp:nvSpPr>
      <dsp:spPr>
        <a:xfrm rot="5400000">
          <a:off x="2483926" y="2617254"/>
          <a:ext cx="177533" cy="21303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5400000">
        <a:off x="2508781" y="2635007"/>
        <a:ext cx="127823" cy="124273"/>
      </dsp:txXfrm>
    </dsp:sp>
    <dsp:sp modelId="{79C9033E-9C63-4E12-A312-062E84336916}">
      <dsp:nvSpPr>
        <dsp:cNvPr id="0" name=""/>
        <dsp:cNvSpPr/>
      </dsp:nvSpPr>
      <dsp:spPr>
        <a:xfrm>
          <a:off x="1678738" y="2842130"/>
          <a:ext cx="1787908" cy="47342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Open Sans SemiBold"/>
            </a:rPr>
            <a:t> Training model</a:t>
          </a:r>
        </a:p>
      </dsp:txBody>
      <dsp:txXfrm>
        <a:off x="1692604" y="2855996"/>
        <a:ext cx="1760176" cy="445690"/>
      </dsp:txXfrm>
    </dsp:sp>
    <dsp:sp modelId="{F95AFEB4-0A6C-468A-8351-C5389CC06F18}">
      <dsp:nvSpPr>
        <dsp:cNvPr id="0" name=""/>
        <dsp:cNvSpPr/>
      </dsp:nvSpPr>
      <dsp:spPr>
        <a:xfrm rot="5400000">
          <a:off x="2483926" y="3327387"/>
          <a:ext cx="177533" cy="21303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5400000">
        <a:off x="2508781" y="3345140"/>
        <a:ext cx="127823" cy="124273"/>
      </dsp:txXfrm>
    </dsp:sp>
    <dsp:sp modelId="{8C0A3405-6B62-4357-B570-DB9354BF2917}">
      <dsp:nvSpPr>
        <dsp:cNvPr id="0" name=""/>
        <dsp:cNvSpPr/>
      </dsp:nvSpPr>
      <dsp:spPr>
        <a:xfrm>
          <a:off x="1678738" y="3552263"/>
          <a:ext cx="1787908" cy="47342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Open Sans SemiBold"/>
            </a:rPr>
            <a:t> Validation and Testing</a:t>
          </a:r>
        </a:p>
      </dsp:txBody>
      <dsp:txXfrm>
        <a:off x="1692604" y="3566129"/>
        <a:ext cx="1760176" cy="445690"/>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1872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at the top left. In traditional programming you supply the rules and the data, and the program gives you answers. The example next to it has a known rule, a + b = 3. Given a = 1, you solve for b, which is 2, and you could write that as code.</a:t>
            </a:r>
          </a:p>
          <a:p>
            <a:endParaRPr/>
          </a:p>
          <a:p>
            <a:r>
              <a:t>The machine learning box below flips the inputs: you supply data and answers, and the machine produces the rules. The example next to it's the one we'll keep using. We are given a and b pairs, six of them: -1 maps to -3, 0 to -1, 1 to 1, 2 to 3, 3 to 5, 4 to 7. Nobody tells us the relation, so ask the class to find it. It's y = 2x - 1.</a:t>
            </a:r>
          </a:p>
          <a:p>
            <a:endParaRPr/>
          </a:p>
          <a:p>
            <a:r>
              <a:t>The right side is headed "How?". We look for a model with a single layer and a single neuron. The neuron is simply a function with two learnable parameters: output equals weight times input plus bias, the linear form y = Ax + B at the bottom. The weight and the bias are the two numbers training has to find. Layers can be stacked into bigger models, which is the next slide. The same six points come back in the training procedure and in the PyTorch demo.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left side goes from biology to the model. The top picture is a biological neuron: dendrites receive signals, the cell body holds the nucleus, and the axon carries the output on to the axon terminals. Below it, the perceptron copies that structure. Several inputs, in 1 up to in n, arrive at the circle, get weighted and combined, and one value goes out.</a:t>
            </a:r>
          </a:p>
          <a:p>
            <a:endParaRPr/>
          </a:p>
          <a:p>
            <a:r>
              <a:t>The right side is the multi-layer perceptron. The inputs on the left are the input layer, the columns h1, h2 and so on are the hidden layers, and the right column is the output layer. Every neuron connects to every neuron in the next layer, so you will also hear this called a fully connected network. With more than one hidden layer we call it deep. Most of the rest of the lecture is about changing how these connections are wired.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bullet asks why we need an activation function at all. Without one, stacked layers collapse. Two layers compute W2 times W1 times x, and W2 times W1 is just another matrix, so the result is still one linear layer. Ten linear layers are no more powerful than one. A non-linearity after each layer is what lets the network fit curves as well as straight lines.</a:t>
            </a:r>
          </a:p>
          <a:p>
            <a:endParaRPr/>
          </a:p>
          <a:p>
            <a:r>
              <a:t>Here are some commonly used activation functions. Sigmoid squashes the output into 0 to 1, and it saturates at both ends, which means the gradient there is close to zero. Tanh outputs values between -1 and 1 and is zero-centered. ReLU is max of 0 and x. It's cheap to compute and it's the usual default for hidden layers. Softmax belongs at the last layer, where it turns the outputs into probabilities. We'll see that again for the next-token distribution of an LLM.</a:t>
            </a:r>
          </a:p>
          <a:p>
            <a:endParaRPr/>
          </a:p>
          <a:p>
            <a:r>
              <a:t>On the chart, the teal curve is sigmoid, the dark gray one is tanh, and the garnet line is ReLU: flat at zero for negative inputs, then a straight line.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down the six steps on the left. Each step has its example to the right.</a:t>
            </a:r>
          </a:p>
          <a:p>
            <a:endParaRPr/>
          </a:p>
          <a:p>
            <a:r>
              <a:t>Pre-process data: our six pairs, x on the left and y on the right. Define network: one neuron, x in and y out, with output equal to weight times input plus bias. Define loss function: evaluate the difference between the model's output and the true y. The scatter plot shows it. The line is the model, the dots are the data, and the vertical gaps marked Error are what the loss measures.</a:t>
            </a:r>
          </a:p>
          <a:p>
            <a:endParaRPr/>
          </a:p>
          <a:p>
            <a:r>
              <a:t>Define optimizer: minimize the loss by updating the model's parameters, the weights and biases. That's the sequence A1, B1 to A2, B2 to A3, B3 and so on, each pair giving a smaller error. The bowl-shaped curve at the bottom right is the picture of it: start at an initial weight, follow the gradient downhill, and end at the global cost minimum.</a:t>
            </a:r>
          </a:p>
          <a:p>
            <a:endParaRPr/>
          </a:p>
          <a:p>
            <a:r>
              <a:t>Training model: input the data repeatedly and keep optimizing the parameters. Validation and testing: evaluate the model's performance. The next slides open up the optimizer step. For a visual explanation of the same idea, the 3Blue1Brown link at the bottom right is a good one.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six steps are listed on the right. The diagram on the left shows them as a network.</a:t>
            </a:r>
          </a:p>
          <a:p>
            <a:endParaRPr/>
          </a:p>
          <a:p>
            <a:r>
              <a:t>Start at the top with the Forward Propagation arrow. The inputs x1 and x2 go through two hidden layers and out of the last neuron as the predictions, y prime. The gray nodes marked 1 are the biases. The predictions and the true values y go into the loss function, and the loss score goes to the optimizer.</a:t>
            </a:r>
          </a:p>
          <a:p>
            <a:endParaRPr/>
          </a:p>
          <a:p>
            <a:r>
              <a:t>Now follow the Backward Propagation arrow along the bottom. The optimizer produces a weight update, and the weights change. The circular arrows in the middle say this repeats until the loss function is minimized. The next two slides cover the backward half: how we know which direction to move each parameter, and how far to move it.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with the left side. The loss measures how wrong the model is. We use mean squared error: L is the mean of (y-hat minus y) squared, where y-hat is w times x plus b. The gradient is the slope of L for each parameter, and the update steps downhill: w becomes w minus eta times the derivative of L with respect to w. The same update applies to b, and eta is the learning rate. We repeat for many epochs. In our example, a random start ends at w around 2 and b around -1, which is y = 2x - 1 again. The last bullet is that the learning rate matters. Too small and training crawls. Too large and it overshoots or diverges.</a:t>
            </a:r>
          </a:p>
          <a:p>
            <a:endParaRPr/>
          </a:p>
          <a:p>
            <a:r>
              <a:t>The chart shows this for one parameter. It's a simplified picture: the loss as a function of w alone, a bowl with its minimum at w = 2. The dashed path starts at w = -1, where the loss is 9. The slope there is negative, so moving right lowers the loss and w increases. Each step lands closer to the bottom, and the steps shrink on their own because the slope flattens near the minimum. The eta of 0.3 belongs to this picture. On the real six-point problem a step that large would overshoot and diverge, which is why the PyTorch demo uses 0.05.</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do we get a gradient for every parameter when a real network has millions of them? The chain rule. The diagram at the top is the computation: x, multiply by w, add b, get y-hat, then the loss, (y-hat minus y) squared. In the forward propagation, we compute left to right. In the backward propagation, we start at the loss and multiply local derivatives going right to left. That gives the derivative of the loss with respect to y-hat first, then with respect to w and b.</a:t>
            </a:r>
          </a:p>
          <a:p>
            <a:endParaRPr/>
          </a:p>
          <a:p>
            <a:r>
              <a:t>The bullets work one example. Take x = 1 and y = 1, start from w = 0 and b = 0, with eta = 0.1. Forward: y-hat is 0, so the loss is 1. Backward: the derivative of the loss with respect to y-hat is 2 times (y-hat minus y), which is -2. The derivative with respect to w is that times x, so -2, and with respect to b it's also -2. Update: w becomes 0 minus 0.1 times -2, which is 0.2, and b is 0.2 as well. The new prediction is 0.4 and the loss has dropped from 1 to 0.36.</a:t>
            </a:r>
          </a:p>
          <a:p>
            <a:endParaRPr/>
          </a:p>
          <a:p>
            <a:r>
              <a:t>Real networks do the same thing through more layers. PyTorch and TensorFlow compute these gradients for you with autograd, but it helps to know what is going on when training misbehaves.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y = 2x - 1 problem from the first slides, written as a runnable script. I'd run it live in a notebook. The training takes a fraction of a second on a laptop CPU.</a:t>
            </a:r>
          </a:p>
          <a:p>
            <a:endParaRPr/>
          </a:p>
          <a:p>
            <a:r>
              <a:t>Read the code block from the top. The two tensors are the same six data points as before: x runs from -1 to 4, and y is 2x - 1. The model is nn.Linear(1, 1), one layer with one neuron, so it has exactly two parameters, w and b. The loss is mean squared error, and the optimizer is plain SGD with a learning rate of 0.05.</a:t>
            </a:r>
          </a:p>
          <a:p>
            <a:endParaRPr/>
          </a:p>
          <a:p>
            <a:r>
              <a:t>The loop is where the earlier slides show up. The first line is the forward pass plus the loss. zero_grad clears the gradients left over from the previous iteration, because PyTorch accumulates them by default, and forgetting that line is a classic bug. loss.backward() is the backpropagation slide, and opt.step() is the gradient descent update. We repeat this 200 times, using all six points at once. The last line prints the learned weight and bias. You should see roughly 2 and -1, the same answer we guessed by hand.</a:t>
            </a:r>
          </a:p>
          <a:p>
            <a:endParaRPr/>
          </a:p>
          <a:p>
            <a:r>
              <a:t>The right column maps the code onto the recipe from earlier: network, loss, optimizer, training loop. Then go through the Try it list in order. With lr = 0.5 the loss blows up and ends as NaN, because each step overshoots the minimum by more than the one before. With lr = 0.001, after 200 epochs the model is still far from 2 and -1, so the same toy problem would need many more epochs. For the third item, ask the trained model for f(10). With lr = 0.05 it gives about 19, for an input it never saw, because it learned the rule and not the table. The last item, a hidden layer with ReLU, deserves a minute. It can fit the six points, but usually less precisely, and its prediction at 10 changes from run to run. In test runs it landed between roughly 17 and 20, depending on the random initialization. Extra capacity doesn't help when the true relationship is already a straight line.</a:t>
            </a:r>
          </a:p>
          <a:p>
            <a:endParaRPr/>
          </a:p>
          <a:p>
            <a:r>
              <a:t>The link at the bottom is TensorFlow Playground. It's a visual way to play with the same ideas: change the learning rate, add hidden layers, switch the activation between ReLU and tanh, and watch the fit. You can also add noise and regularization there to see overfitting, which is the next topic.</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three plots use the same ten noisy points, the dots. The line is the model.</a:t>
            </a:r>
          </a:p>
          <a:p>
            <a:endParaRPr/>
          </a:p>
          <a:p>
            <a:r>
              <a:t>On the left is underfitting. A straight line is too simple, it misses the trend, and the error is high on both the training and the test data. In the middle is a good fit. A smooth curve follows the trend and holds up on new data. A few dots sit off the curve, and that's fine because the data is noisy. On the right is overfitting. A degree-7 polynomial passes close to every dot, so the training error is near zero, but it's chasing the noise. The swing at the right edge shows how badly it would predict new points.</a:t>
            </a:r>
          </a:p>
          <a:p>
            <a:endParaRPr/>
          </a:p>
          <a:p>
            <a:r>
              <a:t>The sentence at the bottom is the goal: low error on data the model has never seen, not only on the training set. Networks with millions of parameters can overfit easily, so we need a way to detect it. That's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Detecting overfitting means holding some data back. The bar at the top is a typical 70, 15, 15 split. The training set, 70 percent, fits the parameters, w and b in our toy model. The validation set, labeled Val, is for decisions about training itself: tuning the learning rate and deciding when to stop. The test set is for the final score only, and you use it once. If you tune on it, it's no longer an honest estimate.</a:t>
            </a:r>
          </a:p>
          <a:p>
            <a:endParaRPr/>
          </a:p>
          <a:p>
            <a:r>
              <a:t>The chart is illustrative, not real data. Training loss and validation loss both fall at first. Around epoch 50 the validation loss turns up while the training loss keeps falling. That gap is the overfitting signal, and the dashed line marks where early stopping would stop.</a:t>
            </a:r>
          </a:p>
          <a:p>
            <a:endParaRPr/>
          </a:p>
          <a:p>
            <a:r>
              <a:t>The list on the right has the standard remedies. Early stopping: stop when validation loss rises. Weight decay: penalize large weights. Dropout: randomly drop neurons during training. Data augmentation: flips, crops, added noise. And more data, which is usually the best fix if you can get it.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with the key idea at the top: use local receptive fields and shared weights to capture spatial patterns efficiently.</a:t>
            </a:r>
          </a:p>
          <a:p>
            <a:endParaRPr/>
          </a:p>
          <a:p>
            <a:r>
              <a:t>Why a CNN? Many data types have strong spatial structure, such as images and spatial sensor data. A fully connected network ignores spatial locality and is too heavy. To see how heavy, take a 224 by 224 color image. That's about 150 thousand input values, and a single fully connected layer with 1000 units would need around 150 million weights, while treating neighboring pixels as unrelated.</a:t>
            </a:r>
          </a:p>
          <a:p>
            <a:endParaRPr/>
          </a:p>
          <a:p>
            <a:r>
              <a:t>So we need a model that exploits local patterns, scales to high-dimensional inputs, and is computationally efficient. A CNN does that by looking at small patches and reusing the same filter everywhere in the image.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usual CNN picture. The input on the left is an image, here a robot. The first convolutions turn it into a stack of feature maps. Subsampling shrinks those maps. A second round of convolutions and subsampling gives more, smaller feature maps, labeled f.maps. At the end the maps feed fully connected layers, which produce the output.</a:t>
            </a:r>
          </a:p>
          <a:p>
            <a:endParaRPr/>
          </a:p>
          <a:p>
            <a:r>
              <a:t>Early layers tend to respond to simple patterns like edges, and later layers combine them into larger shapes. The next slide defines the pieces.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Take the left column first. A convolution layer applies learnable filters, called kernels, over local regions. Each filter detects a specific pattern: edges, textures and shapes. A pooling layer down-samples the feature maps. It reduces spatial resolution and sensitivity to small shifts. The common types are max pooling and average pooling. In the right column, the activation function introduces non-linearity, and ReLU or Leaky ReLU are the usual choices. It's the same idea as the activation function slide earlier.</a:t>
            </a:r>
          </a:p>
          <a:p>
            <a:endParaRPr/>
          </a:p>
          <a:p>
            <a:r>
              <a:t>The diagram shows the numbers. A 6 by 6 input is convolved with a 3 by 3 kernel at stride 1, which gives a 4 by 4 feature map. Then max pooling with a 2 by 2 filter at stride 2 keeps the largest value in each 2 by 2 block, so the 4 by 4 map becomes 2 by 2. For example, the top-left block holds 4, 2, 2 and 3, and the largest is 4, which is the top-left value of the output.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Strengths are on the left. A CNN has a strong inductive bias for spatial data: it assumes nearby pixels belong together. It's parameter-efficient because of weight sharing, and it has translation equivariance. If the cat moves ten pixels, the feature map moves with it instead of turning into something different. It works well for image classification, object detection and image-based diffusion models. We'll see the U-Net, which is a CNN, again in the diffusion section.</a:t>
            </a:r>
          </a:p>
          <a:p>
            <a:endParaRPr/>
          </a:p>
          <a:p>
            <a:r>
              <a:t>Limitations are on the right. A CNN has limited ability to capture global context, because one filter sees only a small window and the receptive field grows slowly with depth. So it's less suitable for long-range dependencies and for sequential or symbolic data. That leads to the next family of models.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Many real-world data are sequential: text, time series, sensor signals, motion trajectories. For these we need a model that processes inputs in order and keeps a notion of memory. The key idea of the RNN is a hidden state that summarizes past information and gets updated step by step.</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picture of the RNN idea. The input layer on the left has x1 and x2, the hidden layers are in the middle, and the output layer on the right gives y, a class or a target. The label under the hidden layers says a network is "deep" if it has more than one.</a:t>
            </a:r>
          </a:p>
          <a:p>
            <a:endParaRPr/>
          </a:p>
          <a:p>
            <a:r>
              <a:t>What makes it recurrent is the red arrow at the top. The output of a hidden neuron is fed back into an earlier hidden layer. That loop is the memory. In a real RNN the feedback carries the state from one time step to the next, so the previous state becomes part of the next input. The next slide writes this as an equation.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left side gives the structure. At each time step t, the hidden state h_t is a function f of the current input x_t and the previous hidden state h_(t-1). Here x is the input and h_t is the hidden state. The characteristics: processing is sequential, parameters are shared across time, it's a natural fit for time-dependent data, and the data length doesn't matter, because the same function is applied at every step.</a:t>
            </a:r>
          </a:p>
          <a:p>
            <a:endParaRPr/>
          </a:p>
          <a:p>
            <a:r>
              <a:t>The right side lists the limitations. It's hard to capture long-range dependencies. Training is unstable: gradients are multiplied through every time step, so they either shrink toward zero, which is vanishing gradients, or blow up, which is exploding gradients. And parallelism is limited, because each step needs the previous one. LSTM and GRU add gates that ease the memory problem, but the sequential bottleneck remains. That motivates the next model.</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slide starts with what goes wrong in the earlier models. RNNs and LSTMs have a sequential dependency, so they are hard to parallelize, and they suffer from vanishing and exploding gradients. Convolution-based models have a limited receptive field.</a:t>
            </a:r>
          </a:p>
          <a:p>
            <a:endParaRPr/>
          </a:p>
          <a:p>
            <a:r>
              <a:t>So we need a model that captures long-range dependencies, is highly parallelizable, and scales well with data and model size. The Transformer was designed around those requirements. The robot is a pun on the name.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original encoder-decoder Transformer from the 2017 paper "Attention Is All You Need", with annotations. The encoder is the left stack and the decoder is the right stack. The Nx marks mean each stack is repeated N times.</a:t>
            </a:r>
          </a:p>
          <a:p>
            <a:endParaRPr/>
          </a:p>
          <a:p>
            <a:r>
              <a:t>Read it from the bottom. The inputs go through an input embedding, positional encoding is added, and they enter the encoder. The decoder takes the outputs, shifted right, through its own embedding and positional encoding. At the top, a linear layer and a softmax give the output probabilities.</a:t>
            </a:r>
          </a:p>
          <a:p>
            <a:endParaRPr/>
          </a:p>
          <a:p>
            <a:r>
              <a:t>The callouts explain the blocks. Encoder self-attention: tokens look at each other, with queries, keys and values all computed from encoder states. Decoder self-attention, which is masked: tokens look only at the previous tokens, with everything computed from decoder states. Decoder-encoder attention: the target token looks at the source, with queries from the decoder states and keys and values from the encoder states. The feed-forward network is where each token, after taking information from the others, takes a moment to process it. The gold callout points at the Add &amp; Norm boxes: residual connections and layer normalization.</a:t>
            </a:r>
          </a:p>
          <a:p>
            <a:endParaRPr/>
          </a:p>
          <a:p>
            <a:r>
              <a:t>You don't need to memorize the whole diagram. The next slides take attention and the block apart.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slide begins with the definition. Each token attends to all other tokens in the sequence. That lets the model dynamically weigh context and capture global dependencies.</a:t>
            </a:r>
          </a:p>
          <a:p>
            <a:endParaRPr/>
          </a:p>
          <a:p>
            <a:r>
              <a:t>Then the core computation. Given a query, a key and a value, attention is softmax of Q times K-transpose divided by the square root of d_k, all multiplied by V. The last bullet says where Q, K and V come from: learned linear projections of the same input embeddings. Q represents information needs, K represents content addressing, and V carries the actual information to be aggregated.</a:t>
            </a:r>
          </a:p>
          <a:p>
            <a:endParaRPr/>
          </a:p>
          <a:p>
            <a:r>
              <a:t>In plain terms, the query is what a token is looking for, the key is what each token advertises, and the value is what it hands over if it's picked. The dot product of one token's query with every key gives relevance scores. Dividing by the square root of d_k keeps the numbers stable, softmax turns the scores into weights that sum to one, and the weighted sum of the values is the new representation. It's all matrix multiplication, so every token is processed at once. Q times K-transpose is an n by n matrix, which is where the quadratic cost on the Transformers in Practice slide comes from.</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diagram on the left is one block, read from the bottom. Tokens become embeddings, and positional encoding is added, because attention ignores order: shuffle the input tokens and you get the same outputs, just shuffled. Then comes multi-head self-attention. There are h parallel heads, each with its own Q, K and V projections, and their outputs are combined. Different heads can track different relations, for example one following the previous word and another linking a pronoun to its noun. That's a tendency, not a guarantee.</a:t>
            </a:r>
          </a:p>
          <a:p>
            <a:endParaRPr/>
          </a:p>
          <a:p>
            <a:r>
              <a:t>After attention comes Add &amp; LayerNorm. The dashed lines marked skip connection carry the input around a sublayer and add it back, so each sublayer only has to learn a correction, and the normalization keeps values in a stable range. Then the feed-forward network, a small MLP applied to each token separately, which typically holds about two thirds of a block's parameters, followed by another Add &amp; LayerNorm. The bracket and the x N mean the whole block is stacked N times: 12 times in BERT-base and 96 in GPT-3.</a:t>
            </a:r>
          </a:p>
          <a:p>
            <a:endParaRPr/>
          </a:p>
          <a:p>
            <a:r>
              <a:t>The right column lists the same four pieces: multi-head attention, positional encoding (sinusoidal, learned, or RoPE), add and layer norm, and the feed-forward network.</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Each card shows an attention mask. Rows are the token that's asking, columns are the token being looked at, and a filled square means it's allowed to look.</a:t>
            </a:r>
          </a:p>
          <a:p>
            <a:endParaRPr dirty="0"/>
          </a:p>
          <a:p>
            <a:r>
              <a:rPr dirty="0"/>
              <a:t>Encoder-only is on the left. Every token sees every token, in both directions. Examples are BERT and </a:t>
            </a:r>
            <a:r>
              <a:rPr dirty="0" err="1"/>
              <a:t>RoBERTa</a:t>
            </a:r>
            <a:r>
              <a:rPr dirty="0"/>
              <a:t>, and they are good at classification, search and embeddings. Decoder-only is in the middle. Each token sees itself and the past, which is the causal mask, the triangle. That's what lets the model generate one token at a time. GPT and </a:t>
            </a:r>
            <a:r>
              <a:rPr dirty="0" err="1"/>
              <a:t>LLaMA</a:t>
            </a:r>
            <a:r>
              <a:rPr dirty="0"/>
              <a:t> are examples, and this is the family behind the auto-regressive LLMs, used for text generation and chat. Encoder-Decoder is on the right and has both masks: the encoder is full, the decoder is causal, and the decoder also attends to the encoder. Examples are T5, Whisper and the original Transformer, used for translation, summarization and speech-to-text.</a:t>
            </a:r>
          </a:p>
          <a:p>
            <a:endParaRPr dirty="0"/>
          </a:p>
          <a:p>
            <a:r>
              <a:rPr dirty="0"/>
              <a:t>The bar at the bottom adds that Transformers also work on images: </a:t>
            </a:r>
            <a:r>
              <a:rPr dirty="0" err="1"/>
              <a:t>ViT</a:t>
            </a:r>
            <a:r>
              <a:rPr dirty="0"/>
              <a:t> cuts an image into 16 by 16 patches and feeds them to a Transformer encoder.</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Pros are on the left. A Transformer scales well with data and parameters. It's a unified architecture across modalities, text, image, video and motion, with mostly the input embedding changing. And it's the backbone of modern LLMs and foundation models.</a:t>
            </a:r>
          </a:p>
          <a:p>
            <a:endParaRPr/>
          </a:p>
          <a:p>
            <a:r>
              <a:t>Cons are on the right. Attention has quadratic complexity with respect to sequence length, and the attention computation is memory-intensive. Every token attends to every other token, so doubling the context quadruples the attention cost. Much of the current engineering work, like efficient attention kernels, targets this issue.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table row by row. The MLP is for small tabular inputs. Its core idea is that every input connects to every neuron, so it has no long-range context beyond its fixed-size input, and it trains in parallel. The CNN is for images and spatial data, with local filters and shared weights. Its long-range context is limited and grows with depth, and it trains in parallel. The RNN or LSTM is for sequences and time series, with a hidden state carried step by step. Its long-range context is weak because of vanishing gradients, and it isn't parallel, it's sequential. The Transformer handles text, image, video and motion, using self-attention between all token pairs. Its context is strong and global, and it trains in parallel, though the cost grows with n squared.</a:t>
            </a:r>
          </a:p>
          <a:p>
            <a:endParaRPr/>
          </a:p>
          <a:p>
            <a:r>
              <a:t>The line at the bottom says the families are often mixed. Diffusion backbones combine a CNN, the U-Net, with Transformer layers, and that's what the next section builds on.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previews the next topic. The picture is the forward diffusion process, which is fixed: add noise. On the left is the image X0, a cat. At each step we add a little noise, giving X1, and further along X(t-1) and X_t, until X_T on the right, which is noise.</a:t>
            </a:r>
          </a:p>
          <a:p>
            <a:endParaRPr/>
          </a:p>
          <a:p>
            <a:r>
              <a:t>The equations underneath say the same thing. Each X_t is drawn from a Gaussian centered on the scaled previous image, with variance beta_t. Written the other way, X_t equals the square root of 1 minus beta_t times X(t-1), plus the square root of beta_t times epsilon, where beta_t is the variance, or strength, of the noise. A generative model learns to run this process backwards. This slide sits right before the section divider, so treat it as a teaser.</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section is about common modelling approaches, meaning ways of using the networks we just covered. It has three parts, matching the outline: diffusion, auto-regressive models, and agents.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bullet: many generative tasks require modeling complex, high-dimensional data distributions. That's hard to optimize and sensitive to modeling assumptions. Diffusion transforms generation into a progressive denoising process, so instead of one hard step there are many small, easy ones.</a:t>
            </a:r>
          </a:p>
          <a:p>
            <a:endParaRPr/>
          </a:p>
          <a:p>
            <a:r>
              <a:t>The core concept is two processes. Forward diffusion gradually corrupts data by adding Gaussian noise. Reverse diffusion learns to remove noise step by step to generate samples. The generation process starts from pure noise and gradually produces a realistic sample.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Given a clean data sample x0, noise is added over multiple time steps, and the equation gives x_t directly: the square root of alpha_t times x0, plus the square root of one minus alpha_t times epsilon, where epsilon is standard Gaussian noise. The slide writes alpha_t. In most papers this is the cumulative product of the per-step factors from the previous slide, usually written alpha-bar_t, so it's already accumulated over the steps.</a:t>
            </a:r>
          </a:p>
          <a:p>
            <a:endParaRPr/>
          </a:p>
          <a:p>
            <a:r>
              <a:t>After sufficient steps, x_T becomes nearly indistinguishable from Gaussian noise. This process is fixed and non-learnable. That's convenient, because we can create a noisy version of any training image at any step t in one shot, without simulating every earlier step.</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model learns to approximate p_theta of x(t-1) given x_t. In plain words, given the noisy sample at step t, produce a slightly less noisy one. At each step it predicts how to remove noise from the current sample. In the common formulation, the network is trained to predict the noise that was added. Repeating this process transforms noise into a realistic sample.</a:t>
            </a:r>
          </a:p>
          <a:p>
            <a:endParaRPr/>
          </a:p>
          <a:p>
            <a:r>
              <a:t>The last bullet is the point to stress: the final output is a new sample drawn from the data distribution, not a reconstruction of any specific training example.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whole idea in one picture. The top row is the interface. Training data goes in on the left, a cat image. The diffusion model is the box in the middle. A generated new image comes out on the right.</a:t>
            </a:r>
          </a:p>
          <a:p>
            <a:endParaRPr/>
          </a:p>
          <a:p>
            <a:r>
              <a:t>Underneath are the two processes. Forward diffusion goes left to right and turns a clean cat into a noisy image. Reverse diffusion goes right to left, and it's the part the model learns. At generation time we start from noise and run the reverse direction to get a new image.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table lists the usual backbone, the denoising network, for each use case. Image diffusion uses a U-Net, which is a CNN. Latent diffusion uses a U-Net plus a Transformer, as in Stable Diffusion, which works in a compressed latent space. Text or token diffusion uses a Transformer. Motion diffusion uses a Transformer or a hybrid. Video diffusion uses a U-Net plus a Transformer. So the denoiser is an ordinary network from the earlier architecture sections.</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idea: model the joint probability of a sequence, p of x1 through x_T. So in every round of generation we use the product formula. It's the probability of x1, times the probability of x2 given x1, and so on up to x_T given everything before it. The model only solves one problem: given everything so far, what comes next?</a:t>
            </a:r>
          </a:p>
          <a:p>
            <a:endParaRPr/>
          </a:p>
          <a:p>
            <a:r>
              <a:t>Generation is then a loop. Predict, pick a token, append it, repeat. The link at the bottom is a short introduction video for anyone who wants another explanation.</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bullets on the left give the shapes. The input has shape 1 by token length, and every iteration adds one token, the answer from the previous iteration. The output is one token per iteration, with shape 1 by 1 by vocabulary size, and the predicted token is the argmax of the output. Internally the model scores every position and generation only uses the last one, so the slide shows the simplified shape.</a:t>
            </a:r>
          </a:p>
          <a:p>
            <a:endParaRPr/>
          </a:p>
          <a:p>
            <a:r>
              <a:t>In the figure, the input is "The dog sat on". Each word becomes an input token vector and goes through the LLM. The LLM produces a vector representation of the next token, which becomes scores over the vocabulary. The purple column lists next-word candidates: "the" has the highest probability, "mat" the second highest, then "pad", and the rest are less likely. We pick "the", append it to the input, and run again.</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There are three components, left to right on the slide. First the tokenizer, which has an encoder and a decoder. The LLM doesn't take strings directly, so all input has to be converted into tokens. The picture on the right shows it. "Fine Tuning is fun for all!" is split into eight tokens, and "Tuning" becomes two pieces, "Tun" and "ing". Each token maps to an integer ID, 34389, 13932 and so on, which is the encoding. Decoding maps the IDs back to the same text. The note at the bottom says there are multiple popular tokenizers, and you should use the tokenizer associated with your model.</a:t>
            </a:r>
          </a:p>
          <a:p>
            <a:endParaRPr/>
          </a:p>
          <a:p>
            <a:r>
              <a:t>Second, the processor for multi-modal models, which is a tokenizer for image or video. Third, the LLM itself: Transformer layers that convert input tokens to output tokens.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generation settings, listed top to bottom. max_length is the total length of the sequence. temperature is the sampling temperature: lower means more conservative output, higher means more varied. repetition_penalty penalizes repeated tokens. bad_words_ids is a list of token IDs to forbid. num_beams is the number of beams for beam search, which keeps several candidate sequences instead of one greedy path.</a:t>
            </a:r>
          </a:p>
          <a:p>
            <a:endParaRPr/>
          </a:p>
          <a:p>
            <a:r>
              <a:t>They are arguments to the generate call in Hugging Face. None of them changes the model's weights. They only change how we choose tokens from the output distribution.</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link at the top is the Hugging Face model hub, and the screenshot below shows its Models page: filters on the left, a list of models on the right, sorted by trending. If you want to know what is current, look there. Check it yourself rather than relying on any list I give you, because this field moves fast.</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definition at the top: an LLM agent is a system that uses a large language model as a reasoning core to perceive, decide and act in an environment through iterative interaction.</a:t>
            </a:r>
          </a:p>
          <a:p>
            <a:endParaRPr/>
          </a:p>
          <a:p>
            <a:r>
              <a:t>Below that's the contrast. A standard LLM goes input, text generation, output, and it doesn't affect the real world, for example the codebase. An LLM agent runs observation, reasoning, action and feedback, and then loops.</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 the arrows from the left. The task goes into the LLM, which reasons and picks the next action. The arrow labeled Action goes to the tools: search, code, database and APIs. The arrow labeled Result brings the tool's output to the Observation box. The loop along the bottom sends the result back into the LLM's context, so the next decision can use it.</a:t>
            </a:r>
          </a:p>
          <a:p>
            <a:endParaRPr/>
          </a:p>
          <a:p>
            <a:r>
              <a:t>That loop repeats until the model decides the task is done, and then the final answer leaves along the top path. A coding agent works this way: read a file, edit it, run the tests, read the failures, edit again.</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slide says an LLM-based system is typically called an agent if it satisfies four properties. Autonomy: it can make decisions without step-by-step human instructions. Goal-directed behavior: it acts to maximize task success. Iterative interaction: it uses feedback to adjust its actions. Tool use: it can call external functions or systems.</a:t>
            </a:r>
          </a:p>
          <a:p>
            <a:endParaRPr/>
          </a:p>
          <a:p>
            <a:r>
              <a:t>A chatbot that answers once doesn't meet these. A system that plans, runs a command, reads the error and retries does. In practice it's a spectrum.</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Going down the five points. One: training means minimizing the loss. Gradient descent updates the parameters, and backpropagation supplies the gradients. Two: without activation functions, extra layers add nothing, because the whole network collapses into one linear map. Three: fitting the training set isn't enough. Check a validation set, and when training and validation results diverge, reach for early stopping, dropout or more data. Four: choose the architecture to match the data, with CNNs for spatial structure, RNNs for sequences, and Transformers for global context. Five: diffusion generates by denoising, autoregressive models by predicting the next token, and an LLM with tools and a feedback loop is an agent.</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questions, each with three options, and the timer on the slide says five minutes. Have people discuss in pairs, then take answers by show of hands for each question: A, B or C. Don't reveal the answers yet, they are on the next slide. If time is short, run questions 2 and 4 only.</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table gives each answer with the reason. Question 1 is B. Stacked linear maps are still linear: W2 times W1 times x equals W2 W1 times x. Question 2 is B, overfitting. The model memorizes the training set, so stop early or regularize. Question 3 is B. The steps jump past the minimum, so the loss oscillates or diverges. If many people missed this one, go back to the gradient descent slide. Question 4 is C, the Transformer. Self-attention connects every pair of tokens and has no sequential dependency, so it trains in parallel. Question 5 is B, decoder-only. A causal mask hides future tokens, so the model predicts each token from the past only.</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left column is courses and videos: the 3Blue1Brown neural networks series, Andrej Karpathy's Zero to Hero series, Stanford CS231n for CNNs, and Stanford CS224n for NLP with deep learning. The right column is reading and tools: Dive into Deep Learning, a free textbook, The Illustrated Transformer by Jay Alammar, and TensorFlow Playground, the in-browser demo from the hands-on slide.</a:t>
            </a:r>
          </a:p>
          <a:p>
            <a:endParaRPr/>
          </a:p>
          <a:p>
            <a:r>
              <a:t>If you only pick two, take 3Blue1Brown for intuition and Karpathy for building things from scratch. The Illustrated Transformer goes well with today's attention slides, and d2l.ai has runnable code. Thanks.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le Slide">
    <p:bg>
      <p:bgPr>
        <a:gradFill>
          <a:gsLst>
            <a:gs pos="0">
              <a:srgbClr val="782F40"/>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5F5CF-7563-910E-C780-7C168339C070}"/>
              </a:ext>
            </a:extLst>
          </p:cNvPr>
          <p:cNvSpPr>
            <a:spLocks noGrp="1"/>
          </p:cNvSpPr>
          <p:nvPr>
            <p:ph type="ctrTitle"/>
          </p:nvPr>
        </p:nvSpPr>
        <p:spPr>
          <a:xfrm>
            <a:off x="5052645" y="1122363"/>
            <a:ext cx="6624489" cy="2387600"/>
          </a:xfrm>
        </p:spPr>
        <p:txBody>
          <a:bodyPr anchor="b"/>
          <a:lstStyle>
            <a:lvl1pPr algn="l">
              <a:defRPr sz="6000">
                <a:solidFill>
                  <a:schemeClr val="tx1"/>
                </a:solidFill>
                <a:latin typeface="+mj-lt"/>
                <a:cs typeface="Times New Roman" panose="02020603050405020304" pitchFamily="18" charset="0"/>
              </a:defRPr>
            </a:lvl1pPr>
          </a:lstStyle>
          <a:p>
            <a:r>
              <a:rPr lang="en-US"/>
              <a:t>Click to edit Master title style</a:t>
            </a:r>
          </a:p>
        </p:txBody>
      </p:sp>
      <p:sp>
        <p:nvSpPr>
          <p:cNvPr id="3" name="Subtitle 2">
            <a:extLst>
              <a:ext uri="{FF2B5EF4-FFF2-40B4-BE49-F238E27FC236}">
                <a16:creationId xmlns:a16="http://schemas.microsoft.com/office/drawing/2014/main" id="{735612E9-1D7E-C187-3DC5-A7EF5451C6EE}"/>
              </a:ext>
            </a:extLst>
          </p:cNvPr>
          <p:cNvSpPr>
            <a:spLocks noGrp="1"/>
          </p:cNvSpPr>
          <p:nvPr>
            <p:ph type="subTitle" idx="1"/>
          </p:nvPr>
        </p:nvSpPr>
        <p:spPr>
          <a:xfrm>
            <a:off x="509479" y="3989942"/>
            <a:ext cx="11173042" cy="1086150"/>
          </a:xfrm>
        </p:spPr>
        <p:txBody>
          <a:bodyPr/>
          <a:lstStyle>
            <a:lvl1pPr marL="0" indent="0" algn="ctr">
              <a:buNone/>
              <a:defRPr sz="24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Picture 4" descr="A white and black logo&#10;&#10;Description automatically generated">
            <a:extLst>
              <a:ext uri="{FF2B5EF4-FFF2-40B4-BE49-F238E27FC236}">
                <a16:creationId xmlns:a16="http://schemas.microsoft.com/office/drawing/2014/main" id="{686958BE-999F-7265-40E9-A5240BE1CF8D}"/>
              </a:ext>
            </a:extLst>
          </p:cNvPr>
          <p:cNvPicPr>
            <a:picLocks noChangeAspect="1"/>
          </p:cNvPicPr>
          <p:nvPr userDrawn="1"/>
        </p:nvPicPr>
        <p:blipFill>
          <a:blip r:embed="rId2"/>
          <a:stretch>
            <a:fillRect/>
          </a:stretch>
        </p:blipFill>
        <p:spPr>
          <a:xfrm>
            <a:off x="-212878" y="905820"/>
            <a:ext cx="5693863" cy="3409499"/>
          </a:xfrm>
          <a:prstGeom prst="rect">
            <a:avLst/>
          </a:prstGeom>
        </p:spPr>
      </p:pic>
    </p:spTree>
    <p:extLst>
      <p:ext uri="{BB962C8B-B14F-4D97-AF65-F5344CB8AC3E}">
        <p14:creationId xmlns:p14="http://schemas.microsoft.com/office/powerpoint/2010/main" val="3657886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0">
              <a:srgbClr val="782F40"/>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5F5CF-7563-910E-C780-7C168339C070}"/>
              </a:ext>
            </a:extLst>
          </p:cNvPr>
          <p:cNvSpPr>
            <a:spLocks noGrp="1"/>
          </p:cNvSpPr>
          <p:nvPr>
            <p:ph type="ctrTitle"/>
          </p:nvPr>
        </p:nvSpPr>
        <p:spPr>
          <a:xfrm>
            <a:off x="584887" y="1122363"/>
            <a:ext cx="11022226" cy="2387600"/>
          </a:xfrm>
        </p:spPr>
        <p:txBody>
          <a:bodyPr anchor="b"/>
          <a:lstStyle>
            <a:lvl1pPr algn="ctr">
              <a:defRPr sz="6000">
                <a:solidFill>
                  <a:schemeClr val="tx1"/>
                </a:solidFill>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Subtitle 2">
            <a:extLst>
              <a:ext uri="{FF2B5EF4-FFF2-40B4-BE49-F238E27FC236}">
                <a16:creationId xmlns:a16="http://schemas.microsoft.com/office/drawing/2014/main" id="{735612E9-1D7E-C187-3DC5-A7EF5451C6EE}"/>
              </a:ext>
            </a:extLst>
          </p:cNvPr>
          <p:cNvSpPr>
            <a:spLocks noGrp="1"/>
          </p:cNvSpPr>
          <p:nvPr>
            <p:ph type="subTitle" idx="1"/>
          </p:nvPr>
        </p:nvSpPr>
        <p:spPr>
          <a:xfrm>
            <a:off x="1524000" y="3821392"/>
            <a:ext cx="9144000" cy="1102300"/>
          </a:xfrm>
        </p:spPr>
        <p:txBody>
          <a:bodyPr/>
          <a:lstStyle>
            <a:lvl1pPr marL="0" indent="0" algn="ctr">
              <a:buNone/>
              <a:defRPr sz="24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AD87F3-13C9-F97D-679A-047289A8BDDF}"/>
              </a:ext>
            </a:extLst>
          </p:cNvPr>
          <p:cNvSpPr>
            <a:spLocks noGrp="1"/>
          </p:cNvSpPr>
          <p:nvPr>
            <p:ph type="dt" sz="half" idx="10"/>
          </p:nvPr>
        </p:nvSpPr>
        <p:spPr/>
        <p:txBody>
          <a:bodyPr/>
          <a:lstStyle/>
          <a:p>
            <a:fld id="{3AB34FB6-96E0-E94F-98AA-54332C31E3E2}" type="datetimeFigureOut">
              <a:rPr lang="en-US" smtClean="0"/>
              <a:t>10/13/2026</a:t>
            </a:fld>
            <a:endParaRPr lang="en-US"/>
          </a:p>
        </p:txBody>
      </p:sp>
      <p:sp>
        <p:nvSpPr>
          <p:cNvPr id="6" name="Slide Number Placeholder 5">
            <a:extLst>
              <a:ext uri="{FF2B5EF4-FFF2-40B4-BE49-F238E27FC236}">
                <a16:creationId xmlns:a16="http://schemas.microsoft.com/office/drawing/2014/main" id="{08255B78-8660-7977-A527-B43BB02EAF7D}"/>
              </a:ext>
            </a:extLst>
          </p:cNvPr>
          <p:cNvSpPr>
            <a:spLocks noGrp="1"/>
          </p:cNvSpPr>
          <p:nvPr>
            <p:ph type="sldNum" sz="quarter" idx="12"/>
          </p:nvPr>
        </p:nvSpPr>
        <p:spPr/>
        <p:txBody>
          <a:bodyPr/>
          <a:lstStyle/>
          <a:p>
            <a:fld id="{00C646E2-5701-E245-9F49-1F595AFFA2FE}" type="slidenum">
              <a:rPr lang="en-US" smtClean="0"/>
              <a:t>‹#›</a:t>
            </a:fld>
            <a:endParaRPr lang="en-US"/>
          </a:p>
        </p:txBody>
      </p:sp>
      <p:pic>
        <p:nvPicPr>
          <p:cNvPr id="8" name="Picture 7" descr="A black and gold logo&#10;&#10;Description automatically generated">
            <a:extLst>
              <a:ext uri="{FF2B5EF4-FFF2-40B4-BE49-F238E27FC236}">
                <a16:creationId xmlns:a16="http://schemas.microsoft.com/office/drawing/2014/main" id="{84389171-B04B-0ECD-A41B-B497CF95CE03}"/>
              </a:ext>
            </a:extLst>
          </p:cNvPr>
          <p:cNvPicPr>
            <a:picLocks noChangeAspect="1"/>
          </p:cNvPicPr>
          <p:nvPr userDrawn="1"/>
        </p:nvPicPr>
        <p:blipFill>
          <a:blip r:embed="rId2"/>
          <a:stretch>
            <a:fillRect/>
          </a:stretch>
        </p:blipFill>
        <p:spPr>
          <a:xfrm>
            <a:off x="4318262" y="5955055"/>
            <a:ext cx="3555476" cy="802589"/>
          </a:xfrm>
          <a:prstGeom prst="rect">
            <a:avLst/>
          </a:prstGeom>
        </p:spPr>
      </p:pic>
    </p:spTree>
    <p:extLst>
      <p:ext uri="{BB962C8B-B14F-4D97-AF65-F5344CB8AC3E}">
        <p14:creationId xmlns:p14="http://schemas.microsoft.com/office/powerpoint/2010/main" val="1682629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2_Title Slide">
    <p:bg>
      <p:bgPr>
        <a:gradFill>
          <a:gsLst>
            <a:gs pos="0">
              <a:srgbClr val="782F40"/>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5F5CF-7563-910E-C780-7C168339C070}"/>
              </a:ext>
            </a:extLst>
          </p:cNvPr>
          <p:cNvSpPr>
            <a:spLocks noGrp="1"/>
          </p:cNvSpPr>
          <p:nvPr>
            <p:ph type="ctrTitle"/>
          </p:nvPr>
        </p:nvSpPr>
        <p:spPr>
          <a:xfrm>
            <a:off x="1239716" y="3155682"/>
            <a:ext cx="9712569" cy="1615201"/>
          </a:xfrm>
        </p:spPr>
        <p:txBody>
          <a:bodyPr anchor="b"/>
          <a:lstStyle>
            <a:lvl1pPr algn="ctr">
              <a:defRPr sz="6000">
                <a:solidFill>
                  <a:schemeClr val="tx1"/>
                </a:solidFill>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Subtitle 2">
            <a:extLst>
              <a:ext uri="{FF2B5EF4-FFF2-40B4-BE49-F238E27FC236}">
                <a16:creationId xmlns:a16="http://schemas.microsoft.com/office/drawing/2014/main" id="{735612E9-1D7E-C187-3DC5-A7EF5451C6EE}"/>
              </a:ext>
            </a:extLst>
          </p:cNvPr>
          <p:cNvSpPr>
            <a:spLocks noGrp="1"/>
          </p:cNvSpPr>
          <p:nvPr>
            <p:ph type="subTitle" idx="1"/>
          </p:nvPr>
        </p:nvSpPr>
        <p:spPr>
          <a:xfrm>
            <a:off x="1239716" y="4886897"/>
            <a:ext cx="9712568" cy="1044979"/>
          </a:xfrm>
        </p:spPr>
        <p:txBody>
          <a:bodyPr/>
          <a:lstStyle>
            <a:lvl1pPr marL="0" indent="0" algn="ctr">
              <a:buNone/>
              <a:defRPr sz="24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Picture 4" descr="A white and black logo&#10;&#10;Description automatically generated">
            <a:extLst>
              <a:ext uri="{FF2B5EF4-FFF2-40B4-BE49-F238E27FC236}">
                <a16:creationId xmlns:a16="http://schemas.microsoft.com/office/drawing/2014/main" id="{686958BE-999F-7265-40E9-A5240BE1CF8D}"/>
              </a:ext>
            </a:extLst>
          </p:cNvPr>
          <p:cNvPicPr>
            <a:picLocks noChangeAspect="1"/>
          </p:cNvPicPr>
          <p:nvPr userDrawn="1"/>
        </p:nvPicPr>
        <p:blipFill>
          <a:blip r:embed="rId2"/>
          <a:stretch>
            <a:fillRect/>
          </a:stretch>
        </p:blipFill>
        <p:spPr>
          <a:xfrm>
            <a:off x="4180026" y="601160"/>
            <a:ext cx="3831948" cy="2294580"/>
          </a:xfrm>
          <a:prstGeom prst="rect">
            <a:avLst/>
          </a:prstGeom>
        </p:spPr>
      </p:pic>
    </p:spTree>
    <p:extLst>
      <p:ext uri="{BB962C8B-B14F-4D97-AF65-F5344CB8AC3E}">
        <p14:creationId xmlns:p14="http://schemas.microsoft.com/office/powerpoint/2010/main" val="771022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B4CA4-1BDB-D2FB-E9F6-6566E18DCD38}"/>
              </a:ext>
            </a:extLst>
          </p:cNvPr>
          <p:cNvSpPr>
            <a:spLocks noGrp="1"/>
          </p:cNvSpPr>
          <p:nvPr>
            <p:ph type="title"/>
          </p:nvPr>
        </p:nvSpPr>
        <p:spPr>
          <a:xfrm>
            <a:off x="838200" y="407773"/>
            <a:ext cx="10515600" cy="101106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C2F35409-C4CD-90F4-F6FD-D3818451965C}"/>
              </a:ext>
            </a:extLst>
          </p:cNvPr>
          <p:cNvSpPr>
            <a:spLocks noGrp="1"/>
          </p:cNvSpPr>
          <p:nvPr>
            <p:ph idx="1"/>
          </p:nvPr>
        </p:nvSpPr>
        <p:spPr>
          <a:xfrm>
            <a:off x="838200" y="1717590"/>
            <a:ext cx="10515600" cy="4187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7AAF2A-F252-85D7-B59A-AC065740DD36}"/>
              </a:ext>
            </a:extLst>
          </p:cNvPr>
          <p:cNvSpPr>
            <a:spLocks noGrp="1"/>
          </p:cNvSpPr>
          <p:nvPr>
            <p:ph type="dt" sz="half" idx="10"/>
          </p:nvPr>
        </p:nvSpPr>
        <p:spPr>
          <a:xfrm>
            <a:off x="838200" y="6367192"/>
            <a:ext cx="2743200" cy="490808"/>
          </a:xfrm>
        </p:spPr>
        <p:txBody>
          <a:bodyPr/>
          <a:lstStyle>
            <a:lvl1pPr>
              <a:defRPr>
                <a:solidFill>
                  <a:schemeClr val="accent2"/>
                </a:solidFill>
              </a:defRPr>
            </a:lvl1pPr>
          </a:lstStyle>
          <a:p>
            <a:fld id="{3AB34FB6-96E0-E94F-98AA-54332C31E3E2}" type="datetimeFigureOut">
              <a:rPr lang="en-US" smtClean="0"/>
              <a:pPr/>
              <a:t>10/13/2026</a:t>
            </a:fld>
            <a:endParaRPr lang="en-US"/>
          </a:p>
        </p:txBody>
      </p:sp>
      <p:sp>
        <p:nvSpPr>
          <p:cNvPr id="6" name="Slide Number Placeholder 5">
            <a:extLst>
              <a:ext uri="{FF2B5EF4-FFF2-40B4-BE49-F238E27FC236}">
                <a16:creationId xmlns:a16="http://schemas.microsoft.com/office/drawing/2014/main" id="{AA26550C-9433-24E4-3EAD-30A81EC25415}"/>
              </a:ext>
            </a:extLst>
          </p:cNvPr>
          <p:cNvSpPr>
            <a:spLocks noGrp="1"/>
          </p:cNvSpPr>
          <p:nvPr>
            <p:ph type="sldNum" sz="quarter" idx="12"/>
          </p:nvPr>
        </p:nvSpPr>
        <p:spPr>
          <a:xfrm>
            <a:off x="8610600" y="6367192"/>
            <a:ext cx="2743200" cy="490808"/>
          </a:xfrm>
        </p:spPr>
        <p:txBody>
          <a:bodyPr/>
          <a:lstStyle>
            <a:lvl1pPr>
              <a:defRPr>
                <a:solidFill>
                  <a:schemeClr val="accent2"/>
                </a:solidFill>
              </a:defRPr>
            </a:lvl1pPr>
          </a:lstStyle>
          <a:p>
            <a:fld id="{00C646E2-5701-E245-9F49-1F595AFFA2FE}" type="slidenum">
              <a:rPr lang="en-US" smtClean="0"/>
              <a:pPr/>
              <a:t>‹#›</a:t>
            </a:fld>
            <a:endParaRPr lang="en-US"/>
          </a:p>
        </p:txBody>
      </p:sp>
    </p:spTree>
    <p:extLst>
      <p:ext uri="{BB962C8B-B14F-4D97-AF65-F5344CB8AC3E}">
        <p14:creationId xmlns:p14="http://schemas.microsoft.com/office/powerpoint/2010/main" val="1926540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a:gsLst>
            <a:gs pos="0">
              <a:srgbClr val="782F40"/>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880B4-DA72-8AD7-D5F8-C1BC286E93E8}"/>
              </a:ext>
            </a:extLst>
          </p:cNvPr>
          <p:cNvSpPr>
            <a:spLocks noGrp="1"/>
          </p:cNvSpPr>
          <p:nvPr>
            <p:ph type="title"/>
          </p:nvPr>
        </p:nvSpPr>
        <p:spPr>
          <a:xfrm>
            <a:off x="831850" y="1709738"/>
            <a:ext cx="10515600" cy="2852737"/>
          </a:xfrm>
        </p:spPr>
        <p:txBody>
          <a:bodyPr anchor="b"/>
          <a:lstStyle>
            <a:lvl1pPr>
              <a:defRPr sz="6000">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AFA2637E-8094-255C-CEBE-7776CDF656C7}"/>
              </a:ext>
            </a:extLst>
          </p:cNvPr>
          <p:cNvSpPr>
            <a:spLocks noGrp="1"/>
          </p:cNvSpPr>
          <p:nvPr>
            <p:ph type="body" idx="1"/>
          </p:nvPr>
        </p:nvSpPr>
        <p:spPr>
          <a:xfrm>
            <a:off x="831850" y="4589463"/>
            <a:ext cx="10515600" cy="1500187"/>
          </a:xfrm>
        </p:spPr>
        <p:txBody>
          <a:bodyPr/>
          <a:lstStyle>
            <a:lvl1pPr marL="0" indent="0">
              <a:buNone/>
              <a:defRPr sz="2400">
                <a:solidFill>
                  <a:schemeClr val="accent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ED5793-4EBF-1BB5-2B3F-E9C4CC7E79EB}"/>
              </a:ext>
            </a:extLst>
          </p:cNvPr>
          <p:cNvSpPr>
            <a:spLocks noGrp="1"/>
          </p:cNvSpPr>
          <p:nvPr>
            <p:ph type="dt" sz="half" idx="10"/>
          </p:nvPr>
        </p:nvSpPr>
        <p:spPr>
          <a:xfrm>
            <a:off x="838200" y="6448811"/>
            <a:ext cx="2743200" cy="365125"/>
          </a:xfrm>
        </p:spPr>
        <p:txBody>
          <a:bodyPr/>
          <a:lstStyle>
            <a:lvl1pPr>
              <a:defRPr>
                <a:solidFill>
                  <a:schemeClr val="accent2"/>
                </a:solidFill>
              </a:defRPr>
            </a:lvl1pPr>
          </a:lstStyle>
          <a:p>
            <a:fld id="{3AB34FB6-96E0-E94F-98AA-54332C31E3E2}" type="datetimeFigureOut">
              <a:rPr lang="en-US" smtClean="0"/>
              <a:pPr/>
              <a:t>10/13/2026</a:t>
            </a:fld>
            <a:endParaRPr lang="en-US"/>
          </a:p>
        </p:txBody>
      </p:sp>
      <p:sp>
        <p:nvSpPr>
          <p:cNvPr id="6" name="Slide Number Placeholder 5">
            <a:extLst>
              <a:ext uri="{FF2B5EF4-FFF2-40B4-BE49-F238E27FC236}">
                <a16:creationId xmlns:a16="http://schemas.microsoft.com/office/drawing/2014/main" id="{70023F44-6423-5214-29F9-1564FE9BE2F8}"/>
              </a:ext>
            </a:extLst>
          </p:cNvPr>
          <p:cNvSpPr>
            <a:spLocks noGrp="1"/>
          </p:cNvSpPr>
          <p:nvPr>
            <p:ph type="sldNum" sz="quarter" idx="12"/>
          </p:nvPr>
        </p:nvSpPr>
        <p:spPr>
          <a:xfrm>
            <a:off x="8610600" y="6448811"/>
            <a:ext cx="2743200" cy="365125"/>
          </a:xfrm>
        </p:spPr>
        <p:txBody>
          <a:bodyPr/>
          <a:lstStyle>
            <a:lvl1pPr>
              <a:defRPr>
                <a:solidFill>
                  <a:schemeClr val="accent2"/>
                </a:solidFill>
              </a:defRPr>
            </a:lvl1pPr>
          </a:lstStyle>
          <a:p>
            <a:fld id="{00C646E2-5701-E245-9F49-1F595AFFA2FE}" type="slidenum">
              <a:rPr lang="en-US" smtClean="0"/>
              <a:pPr/>
              <a:t>‹#›</a:t>
            </a:fld>
            <a:endParaRPr lang="en-US"/>
          </a:p>
        </p:txBody>
      </p:sp>
      <p:sp>
        <p:nvSpPr>
          <p:cNvPr id="8" name="TextBox 7">
            <a:extLst>
              <a:ext uri="{FF2B5EF4-FFF2-40B4-BE49-F238E27FC236}">
                <a16:creationId xmlns:a16="http://schemas.microsoft.com/office/drawing/2014/main" id="{87B8CE90-6158-6721-6A83-1930F91FD763}"/>
              </a:ext>
            </a:extLst>
          </p:cNvPr>
          <p:cNvSpPr txBox="1"/>
          <p:nvPr userDrawn="1"/>
        </p:nvSpPr>
        <p:spPr>
          <a:xfrm>
            <a:off x="4487562" y="6448811"/>
            <a:ext cx="3216875" cy="307777"/>
          </a:xfrm>
          <a:prstGeom prst="rect">
            <a:avLst/>
          </a:prstGeom>
          <a:noFill/>
        </p:spPr>
        <p:txBody>
          <a:bodyPr wrap="square" rtlCol="0">
            <a:spAutoFit/>
          </a:bodyPr>
          <a:lstStyle/>
          <a:p>
            <a:pPr algn="ctr"/>
            <a:r>
              <a:rPr lang="en-US" sz="1400" b="0" i="0" spc="0">
                <a:solidFill>
                  <a:schemeClr val="tx1"/>
                </a:solidFill>
                <a:latin typeface="+mn-lt"/>
                <a:ea typeface="Open Sans Light" pitchFamily="2" charset="0"/>
                <a:cs typeface="Open Sans Light" pitchFamily="2" charset="0"/>
              </a:rPr>
              <a:t>FLORIDA STATE UNIVERSITY</a:t>
            </a:r>
          </a:p>
        </p:txBody>
      </p:sp>
      <p:pic>
        <p:nvPicPr>
          <p:cNvPr id="10" name="Picture 9" descr="A white and black logo&#10;&#10;Description automatically generated">
            <a:extLst>
              <a:ext uri="{FF2B5EF4-FFF2-40B4-BE49-F238E27FC236}">
                <a16:creationId xmlns:a16="http://schemas.microsoft.com/office/drawing/2014/main" id="{727F293E-B2D2-6E98-BD99-0C2BBBF9E5FE}"/>
              </a:ext>
            </a:extLst>
          </p:cNvPr>
          <p:cNvPicPr>
            <a:picLocks noChangeAspect="1"/>
          </p:cNvPicPr>
          <p:nvPr userDrawn="1"/>
        </p:nvPicPr>
        <p:blipFill>
          <a:blip r:embed="rId2"/>
          <a:stretch>
            <a:fillRect/>
          </a:stretch>
        </p:blipFill>
        <p:spPr>
          <a:xfrm>
            <a:off x="11041277" y="110880"/>
            <a:ext cx="1123950" cy="673024"/>
          </a:xfrm>
          <a:prstGeom prst="rect">
            <a:avLst/>
          </a:prstGeom>
        </p:spPr>
      </p:pic>
    </p:spTree>
    <p:extLst>
      <p:ext uri="{BB962C8B-B14F-4D97-AF65-F5344CB8AC3E}">
        <p14:creationId xmlns:p14="http://schemas.microsoft.com/office/powerpoint/2010/main" val="2948090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AE62A-D4A1-12DB-FEC1-3819C3DD60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AFDB61-7333-5D50-B5C0-688DFCF834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940B5E-3E52-C4B9-9898-43CCDA94B2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B6B8290-B12E-D7AE-B4CE-6AD080C2F941}"/>
              </a:ext>
            </a:extLst>
          </p:cNvPr>
          <p:cNvSpPr>
            <a:spLocks noGrp="1"/>
          </p:cNvSpPr>
          <p:nvPr>
            <p:ph type="dt" sz="half" idx="10"/>
          </p:nvPr>
        </p:nvSpPr>
        <p:spPr/>
        <p:txBody>
          <a:bodyPr/>
          <a:lstStyle/>
          <a:p>
            <a:fld id="{3AB34FB6-96E0-E94F-98AA-54332C31E3E2}" type="datetimeFigureOut">
              <a:rPr lang="en-US" smtClean="0"/>
              <a:t>10/13/2026</a:t>
            </a:fld>
            <a:endParaRPr lang="en-US"/>
          </a:p>
        </p:txBody>
      </p:sp>
      <p:sp>
        <p:nvSpPr>
          <p:cNvPr id="7" name="Slide Number Placeholder 6">
            <a:extLst>
              <a:ext uri="{FF2B5EF4-FFF2-40B4-BE49-F238E27FC236}">
                <a16:creationId xmlns:a16="http://schemas.microsoft.com/office/drawing/2014/main" id="{CD2C5EE9-E76D-B076-3220-D99665773EED}"/>
              </a:ext>
            </a:extLst>
          </p:cNvPr>
          <p:cNvSpPr>
            <a:spLocks noGrp="1"/>
          </p:cNvSpPr>
          <p:nvPr>
            <p:ph type="sldNum" sz="quarter" idx="12"/>
          </p:nvPr>
        </p:nvSpPr>
        <p:spPr/>
        <p:txBody>
          <a:bodyPr/>
          <a:lstStyle/>
          <a:p>
            <a:fld id="{00C646E2-5701-E245-9F49-1F595AFFA2FE}" type="slidenum">
              <a:rPr lang="en-US" smtClean="0"/>
              <a:t>‹#›</a:t>
            </a:fld>
            <a:endParaRPr lang="en-US"/>
          </a:p>
        </p:txBody>
      </p:sp>
    </p:spTree>
    <p:extLst>
      <p:ext uri="{BB962C8B-B14F-4D97-AF65-F5344CB8AC3E}">
        <p14:creationId xmlns:p14="http://schemas.microsoft.com/office/powerpoint/2010/main" val="612024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448D9-6A0B-D164-B8E3-2D97680AE50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57717C-8D84-604E-FB53-FAA257C014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B00931-DDF4-74B4-7482-676148ED4B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D5CAB2-B6AC-6647-DF64-D642E5901C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362DAE-67EA-6C69-E4D3-B0EA580430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B8A9263-131B-40FF-E9B4-EC7D49481A2D}"/>
              </a:ext>
            </a:extLst>
          </p:cNvPr>
          <p:cNvSpPr>
            <a:spLocks noGrp="1"/>
          </p:cNvSpPr>
          <p:nvPr>
            <p:ph type="dt" sz="half" idx="10"/>
          </p:nvPr>
        </p:nvSpPr>
        <p:spPr/>
        <p:txBody>
          <a:bodyPr/>
          <a:lstStyle/>
          <a:p>
            <a:fld id="{3AB34FB6-96E0-E94F-98AA-54332C31E3E2}" type="datetimeFigureOut">
              <a:rPr lang="en-US" smtClean="0"/>
              <a:t>10/13/2026</a:t>
            </a:fld>
            <a:endParaRPr lang="en-US"/>
          </a:p>
        </p:txBody>
      </p:sp>
      <p:sp>
        <p:nvSpPr>
          <p:cNvPr id="9" name="Slide Number Placeholder 8">
            <a:extLst>
              <a:ext uri="{FF2B5EF4-FFF2-40B4-BE49-F238E27FC236}">
                <a16:creationId xmlns:a16="http://schemas.microsoft.com/office/drawing/2014/main" id="{88424AB0-E725-AA9C-815A-6667122E06CF}"/>
              </a:ext>
            </a:extLst>
          </p:cNvPr>
          <p:cNvSpPr>
            <a:spLocks noGrp="1"/>
          </p:cNvSpPr>
          <p:nvPr>
            <p:ph type="sldNum" sz="quarter" idx="12"/>
          </p:nvPr>
        </p:nvSpPr>
        <p:spPr/>
        <p:txBody>
          <a:bodyPr/>
          <a:lstStyle/>
          <a:p>
            <a:fld id="{00C646E2-5701-E245-9F49-1F595AFFA2FE}" type="slidenum">
              <a:rPr lang="en-US" smtClean="0"/>
              <a:t>‹#›</a:t>
            </a:fld>
            <a:endParaRPr lang="en-US"/>
          </a:p>
        </p:txBody>
      </p:sp>
    </p:spTree>
    <p:extLst>
      <p:ext uri="{BB962C8B-B14F-4D97-AF65-F5344CB8AC3E}">
        <p14:creationId xmlns:p14="http://schemas.microsoft.com/office/powerpoint/2010/main" val="3727546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32159-26DE-7E09-2A91-62B668AF8EE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CF45FF-8322-1D1F-71EE-C7DA4139FF40}"/>
              </a:ext>
            </a:extLst>
          </p:cNvPr>
          <p:cNvSpPr>
            <a:spLocks noGrp="1"/>
          </p:cNvSpPr>
          <p:nvPr>
            <p:ph type="dt" sz="half" idx="10"/>
          </p:nvPr>
        </p:nvSpPr>
        <p:spPr/>
        <p:txBody>
          <a:bodyPr/>
          <a:lstStyle/>
          <a:p>
            <a:fld id="{3AB34FB6-96E0-E94F-98AA-54332C31E3E2}" type="datetimeFigureOut">
              <a:rPr lang="en-US" smtClean="0"/>
              <a:t>10/13/2026</a:t>
            </a:fld>
            <a:endParaRPr lang="en-US"/>
          </a:p>
        </p:txBody>
      </p:sp>
      <p:sp>
        <p:nvSpPr>
          <p:cNvPr id="5" name="Slide Number Placeholder 4">
            <a:extLst>
              <a:ext uri="{FF2B5EF4-FFF2-40B4-BE49-F238E27FC236}">
                <a16:creationId xmlns:a16="http://schemas.microsoft.com/office/drawing/2014/main" id="{051347C8-C8DC-7727-063C-207D80FFE245}"/>
              </a:ext>
            </a:extLst>
          </p:cNvPr>
          <p:cNvSpPr>
            <a:spLocks noGrp="1"/>
          </p:cNvSpPr>
          <p:nvPr>
            <p:ph type="sldNum" sz="quarter" idx="12"/>
          </p:nvPr>
        </p:nvSpPr>
        <p:spPr/>
        <p:txBody>
          <a:bodyPr/>
          <a:lstStyle/>
          <a:p>
            <a:fld id="{00C646E2-5701-E245-9F49-1F595AFFA2FE}" type="slidenum">
              <a:rPr lang="en-US" smtClean="0"/>
              <a:t>‹#›</a:t>
            </a:fld>
            <a:endParaRPr lang="en-US"/>
          </a:p>
        </p:txBody>
      </p:sp>
    </p:spTree>
    <p:extLst>
      <p:ext uri="{BB962C8B-B14F-4D97-AF65-F5344CB8AC3E}">
        <p14:creationId xmlns:p14="http://schemas.microsoft.com/office/powerpoint/2010/main" val="2546223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F308FF-9CEF-9E71-F5F8-4339D02237A9}"/>
              </a:ext>
            </a:extLst>
          </p:cNvPr>
          <p:cNvSpPr>
            <a:spLocks noGrp="1"/>
          </p:cNvSpPr>
          <p:nvPr>
            <p:ph type="dt" sz="half" idx="10"/>
          </p:nvPr>
        </p:nvSpPr>
        <p:spPr/>
        <p:txBody>
          <a:bodyPr/>
          <a:lstStyle/>
          <a:p>
            <a:fld id="{3AB34FB6-96E0-E94F-98AA-54332C31E3E2}" type="datetimeFigureOut">
              <a:rPr lang="en-US" smtClean="0"/>
              <a:t>10/13/2026</a:t>
            </a:fld>
            <a:endParaRPr lang="en-US"/>
          </a:p>
        </p:txBody>
      </p:sp>
      <p:sp>
        <p:nvSpPr>
          <p:cNvPr id="4" name="Slide Number Placeholder 3">
            <a:extLst>
              <a:ext uri="{FF2B5EF4-FFF2-40B4-BE49-F238E27FC236}">
                <a16:creationId xmlns:a16="http://schemas.microsoft.com/office/drawing/2014/main" id="{9FAEB8CB-6197-F5EC-FBD0-1D15310ADE34}"/>
              </a:ext>
            </a:extLst>
          </p:cNvPr>
          <p:cNvSpPr>
            <a:spLocks noGrp="1"/>
          </p:cNvSpPr>
          <p:nvPr>
            <p:ph type="sldNum" sz="quarter" idx="12"/>
          </p:nvPr>
        </p:nvSpPr>
        <p:spPr/>
        <p:txBody>
          <a:bodyPr/>
          <a:lstStyle/>
          <a:p>
            <a:fld id="{00C646E2-5701-E245-9F49-1F595AFFA2FE}" type="slidenum">
              <a:rPr lang="en-US" smtClean="0"/>
              <a:t>‹#›</a:t>
            </a:fld>
            <a:endParaRPr lang="en-US"/>
          </a:p>
        </p:txBody>
      </p:sp>
    </p:spTree>
    <p:extLst>
      <p:ext uri="{BB962C8B-B14F-4D97-AF65-F5344CB8AC3E}">
        <p14:creationId xmlns:p14="http://schemas.microsoft.com/office/powerpoint/2010/main" val="1182673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FB93E-0165-7922-39CB-8403F57F61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C4EA9D9-C4B7-4E5A-8BF1-AEF50543E7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8A843D-7418-D612-5FF8-37BC1250EC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D8C526-2423-FE08-908F-D1CC625B0FA7}"/>
              </a:ext>
            </a:extLst>
          </p:cNvPr>
          <p:cNvSpPr>
            <a:spLocks noGrp="1"/>
          </p:cNvSpPr>
          <p:nvPr>
            <p:ph type="dt" sz="half" idx="10"/>
          </p:nvPr>
        </p:nvSpPr>
        <p:spPr/>
        <p:txBody>
          <a:bodyPr/>
          <a:lstStyle/>
          <a:p>
            <a:fld id="{3AB34FB6-96E0-E94F-98AA-54332C31E3E2}" type="datetimeFigureOut">
              <a:rPr lang="en-US" smtClean="0"/>
              <a:t>10/13/2026</a:t>
            </a:fld>
            <a:endParaRPr lang="en-US"/>
          </a:p>
        </p:txBody>
      </p:sp>
      <p:sp>
        <p:nvSpPr>
          <p:cNvPr id="7" name="Slide Number Placeholder 6">
            <a:extLst>
              <a:ext uri="{FF2B5EF4-FFF2-40B4-BE49-F238E27FC236}">
                <a16:creationId xmlns:a16="http://schemas.microsoft.com/office/drawing/2014/main" id="{366B452B-B2E3-6970-E135-544F8D1E158E}"/>
              </a:ext>
            </a:extLst>
          </p:cNvPr>
          <p:cNvSpPr>
            <a:spLocks noGrp="1"/>
          </p:cNvSpPr>
          <p:nvPr>
            <p:ph type="sldNum" sz="quarter" idx="12"/>
          </p:nvPr>
        </p:nvSpPr>
        <p:spPr/>
        <p:txBody>
          <a:bodyPr/>
          <a:lstStyle/>
          <a:p>
            <a:fld id="{00C646E2-5701-E245-9F49-1F595AFFA2FE}" type="slidenum">
              <a:rPr lang="en-US" smtClean="0"/>
              <a:t>‹#›</a:t>
            </a:fld>
            <a:endParaRPr lang="en-US"/>
          </a:p>
        </p:txBody>
      </p:sp>
    </p:spTree>
    <p:extLst>
      <p:ext uri="{BB962C8B-B14F-4D97-AF65-F5344CB8AC3E}">
        <p14:creationId xmlns:p14="http://schemas.microsoft.com/office/powerpoint/2010/main" val="605084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C7E10-773A-0FFD-96F5-E4B1534C28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810511-A094-CDF5-22AD-008F576DEA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4BB847DB-CB00-6B46-18BA-61354D20EA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2565E6-501E-A950-9109-73B7D4DEC2F3}"/>
              </a:ext>
            </a:extLst>
          </p:cNvPr>
          <p:cNvSpPr>
            <a:spLocks noGrp="1"/>
          </p:cNvSpPr>
          <p:nvPr>
            <p:ph type="dt" sz="half" idx="10"/>
          </p:nvPr>
        </p:nvSpPr>
        <p:spPr/>
        <p:txBody>
          <a:bodyPr/>
          <a:lstStyle/>
          <a:p>
            <a:fld id="{3AB34FB6-96E0-E94F-98AA-54332C31E3E2}" type="datetimeFigureOut">
              <a:rPr lang="en-US" smtClean="0"/>
              <a:t>10/13/2026</a:t>
            </a:fld>
            <a:endParaRPr lang="en-US"/>
          </a:p>
        </p:txBody>
      </p:sp>
      <p:sp>
        <p:nvSpPr>
          <p:cNvPr id="7" name="Slide Number Placeholder 6">
            <a:extLst>
              <a:ext uri="{FF2B5EF4-FFF2-40B4-BE49-F238E27FC236}">
                <a16:creationId xmlns:a16="http://schemas.microsoft.com/office/drawing/2014/main" id="{65AC4804-95CB-A5EC-7436-0327C8E40312}"/>
              </a:ext>
            </a:extLst>
          </p:cNvPr>
          <p:cNvSpPr>
            <a:spLocks noGrp="1"/>
          </p:cNvSpPr>
          <p:nvPr>
            <p:ph type="sldNum" sz="quarter" idx="12"/>
          </p:nvPr>
        </p:nvSpPr>
        <p:spPr/>
        <p:txBody>
          <a:bodyPr/>
          <a:lstStyle/>
          <a:p>
            <a:fld id="{00C646E2-5701-E245-9F49-1F595AFFA2FE}" type="slidenum">
              <a:rPr lang="en-US" smtClean="0"/>
              <a:t>‹#›</a:t>
            </a:fld>
            <a:endParaRPr lang="en-US"/>
          </a:p>
        </p:txBody>
      </p:sp>
    </p:spTree>
    <p:extLst>
      <p:ext uri="{BB962C8B-B14F-4D97-AF65-F5344CB8AC3E}">
        <p14:creationId xmlns:p14="http://schemas.microsoft.com/office/powerpoint/2010/main" val="3000416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611A7-5CAB-A0A8-9ADF-47EA99151B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98EB790-385C-75D8-F148-5AB1825EE7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A3F9ED-109C-E7E4-FC65-C4B45DDFECBB}"/>
              </a:ext>
            </a:extLst>
          </p:cNvPr>
          <p:cNvSpPr>
            <a:spLocks noGrp="1"/>
          </p:cNvSpPr>
          <p:nvPr>
            <p:ph type="dt" sz="half" idx="10"/>
          </p:nvPr>
        </p:nvSpPr>
        <p:spPr/>
        <p:txBody>
          <a:bodyPr/>
          <a:lstStyle/>
          <a:p>
            <a:fld id="{3AB34FB6-96E0-E94F-98AA-54332C31E3E2}" type="datetimeFigureOut">
              <a:rPr lang="en-US" smtClean="0"/>
              <a:t>10/13/2026</a:t>
            </a:fld>
            <a:endParaRPr lang="en-US"/>
          </a:p>
        </p:txBody>
      </p:sp>
      <p:sp>
        <p:nvSpPr>
          <p:cNvPr id="6" name="Slide Number Placeholder 5">
            <a:extLst>
              <a:ext uri="{FF2B5EF4-FFF2-40B4-BE49-F238E27FC236}">
                <a16:creationId xmlns:a16="http://schemas.microsoft.com/office/drawing/2014/main" id="{00D966A9-97E3-4E20-D3F5-19EB07AB96F8}"/>
              </a:ext>
            </a:extLst>
          </p:cNvPr>
          <p:cNvSpPr>
            <a:spLocks noGrp="1"/>
          </p:cNvSpPr>
          <p:nvPr>
            <p:ph type="sldNum" sz="quarter" idx="12"/>
          </p:nvPr>
        </p:nvSpPr>
        <p:spPr/>
        <p:txBody>
          <a:bodyPr/>
          <a:lstStyle/>
          <a:p>
            <a:fld id="{00C646E2-5701-E245-9F49-1F595AFFA2FE}" type="slidenum">
              <a:rPr lang="en-US" smtClean="0"/>
              <a:t>‹#›</a:t>
            </a:fld>
            <a:endParaRPr lang="en-US"/>
          </a:p>
        </p:txBody>
      </p:sp>
    </p:spTree>
    <p:extLst>
      <p:ext uri="{BB962C8B-B14F-4D97-AF65-F5344CB8AC3E}">
        <p14:creationId xmlns:p14="http://schemas.microsoft.com/office/powerpoint/2010/main" val="18932191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7E530E-A39E-4B7F-27F3-A1DED943E6B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4815FF-D0F2-4CED-8659-42739ACF6A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984235-F59F-1C05-743D-753E4B2CE06B}"/>
              </a:ext>
            </a:extLst>
          </p:cNvPr>
          <p:cNvSpPr>
            <a:spLocks noGrp="1"/>
          </p:cNvSpPr>
          <p:nvPr>
            <p:ph type="dt" sz="half" idx="10"/>
          </p:nvPr>
        </p:nvSpPr>
        <p:spPr/>
        <p:txBody>
          <a:bodyPr/>
          <a:lstStyle/>
          <a:p>
            <a:fld id="{3AB34FB6-96E0-E94F-98AA-54332C31E3E2}" type="datetimeFigureOut">
              <a:rPr lang="en-US" smtClean="0"/>
              <a:t>10/13/2026</a:t>
            </a:fld>
            <a:endParaRPr lang="en-US"/>
          </a:p>
        </p:txBody>
      </p:sp>
      <p:sp>
        <p:nvSpPr>
          <p:cNvPr id="6" name="Slide Number Placeholder 5">
            <a:extLst>
              <a:ext uri="{FF2B5EF4-FFF2-40B4-BE49-F238E27FC236}">
                <a16:creationId xmlns:a16="http://schemas.microsoft.com/office/drawing/2014/main" id="{1FC61F74-418A-3F5C-3E9E-5A26EB282DDD}"/>
              </a:ext>
            </a:extLst>
          </p:cNvPr>
          <p:cNvSpPr>
            <a:spLocks noGrp="1"/>
          </p:cNvSpPr>
          <p:nvPr>
            <p:ph type="sldNum" sz="quarter" idx="12"/>
          </p:nvPr>
        </p:nvSpPr>
        <p:spPr/>
        <p:txBody>
          <a:bodyPr/>
          <a:lstStyle/>
          <a:p>
            <a:fld id="{00C646E2-5701-E245-9F49-1F595AFFA2FE}" type="slidenum">
              <a:rPr lang="en-US" smtClean="0"/>
              <a:t>‹#›</a:t>
            </a:fld>
            <a:endParaRPr lang="en-US"/>
          </a:p>
        </p:txBody>
      </p:sp>
    </p:spTree>
    <p:extLst>
      <p:ext uri="{BB962C8B-B14F-4D97-AF65-F5344CB8AC3E}">
        <p14:creationId xmlns:p14="http://schemas.microsoft.com/office/powerpoint/2010/main" val="15249184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AC931FD-487B-FB4F-9663-6F1B47FCF50B}"/>
              </a:ext>
            </a:extLst>
          </p:cNvPr>
          <p:cNvSpPr/>
          <p:nvPr userDrawn="1"/>
        </p:nvSpPr>
        <p:spPr>
          <a:xfrm>
            <a:off x="0" y="6359525"/>
            <a:ext cx="12192000" cy="49847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84AF466-845F-25C1-2F42-A39E88937987}"/>
              </a:ext>
            </a:extLst>
          </p:cNvPr>
          <p:cNvSpPr txBox="1"/>
          <p:nvPr userDrawn="1"/>
        </p:nvSpPr>
        <p:spPr>
          <a:xfrm>
            <a:off x="4487562" y="6448811"/>
            <a:ext cx="3216875" cy="307777"/>
          </a:xfrm>
          <a:prstGeom prst="rect">
            <a:avLst/>
          </a:prstGeom>
          <a:noFill/>
        </p:spPr>
        <p:txBody>
          <a:bodyPr wrap="square" rtlCol="0">
            <a:spAutoFit/>
          </a:bodyPr>
          <a:lstStyle/>
          <a:p>
            <a:pPr algn="ctr"/>
            <a:r>
              <a:rPr lang="en-US" sz="1400" b="0" i="0" spc="0">
                <a:solidFill>
                  <a:schemeClr val="tx1"/>
                </a:solidFill>
                <a:latin typeface="+mn-lt"/>
                <a:ea typeface="Open Sans Light" pitchFamily="2" charset="0"/>
                <a:cs typeface="Open Sans Light" pitchFamily="2" charset="0"/>
              </a:rPr>
              <a:t>FLORIDA STATE UNIVERSITY</a:t>
            </a:r>
          </a:p>
        </p:txBody>
      </p:sp>
      <p:pic>
        <p:nvPicPr>
          <p:cNvPr id="9" name="Picture 8" descr="A close up of a logo&#10;&#10;Description automatically generated">
            <a:extLst>
              <a:ext uri="{FF2B5EF4-FFF2-40B4-BE49-F238E27FC236}">
                <a16:creationId xmlns:a16="http://schemas.microsoft.com/office/drawing/2014/main" id="{3854FDEB-39C7-AC12-C5D7-0072E4657FEE}"/>
              </a:ext>
            </a:extLst>
          </p:cNvPr>
          <p:cNvPicPr>
            <a:picLocks noChangeAspect="1"/>
          </p:cNvPicPr>
          <p:nvPr userDrawn="1"/>
        </p:nvPicPr>
        <p:blipFill>
          <a:blip r:embed="rId15"/>
          <a:stretch>
            <a:fillRect/>
          </a:stretch>
        </p:blipFill>
        <p:spPr>
          <a:xfrm>
            <a:off x="11041277" y="109022"/>
            <a:ext cx="1123950" cy="673024"/>
          </a:xfrm>
          <a:prstGeom prst="rect">
            <a:avLst/>
          </a:prstGeom>
        </p:spPr>
      </p:pic>
      <p:sp>
        <p:nvSpPr>
          <p:cNvPr id="2" name="Title Placeholder 1">
            <a:extLst>
              <a:ext uri="{FF2B5EF4-FFF2-40B4-BE49-F238E27FC236}">
                <a16:creationId xmlns:a16="http://schemas.microsoft.com/office/drawing/2014/main" id="{2253CF2F-ADD4-6F9A-E59D-0434131054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FFB9F1B-2C71-3B4E-A91B-8504AACA06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FED1D6-CC84-B500-5E9B-CA793480A9D2}"/>
              </a:ext>
            </a:extLst>
          </p:cNvPr>
          <p:cNvSpPr>
            <a:spLocks noGrp="1"/>
          </p:cNvSpPr>
          <p:nvPr>
            <p:ph type="dt" sz="half" idx="2"/>
          </p:nvPr>
        </p:nvSpPr>
        <p:spPr>
          <a:xfrm>
            <a:off x="838200" y="6448811"/>
            <a:ext cx="2743200" cy="365125"/>
          </a:xfrm>
          <a:prstGeom prst="rect">
            <a:avLst/>
          </a:prstGeom>
        </p:spPr>
        <p:txBody>
          <a:bodyPr vert="horz" lIns="91440" tIns="45720" rIns="91440" bIns="45720" rtlCol="0" anchor="ctr"/>
          <a:lstStyle>
            <a:lvl1pPr algn="l">
              <a:defRPr sz="1200">
                <a:solidFill>
                  <a:schemeClr val="accent2"/>
                </a:solidFill>
              </a:defRPr>
            </a:lvl1pPr>
          </a:lstStyle>
          <a:p>
            <a:fld id="{3AB34FB6-96E0-E94F-98AA-54332C31E3E2}" type="datetimeFigureOut">
              <a:rPr lang="en-US" smtClean="0"/>
              <a:pPr/>
              <a:t>10/13/2026</a:t>
            </a:fld>
            <a:endParaRPr lang="en-US"/>
          </a:p>
        </p:txBody>
      </p:sp>
      <p:sp>
        <p:nvSpPr>
          <p:cNvPr id="6" name="Slide Number Placeholder 5">
            <a:extLst>
              <a:ext uri="{FF2B5EF4-FFF2-40B4-BE49-F238E27FC236}">
                <a16:creationId xmlns:a16="http://schemas.microsoft.com/office/drawing/2014/main" id="{62C0A297-EF75-F329-75D5-059F83F2B227}"/>
              </a:ext>
            </a:extLst>
          </p:cNvPr>
          <p:cNvSpPr>
            <a:spLocks noGrp="1"/>
          </p:cNvSpPr>
          <p:nvPr>
            <p:ph type="sldNum" sz="quarter" idx="4"/>
          </p:nvPr>
        </p:nvSpPr>
        <p:spPr>
          <a:xfrm>
            <a:off x="8610600" y="6448811"/>
            <a:ext cx="2743200" cy="365125"/>
          </a:xfrm>
          <a:prstGeom prst="rect">
            <a:avLst/>
          </a:prstGeom>
        </p:spPr>
        <p:txBody>
          <a:bodyPr vert="horz" lIns="91440" tIns="45720" rIns="91440" bIns="45720" rtlCol="0" anchor="ctr"/>
          <a:lstStyle>
            <a:lvl1pPr algn="r">
              <a:defRPr sz="1200">
                <a:solidFill>
                  <a:schemeClr val="accent2"/>
                </a:solidFill>
              </a:defRPr>
            </a:lvl1pPr>
          </a:lstStyle>
          <a:p>
            <a:fld id="{00C646E2-5701-E245-9F49-1F595AFFA2FE}" type="slidenum">
              <a:rPr lang="en-US" smtClean="0"/>
              <a:pPr/>
              <a:t>‹#›</a:t>
            </a:fld>
            <a:endParaRPr lang="en-US"/>
          </a:p>
        </p:txBody>
      </p:sp>
    </p:spTree>
    <p:extLst>
      <p:ext uri="{BB962C8B-B14F-4D97-AF65-F5344CB8AC3E}">
        <p14:creationId xmlns:p14="http://schemas.microsoft.com/office/powerpoint/2010/main" val="4208351128"/>
      </p:ext>
    </p:extLst>
  </p:cSld>
  <p:clrMap bg1="dk1" tx1="lt1" bg2="dk2" tx2="lt2" accent1="accent1" accent2="accent2" accent3="accent3" accent4="accent4" accent5="accent5" accent6="accent6" hlink="hlink" folHlink="folHlink"/>
  <p:sldLayoutIdLst>
    <p:sldLayoutId id="2147483672" r:id="rId1"/>
    <p:sldLayoutId id="2147483661" r:id="rId2"/>
    <p:sldLayoutId id="2147483673"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xStyles>
    <p:titleStyle>
      <a:lvl1pPr algn="l" defTabSz="914400" rtl="0" eaLnBrk="1" latinLnBrk="0" hangingPunct="1">
        <a:lnSpc>
          <a:spcPct val="90000"/>
        </a:lnSpc>
        <a:spcBef>
          <a:spcPct val="0"/>
        </a:spcBef>
        <a:buNone/>
        <a:defRPr sz="4400" kern="1200">
          <a:solidFill>
            <a:schemeClr val="bg2"/>
          </a:solidFill>
          <a:latin typeface="+mj-lt"/>
          <a:ea typeface="+mj-ea"/>
          <a:cs typeface="Times New Roman" panose="02020603050405020304" pitchFamily="18"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hyperlink" Target="https://www.youtube.com/watch?v=aircAruvnKk&amp;list=PLZHQObOWTQDNU6R1_67000Dx_ZCJB-3pi"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diagramColors" Target="../diagrams/colors1.xml"/><Relationship Id="rId11" Type="http://schemas.openxmlformats.org/officeDocument/2006/relationships/image" Target="../media/image11.png"/><Relationship Id="rId5" Type="http://schemas.openxmlformats.org/officeDocument/2006/relationships/diagramQuickStyle" Target="../diagrams/quickStyle1.xml"/><Relationship Id="rId10" Type="http://schemas.openxmlformats.org/officeDocument/2006/relationships/image" Target="../media/image10.png"/><Relationship Id="rId4" Type="http://schemas.openxmlformats.org/officeDocument/2006/relationships/diagramLayout" Target="../diagrams/layout1.xml"/><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2.png"/><Relationship Id="rId7" Type="http://schemas.openxmlformats.org/officeDocument/2006/relationships/diagramColors" Target="../diagrams/colors2.xm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s://playground.tensorflow.org"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chart" Target="../charts/chart5.xml"/><Relationship Id="rId4" Type="http://schemas.openxmlformats.org/officeDocument/2006/relationships/chart" Target="../charts/chart4.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hyperlink" Target="https://www.youtube.com/watch?v=5-2C4eO4cPQ" TargetMode="External"/><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hyperlink" Target="https://huggingface.co/models" TargetMode="External"/><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8" Type="http://schemas.openxmlformats.org/officeDocument/2006/relationships/hyperlink" Target="https://jalammar.github.io/illustrated-transformer/" TargetMode="External"/><Relationship Id="rId3" Type="http://schemas.openxmlformats.org/officeDocument/2006/relationships/hyperlink" Target="https://www.3blue1brown.com/topics/neural-networks" TargetMode="External"/><Relationship Id="rId7" Type="http://schemas.openxmlformats.org/officeDocument/2006/relationships/hyperlink" Target="https://d2l.ai" TargetMode="External"/><Relationship Id="rId2" Type="http://schemas.openxmlformats.org/officeDocument/2006/relationships/notesSlide" Target="../notesSlides/notesSlide45.xml"/><Relationship Id="rId1" Type="http://schemas.openxmlformats.org/officeDocument/2006/relationships/slideLayout" Target="../slideLayouts/slideLayout4.xml"/><Relationship Id="rId6" Type="http://schemas.openxmlformats.org/officeDocument/2006/relationships/hyperlink" Target="https://web.stanford.edu/class/cs224n/" TargetMode="External"/><Relationship Id="rId5" Type="http://schemas.openxmlformats.org/officeDocument/2006/relationships/hyperlink" Target="https://cs231n.stanford.edu" TargetMode="External"/><Relationship Id="rId4" Type="http://schemas.openxmlformats.org/officeDocument/2006/relationships/hyperlink" Target="https://karpathy.ai/zero-to-hero.html" TargetMode="External"/><Relationship Id="rId9" Type="http://schemas.openxmlformats.org/officeDocument/2006/relationships/hyperlink" Target="https://playground.tensorflow.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7EEC9-DE2C-2495-9C51-28DD1EA785EF}"/>
              </a:ext>
            </a:extLst>
          </p:cNvPr>
          <p:cNvSpPr>
            <a:spLocks noGrp="1"/>
          </p:cNvSpPr>
          <p:nvPr>
            <p:ph type="ctrTitle"/>
          </p:nvPr>
        </p:nvSpPr>
        <p:spPr/>
        <p:txBody>
          <a:bodyPr/>
          <a:lstStyle/>
          <a:p>
            <a:r>
              <a:rPr lang="en-US" dirty="0"/>
              <a:t>Introduction to Neural Networks</a:t>
            </a:r>
          </a:p>
        </p:txBody>
      </p:sp>
      <p:sp>
        <p:nvSpPr>
          <p:cNvPr id="3" name="Subtitle 2">
            <a:extLst>
              <a:ext uri="{FF2B5EF4-FFF2-40B4-BE49-F238E27FC236}">
                <a16:creationId xmlns:a16="http://schemas.microsoft.com/office/drawing/2014/main" id="{B7F5CF1C-6AC3-9759-7F85-BA75A651323C}"/>
              </a:ext>
            </a:extLst>
          </p:cNvPr>
          <p:cNvSpPr>
            <a:spLocks noGrp="1"/>
          </p:cNvSpPr>
          <p:nvPr>
            <p:ph type="subTitle" idx="1"/>
          </p:nvPr>
        </p:nvSpPr>
        <p:spPr/>
        <p:txBody>
          <a:bodyPr/>
          <a:lstStyle/>
          <a:p>
            <a:r>
              <a:rPr lang="en-US" dirty="0"/>
              <a:t>Jackie Ye</a:t>
            </a:r>
            <a:r>
              <a:rPr lang="en-US"/>
              <a:t>, CIS4930/5930, Fall </a:t>
            </a:r>
            <a:r>
              <a:rPr lang="en-US" dirty="0"/>
              <a:t>2026</a:t>
            </a:r>
          </a:p>
          <a:p>
            <a:endParaRPr lang="en-US" dirty="0"/>
          </a:p>
        </p:txBody>
      </p:sp>
    </p:spTree>
    <p:extLst>
      <p:ext uri="{BB962C8B-B14F-4D97-AF65-F5344CB8AC3E}">
        <p14:creationId xmlns:p14="http://schemas.microsoft.com/office/powerpoint/2010/main" val="422975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C819A-43D7-63BA-8430-4373EA7A4F22}"/>
              </a:ext>
            </a:extLst>
          </p:cNvPr>
          <p:cNvSpPr>
            <a:spLocks noGrp="1"/>
          </p:cNvSpPr>
          <p:nvPr>
            <p:ph type="title"/>
          </p:nvPr>
        </p:nvSpPr>
        <p:spPr/>
        <p:txBody>
          <a:bodyPr/>
          <a:lstStyle/>
          <a:p>
            <a:r>
              <a:rPr lang="en-US" dirty="0"/>
              <a:t>Today’s Outline</a:t>
            </a:r>
          </a:p>
        </p:txBody>
      </p:sp>
      <p:sp>
        <p:nvSpPr>
          <p:cNvPr id="3" name="Content Placeholder 2">
            <a:extLst>
              <a:ext uri="{FF2B5EF4-FFF2-40B4-BE49-F238E27FC236}">
                <a16:creationId xmlns:a16="http://schemas.microsoft.com/office/drawing/2014/main" id="{A6B2EC3D-E84C-7ECF-8585-1810F045DCB9}"/>
              </a:ext>
            </a:extLst>
          </p:cNvPr>
          <p:cNvSpPr>
            <a:spLocks noGrp="1"/>
          </p:cNvSpPr>
          <p:nvPr>
            <p:ph idx="1"/>
          </p:nvPr>
        </p:nvSpPr>
        <p:spPr/>
        <p:txBody>
          <a:bodyPr>
            <a:normAutofit fontScale="92500"/>
          </a:bodyPr>
          <a:lstStyle/>
          <a:p>
            <a:r>
              <a:rPr lang="en-US" dirty="0"/>
              <a:t>Neural Network Basics</a:t>
            </a:r>
          </a:p>
          <a:p>
            <a:r>
              <a:rPr lang="en-US" dirty="0"/>
              <a:t>Machine Learning Procedure</a:t>
            </a:r>
          </a:p>
          <a:p>
            <a:r>
              <a:rPr lang="en-US" dirty="0"/>
              <a:t>Different Neural Networks</a:t>
            </a:r>
          </a:p>
          <a:p>
            <a:pPr lvl="1"/>
            <a:r>
              <a:rPr lang="en-US" dirty="0"/>
              <a:t>Convolutional Neural Network (CNN)</a:t>
            </a:r>
          </a:p>
          <a:p>
            <a:pPr lvl="1"/>
            <a:r>
              <a:rPr lang="en-US" dirty="0"/>
              <a:t>Recurrent Neural Network (RNN)</a:t>
            </a:r>
          </a:p>
          <a:p>
            <a:pPr lvl="1"/>
            <a:r>
              <a:rPr lang="en-US" dirty="0"/>
              <a:t>Transformers</a:t>
            </a:r>
          </a:p>
          <a:p>
            <a:r>
              <a:rPr lang="en-US" dirty="0"/>
              <a:t>Common Neural Network modelling approaches</a:t>
            </a:r>
          </a:p>
          <a:p>
            <a:pPr lvl="1"/>
            <a:r>
              <a:rPr lang="en-US" dirty="0"/>
              <a:t>Diffusion</a:t>
            </a:r>
          </a:p>
          <a:p>
            <a:pPr lvl="1"/>
            <a:r>
              <a:rPr lang="en-US" dirty="0"/>
              <a:t>Auto-Regressive</a:t>
            </a:r>
          </a:p>
          <a:p>
            <a:pPr lvl="1"/>
            <a:r>
              <a:rPr lang="en-US" dirty="0"/>
              <a:t>Agents</a:t>
            </a:r>
          </a:p>
          <a:p>
            <a:r>
              <a:rPr lang="en-US" dirty="0"/>
              <a:t>Summary &amp; Quiz</a:t>
            </a:r>
          </a:p>
        </p:txBody>
      </p:sp>
    </p:spTree>
    <p:extLst>
      <p:ext uri="{BB962C8B-B14F-4D97-AF65-F5344CB8AC3E}">
        <p14:creationId xmlns:p14="http://schemas.microsoft.com/office/powerpoint/2010/main" val="3842380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6F1CB-1620-2388-81DB-405F8972CCC8}"/>
              </a:ext>
            </a:extLst>
          </p:cNvPr>
          <p:cNvSpPr>
            <a:spLocks noGrp="1"/>
          </p:cNvSpPr>
          <p:nvPr>
            <p:ph type="title"/>
          </p:nvPr>
        </p:nvSpPr>
        <p:spPr/>
        <p:txBody>
          <a:bodyPr/>
          <a:lstStyle/>
          <a:p>
            <a:r>
              <a:rPr lang="en-US" dirty="0">
                <a:ea typeface="Open Sans SemiBold"/>
                <a:cs typeface="Times New Roman"/>
              </a:rPr>
              <a:t>NN Basics: Key Concepts</a:t>
            </a:r>
            <a:endParaRPr lang="en-US" dirty="0"/>
          </a:p>
        </p:txBody>
      </p:sp>
      <p:sp>
        <p:nvSpPr>
          <p:cNvPr id="10" name="TextBox 9">
            <a:extLst>
              <a:ext uri="{FF2B5EF4-FFF2-40B4-BE49-F238E27FC236}">
                <a16:creationId xmlns:a16="http://schemas.microsoft.com/office/drawing/2014/main" id="{FAC301DA-8870-FE7B-A9A1-555E2E6B9F15}"/>
              </a:ext>
            </a:extLst>
          </p:cNvPr>
          <p:cNvSpPr txBox="1"/>
          <p:nvPr/>
        </p:nvSpPr>
        <p:spPr>
          <a:xfrm>
            <a:off x="1283954" y="1802357"/>
            <a:ext cx="301971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chemeClr val="bg1"/>
                </a:solidFill>
                <a:ea typeface="Open Sans"/>
                <a:cs typeface="Open Sans"/>
              </a:rPr>
              <a:t>Model, Layer, Neuron:</a:t>
            </a:r>
          </a:p>
        </p:txBody>
      </p:sp>
      <p:pic>
        <p:nvPicPr>
          <p:cNvPr id="3" name="Picture 2" descr="A grey circle with arrows&#10;&#10;Description automatically generated">
            <a:extLst>
              <a:ext uri="{FF2B5EF4-FFF2-40B4-BE49-F238E27FC236}">
                <a16:creationId xmlns:a16="http://schemas.microsoft.com/office/drawing/2014/main" id="{EF4FC2F0-65AD-ECAB-364B-DA1351B99FC1}"/>
              </a:ext>
            </a:extLst>
          </p:cNvPr>
          <p:cNvPicPr>
            <a:picLocks noChangeAspect="1"/>
          </p:cNvPicPr>
          <p:nvPr/>
        </p:nvPicPr>
        <p:blipFill>
          <a:blip r:embed="rId3"/>
          <a:stretch>
            <a:fillRect/>
          </a:stretch>
        </p:blipFill>
        <p:spPr>
          <a:xfrm>
            <a:off x="8150282" y="3509709"/>
            <a:ext cx="3111751" cy="1196756"/>
          </a:xfrm>
          <a:prstGeom prst="rect">
            <a:avLst/>
          </a:prstGeom>
        </p:spPr>
      </p:pic>
      <p:sp>
        <p:nvSpPr>
          <p:cNvPr id="4" name="TextBox 3">
            <a:extLst>
              <a:ext uri="{FF2B5EF4-FFF2-40B4-BE49-F238E27FC236}">
                <a16:creationId xmlns:a16="http://schemas.microsoft.com/office/drawing/2014/main" id="{8443A65C-9F52-34B2-5A05-F7CD902AA65D}"/>
              </a:ext>
            </a:extLst>
          </p:cNvPr>
          <p:cNvSpPr txBox="1"/>
          <p:nvPr/>
        </p:nvSpPr>
        <p:spPr>
          <a:xfrm>
            <a:off x="8143460" y="4691371"/>
            <a:ext cx="311812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Open Sans"/>
                <a:cs typeface="Open Sans"/>
              </a:rPr>
              <a:t>Find a </a:t>
            </a:r>
            <a:r>
              <a:rPr lang="en-US" b="1" dirty="0">
                <a:solidFill>
                  <a:schemeClr val="bg1"/>
                </a:solidFill>
                <a:ea typeface="Open Sans"/>
                <a:cs typeface="Open Sans"/>
              </a:rPr>
              <a:t>model </a:t>
            </a:r>
            <a:r>
              <a:rPr lang="en-US" dirty="0">
                <a:solidFill>
                  <a:schemeClr val="bg1"/>
                </a:solidFill>
                <a:ea typeface="Open Sans"/>
                <a:cs typeface="Open Sans"/>
              </a:rPr>
              <a:t>with single </a:t>
            </a:r>
            <a:r>
              <a:rPr lang="en-US" b="1" dirty="0">
                <a:solidFill>
                  <a:schemeClr val="bg1"/>
                </a:solidFill>
                <a:ea typeface="Open Sans"/>
                <a:cs typeface="Open Sans"/>
              </a:rPr>
              <a:t>layer </a:t>
            </a:r>
            <a:r>
              <a:rPr lang="en-US" dirty="0">
                <a:solidFill>
                  <a:schemeClr val="bg1"/>
                </a:solidFill>
                <a:ea typeface="Open Sans"/>
                <a:cs typeface="Open Sans"/>
              </a:rPr>
              <a:t>and a single </a:t>
            </a:r>
            <a:r>
              <a:rPr lang="en-US" b="1" dirty="0">
                <a:solidFill>
                  <a:schemeClr val="bg1"/>
                </a:solidFill>
                <a:ea typeface="Open Sans"/>
                <a:cs typeface="Open Sans"/>
              </a:rPr>
              <a:t>neuron</a:t>
            </a:r>
            <a:endParaRPr lang="en-US" b="1">
              <a:solidFill>
                <a:schemeClr val="bg1"/>
              </a:solidFill>
            </a:endParaRPr>
          </a:p>
        </p:txBody>
      </p:sp>
      <p:sp>
        <p:nvSpPr>
          <p:cNvPr id="5" name="TextBox 4">
            <a:extLst>
              <a:ext uri="{FF2B5EF4-FFF2-40B4-BE49-F238E27FC236}">
                <a16:creationId xmlns:a16="http://schemas.microsoft.com/office/drawing/2014/main" id="{90D0950A-4B8A-3D8E-634B-28877DDD9FD5}"/>
              </a:ext>
            </a:extLst>
          </p:cNvPr>
          <p:cNvSpPr txBox="1"/>
          <p:nvPr/>
        </p:nvSpPr>
        <p:spPr>
          <a:xfrm>
            <a:off x="5338652" y="2514083"/>
            <a:ext cx="345353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Open Sans"/>
                <a:cs typeface="Open Sans"/>
              </a:rPr>
              <a:t>Known a + b = 3</a:t>
            </a:r>
          </a:p>
          <a:p>
            <a:r>
              <a:rPr lang="en-US" dirty="0">
                <a:solidFill>
                  <a:schemeClr val="bg1"/>
                </a:solidFill>
                <a:ea typeface="Open Sans"/>
                <a:cs typeface="Open Sans"/>
              </a:rPr>
              <a:t>Given a = 1, solve b</a:t>
            </a:r>
          </a:p>
        </p:txBody>
      </p:sp>
      <p:sp>
        <p:nvSpPr>
          <p:cNvPr id="6" name="TextBox 5">
            <a:extLst>
              <a:ext uri="{FF2B5EF4-FFF2-40B4-BE49-F238E27FC236}">
                <a16:creationId xmlns:a16="http://schemas.microsoft.com/office/drawing/2014/main" id="{8CEDB28B-B125-A96D-FD49-CD1CE6C8B762}"/>
              </a:ext>
            </a:extLst>
          </p:cNvPr>
          <p:cNvSpPr txBox="1"/>
          <p:nvPr/>
        </p:nvSpPr>
        <p:spPr>
          <a:xfrm>
            <a:off x="5555652" y="3625546"/>
            <a:ext cx="2133241"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Open Sans"/>
                <a:cs typeface="Open Sans"/>
              </a:rPr>
              <a:t>Given: a, b</a:t>
            </a:r>
          </a:p>
          <a:p>
            <a:r>
              <a:rPr lang="en-US" dirty="0">
                <a:solidFill>
                  <a:schemeClr val="bg1"/>
                </a:solidFill>
                <a:ea typeface="Open Sans"/>
                <a:cs typeface="Open Sans"/>
              </a:rPr>
              <a:t>Solve: Relation?</a:t>
            </a:r>
          </a:p>
          <a:p>
            <a:r>
              <a:rPr lang="en-US" dirty="0">
                <a:solidFill>
                  <a:schemeClr val="bg1"/>
                </a:solidFill>
                <a:ea typeface="Open Sans"/>
                <a:cs typeface="Open Sans"/>
              </a:rPr>
              <a:t>-1.0 -&gt; -3.0</a:t>
            </a:r>
            <a:endParaRPr lang="en-US" dirty="0">
              <a:solidFill>
                <a:schemeClr val="bg1"/>
              </a:solidFill>
            </a:endParaRPr>
          </a:p>
          <a:p>
            <a:r>
              <a:rPr lang="en-US" dirty="0">
                <a:solidFill>
                  <a:schemeClr val="bg1"/>
                </a:solidFill>
                <a:ea typeface="Open Sans"/>
                <a:cs typeface="Open Sans"/>
              </a:rPr>
              <a:t> 0.0 -&gt; -1.0</a:t>
            </a:r>
          </a:p>
          <a:p>
            <a:r>
              <a:rPr lang="en-US" dirty="0">
                <a:solidFill>
                  <a:schemeClr val="bg1"/>
                </a:solidFill>
                <a:ea typeface="Open Sans"/>
                <a:cs typeface="Open Sans"/>
              </a:rPr>
              <a:t> 1.0 -&gt;  1.0</a:t>
            </a:r>
          </a:p>
          <a:p>
            <a:r>
              <a:rPr lang="en-US" dirty="0">
                <a:solidFill>
                  <a:schemeClr val="bg1"/>
                </a:solidFill>
                <a:ea typeface="Open Sans"/>
                <a:cs typeface="Open Sans"/>
              </a:rPr>
              <a:t> 2.0 -&gt;  3.0</a:t>
            </a:r>
          </a:p>
          <a:p>
            <a:r>
              <a:rPr lang="en-US" dirty="0">
                <a:solidFill>
                  <a:schemeClr val="bg1"/>
                </a:solidFill>
                <a:ea typeface="Open Sans"/>
                <a:cs typeface="Open Sans"/>
              </a:rPr>
              <a:t> 3.0 -&gt;  5.0</a:t>
            </a:r>
          </a:p>
          <a:p>
            <a:r>
              <a:rPr lang="en-US" dirty="0">
                <a:solidFill>
                  <a:schemeClr val="bg1"/>
                </a:solidFill>
                <a:ea typeface="Open Sans"/>
                <a:cs typeface="Open Sans"/>
              </a:rPr>
              <a:t> 4.0 -&gt;  7.0 </a:t>
            </a:r>
          </a:p>
        </p:txBody>
      </p:sp>
      <p:pic>
        <p:nvPicPr>
          <p:cNvPr id="7" name="Picture 6" descr="A red rectangular sign with white text&#10;&#10;Description automatically generated">
            <a:extLst>
              <a:ext uri="{FF2B5EF4-FFF2-40B4-BE49-F238E27FC236}">
                <a16:creationId xmlns:a16="http://schemas.microsoft.com/office/drawing/2014/main" id="{38FD732B-39E7-4CB6-7EF5-295B72816CE4}"/>
              </a:ext>
            </a:extLst>
          </p:cNvPr>
          <p:cNvPicPr>
            <a:picLocks noChangeAspect="1"/>
          </p:cNvPicPr>
          <p:nvPr/>
        </p:nvPicPr>
        <p:blipFill>
          <a:blip r:embed="rId4"/>
          <a:stretch>
            <a:fillRect/>
          </a:stretch>
        </p:blipFill>
        <p:spPr>
          <a:xfrm>
            <a:off x="248970" y="2379615"/>
            <a:ext cx="5089682" cy="900013"/>
          </a:xfrm>
          <a:prstGeom prst="rect">
            <a:avLst/>
          </a:prstGeom>
        </p:spPr>
      </p:pic>
      <p:pic>
        <p:nvPicPr>
          <p:cNvPr id="8" name="Picture 7" descr="A red rectangular sign with white text&#10;&#10;Description automatically generated">
            <a:extLst>
              <a:ext uri="{FF2B5EF4-FFF2-40B4-BE49-F238E27FC236}">
                <a16:creationId xmlns:a16="http://schemas.microsoft.com/office/drawing/2014/main" id="{401D66E6-3140-EE2A-8785-36A52E64F69A}"/>
              </a:ext>
            </a:extLst>
          </p:cNvPr>
          <p:cNvPicPr>
            <a:picLocks noChangeAspect="1"/>
          </p:cNvPicPr>
          <p:nvPr/>
        </p:nvPicPr>
        <p:blipFill>
          <a:blip r:embed="rId5"/>
          <a:stretch>
            <a:fillRect/>
          </a:stretch>
        </p:blipFill>
        <p:spPr>
          <a:xfrm>
            <a:off x="262231" y="4327275"/>
            <a:ext cx="5092575" cy="863583"/>
          </a:xfrm>
          <a:prstGeom prst="rect">
            <a:avLst/>
          </a:prstGeom>
        </p:spPr>
      </p:pic>
      <p:sp>
        <p:nvSpPr>
          <p:cNvPr id="9" name="TextBox 8">
            <a:extLst>
              <a:ext uri="{FF2B5EF4-FFF2-40B4-BE49-F238E27FC236}">
                <a16:creationId xmlns:a16="http://schemas.microsoft.com/office/drawing/2014/main" id="{E58BF1C3-1BDC-ABB0-5DD0-516ACB1AB38E}"/>
              </a:ext>
            </a:extLst>
          </p:cNvPr>
          <p:cNvSpPr txBox="1"/>
          <p:nvPr/>
        </p:nvSpPr>
        <p:spPr>
          <a:xfrm>
            <a:off x="1067042" y="5190858"/>
            <a:ext cx="345353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Open Sans"/>
                <a:cs typeface="Open Sans"/>
              </a:rPr>
              <a:t>Input </a:t>
            </a:r>
            <a:r>
              <a:rPr lang="en-US" b="1" dirty="0">
                <a:solidFill>
                  <a:schemeClr val="bg1"/>
                </a:solidFill>
                <a:ea typeface="Open Sans"/>
                <a:cs typeface="Open Sans"/>
              </a:rPr>
              <a:t>data</a:t>
            </a:r>
            <a:r>
              <a:rPr lang="en-US" dirty="0">
                <a:solidFill>
                  <a:schemeClr val="bg1"/>
                </a:solidFill>
                <a:ea typeface="Open Sans"/>
                <a:cs typeface="Open Sans"/>
              </a:rPr>
              <a:t>(x) and </a:t>
            </a:r>
            <a:r>
              <a:rPr lang="en-US" b="1" dirty="0">
                <a:solidFill>
                  <a:schemeClr val="bg1"/>
                </a:solidFill>
                <a:ea typeface="Open Sans"/>
                <a:cs typeface="Open Sans"/>
              </a:rPr>
              <a:t>answers</a:t>
            </a:r>
            <a:r>
              <a:rPr lang="en-US" dirty="0">
                <a:solidFill>
                  <a:schemeClr val="bg1"/>
                </a:solidFill>
                <a:ea typeface="Open Sans"/>
                <a:cs typeface="Open Sans"/>
              </a:rPr>
              <a:t>(y), generate rules</a:t>
            </a:r>
          </a:p>
        </p:txBody>
      </p:sp>
      <p:sp>
        <p:nvSpPr>
          <p:cNvPr id="11" name="TextBox 10">
            <a:extLst>
              <a:ext uri="{FF2B5EF4-FFF2-40B4-BE49-F238E27FC236}">
                <a16:creationId xmlns:a16="http://schemas.microsoft.com/office/drawing/2014/main" id="{D9FBCCEC-34E5-5CE7-5B6C-EBB214F1BB8E}"/>
              </a:ext>
            </a:extLst>
          </p:cNvPr>
          <p:cNvSpPr txBox="1"/>
          <p:nvPr/>
        </p:nvSpPr>
        <p:spPr>
          <a:xfrm>
            <a:off x="8143459" y="2918400"/>
            <a:ext cx="31181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bg1"/>
                </a:solidFill>
                <a:ea typeface="Open Sans"/>
                <a:cs typeface="Open Sans"/>
              </a:rPr>
              <a:t>How</a:t>
            </a:r>
            <a:r>
              <a:rPr lang="en-US" dirty="0">
                <a:solidFill>
                  <a:schemeClr val="bg1"/>
                </a:solidFill>
                <a:ea typeface="Open Sans"/>
                <a:cs typeface="Open Sans"/>
              </a:rPr>
              <a:t>?</a:t>
            </a:r>
            <a:endParaRPr lang="en-US" dirty="0">
              <a:solidFill>
                <a:schemeClr val="bg1"/>
              </a:solidFill>
            </a:endParaRPr>
          </a:p>
        </p:txBody>
      </p:sp>
      <p:sp>
        <p:nvSpPr>
          <p:cNvPr id="13" name="TextBox 44">
            <a:extLst>
              <a:ext uri="{FF2B5EF4-FFF2-40B4-BE49-F238E27FC236}">
                <a16:creationId xmlns:a16="http://schemas.microsoft.com/office/drawing/2014/main" id="{59B23275-EBE7-AB6A-5A5D-ECEF96D5FAC8}"/>
              </a:ext>
            </a:extLst>
          </p:cNvPr>
          <p:cNvSpPr txBox="1"/>
          <p:nvPr/>
        </p:nvSpPr>
        <p:spPr>
          <a:xfrm>
            <a:off x="8156749" y="5577140"/>
            <a:ext cx="3324130"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solidFill>
                  <a:srgbClr val="454545"/>
                </a:solidFill>
                <a:latin typeface="Inter"/>
                <a:cs typeface="Segoe UI"/>
              </a:rPr>
              <a:t>Output = (Weight * Input) + Bias</a:t>
            </a:r>
            <a:r>
              <a:rPr lang="en-US">
                <a:latin typeface="Inter"/>
                <a:cs typeface="Segoe UI"/>
              </a:rPr>
              <a:t>​</a:t>
            </a:r>
          </a:p>
          <a:p>
            <a:pPr algn="just"/>
            <a:r>
              <a:rPr lang="en-US">
                <a:solidFill>
                  <a:srgbClr val="454545"/>
                </a:solidFill>
                <a:latin typeface="Inter"/>
                <a:cs typeface="Segoe UI"/>
              </a:rPr>
              <a:t>Y = AX + B (Linear)</a:t>
            </a:r>
          </a:p>
        </p:txBody>
      </p:sp>
      <p:sp>
        <p:nvSpPr>
          <p:cNvPr id="14" name="Rectangle 13">
            <a:extLst>
              <a:ext uri="{FF2B5EF4-FFF2-40B4-BE49-F238E27FC236}">
                <a16:creationId xmlns:a16="http://schemas.microsoft.com/office/drawing/2014/main" id="{D405BBC0-7165-D224-EB85-DFF9F91FFE57}"/>
              </a:ext>
            </a:extLst>
          </p:cNvPr>
          <p:cNvSpPr/>
          <p:nvPr/>
        </p:nvSpPr>
        <p:spPr>
          <a:xfrm>
            <a:off x="9457496" y="3519694"/>
            <a:ext cx="548073" cy="121240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1ABF0B26-5E61-BE01-ABFC-1AD82C64EE55}"/>
              </a:ext>
            </a:extLst>
          </p:cNvPr>
          <p:cNvCxnSpPr/>
          <p:nvPr/>
        </p:nvCxnSpPr>
        <p:spPr>
          <a:xfrm>
            <a:off x="8927804" y="1644165"/>
            <a:ext cx="771054" cy="18650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85F8C9CC-671C-261B-A261-3F6E34F09FF6}"/>
              </a:ext>
            </a:extLst>
          </p:cNvPr>
          <p:cNvCxnSpPr>
            <a:cxnSpLocks/>
          </p:cNvCxnSpPr>
          <p:nvPr/>
        </p:nvCxnSpPr>
        <p:spPr>
          <a:xfrm flipH="1">
            <a:off x="9895015" y="3092718"/>
            <a:ext cx="473797" cy="8766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E01735B4-B54D-B1C2-B6A6-A142D326309C}"/>
              </a:ext>
            </a:extLst>
          </p:cNvPr>
          <p:cNvSpPr txBox="1"/>
          <p:nvPr/>
        </p:nvSpPr>
        <p:spPr>
          <a:xfrm>
            <a:off x="8896263" y="1258443"/>
            <a:ext cx="78378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ea typeface="Open Sans"/>
                <a:cs typeface="Open Sans"/>
              </a:rPr>
              <a:t>Layer</a:t>
            </a:r>
          </a:p>
        </p:txBody>
      </p:sp>
      <p:sp>
        <p:nvSpPr>
          <p:cNvPr id="18" name="TextBox 17">
            <a:extLst>
              <a:ext uri="{FF2B5EF4-FFF2-40B4-BE49-F238E27FC236}">
                <a16:creationId xmlns:a16="http://schemas.microsoft.com/office/drawing/2014/main" id="{E9A1A199-B264-29D8-D96D-7D8F251AC9B4}"/>
              </a:ext>
            </a:extLst>
          </p:cNvPr>
          <p:cNvSpPr txBox="1"/>
          <p:nvPr/>
        </p:nvSpPr>
        <p:spPr>
          <a:xfrm>
            <a:off x="9997767" y="1960085"/>
            <a:ext cx="189283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Open Sans"/>
                <a:cs typeface="Open Sans"/>
              </a:rPr>
              <a:t>Neuron(simply, a function, with </a:t>
            </a:r>
            <a:r>
              <a:rPr lang="en-US" dirty="0">
                <a:solidFill>
                  <a:schemeClr val="bg1"/>
                </a:solidFill>
                <a:ea typeface="+mn-lt"/>
                <a:cs typeface="+mn-lt"/>
              </a:rPr>
              <a:t>two learnable parameters</a:t>
            </a:r>
            <a:r>
              <a:rPr lang="en-US" dirty="0">
                <a:solidFill>
                  <a:schemeClr val="bg1"/>
                </a:solidFill>
                <a:ea typeface="Open Sans"/>
                <a:cs typeface="Open Sans"/>
              </a:rPr>
              <a:t>)</a:t>
            </a:r>
            <a:endParaRPr lang="en-US" dirty="0">
              <a:solidFill>
                <a:schemeClr val="bg1"/>
              </a:solidFill>
            </a:endParaRPr>
          </a:p>
        </p:txBody>
      </p:sp>
      <p:sp>
        <p:nvSpPr>
          <p:cNvPr id="12" name="TextBox 11">
            <a:extLst>
              <a:ext uri="{FF2B5EF4-FFF2-40B4-BE49-F238E27FC236}">
                <a16:creationId xmlns:a16="http://schemas.microsoft.com/office/drawing/2014/main" id="{8C392450-5543-FECB-2191-110696808221}"/>
              </a:ext>
            </a:extLst>
          </p:cNvPr>
          <p:cNvSpPr txBox="1"/>
          <p:nvPr/>
        </p:nvSpPr>
        <p:spPr>
          <a:xfrm>
            <a:off x="1067042" y="3302380"/>
            <a:ext cx="345353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Open Sans"/>
                <a:cs typeface="Open Sans"/>
              </a:rPr>
              <a:t>Input </a:t>
            </a:r>
            <a:r>
              <a:rPr lang="en-US" b="1" dirty="0">
                <a:solidFill>
                  <a:schemeClr val="bg1"/>
                </a:solidFill>
                <a:ea typeface="Open Sans"/>
                <a:cs typeface="Open Sans"/>
              </a:rPr>
              <a:t>data</a:t>
            </a:r>
            <a:r>
              <a:rPr lang="en-US" dirty="0">
                <a:solidFill>
                  <a:schemeClr val="bg1"/>
                </a:solidFill>
                <a:ea typeface="Open Sans"/>
                <a:cs typeface="Open Sans"/>
              </a:rPr>
              <a:t>(x) and </a:t>
            </a:r>
            <a:r>
              <a:rPr lang="en-US" b="1" dirty="0">
                <a:solidFill>
                  <a:schemeClr val="bg1"/>
                </a:solidFill>
                <a:ea typeface="Open Sans"/>
                <a:cs typeface="Open Sans"/>
              </a:rPr>
              <a:t>rules</a:t>
            </a:r>
            <a:r>
              <a:rPr lang="en-US" dirty="0">
                <a:solidFill>
                  <a:schemeClr val="bg1"/>
                </a:solidFill>
                <a:ea typeface="Open Sans"/>
                <a:cs typeface="Open Sans"/>
              </a:rPr>
              <a:t>, generate answers (y)</a:t>
            </a:r>
          </a:p>
        </p:txBody>
      </p:sp>
    </p:spTree>
    <p:extLst>
      <p:ext uri="{BB962C8B-B14F-4D97-AF65-F5344CB8AC3E}">
        <p14:creationId xmlns:p14="http://schemas.microsoft.com/office/powerpoint/2010/main" val="4278798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A86FE-B08E-11D6-38E3-6D3643EFD14E}"/>
              </a:ext>
            </a:extLst>
          </p:cNvPr>
          <p:cNvSpPr>
            <a:spLocks noGrp="1"/>
          </p:cNvSpPr>
          <p:nvPr>
            <p:ph type="title"/>
          </p:nvPr>
        </p:nvSpPr>
        <p:spPr/>
        <p:txBody>
          <a:bodyPr/>
          <a:lstStyle/>
          <a:p>
            <a:r>
              <a:rPr lang="en-US" dirty="0"/>
              <a:t>Deep Neural Network </a:t>
            </a:r>
          </a:p>
        </p:txBody>
      </p:sp>
      <p:pic>
        <p:nvPicPr>
          <p:cNvPr id="2050" name="Picture 2" descr="Designing Your Neural Networks. A Step by Step Walkthrough | by Lavanya  Shukla | TDS Archive | Medium">
            <a:extLst>
              <a:ext uri="{FF2B5EF4-FFF2-40B4-BE49-F238E27FC236}">
                <a16:creationId xmlns:a16="http://schemas.microsoft.com/office/drawing/2014/main" id="{CA802B6B-6F59-390A-EA63-568B3B92A3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7343" y="1584237"/>
            <a:ext cx="6931798" cy="406121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erceptrons - the most basic form of a neural network · Applied Go">
            <a:extLst>
              <a:ext uri="{FF2B5EF4-FFF2-40B4-BE49-F238E27FC236}">
                <a16:creationId xmlns:a16="http://schemas.microsoft.com/office/drawing/2014/main" id="{34AAAECA-7B5A-4046-3C5A-6C74F49607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970007"/>
            <a:ext cx="4280717" cy="267544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83FD69F-BEE1-F63B-6CA4-462164BB9D89}"/>
              </a:ext>
            </a:extLst>
          </p:cNvPr>
          <p:cNvSpPr txBox="1"/>
          <p:nvPr/>
        </p:nvSpPr>
        <p:spPr>
          <a:xfrm>
            <a:off x="1253480" y="5779048"/>
            <a:ext cx="1773755" cy="461665"/>
          </a:xfrm>
          <a:prstGeom prst="rect">
            <a:avLst/>
          </a:prstGeom>
          <a:noFill/>
        </p:spPr>
        <p:txBody>
          <a:bodyPr wrap="none" rtlCol="0">
            <a:spAutoFit/>
          </a:bodyPr>
          <a:lstStyle/>
          <a:p>
            <a:r>
              <a:rPr lang="en-US" sz="2400" dirty="0">
                <a:solidFill>
                  <a:schemeClr val="bg2"/>
                </a:solidFill>
              </a:rPr>
              <a:t>Perceptron</a:t>
            </a:r>
          </a:p>
        </p:txBody>
      </p:sp>
      <p:sp>
        <p:nvSpPr>
          <p:cNvPr id="5" name="TextBox 4">
            <a:extLst>
              <a:ext uri="{FF2B5EF4-FFF2-40B4-BE49-F238E27FC236}">
                <a16:creationId xmlns:a16="http://schemas.microsoft.com/office/drawing/2014/main" id="{5155812A-8CE2-6452-F78A-9A299CAFB1CE}"/>
              </a:ext>
            </a:extLst>
          </p:cNvPr>
          <p:cNvSpPr txBox="1"/>
          <p:nvPr/>
        </p:nvSpPr>
        <p:spPr>
          <a:xfrm>
            <a:off x="5740193" y="5810853"/>
            <a:ext cx="4946098" cy="461665"/>
          </a:xfrm>
          <a:prstGeom prst="rect">
            <a:avLst/>
          </a:prstGeom>
          <a:noFill/>
        </p:spPr>
        <p:txBody>
          <a:bodyPr wrap="none" rtlCol="0">
            <a:spAutoFit/>
          </a:bodyPr>
          <a:lstStyle/>
          <a:p>
            <a:r>
              <a:rPr lang="en-US" sz="2400" dirty="0">
                <a:solidFill>
                  <a:schemeClr val="bg2"/>
                </a:solidFill>
              </a:rPr>
              <a:t>Multiple-Layer Perceptron (MLP)</a:t>
            </a:r>
          </a:p>
        </p:txBody>
      </p:sp>
    </p:spTree>
    <p:extLst>
      <p:ext uri="{BB962C8B-B14F-4D97-AF65-F5344CB8AC3E}">
        <p14:creationId xmlns:p14="http://schemas.microsoft.com/office/powerpoint/2010/main" val="1079899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Activation Functions</a:t>
            </a:r>
          </a:p>
        </p:txBody>
      </p:sp>
      <p:sp>
        <p:nvSpPr>
          <p:cNvPr id="3" name="Content Placeholder 2"/>
          <p:cNvSpPr>
            <a:spLocks noGrp="1"/>
          </p:cNvSpPr>
          <p:nvPr>
            <p:ph idx="1"/>
          </p:nvPr>
        </p:nvSpPr>
        <p:spPr>
          <a:xfrm>
            <a:off x="841248" y="1645920"/>
            <a:ext cx="5394960" cy="4343400"/>
          </a:xfrm>
        </p:spPr>
        <p:txBody>
          <a:bodyPr wrap="square"/>
          <a:lstStyle/>
          <a:p>
            <a:r>
              <a:rPr sz="2200" b="1"/>
              <a:t>Why do we need them?</a:t>
            </a:r>
          </a:p>
          <a:p>
            <a:pPr lvl="1"/>
            <a:r>
              <a:rPr sz="1800"/>
              <a:t>Without one, stacked layers collapse: W₂(W₁x) = (W₂W₁)x, so the result is still one linear layer</a:t>
            </a:r>
          </a:p>
          <a:p>
            <a:pPr lvl="1"/>
            <a:r>
              <a:rPr sz="1800"/>
              <a:t>A non-linearity after each layer lets the network fit curves, not only lines</a:t>
            </a:r>
          </a:p>
          <a:p>
            <a:r>
              <a:rPr sz="2200" b="1"/>
              <a:t>Common choices</a:t>
            </a:r>
          </a:p>
          <a:p>
            <a:pPr lvl="1"/>
            <a:r>
              <a:rPr sz="1800"/>
              <a:t>Sigmoid: 1 / (1 + e⁻ˣ), output in (0, 1), saturates</a:t>
            </a:r>
          </a:p>
          <a:p>
            <a:pPr lvl="1"/>
            <a:r>
              <a:rPr sz="1800"/>
              <a:t>Tanh: output in (−1, 1), zero-centered</a:t>
            </a:r>
          </a:p>
          <a:p>
            <a:pPr lvl="1"/>
            <a:r>
              <a:rPr sz="1800"/>
              <a:t>ReLU: max(0, x), cheap to compute, the usual default for hidden layers</a:t>
            </a:r>
          </a:p>
          <a:p>
            <a:pPr lvl="1"/>
            <a:r>
              <a:rPr sz="1800"/>
              <a:t>Softmax: turns the last layer into probabilities, e.g. the next-token distribution of an LLM</a:t>
            </a:r>
          </a:p>
        </p:txBody>
      </p:sp>
      <p:graphicFrame>
        <p:nvGraphicFramePr>
          <p:cNvPr id="4" name="Activation function curves"/>
          <p:cNvGraphicFramePr>
            <a:graphicFrameLocks noGrp="1"/>
          </p:cNvGraphicFramePr>
          <p:nvPr/>
        </p:nvGraphicFramePr>
        <p:xfrm>
          <a:off x="6400800" y="1600200"/>
          <a:ext cx="5029200" cy="43434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B2562-D514-288A-589A-003D89105EA7}"/>
              </a:ext>
            </a:extLst>
          </p:cNvPr>
          <p:cNvSpPr>
            <a:spLocks noGrp="1"/>
          </p:cNvSpPr>
          <p:nvPr>
            <p:ph type="title"/>
          </p:nvPr>
        </p:nvSpPr>
        <p:spPr/>
        <p:txBody>
          <a:bodyPr/>
          <a:lstStyle/>
          <a:p>
            <a:r>
              <a:rPr lang="en-US" dirty="0">
                <a:ea typeface="Open Sans SemiBold"/>
                <a:cs typeface="Times New Roman"/>
              </a:rPr>
              <a:t>Common Machine Learning Procedure</a:t>
            </a:r>
            <a:endParaRPr lang="en-US" dirty="0">
              <a:ea typeface="Open Sans SemiBold"/>
            </a:endParaRPr>
          </a:p>
        </p:txBody>
      </p:sp>
      <p:graphicFrame>
        <p:nvGraphicFramePr>
          <p:cNvPr id="7" name="Diagram 6">
            <a:extLst>
              <a:ext uri="{FF2B5EF4-FFF2-40B4-BE49-F238E27FC236}">
                <a16:creationId xmlns:a16="http://schemas.microsoft.com/office/drawing/2014/main" id="{C5BF9BD8-FE8B-8088-469C-AF4B8C6A3033}"/>
              </a:ext>
            </a:extLst>
          </p:cNvPr>
          <p:cNvGraphicFramePr/>
          <p:nvPr/>
        </p:nvGraphicFramePr>
        <p:xfrm>
          <a:off x="-497941" y="2000061"/>
          <a:ext cx="5145386" cy="40272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2" name="Picture 41" descr="A grey circle with arrows&#10;&#10;Description automatically generated">
            <a:extLst>
              <a:ext uri="{FF2B5EF4-FFF2-40B4-BE49-F238E27FC236}">
                <a16:creationId xmlns:a16="http://schemas.microsoft.com/office/drawing/2014/main" id="{F51E2235-0C78-7FBD-BCBC-90DE2BB08370}"/>
              </a:ext>
            </a:extLst>
          </p:cNvPr>
          <p:cNvPicPr>
            <a:picLocks noChangeAspect="1"/>
          </p:cNvPicPr>
          <p:nvPr/>
        </p:nvPicPr>
        <p:blipFill>
          <a:blip r:embed="rId8"/>
          <a:stretch>
            <a:fillRect/>
          </a:stretch>
        </p:blipFill>
        <p:spPr>
          <a:xfrm>
            <a:off x="3050585" y="2528712"/>
            <a:ext cx="2002701" cy="736537"/>
          </a:xfrm>
          <a:prstGeom prst="rect">
            <a:avLst/>
          </a:prstGeom>
        </p:spPr>
      </p:pic>
      <p:pic>
        <p:nvPicPr>
          <p:cNvPr id="43" name="Picture 42">
            <a:extLst>
              <a:ext uri="{FF2B5EF4-FFF2-40B4-BE49-F238E27FC236}">
                <a16:creationId xmlns:a16="http://schemas.microsoft.com/office/drawing/2014/main" id="{EC8CB7FA-69B3-7EF1-AE03-86AB0F651951}"/>
              </a:ext>
            </a:extLst>
          </p:cNvPr>
          <p:cNvPicPr>
            <a:picLocks noChangeAspect="1"/>
          </p:cNvPicPr>
          <p:nvPr/>
        </p:nvPicPr>
        <p:blipFill>
          <a:blip r:embed="rId9"/>
          <a:stretch>
            <a:fillRect/>
          </a:stretch>
        </p:blipFill>
        <p:spPr>
          <a:xfrm>
            <a:off x="3045642" y="1390555"/>
            <a:ext cx="804439" cy="1089246"/>
          </a:xfrm>
          <a:prstGeom prst="rect">
            <a:avLst/>
          </a:prstGeom>
        </p:spPr>
      </p:pic>
      <p:sp>
        <p:nvSpPr>
          <p:cNvPr id="44" name="TextBox 43">
            <a:extLst>
              <a:ext uri="{FF2B5EF4-FFF2-40B4-BE49-F238E27FC236}">
                <a16:creationId xmlns:a16="http://schemas.microsoft.com/office/drawing/2014/main" id="{1EC3A7C4-400F-731C-9696-832B3606BCCE}"/>
              </a:ext>
            </a:extLst>
          </p:cNvPr>
          <p:cNvSpPr txBox="1"/>
          <p:nvPr/>
        </p:nvSpPr>
        <p:spPr>
          <a:xfrm>
            <a:off x="3042370" y="3361457"/>
            <a:ext cx="213308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chemeClr val="bg1"/>
                </a:solidFill>
                <a:ea typeface="Open Sans"/>
                <a:cs typeface="Open Sans"/>
              </a:rPr>
              <a:t>Evaluate the difference between x and y</a:t>
            </a:r>
          </a:p>
        </p:txBody>
      </p:sp>
      <p:sp>
        <p:nvSpPr>
          <p:cNvPr id="45" name="TextBox 44">
            <a:extLst>
              <a:ext uri="{FF2B5EF4-FFF2-40B4-BE49-F238E27FC236}">
                <a16:creationId xmlns:a16="http://schemas.microsoft.com/office/drawing/2014/main" id="{59B23275-EBE7-AB6A-5A5D-ECEF96D5FAC8}"/>
              </a:ext>
            </a:extLst>
          </p:cNvPr>
          <p:cNvSpPr txBox="1"/>
          <p:nvPr/>
        </p:nvSpPr>
        <p:spPr>
          <a:xfrm>
            <a:off x="5207252" y="2528935"/>
            <a:ext cx="592700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dirty="0">
                <a:solidFill>
                  <a:srgbClr val="454545"/>
                </a:solidFill>
                <a:latin typeface="Inter"/>
                <a:cs typeface="Segoe UI"/>
              </a:rPr>
              <a:t>Output = (Weight * Input) + Bias</a:t>
            </a:r>
            <a:r>
              <a:rPr lang="en-US" sz="1400" dirty="0">
                <a:latin typeface="Inter"/>
                <a:cs typeface="Segoe UI"/>
              </a:rPr>
              <a:t>​</a:t>
            </a:r>
          </a:p>
          <a:p>
            <a:pPr algn="just"/>
            <a:r>
              <a:rPr lang="en-US" sz="1400" dirty="0">
                <a:solidFill>
                  <a:srgbClr val="454545"/>
                </a:solidFill>
                <a:latin typeface="Inter"/>
                <a:cs typeface="Segoe UI"/>
              </a:rPr>
              <a:t>Y = AX + B (Linear)</a:t>
            </a:r>
          </a:p>
        </p:txBody>
      </p:sp>
      <p:pic>
        <p:nvPicPr>
          <p:cNvPr id="82" name="Picture 81" descr="A diagram of a error&#10;&#10;Description automatically generated">
            <a:extLst>
              <a:ext uri="{FF2B5EF4-FFF2-40B4-BE49-F238E27FC236}">
                <a16:creationId xmlns:a16="http://schemas.microsoft.com/office/drawing/2014/main" id="{1BD5BBC6-C7E7-57BD-6DBF-1AA219E0F466}"/>
              </a:ext>
            </a:extLst>
          </p:cNvPr>
          <p:cNvPicPr>
            <a:picLocks noChangeAspect="1"/>
          </p:cNvPicPr>
          <p:nvPr/>
        </p:nvPicPr>
        <p:blipFill>
          <a:blip r:embed="rId10"/>
          <a:stretch>
            <a:fillRect/>
          </a:stretch>
        </p:blipFill>
        <p:spPr>
          <a:xfrm>
            <a:off x="8488570" y="2551626"/>
            <a:ext cx="2936718" cy="1777874"/>
          </a:xfrm>
          <a:prstGeom prst="rect">
            <a:avLst/>
          </a:prstGeom>
        </p:spPr>
      </p:pic>
      <p:cxnSp>
        <p:nvCxnSpPr>
          <p:cNvPr id="83" name="Straight Arrow Connector 82">
            <a:extLst>
              <a:ext uri="{FF2B5EF4-FFF2-40B4-BE49-F238E27FC236}">
                <a16:creationId xmlns:a16="http://schemas.microsoft.com/office/drawing/2014/main" id="{2C7439F2-8155-8839-E6E8-04E66B243DE8}"/>
              </a:ext>
            </a:extLst>
          </p:cNvPr>
          <p:cNvCxnSpPr/>
          <p:nvPr/>
        </p:nvCxnSpPr>
        <p:spPr>
          <a:xfrm flipV="1">
            <a:off x="5057870" y="3652317"/>
            <a:ext cx="3502181" cy="60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4" name="TextBox 83">
            <a:extLst>
              <a:ext uri="{FF2B5EF4-FFF2-40B4-BE49-F238E27FC236}">
                <a16:creationId xmlns:a16="http://schemas.microsoft.com/office/drawing/2014/main" id="{A5E877E8-D5DF-8FEC-4AED-FF2F46A657F6}"/>
              </a:ext>
            </a:extLst>
          </p:cNvPr>
          <p:cNvSpPr txBox="1"/>
          <p:nvPr/>
        </p:nvSpPr>
        <p:spPr>
          <a:xfrm>
            <a:off x="2971246" y="4092127"/>
            <a:ext cx="396799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chemeClr val="bg1"/>
                </a:solidFill>
                <a:ea typeface="+mn-lt"/>
                <a:cs typeface="+mn-lt"/>
              </a:rPr>
              <a:t>minimize the loss function by updating the model's parameters (like weights and biases)</a:t>
            </a:r>
            <a:endParaRPr lang="en-US" dirty="0">
              <a:solidFill>
                <a:schemeClr val="bg1"/>
              </a:solidFill>
            </a:endParaRPr>
          </a:p>
        </p:txBody>
      </p:sp>
      <p:sp>
        <p:nvSpPr>
          <p:cNvPr id="85" name="TextBox 84">
            <a:extLst>
              <a:ext uri="{FF2B5EF4-FFF2-40B4-BE49-F238E27FC236}">
                <a16:creationId xmlns:a16="http://schemas.microsoft.com/office/drawing/2014/main" id="{D9B2F6BA-5037-51BB-D1A0-5D9220844A58}"/>
              </a:ext>
            </a:extLst>
          </p:cNvPr>
          <p:cNvSpPr txBox="1"/>
          <p:nvPr/>
        </p:nvSpPr>
        <p:spPr>
          <a:xfrm>
            <a:off x="7544557" y="3076636"/>
            <a:ext cx="139470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Open Sans"/>
                <a:cs typeface="Open Sans"/>
              </a:rPr>
              <a:t>A1,B1 -&gt; A2,B2 -&gt; A3,B3 -&gt;...</a:t>
            </a:r>
          </a:p>
        </p:txBody>
      </p:sp>
      <p:pic>
        <p:nvPicPr>
          <p:cNvPr id="86" name="Picture 85" descr="A diagram of a weight curve&#10;&#10;Description automatically generated">
            <a:extLst>
              <a:ext uri="{FF2B5EF4-FFF2-40B4-BE49-F238E27FC236}">
                <a16:creationId xmlns:a16="http://schemas.microsoft.com/office/drawing/2014/main" id="{3F58D9E8-26F1-E8CD-8DA3-63655C0CB50E}"/>
              </a:ext>
            </a:extLst>
          </p:cNvPr>
          <p:cNvPicPr>
            <a:picLocks noChangeAspect="1"/>
          </p:cNvPicPr>
          <p:nvPr/>
        </p:nvPicPr>
        <p:blipFill>
          <a:blip r:embed="rId11"/>
          <a:stretch>
            <a:fillRect/>
          </a:stretch>
        </p:blipFill>
        <p:spPr>
          <a:xfrm>
            <a:off x="8636816" y="4391787"/>
            <a:ext cx="2802425" cy="1537203"/>
          </a:xfrm>
          <a:prstGeom prst="rect">
            <a:avLst/>
          </a:prstGeom>
        </p:spPr>
      </p:pic>
      <p:sp>
        <p:nvSpPr>
          <p:cNvPr id="87" name="TextBox 86">
            <a:extLst>
              <a:ext uri="{FF2B5EF4-FFF2-40B4-BE49-F238E27FC236}">
                <a16:creationId xmlns:a16="http://schemas.microsoft.com/office/drawing/2014/main" id="{979D2FCF-8489-2FE8-3C12-7782E7EAA5A1}"/>
              </a:ext>
            </a:extLst>
          </p:cNvPr>
          <p:cNvSpPr txBox="1"/>
          <p:nvPr/>
        </p:nvSpPr>
        <p:spPr>
          <a:xfrm>
            <a:off x="2971246" y="4959934"/>
            <a:ext cx="447201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chemeClr val="bg1"/>
                </a:solidFill>
                <a:ea typeface="Open Sans"/>
                <a:cs typeface="Open Sans"/>
              </a:rPr>
              <a:t>Input data repeatedly and optimize the parameters</a:t>
            </a:r>
            <a:endParaRPr lang="en-US" dirty="0">
              <a:solidFill>
                <a:schemeClr val="bg1"/>
              </a:solidFill>
            </a:endParaRPr>
          </a:p>
        </p:txBody>
      </p:sp>
      <p:sp>
        <p:nvSpPr>
          <p:cNvPr id="89" name="TextBox 88">
            <a:extLst>
              <a:ext uri="{FF2B5EF4-FFF2-40B4-BE49-F238E27FC236}">
                <a16:creationId xmlns:a16="http://schemas.microsoft.com/office/drawing/2014/main" id="{14AC7416-1F19-6FB3-EFF7-2CBFF4EE6D54}"/>
              </a:ext>
            </a:extLst>
          </p:cNvPr>
          <p:cNvSpPr txBox="1"/>
          <p:nvPr/>
        </p:nvSpPr>
        <p:spPr>
          <a:xfrm>
            <a:off x="3042369" y="5625529"/>
            <a:ext cx="396799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chemeClr val="bg1"/>
                </a:solidFill>
                <a:ea typeface="Open Sans"/>
                <a:cs typeface="Open Sans"/>
              </a:rPr>
              <a:t>Evaluate the model's performance</a:t>
            </a:r>
          </a:p>
        </p:txBody>
      </p:sp>
      <p:sp>
        <p:nvSpPr>
          <p:cNvPr id="16" name="TextBox 3">
            <a:extLst>
              <a:ext uri="{FF2B5EF4-FFF2-40B4-BE49-F238E27FC236}">
                <a16:creationId xmlns:a16="http://schemas.microsoft.com/office/drawing/2014/main" id="{2602F1D6-AC6B-D40B-172B-835AA0C4543F}"/>
              </a:ext>
            </a:extLst>
          </p:cNvPr>
          <p:cNvSpPr txBox="1"/>
          <p:nvPr/>
        </p:nvSpPr>
        <p:spPr>
          <a:xfrm>
            <a:off x="8236674" y="5928990"/>
            <a:ext cx="3602711" cy="25391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b="1" dirty="0">
                <a:solidFill>
                  <a:schemeClr val="bg1"/>
                </a:solidFill>
                <a:ea typeface="Open Sans"/>
                <a:cs typeface="Open Sans"/>
              </a:rPr>
              <a:t>How it work? Good explanation from </a:t>
            </a:r>
            <a:r>
              <a:rPr lang="en-US" sz="1050" b="1" dirty="0">
                <a:solidFill>
                  <a:schemeClr val="bg1"/>
                </a:solidFill>
                <a:ea typeface="Open Sans"/>
                <a:cs typeface="Open Sans"/>
                <a:hlinkClick r:id="rId12"/>
              </a:rPr>
              <a:t>3Blue1Brown</a:t>
            </a:r>
            <a:endParaRPr lang="en-US" sz="1050" b="1" dirty="0">
              <a:solidFill>
                <a:schemeClr val="bg1"/>
              </a:solidFill>
              <a:ea typeface="Open Sans"/>
              <a:cs typeface="Open Sans"/>
            </a:endParaRPr>
          </a:p>
        </p:txBody>
      </p:sp>
    </p:spTree>
    <p:extLst>
      <p:ext uri="{BB962C8B-B14F-4D97-AF65-F5344CB8AC3E}">
        <p14:creationId xmlns:p14="http://schemas.microsoft.com/office/powerpoint/2010/main" val="1605349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B2562-D514-288A-589A-003D89105EA7}"/>
              </a:ext>
            </a:extLst>
          </p:cNvPr>
          <p:cNvSpPr>
            <a:spLocks noGrp="1"/>
          </p:cNvSpPr>
          <p:nvPr>
            <p:ph type="title"/>
          </p:nvPr>
        </p:nvSpPr>
        <p:spPr/>
        <p:txBody>
          <a:bodyPr/>
          <a:lstStyle/>
          <a:p>
            <a:r>
              <a:rPr lang="en-US" dirty="0">
                <a:ea typeface="Open Sans SemiBold"/>
                <a:cs typeface="Times New Roman"/>
              </a:rPr>
              <a:t>Common Machine Learning Procedure</a:t>
            </a:r>
            <a:endParaRPr lang="en-US" dirty="0">
              <a:ea typeface="Open Sans SemiBold"/>
            </a:endParaRPr>
          </a:p>
        </p:txBody>
      </p:sp>
      <p:pic>
        <p:nvPicPr>
          <p:cNvPr id="3" name="Picture 2" descr="A diagram of a process&#10;&#10;Description automatically generated">
            <a:extLst>
              <a:ext uri="{FF2B5EF4-FFF2-40B4-BE49-F238E27FC236}">
                <a16:creationId xmlns:a16="http://schemas.microsoft.com/office/drawing/2014/main" id="{219AE330-566E-7867-3B77-B6F451F39E6F}"/>
              </a:ext>
            </a:extLst>
          </p:cNvPr>
          <p:cNvPicPr>
            <a:picLocks noChangeAspect="1"/>
          </p:cNvPicPr>
          <p:nvPr/>
        </p:nvPicPr>
        <p:blipFill>
          <a:blip r:embed="rId3"/>
          <a:stretch>
            <a:fillRect/>
          </a:stretch>
        </p:blipFill>
        <p:spPr>
          <a:xfrm>
            <a:off x="550752" y="1532134"/>
            <a:ext cx="7772468" cy="4024457"/>
          </a:xfrm>
          <a:prstGeom prst="rect">
            <a:avLst/>
          </a:prstGeom>
        </p:spPr>
      </p:pic>
      <p:graphicFrame>
        <p:nvGraphicFramePr>
          <p:cNvPr id="7" name="Diagram 6">
            <a:extLst>
              <a:ext uri="{FF2B5EF4-FFF2-40B4-BE49-F238E27FC236}">
                <a16:creationId xmlns:a16="http://schemas.microsoft.com/office/drawing/2014/main" id="{C5BF9BD8-FE8B-8088-469C-AF4B8C6A3033}"/>
              </a:ext>
            </a:extLst>
          </p:cNvPr>
          <p:cNvGraphicFramePr/>
          <p:nvPr/>
        </p:nvGraphicFramePr>
        <p:xfrm>
          <a:off x="6586396" y="1532299"/>
          <a:ext cx="5145386" cy="402728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204130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Gradient Descent</a:t>
            </a:r>
          </a:p>
        </p:txBody>
      </p:sp>
      <p:sp>
        <p:nvSpPr>
          <p:cNvPr id="3" name="Content Placeholder 2"/>
          <p:cNvSpPr>
            <a:spLocks noGrp="1"/>
          </p:cNvSpPr>
          <p:nvPr>
            <p:ph idx="1"/>
          </p:nvPr>
        </p:nvSpPr>
        <p:spPr>
          <a:xfrm>
            <a:off x="838200" y="1645920"/>
            <a:ext cx="5398008" cy="4343400"/>
          </a:xfrm>
        </p:spPr>
        <p:txBody>
          <a:bodyPr wrap="square"/>
          <a:lstStyle/>
          <a:p>
            <a:r>
              <a:rPr sz="2200" dirty="0"/>
              <a:t>The loss measures how wrong the model is</a:t>
            </a:r>
          </a:p>
          <a:p>
            <a:pPr lvl="1"/>
            <a:r>
              <a:rPr sz="1800" dirty="0"/>
              <a:t>MSE: L = mean( (ŷ − y)² ), with ŷ = </a:t>
            </a:r>
            <a:r>
              <a:rPr sz="1800" dirty="0" err="1"/>
              <a:t>w·x</a:t>
            </a:r>
            <a:r>
              <a:rPr sz="1800" dirty="0"/>
              <a:t> + b</a:t>
            </a:r>
          </a:p>
          <a:p>
            <a:r>
              <a:rPr sz="2200" dirty="0"/>
              <a:t>The gradient is the slope of L for each parameter</a:t>
            </a:r>
          </a:p>
          <a:p>
            <a:pPr lvl="1"/>
            <a:r>
              <a:rPr sz="1800" dirty="0"/>
              <a:t>Step downhill:  w ← w − η · ∂L/∂w</a:t>
            </a:r>
          </a:p>
          <a:p>
            <a:pPr lvl="1"/>
            <a:r>
              <a:rPr sz="1800" dirty="0"/>
              <a:t>The same update applies to b; η is the learning rate</a:t>
            </a:r>
          </a:p>
          <a:p>
            <a:r>
              <a:rPr sz="2200" dirty="0"/>
              <a:t>Repeat for many epochs</a:t>
            </a:r>
          </a:p>
          <a:p>
            <a:pPr lvl="1"/>
            <a:r>
              <a:rPr sz="1800" dirty="0"/>
              <a:t>In our example, a random start ends at w ≈ 2 and b ≈ −1</a:t>
            </a:r>
          </a:p>
          <a:p>
            <a:r>
              <a:rPr sz="2200" dirty="0"/>
              <a:t>The learning rate matters</a:t>
            </a:r>
          </a:p>
          <a:p>
            <a:pPr lvl="1"/>
            <a:r>
              <a:rPr sz="1800" dirty="0"/>
              <a:t>Too small and training crawls; too large and it overshoots or diverges</a:t>
            </a:r>
          </a:p>
        </p:txBody>
      </p:sp>
      <p:graphicFrame>
        <p:nvGraphicFramePr>
          <p:cNvPr id="4" name="Gradient descent on a 1-D loss"/>
          <p:cNvGraphicFramePr>
            <a:graphicFrameLocks noGrp="1"/>
          </p:cNvGraphicFramePr>
          <p:nvPr/>
        </p:nvGraphicFramePr>
        <p:xfrm>
          <a:off x="6400800" y="1600200"/>
          <a:ext cx="5029200" cy="43434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Backpropagation</a:t>
            </a:r>
          </a:p>
        </p:txBody>
      </p:sp>
      <p:sp>
        <p:nvSpPr>
          <p:cNvPr id="3" name="Content Placeholder 2"/>
          <p:cNvSpPr>
            <a:spLocks noGrp="1"/>
          </p:cNvSpPr>
          <p:nvPr>
            <p:ph idx="1"/>
          </p:nvPr>
        </p:nvSpPr>
        <p:spPr>
          <a:xfrm>
            <a:off x="841248" y="3703320"/>
            <a:ext cx="10515600" cy="2377440"/>
          </a:xfrm>
        </p:spPr>
        <p:txBody>
          <a:bodyPr wrap="square"/>
          <a:lstStyle/>
          <a:p>
            <a:r>
              <a:rPr sz="2200"/>
              <a:t>Take x = 1 and y = 1, start from w = 0 and b = 0, with η = 0.1</a:t>
            </a:r>
          </a:p>
          <a:p>
            <a:r>
              <a:rPr sz="2200"/>
              <a:t>Forward: ŷ = w·x + b = 0, so L = (ŷ − y)² = 1</a:t>
            </a:r>
          </a:p>
          <a:p>
            <a:r>
              <a:rPr sz="2200"/>
              <a:t>Backward: ∂L/∂ŷ = 2(ŷ − y) = −2, ∂L/∂w = −2·x = −2, ∂L/∂b = −2</a:t>
            </a:r>
          </a:p>
          <a:p>
            <a:r>
              <a:rPr sz="2200"/>
              <a:t>Update: w = 0 − 0.1·(−2) = 0.2 and b = 0.2, which gives ŷ = 0.4 and L = 0.36</a:t>
            </a:r>
          </a:p>
          <a:p>
            <a:r>
              <a:rPr sz="2200"/>
              <a:t>PyTorch and TensorFlow compute these gradients for you (autograd)</a:t>
            </a:r>
          </a:p>
        </p:txBody>
      </p:sp>
      <p:sp>
        <p:nvSpPr>
          <p:cNvPr id="4" name="Node x"/>
          <p:cNvSpPr/>
          <p:nvPr/>
        </p:nvSpPr>
        <p:spPr>
          <a:xfrm>
            <a:off x="841248" y="2240280"/>
            <a:ext cx="1554480" cy="731520"/>
          </a:xfrm>
          <a:prstGeom prst="roundRect">
            <a:avLst>
              <a:gd name="adj" fmla="val 12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000" b="1" i="0">
                <a:solidFill>
                  <a:srgbClr val="FFFFFF"/>
                </a:solidFill>
                <a:latin typeface="Open Sans"/>
              </a:rPr>
              <a:t>x</a:t>
            </a:r>
          </a:p>
        </p:txBody>
      </p:sp>
      <p:cxnSp>
        <p:nvCxnSpPr>
          <p:cNvPr id="5" name="Forward link"/>
          <p:cNvCxnSpPr/>
          <p:nvPr/>
        </p:nvCxnSpPr>
        <p:spPr>
          <a:xfrm>
            <a:off x="2441448" y="2606040"/>
            <a:ext cx="594360" cy="0"/>
          </a:xfrm>
          <a:prstGeom prst="line">
            <a:avLst/>
          </a:prstGeom>
          <a:ln w="3810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Node w · x"/>
          <p:cNvSpPr/>
          <p:nvPr/>
        </p:nvSpPr>
        <p:spPr>
          <a:xfrm>
            <a:off x="3081528" y="2240280"/>
            <a:ext cx="1554480" cy="731520"/>
          </a:xfrm>
          <a:prstGeom prst="roundRect">
            <a:avLst>
              <a:gd name="adj" fmla="val 12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000" b="1" i="0">
                <a:solidFill>
                  <a:srgbClr val="FFFFFF"/>
                </a:solidFill>
                <a:latin typeface="Open Sans"/>
              </a:rPr>
              <a:t>w · x</a:t>
            </a:r>
          </a:p>
        </p:txBody>
      </p:sp>
      <p:cxnSp>
        <p:nvCxnSpPr>
          <p:cNvPr id="7" name="Forward link"/>
          <p:cNvCxnSpPr/>
          <p:nvPr/>
        </p:nvCxnSpPr>
        <p:spPr>
          <a:xfrm>
            <a:off x="4681728" y="2606040"/>
            <a:ext cx="594360" cy="0"/>
          </a:xfrm>
          <a:prstGeom prst="line">
            <a:avLst/>
          </a:prstGeom>
          <a:ln w="3810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Node + b"/>
          <p:cNvSpPr/>
          <p:nvPr/>
        </p:nvSpPr>
        <p:spPr>
          <a:xfrm>
            <a:off x="5321808" y="2240280"/>
            <a:ext cx="1554480" cy="731520"/>
          </a:xfrm>
          <a:prstGeom prst="roundRect">
            <a:avLst>
              <a:gd name="adj" fmla="val 12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000" b="1" i="0">
                <a:solidFill>
                  <a:srgbClr val="FFFFFF"/>
                </a:solidFill>
                <a:latin typeface="Open Sans"/>
              </a:rPr>
              <a:t>+ b</a:t>
            </a:r>
          </a:p>
        </p:txBody>
      </p:sp>
      <p:cxnSp>
        <p:nvCxnSpPr>
          <p:cNvPr id="9" name="Forward link"/>
          <p:cNvCxnSpPr/>
          <p:nvPr/>
        </p:nvCxnSpPr>
        <p:spPr>
          <a:xfrm>
            <a:off x="6922008" y="2606040"/>
            <a:ext cx="594359" cy="0"/>
          </a:xfrm>
          <a:prstGeom prst="line">
            <a:avLst/>
          </a:prstGeom>
          <a:ln w="3810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Node ŷ"/>
          <p:cNvSpPr/>
          <p:nvPr/>
        </p:nvSpPr>
        <p:spPr>
          <a:xfrm>
            <a:off x="7562088" y="2240280"/>
            <a:ext cx="1554480" cy="731520"/>
          </a:xfrm>
          <a:prstGeom prst="roundRect">
            <a:avLst>
              <a:gd name="adj" fmla="val 12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000" b="1" i="0">
                <a:solidFill>
                  <a:srgbClr val="FFFFFF"/>
                </a:solidFill>
                <a:latin typeface="Open Sans"/>
              </a:rPr>
              <a:t>ŷ</a:t>
            </a:r>
          </a:p>
        </p:txBody>
      </p:sp>
      <p:cxnSp>
        <p:nvCxnSpPr>
          <p:cNvPr id="11" name="Forward link"/>
          <p:cNvCxnSpPr/>
          <p:nvPr/>
        </p:nvCxnSpPr>
        <p:spPr>
          <a:xfrm>
            <a:off x="9162288" y="2606040"/>
            <a:ext cx="594360" cy="0"/>
          </a:xfrm>
          <a:prstGeom prst="line">
            <a:avLst/>
          </a:prstGeom>
          <a:ln w="3810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Node Loss"/>
          <p:cNvSpPr/>
          <p:nvPr/>
        </p:nvSpPr>
        <p:spPr>
          <a:xfrm>
            <a:off x="9802368" y="2240280"/>
            <a:ext cx="1554480" cy="731520"/>
          </a:xfrm>
          <a:prstGeom prst="roundRect">
            <a:avLst>
              <a:gd name="adj" fmla="val 12000"/>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000" b="1" i="0">
                <a:solidFill>
                  <a:srgbClr val="FFFFFF"/>
                </a:solidFill>
                <a:latin typeface="Open Sans"/>
              </a:rPr>
              <a:t>Loss</a:t>
            </a:r>
          </a:p>
          <a:p>
            <a:pPr algn="ctr"/>
            <a:r>
              <a:rPr sz="2000" b="1" i="0">
                <a:solidFill>
                  <a:srgbClr val="FFFFFF"/>
                </a:solidFill>
                <a:latin typeface="Open Sans"/>
              </a:rPr>
              <a:t>(ŷ − y)²</a:t>
            </a:r>
          </a:p>
        </p:txBody>
      </p:sp>
      <p:sp>
        <p:nvSpPr>
          <p:cNvPr id="13" name="Forward label"/>
          <p:cNvSpPr txBox="1"/>
          <p:nvPr/>
        </p:nvSpPr>
        <p:spPr>
          <a:xfrm>
            <a:off x="841248" y="1572768"/>
            <a:ext cx="10515600" cy="365760"/>
          </a:xfrm>
          <a:prstGeom prst="rect">
            <a:avLst/>
          </a:prstGeom>
          <a:noFill/>
        </p:spPr>
        <p:txBody>
          <a:bodyPr wrap="square" lIns="45720" tIns="27432" rIns="45720" bIns="27432" anchor="t">
            <a:spAutoFit/>
          </a:bodyPr>
          <a:lstStyle/>
          <a:p>
            <a:pPr algn="l"/>
            <a:r>
              <a:rPr sz="2000" b="1" i="0">
                <a:solidFill>
                  <a:schemeClr val="accent1"/>
                </a:solidFill>
                <a:latin typeface="Times New Roman"/>
              </a:rPr>
              <a:t>Forward pass: </a:t>
            </a:r>
            <a:r>
              <a:rPr sz="2000" b="0" i="0">
                <a:solidFill>
                  <a:srgbClr val="000000"/>
                </a:solidFill>
                <a:latin typeface="Times New Roman"/>
              </a:rPr>
              <a:t>compute ŷ and the loss L</a:t>
            </a:r>
          </a:p>
        </p:txBody>
      </p:sp>
      <p:cxnSp>
        <p:nvCxnSpPr>
          <p:cNvPr id="14" name="Forward arrow"/>
          <p:cNvCxnSpPr/>
          <p:nvPr/>
        </p:nvCxnSpPr>
        <p:spPr>
          <a:xfrm>
            <a:off x="886968" y="2057400"/>
            <a:ext cx="10424160" cy="0"/>
          </a:xfrm>
          <a:prstGeom prst="line">
            <a:avLst/>
          </a:prstGeom>
          <a:ln w="3810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Backward arrow"/>
          <p:cNvCxnSpPr/>
          <p:nvPr/>
        </p:nvCxnSpPr>
        <p:spPr>
          <a:xfrm flipH="1">
            <a:off x="886968" y="3200400"/>
            <a:ext cx="10424160" cy="0"/>
          </a:xfrm>
          <a:prstGeom prst="line">
            <a:avLst/>
          </a:prstGeom>
          <a:ln w="44450">
            <a:solidFill>
              <a:schemeClr val="accent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Backward label"/>
          <p:cNvSpPr txBox="1"/>
          <p:nvPr/>
        </p:nvSpPr>
        <p:spPr>
          <a:xfrm>
            <a:off x="841248" y="3273552"/>
            <a:ext cx="10515600" cy="365760"/>
          </a:xfrm>
          <a:prstGeom prst="rect">
            <a:avLst/>
          </a:prstGeom>
          <a:noFill/>
        </p:spPr>
        <p:txBody>
          <a:bodyPr wrap="square" lIns="45720" tIns="27432" rIns="45720" bIns="27432" anchor="t">
            <a:spAutoFit/>
          </a:bodyPr>
          <a:lstStyle/>
          <a:p>
            <a:pPr algn="l"/>
            <a:r>
              <a:rPr sz="2000" b="1" i="0">
                <a:solidFill>
                  <a:schemeClr val="accent1"/>
                </a:solidFill>
                <a:latin typeface="Times New Roman"/>
              </a:rPr>
              <a:t>Backward pass: </a:t>
            </a:r>
            <a:r>
              <a:rPr sz="2000" b="0" i="0">
                <a:solidFill>
                  <a:srgbClr val="000000"/>
                </a:solidFill>
                <a:latin typeface="Times New Roman"/>
              </a:rPr>
              <a:t>chain rule gives ∂L/∂ŷ, then ∂L/∂w and ∂L/∂b</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Hands-On: Training in PyTorch</a:t>
            </a:r>
          </a:p>
        </p:txBody>
      </p:sp>
      <p:sp>
        <p:nvSpPr>
          <p:cNvPr id="3" name="Content Placeholder 2"/>
          <p:cNvSpPr>
            <a:spLocks noGrp="1"/>
          </p:cNvSpPr>
          <p:nvPr>
            <p:ph idx="1"/>
          </p:nvPr>
        </p:nvSpPr>
        <p:spPr>
          <a:xfrm>
            <a:off x="7863840" y="1645920"/>
            <a:ext cx="3566160" cy="3383280"/>
          </a:xfrm>
        </p:spPr>
        <p:txBody>
          <a:bodyPr wrap="square"/>
          <a:lstStyle/>
          <a:p>
            <a:r>
              <a:rPr sz="2200" b="1"/>
              <a:t>Same steps as before</a:t>
            </a:r>
          </a:p>
          <a:p>
            <a:pPr lvl="1"/>
            <a:r>
              <a:rPr sz="1800"/>
              <a:t>network → loss → optimizer → train loop</a:t>
            </a:r>
          </a:p>
          <a:p>
            <a:r>
              <a:rPr sz="2200" b="1"/>
              <a:t>Try it</a:t>
            </a:r>
          </a:p>
          <a:p>
            <a:pPr lvl="1"/>
            <a:r>
              <a:rPr sz="1800"/>
              <a:t>lr = 0.5: the loss blows up</a:t>
            </a:r>
          </a:p>
          <a:p>
            <a:pPr lvl="1"/>
            <a:r>
              <a:rPr sz="1800"/>
              <a:t>lr = 0.001: still far off after 200 epochs</a:t>
            </a:r>
          </a:p>
          <a:p>
            <a:pPr lvl="1"/>
            <a:r>
              <a:rPr sz="1800"/>
              <a:t>Predict f(10): should be ≈ 19</a:t>
            </a:r>
          </a:p>
          <a:p>
            <a:pPr lvl="1"/>
            <a:r>
              <a:rPr sz="1800"/>
              <a:t>Add a hidden layer and nn.ReLU()</a:t>
            </a:r>
          </a:p>
        </p:txBody>
      </p:sp>
      <p:sp>
        <p:nvSpPr>
          <p:cNvPr id="4" name="Code block"/>
          <p:cNvSpPr/>
          <p:nvPr/>
        </p:nvSpPr>
        <p:spPr>
          <a:xfrm>
            <a:off x="841248" y="1600200"/>
            <a:ext cx="6812280" cy="4389120"/>
          </a:xfrm>
          <a:prstGeom prst="rect">
            <a:avLst/>
          </a:prstGeom>
          <a:solidFill>
            <a:srgbClr val="F4F2F2"/>
          </a:solidFill>
          <a:ln w="1905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182880" tIns="91440" rIns="182880" bIns="91440" rtlCol="0" anchor="ctr"/>
          <a:lstStyle/>
          <a:p>
            <a:pPr algn="l"/>
            <a:r>
              <a:rPr sz="1400" b="0" i="0" dirty="0">
                <a:solidFill>
                  <a:srgbClr val="000000"/>
                </a:solidFill>
                <a:latin typeface="Consolas"/>
              </a:rPr>
              <a:t>import torch, </a:t>
            </a:r>
            <a:r>
              <a:rPr sz="1400" b="0" i="0" dirty="0" err="1">
                <a:solidFill>
                  <a:srgbClr val="000000"/>
                </a:solidFill>
                <a:latin typeface="Consolas"/>
              </a:rPr>
              <a:t>torch.nn</a:t>
            </a:r>
            <a:r>
              <a:rPr sz="1400" b="0" i="0" dirty="0">
                <a:solidFill>
                  <a:srgbClr val="000000"/>
                </a:solidFill>
                <a:latin typeface="Consolas"/>
              </a:rPr>
              <a:t> as </a:t>
            </a:r>
            <a:r>
              <a:rPr sz="1400" b="0" i="0" dirty="0" err="1">
                <a:solidFill>
                  <a:srgbClr val="000000"/>
                </a:solidFill>
                <a:latin typeface="Consolas"/>
              </a:rPr>
              <a:t>nn</a:t>
            </a:r>
            <a:endParaRPr sz="1400" b="0" i="0" dirty="0">
              <a:solidFill>
                <a:srgbClr val="000000"/>
              </a:solidFill>
              <a:latin typeface="Consolas"/>
            </a:endParaRPr>
          </a:p>
          <a:p>
            <a:pPr algn="l"/>
            <a:r>
              <a:rPr sz="1400" b="0" i="0" dirty="0">
                <a:solidFill>
                  <a:srgbClr val="000000"/>
                </a:solidFill>
                <a:latin typeface="Consolas"/>
              </a:rPr>
              <a:t> </a:t>
            </a:r>
          </a:p>
          <a:p>
            <a:pPr algn="l"/>
            <a:r>
              <a:rPr sz="1400" b="0" i="0" dirty="0">
                <a:solidFill>
                  <a:srgbClr val="000000"/>
                </a:solidFill>
                <a:latin typeface="Consolas"/>
              </a:rPr>
              <a:t>x = </a:t>
            </a:r>
            <a:r>
              <a:rPr sz="1400" b="0" i="0" dirty="0" err="1">
                <a:solidFill>
                  <a:srgbClr val="000000"/>
                </a:solidFill>
                <a:latin typeface="Consolas"/>
              </a:rPr>
              <a:t>torch.tensor</a:t>
            </a:r>
            <a:r>
              <a:rPr sz="1400" b="0" i="0" dirty="0">
                <a:solidFill>
                  <a:srgbClr val="000000"/>
                </a:solidFill>
                <a:latin typeface="Consolas"/>
              </a:rPr>
              <a:t>([[-1.],[0.],[1.],[2.],[3.],[4.]])</a:t>
            </a:r>
          </a:p>
          <a:p>
            <a:pPr algn="l"/>
            <a:r>
              <a:rPr sz="1400" b="0" i="0" dirty="0">
                <a:solidFill>
                  <a:srgbClr val="000000"/>
                </a:solidFill>
                <a:latin typeface="Consolas"/>
              </a:rPr>
              <a:t>y = </a:t>
            </a:r>
            <a:r>
              <a:rPr sz="1400" b="0" i="0" dirty="0" err="1">
                <a:solidFill>
                  <a:srgbClr val="000000"/>
                </a:solidFill>
                <a:latin typeface="Consolas"/>
              </a:rPr>
              <a:t>torch.tensor</a:t>
            </a:r>
            <a:r>
              <a:rPr sz="1400" b="0" i="0" dirty="0">
                <a:solidFill>
                  <a:srgbClr val="000000"/>
                </a:solidFill>
                <a:latin typeface="Consolas"/>
              </a:rPr>
              <a:t>([[-3.],[-1.],[1.],[3.],[5.],[7.]])</a:t>
            </a:r>
          </a:p>
          <a:p>
            <a:pPr algn="l"/>
            <a:r>
              <a:rPr sz="1400" b="0" i="0" dirty="0">
                <a:solidFill>
                  <a:srgbClr val="000000"/>
                </a:solidFill>
                <a:latin typeface="Consolas"/>
              </a:rPr>
              <a:t> </a:t>
            </a:r>
          </a:p>
          <a:p>
            <a:pPr algn="l"/>
            <a:r>
              <a:rPr sz="1400" b="0" i="0" dirty="0">
                <a:solidFill>
                  <a:srgbClr val="000000"/>
                </a:solidFill>
                <a:latin typeface="Consolas"/>
              </a:rPr>
              <a:t>model   = </a:t>
            </a:r>
            <a:r>
              <a:rPr sz="1400" b="0" i="0" dirty="0" err="1">
                <a:solidFill>
                  <a:srgbClr val="000000"/>
                </a:solidFill>
                <a:latin typeface="Consolas"/>
              </a:rPr>
              <a:t>nn.Linear</a:t>
            </a:r>
            <a:r>
              <a:rPr sz="1400" b="0" i="0" dirty="0">
                <a:solidFill>
                  <a:srgbClr val="000000"/>
                </a:solidFill>
                <a:latin typeface="Consolas"/>
              </a:rPr>
              <a:t>(1, 1)      </a:t>
            </a:r>
            <a:r>
              <a:rPr sz="1400" b="0" i="1" dirty="0">
                <a:solidFill>
                  <a:schemeClr val="accent3"/>
                </a:solidFill>
                <a:latin typeface="Consolas"/>
              </a:rPr>
              <a:t># 1 layer, 1 neuron</a:t>
            </a:r>
          </a:p>
          <a:p>
            <a:pPr algn="l"/>
            <a:r>
              <a:rPr sz="1400" b="0" i="0" dirty="0" err="1">
                <a:solidFill>
                  <a:srgbClr val="000000"/>
                </a:solidFill>
                <a:latin typeface="Consolas"/>
              </a:rPr>
              <a:t>loss_fn</a:t>
            </a:r>
            <a:r>
              <a:rPr sz="1400" b="0" i="0" dirty="0">
                <a:solidFill>
                  <a:srgbClr val="000000"/>
                </a:solidFill>
                <a:latin typeface="Consolas"/>
              </a:rPr>
              <a:t> = </a:t>
            </a:r>
            <a:r>
              <a:rPr sz="1400" b="0" i="0" dirty="0" err="1">
                <a:solidFill>
                  <a:srgbClr val="000000"/>
                </a:solidFill>
                <a:latin typeface="Consolas"/>
              </a:rPr>
              <a:t>nn.MSELoss</a:t>
            </a:r>
            <a:r>
              <a:rPr sz="1400" b="0" i="0" dirty="0">
                <a:solidFill>
                  <a:srgbClr val="000000"/>
                </a:solidFill>
                <a:latin typeface="Consolas"/>
              </a:rPr>
              <a:t>()         </a:t>
            </a:r>
            <a:r>
              <a:rPr sz="1400" b="0" i="1" dirty="0">
                <a:solidFill>
                  <a:schemeClr val="accent3"/>
                </a:solidFill>
                <a:latin typeface="Consolas"/>
              </a:rPr>
              <a:t># loss function</a:t>
            </a:r>
          </a:p>
          <a:p>
            <a:pPr algn="l"/>
            <a:r>
              <a:rPr sz="1400" b="0" i="0" dirty="0">
                <a:solidFill>
                  <a:srgbClr val="000000"/>
                </a:solidFill>
                <a:latin typeface="Consolas"/>
              </a:rPr>
              <a:t>opt = </a:t>
            </a:r>
            <a:r>
              <a:rPr sz="1400" b="0" i="0" dirty="0" err="1">
                <a:solidFill>
                  <a:srgbClr val="000000"/>
                </a:solidFill>
                <a:latin typeface="Consolas"/>
              </a:rPr>
              <a:t>torch.optim.SGD</a:t>
            </a:r>
            <a:r>
              <a:rPr sz="1400" b="0" i="0" dirty="0">
                <a:solidFill>
                  <a:srgbClr val="000000"/>
                </a:solidFill>
                <a:latin typeface="Consolas"/>
              </a:rPr>
              <a:t>(</a:t>
            </a:r>
            <a:r>
              <a:rPr sz="1400" b="0" i="0" dirty="0" err="1">
                <a:solidFill>
                  <a:srgbClr val="000000"/>
                </a:solidFill>
                <a:latin typeface="Consolas"/>
              </a:rPr>
              <a:t>model.parameters</a:t>
            </a:r>
            <a:r>
              <a:rPr sz="1400" b="0" i="0" dirty="0">
                <a:solidFill>
                  <a:srgbClr val="000000"/>
                </a:solidFill>
                <a:latin typeface="Consolas"/>
              </a:rPr>
              <a:t>(), </a:t>
            </a:r>
            <a:r>
              <a:rPr sz="1400" b="0" i="0" dirty="0" err="1">
                <a:solidFill>
                  <a:srgbClr val="000000"/>
                </a:solidFill>
                <a:latin typeface="Consolas"/>
              </a:rPr>
              <a:t>lr</a:t>
            </a:r>
            <a:r>
              <a:rPr sz="1400" b="0" i="0" dirty="0">
                <a:solidFill>
                  <a:srgbClr val="000000"/>
                </a:solidFill>
                <a:latin typeface="Consolas"/>
              </a:rPr>
              <a:t>=0.05)</a:t>
            </a:r>
          </a:p>
          <a:p>
            <a:pPr algn="l"/>
            <a:r>
              <a:rPr sz="1400" b="0" i="0" dirty="0">
                <a:solidFill>
                  <a:srgbClr val="000000"/>
                </a:solidFill>
                <a:latin typeface="Consolas"/>
              </a:rPr>
              <a:t> </a:t>
            </a:r>
          </a:p>
          <a:p>
            <a:pPr algn="l"/>
            <a:r>
              <a:rPr sz="1400" b="0" i="0" dirty="0">
                <a:solidFill>
                  <a:srgbClr val="000000"/>
                </a:solidFill>
                <a:latin typeface="Consolas"/>
              </a:rPr>
              <a:t>for epoch in range(200):</a:t>
            </a:r>
          </a:p>
          <a:p>
            <a:pPr algn="l"/>
            <a:r>
              <a:rPr sz="1400" b="0" i="0" dirty="0">
                <a:solidFill>
                  <a:srgbClr val="000000"/>
                </a:solidFill>
                <a:latin typeface="Consolas"/>
              </a:rPr>
              <a:t>    loss = </a:t>
            </a:r>
            <a:r>
              <a:rPr sz="1400" b="0" i="0" dirty="0" err="1">
                <a:solidFill>
                  <a:srgbClr val="000000"/>
                </a:solidFill>
                <a:latin typeface="Consolas"/>
              </a:rPr>
              <a:t>loss_fn</a:t>
            </a:r>
            <a:r>
              <a:rPr sz="1400" b="0" i="0" dirty="0">
                <a:solidFill>
                  <a:srgbClr val="000000"/>
                </a:solidFill>
                <a:latin typeface="Consolas"/>
              </a:rPr>
              <a:t>(model(x), y)   </a:t>
            </a:r>
            <a:r>
              <a:rPr sz="1400" b="0" i="1" dirty="0">
                <a:solidFill>
                  <a:schemeClr val="accent3"/>
                </a:solidFill>
                <a:latin typeface="Consolas"/>
              </a:rPr>
              <a:t># forward</a:t>
            </a:r>
          </a:p>
          <a:p>
            <a:pPr algn="l"/>
            <a:r>
              <a:rPr sz="1400" b="0" i="0" dirty="0">
                <a:solidFill>
                  <a:srgbClr val="000000"/>
                </a:solidFill>
                <a:latin typeface="Consolas"/>
              </a:rPr>
              <a:t>    </a:t>
            </a:r>
            <a:r>
              <a:rPr sz="1400" b="0" i="0" dirty="0" err="1">
                <a:solidFill>
                  <a:srgbClr val="000000"/>
                </a:solidFill>
                <a:latin typeface="Consolas"/>
              </a:rPr>
              <a:t>opt.zero_grad</a:t>
            </a:r>
            <a:r>
              <a:rPr sz="1400" b="0" i="0" dirty="0">
                <a:solidFill>
                  <a:srgbClr val="000000"/>
                </a:solidFill>
                <a:latin typeface="Consolas"/>
              </a:rPr>
              <a:t>()</a:t>
            </a:r>
          </a:p>
          <a:p>
            <a:pPr algn="l"/>
            <a:r>
              <a:rPr sz="1400" b="0" i="0" dirty="0">
                <a:solidFill>
                  <a:srgbClr val="000000"/>
                </a:solidFill>
                <a:latin typeface="Consolas"/>
              </a:rPr>
              <a:t>    </a:t>
            </a:r>
            <a:r>
              <a:rPr sz="1400" b="0" i="0" dirty="0" err="1">
                <a:solidFill>
                  <a:srgbClr val="000000"/>
                </a:solidFill>
                <a:latin typeface="Consolas"/>
              </a:rPr>
              <a:t>loss.backward</a:t>
            </a:r>
            <a:r>
              <a:rPr sz="1400" b="0" i="0" dirty="0">
                <a:solidFill>
                  <a:srgbClr val="000000"/>
                </a:solidFill>
                <a:latin typeface="Consolas"/>
              </a:rPr>
              <a:t>()               </a:t>
            </a:r>
            <a:r>
              <a:rPr sz="1400" b="0" i="1" dirty="0">
                <a:solidFill>
                  <a:schemeClr val="accent3"/>
                </a:solidFill>
                <a:latin typeface="Consolas"/>
              </a:rPr>
              <a:t># backprop</a:t>
            </a:r>
          </a:p>
          <a:p>
            <a:pPr algn="l"/>
            <a:r>
              <a:rPr sz="1400" b="0" i="0" dirty="0">
                <a:solidFill>
                  <a:srgbClr val="000000"/>
                </a:solidFill>
                <a:latin typeface="Consolas"/>
              </a:rPr>
              <a:t>    </a:t>
            </a:r>
            <a:r>
              <a:rPr sz="1400" b="0" i="0" dirty="0" err="1">
                <a:solidFill>
                  <a:srgbClr val="000000"/>
                </a:solidFill>
                <a:latin typeface="Consolas"/>
              </a:rPr>
              <a:t>opt.step</a:t>
            </a:r>
            <a:r>
              <a:rPr sz="1400" b="0" i="0" dirty="0">
                <a:solidFill>
                  <a:srgbClr val="000000"/>
                </a:solidFill>
                <a:latin typeface="Consolas"/>
              </a:rPr>
              <a:t>()                    </a:t>
            </a:r>
            <a:r>
              <a:rPr sz="1400" b="0" i="1" dirty="0">
                <a:solidFill>
                  <a:schemeClr val="accent3"/>
                </a:solidFill>
                <a:latin typeface="Consolas"/>
              </a:rPr>
              <a:t># update w, b</a:t>
            </a:r>
          </a:p>
          <a:p>
            <a:pPr algn="l"/>
            <a:r>
              <a:rPr sz="1400" b="0" i="0" dirty="0">
                <a:solidFill>
                  <a:srgbClr val="000000"/>
                </a:solidFill>
                <a:latin typeface="Consolas"/>
              </a:rPr>
              <a:t> </a:t>
            </a:r>
          </a:p>
          <a:p>
            <a:pPr algn="l"/>
            <a:r>
              <a:rPr sz="1400" b="0" i="0" dirty="0">
                <a:solidFill>
                  <a:srgbClr val="000000"/>
                </a:solidFill>
                <a:latin typeface="Consolas"/>
              </a:rPr>
              <a:t>print(</a:t>
            </a:r>
            <a:r>
              <a:rPr sz="1400" b="0" i="0" dirty="0" err="1">
                <a:solidFill>
                  <a:srgbClr val="000000"/>
                </a:solidFill>
                <a:latin typeface="Consolas"/>
              </a:rPr>
              <a:t>model.weight.item</a:t>
            </a:r>
            <a:r>
              <a:rPr sz="1400" b="0" i="0" dirty="0">
                <a:solidFill>
                  <a:srgbClr val="000000"/>
                </a:solidFill>
                <a:latin typeface="Consolas"/>
              </a:rPr>
              <a:t>(), </a:t>
            </a:r>
            <a:r>
              <a:rPr sz="1400" b="0" i="0" dirty="0" err="1">
                <a:solidFill>
                  <a:srgbClr val="000000"/>
                </a:solidFill>
                <a:latin typeface="Consolas"/>
              </a:rPr>
              <a:t>model.bias.item</a:t>
            </a:r>
            <a:r>
              <a:rPr sz="1400" b="0" i="0" dirty="0">
                <a:solidFill>
                  <a:srgbClr val="000000"/>
                </a:solidFill>
                <a:latin typeface="Consolas"/>
              </a:rPr>
              <a:t>())  </a:t>
            </a:r>
            <a:r>
              <a:rPr sz="1400" b="0" i="1" dirty="0">
                <a:solidFill>
                  <a:schemeClr val="accent3"/>
                </a:solidFill>
                <a:latin typeface="Consolas"/>
              </a:rPr>
              <a:t># ≈ 2, −1</a:t>
            </a:r>
          </a:p>
        </p:txBody>
      </p:sp>
      <p:sp>
        <p:nvSpPr>
          <p:cNvPr id="5" name="Playground link"/>
          <p:cNvSpPr txBox="1"/>
          <p:nvPr/>
        </p:nvSpPr>
        <p:spPr>
          <a:xfrm>
            <a:off x="7909560" y="5074920"/>
            <a:ext cx="3520440" cy="822960"/>
          </a:xfrm>
          <a:prstGeom prst="rect">
            <a:avLst/>
          </a:prstGeom>
          <a:noFill/>
        </p:spPr>
        <p:txBody>
          <a:bodyPr wrap="square" lIns="45720" tIns="27432" rIns="45720" bIns="27432" anchor="t">
            <a:spAutoFit/>
          </a:bodyPr>
          <a:lstStyle/>
          <a:p>
            <a:pPr algn="l"/>
            <a:r>
              <a:rPr sz="1800" b="1" i="0">
                <a:solidFill>
                  <a:srgbClr val="000000"/>
                </a:solidFill>
                <a:latin typeface="Times New Roman"/>
              </a:rPr>
              <a:t>Visual playground:</a:t>
            </a:r>
          </a:p>
          <a:p>
            <a:r>
              <a:rPr sz="1800" b="0" i="0">
                <a:solidFill>
                  <a:schemeClr val="accent1"/>
                </a:solidFill>
                <a:latin typeface="Times New Roman"/>
                <a:hlinkClick r:id="rId3"/>
              </a:rPr>
              <a:t>playground.tensorflow.org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Underfitting vs. Overfitting</a:t>
            </a:r>
          </a:p>
        </p:txBody>
      </p:sp>
      <p:sp>
        <p:nvSpPr>
          <p:cNvPr id="3" name="Underfitting label"/>
          <p:cNvSpPr txBox="1"/>
          <p:nvPr/>
        </p:nvSpPr>
        <p:spPr>
          <a:xfrm>
            <a:off x="841248" y="1536192"/>
            <a:ext cx="3383280" cy="384048"/>
          </a:xfrm>
          <a:prstGeom prst="rect">
            <a:avLst/>
          </a:prstGeom>
          <a:noFill/>
        </p:spPr>
        <p:txBody>
          <a:bodyPr wrap="square" lIns="45720" tIns="27432" rIns="45720" bIns="27432" anchor="t">
            <a:spAutoFit/>
          </a:bodyPr>
          <a:lstStyle/>
          <a:p>
            <a:pPr algn="ctr"/>
            <a:r>
              <a:rPr sz="2200" b="1" i="0">
                <a:solidFill>
                  <a:schemeClr val="accent1"/>
                </a:solidFill>
                <a:latin typeface="Open Sans"/>
              </a:rPr>
              <a:t>Underfitting</a:t>
            </a:r>
          </a:p>
        </p:txBody>
      </p:sp>
      <p:graphicFrame>
        <p:nvGraphicFramePr>
          <p:cNvPr id="4" name="Underfitting chart"/>
          <p:cNvGraphicFramePr>
            <a:graphicFrameLocks noGrp="1"/>
          </p:cNvGraphicFramePr>
          <p:nvPr/>
        </p:nvGraphicFramePr>
        <p:xfrm>
          <a:off x="841248" y="1920240"/>
          <a:ext cx="338328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5" name="Underfitting caption"/>
          <p:cNvSpPr txBox="1"/>
          <p:nvPr/>
        </p:nvSpPr>
        <p:spPr>
          <a:xfrm>
            <a:off x="841248" y="4480560"/>
            <a:ext cx="3383280" cy="731520"/>
          </a:xfrm>
          <a:prstGeom prst="rect">
            <a:avLst/>
          </a:prstGeom>
          <a:noFill/>
        </p:spPr>
        <p:txBody>
          <a:bodyPr wrap="square" lIns="45720" tIns="27432" rIns="45720" bIns="27432" anchor="t">
            <a:spAutoFit/>
          </a:bodyPr>
          <a:lstStyle/>
          <a:p>
            <a:pPr algn="ctr"/>
            <a:r>
              <a:rPr sz="1800" b="0" i="0">
                <a:solidFill>
                  <a:srgbClr val="000000"/>
                </a:solidFill>
                <a:latin typeface="Times New Roman"/>
              </a:rPr>
              <a:t>Too simple, misses the trend.</a:t>
            </a:r>
          </a:p>
          <a:p>
            <a:pPr algn="ctr"/>
            <a:r>
              <a:rPr sz="1800" b="0" i="0">
                <a:solidFill>
                  <a:srgbClr val="000000"/>
                </a:solidFill>
                <a:latin typeface="Times New Roman"/>
              </a:rPr>
              <a:t>High error on train and test</a:t>
            </a:r>
          </a:p>
        </p:txBody>
      </p:sp>
      <p:sp>
        <p:nvSpPr>
          <p:cNvPr id="6" name="Good fit label"/>
          <p:cNvSpPr txBox="1"/>
          <p:nvPr/>
        </p:nvSpPr>
        <p:spPr>
          <a:xfrm>
            <a:off x="4407408" y="1536192"/>
            <a:ext cx="3383280" cy="384048"/>
          </a:xfrm>
          <a:prstGeom prst="rect">
            <a:avLst/>
          </a:prstGeom>
          <a:noFill/>
        </p:spPr>
        <p:txBody>
          <a:bodyPr wrap="square" lIns="45720" tIns="27432" rIns="45720" bIns="27432" anchor="t">
            <a:spAutoFit/>
          </a:bodyPr>
          <a:lstStyle/>
          <a:p>
            <a:pPr algn="ctr"/>
            <a:r>
              <a:rPr sz="2200" b="1" i="0">
                <a:solidFill>
                  <a:schemeClr val="accent1"/>
                </a:solidFill>
                <a:latin typeface="Open Sans"/>
              </a:rPr>
              <a:t>Good fit</a:t>
            </a:r>
          </a:p>
        </p:txBody>
      </p:sp>
      <p:graphicFrame>
        <p:nvGraphicFramePr>
          <p:cNvPr id="7" name="Good fit chart"/>
          <p:cNvGraphicFramePr>
            <a:graphicFrameLocks noGrp="1"/>
          </p:cNvGraphicFramePr>
          <p:nvPr/>
        </p:nvGraphicFramePr>
        <p:xfrm>
          <a:off x="4407408" y="1920240"/>
          <a:ext cx="3383280" cy="2514600"/>
        </p:xfrm>
        <a:graphic>
          <a:graphicData uri="http://schemas.openxmlformats.org/drawingml/2006/chart">
            <c:chart xmlns:c="http://schemas.openxmlformats.org/drawingml/2006/chart" xmlns:r="http://schemas.openxmlformats.org/officeDocument/2006/relationships" r:id="rId4"/>
          </a:graphicData>
        </a:graphic>
      </p:graphicFrame>
      <p:sp>
        <p:nvSpPr>
          <p:cNvPr id="8" name="Good fit caption"/>
          <p:cNvSpPr txBox="1"/>
          <p:nvPr/>
        </p:nvSpPr>
        <p:spPr>
          <a:xfrm>
            <a:off x="4407408" y="4480560"/>
            <a:ext cx="3383280" cy="731520"/>
          </a:xfrm>
          <a:prstGeom prst="rect">
            <a:avLst/>
          </a:prstGeom>
          <a:noFill/>
        </p:spPr>
        <p:txBody>
          <a:bodyPr wrap="square" lIns="45720" tIns="27432" rIns="45720" bIns="27432" anchor="t">
            <a:spAutoFit/>
          </a:bodyPr>
          <a:lstStyle/>
          <a:p>
            <a:pPr algn="ctr"/>
            <a:r>
              <a:rPr sz="1800" b="0" i="0">
                <a:solidFill>
                  <a:srgbClr val="000000"/>
                </a:solidFill>
                <a:latin typeface="Times New Roman"/>
              </a:rPr>
              <a:t>Follows the trend.</a:t>
            </a:r>
          </a:p>
          <a:p>
            <a:pPr algn="ctr"/>
            <a:r>
              <a:rPr sz="1800" b="0" i="0">
                <a:solidFill>
                  <a:srgbClr val="000000"/>
                </a:solidFill>
                <a:latin typeface="Times New Roman"/>
              </a:rPr>
              <a:t>Holds up on new data</a:t>
            </a:r>
          </a:p>
        </p:txBody>
      </p:sp>
      <p:sp>
        <p:nvSpPr>
          <p:cNvPr id="9" name="Overfitting label"/>
          <p:cNvSpPr txBox="1"/>
          <p:nvPr/>
        </p:nvSpPr>
        <p:spPr>
          <a:xfrm>
            <a:off x="7973568" y="1536192"/>
            <a:ext cx="3383280" cy="384048"/>
          </a:xfrm>
          <a:prstGeom prst="rect">
            <a:avLst/>
          </a:prstGeom>
          <a:noFill/>
        </p:spPr>
        <p:txBody>
          <a:bodyPr wrap="square" lIns="45720" tIns="27432" rIns="45720" bIns="27432" anchor="t">
            <a:spAutoFit/>
          </a:bodyPr>
          <a:lstStyle/>
          <a:p>
            <a:pPr algn="ctr"/>
            <a:r>
              <a:rPr sz="2200" b="1" i="0">
                <a:solidFill>
                  <a:schemeClr val="accent1"/>
                </a:solidFill>
                <a:latin typeface="Open Sans"/>
              </a:rPr>
              <a:t>Overfitting</a:t>
            </a:r>
          </a:p>
        </p:txBody>
      </p:sp>
      <p:graphicFrame>
        <p:nvGraphicFramePr>
          <p:cNvPr id="10" name="Overfitting chart"/>
          <p:cNvGraphicFramePr>
            <a:graphicFrameLocks noGrp="1"/>
          </p:cNvGraphicFramePr>
          <p:nvPr/>
        </p:nvGraphicFramePr>
        <p:xfrm>
          <a:off x="7973568" y="1920240"/>
          <a:ext cx="3383280" cy="2514600"/>
        </p:xfrm>
        <a:graphic>
          <a:graphicData uri="http://schemas.openxmlformats.org/drawingml/2006/chart">
            <c:chart xmlns:c="http://schemas.openxmlformats.org/drawingml/2006/chart" xmlns:r="http://schemas.openxmlformats.org/officeDocument/2006/relationships" r:id="rId5"/>
          </a:graphicData>
        </a:graphic>
      </p:graphicFrame>
      <p:sp>
        <p:nvSpPr>
          <p:cNvPr id="11" name="Overfitting caption"/>
          <p:cNvSpPr txBox="1"/>
          <p:nvPr/>
        </p:nvSpPr>
        <p:spPr>
          <a:xfrm>
            <a:off x="7973568" y="4480560"/>
            <a:ext cx="3383280" cy="731520"/>
          </a:xfrm>
          <a:prstGeom prst="rect">
            <a:avLst/>
          </a:prstGeom>
          <a:noFill/>
        </p:spPr>
        <p:txBody>
          <a:bodyPr wrap="square" lIns="45720" tIns="27432" rIns="45720" bIns="27432" anchor="t">
            <a:spAutoFit/>
          </a:bodyPr>
          <a:lstStyle/>
          <a:p>
            <a:pPr algn="ctr"/>
            <a:r>
              <a:rPr sz="1800" b="0" i="0">
                <a:solidFill>
                  <a:srgbClr val="000000"/>
                </a:solidFill>
                <a:latin typeface="Times New Roman"/>
              </a:rPr>
              <a:t>Memorizes the noise: near-zero</a:t>
            </a:r>
          </a:p>
          <a:p>
            <a:pPr algn="ctr"/>
            <a:r>
              <a:rPr sz="1800" b="0" i="0">
                <a:solidFill>
                  <a:srgbClr val="000000"/>
                </a:solidFill>
                <a:latin typeface="Times New Roman"/>
              </a:rPr>
              <a:t>train error, high on new data</a:t>
            </a:r>
          </a:p>
        </p:txBody>
      </p:sp>
      <p:sp>
        <p:nvSpPr>
          <p:cNvPr id="12" name="Goal"/>
          <p:cNvSpPr txBox="1"/>
          <p:nvPr/>
        </p:nvSpPr>
        <p:spPr>
          <a:xfrm>
            <a:off x="841248" y="5440680"/>
            <a:ext cx="10515600" cy="457200"/>
          </a:xfrm>
          <a:prstGeom prst="rect">
            <a:avLst/>
          </a:prstGeom>
          <a:noFill/>
        </p:spPr>
        <p:txBody>
          <a:bodyPr wrap="square" lIns="45720" tIns="27432" rIns="45720" bIns="27432" anchor="t">
            <a:spAutoFit/>
          </a:bodyPr>
          <a:lstStyle/>
          <a:p>
            <a:pPr algn="l"/>
            <a:r>
              <a:rPr sz="2200" b="0" i="0">
                <a:solidFill>
                  <a:srgbClr val="000000"/>
                </a:solidFill>
                <a:latin typeface="Times New Roman"/>
              </a:rPr>
              <a:t>We want low error on data the model has never seen, not only on the training set</a:t>
            </a:r>
          </a:p>
        </p:txBody>
      </p:sp>
      <p:sp>
        <p:nvSpPr>
          <p:cNvPr id="13" name="Legend note"/>
          <p:cNvSpPr txBox="1"/>
          <p:nvPr/>
        </p:nvSpPr>
        <p:spPr>
          <a:xfrm>
            <a:off x="8595360" y="5897880"/>
            <a:ext cx="2743200" cy="274320"/>
          </a:xfrm>
          <a:prstGeom prst="rect">
            <a:avLst/>
          </a:prstGeom>
          <a:noFill/>
        </p:spPr>
        <p:txBody>
          <a:bodyPr wrap="square" lIns="45720" tIns="27432" rIns="45720" bIns="27432" anchor="t">
            <a:spAutoFit/>
          </a:bodyPr>
          <a:lstStyle/>
          <a:p>
            <a:pPr algn="r"/>
            <a:r>
              <a:rPr sz="1400" b="0" i="0">
                <a:solidFill>
                  <a:srgbClr val="595959"/>
                </a:solidFill>
                <a:latin typeface="Times New Roman"/>
              </a:rPr>
              <a:t>Dots: training data. Line: model fit.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Splits and Regularization</a:t>
            </a:r>
          </a:p>
        </p:txBody>
      </p:sp>
      <p:sp>
        <p:nvSpPr>
          <p:cNvPr id="3" name="Training segment"/>
          <p:cNvSpPr/>
          <p:nvPr/>
        </p:nvSpPr>
        <p:spPr>
          <a:xfrm>
            <a:off x="841248" y="1600200"/>
            <a:ext cx="7324344"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600" b="1" i="0">
                <a:solidFill>
                  <a:srgbClr val="FFFFFF"/>
                </a:solidFill>
                <a:latin typeface="Open Sans"/>
              </a:rPr>
              <a:t>Training  70%</a:t>
            </a:r>
          </a:p>
        </p:txBody>
      </p:sp>
      <p:sp>
        <p:nvSpPr>
          <p:cNvPr id="4" name="Training role"/>
          <p:cNvSpPr txBox="1"/>
          <p:nvPr/>
        </p:nvSpPr>
        <p:spPr>
          <a:xfrm>
            <a:off x="841248" y="2176272"/>
            <a:ext cx="7324344" cy="502920"/>
          </a:xfrm>
          <a:prstGeom prst="rect">
            <a:avLst/>
          </a:prstGeom>
          <a:noFill/>
        </p:spPr>
        <p:txBody>
          <a:bodyPr wrap="square" lIns="45720" tIns="27432" rIns="45720" bIns="27432" anchor="t">
            <a:spAutoFit/>
          </a:bodyPr>
          <a:lstStyle/>
          <a:p>
            <a:pPr algn="ctr"/>
            <a:r>
              <a:rPr sz="1400" b="0" i="0">
                <a:solidFill>
                  <a:srgbClr val="000000"/>
                </a:solidFill>
                <a:latin typeface="Times New Roman"/>
              </a:rPr>
              <a:t>Training set: fit the parameters (w, b)</a:t>
            </a:r>
          </a:p>
        </p:txBody>
      </p:sp>
      <p:sp>
        <p:nvSpPr>
          <p:cNvPr id="5" name="Val segment"/>
          <p:cNvSpPr/>
          <p:nvPr/>
        </p:nvSpPr>
        <p:spPr>
          <a:xfrm>
            <a:off x="8202167" y="1600200"/>
            <a:ext cx="1540763" cy="5486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600" b="1" i="0">
                <a:solidFill>
                  <a:srgbClr val="000000"/>
                </a:solidFill>
                <a:latin typeface="Open Sans"/>
              </a:rPr>
              <a:t>Val  15%</a:t>
            </a:r>
          </a:p>
        </p:txBody>
      </p:sp>
      <p:sp>
        <p:nvSpPr>
          <p:cNvPr id="6" name="Val role"/>
          <p:cNvSpPr txBox="1"/>
          <p:nvPr/>
        </p:nvSpPr>
        <p:spPr>
          <a:xfrm>
            <a:off x="8202167" y="2176272"/>
            <a:ext cx="1540763" cy="502920"/>
          </a:xfrm>
          <a:prstGeom prst="rect">
            <a:avLst/>
          </a:prstGeom>
          <a:noFill/>
        </p:spPr>
        <p:txBody>
          <a:bodyPr wrap="square" lIns="45720" tIns="27432" rIns="45720" bIns="27432" anchor="t">
            <a:spAutoFit/>
          </a:bodyPr>
          <a:lstStyle/>
          <a:p>
            <a:pPr algn="ctr"/>
            <a:r>
              <a:rPr sz="1400" b="0" i="0">
                <a:solidFill>
                  <a:srgbClr val="000000"/>
                </a:solidFill>
                <a:latin typeface="Times New Roman"/>
              </a:rPr>
              <a:t>Validation set: tune η, stop early</a:t>
            </a:r>
          </a:p>
        </p:txBody>
      </p:sp>
      <p:sp>
        <p:nvSpPr>
          <p:cNvPr id="7" name="Test segment"/>
          <p:cNvSpPr/>
          <p:nvPr/>
        </p:nvSpPr>
        <p:spPr>
          <a:xfrm>
            <a:off x="9779507" y="1600200"/>
            <a:ext cx="1540763" cy="54864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600" b="1" i="0">
                <a:solidFill>
                  <a:srgbClr val="FFFFFF"/>
                </a:solidFill>
                <a:latin typeface="Open Sans"/>
              </a:rPr>
              <a:t>Test  15%</a:t>
            </a:r>
          </a:p>
        </p:txBody>
      </p:sp>
      <p:sp>
        <p:nvSpPr>
          <p:cNvPr id="8" name="Test role"/>
          <p:cNvSpPr txBox="1"/>
          <p:nvPr/>
        </p:nvSpPr>
        <p:spPr>
          <a:xfrm>
            <a:off x="9779507" y="2176272"/>
            <a:ext cx="1540763" cy="502920"/>
          </a:xfrm>
          <a:prstGeom prst="rect">
            <a:avLst/>
          </a:prstGeom>
          <a:noFill/>
        </p:spPr>
        <p:txBody>
          <a:bodyPr wrap="square" lIns="45720" tIns="27432" rIns="45720" bIns="27432" anchor="t">
            <a:spAutoFit/>
          </a:bodyPr>
          <a:lstStyle/>
          <a:p>
            <a:pPr algn="ctr"/>
            <a:r>
              <a:rPr sz="1400" b="0" i="0">
                <a:solidFill>
                  <a:srgbClr val="000000"/>
                </a:solidFill>
                <a:latin typeface="Times New Roman"/>
              </a:rPr>
              <a:t>Test set: final score only</a:t>
            </a:r>
          </a:p>
        </p:txBody>
      </p:sp>
      <p:graphicFrame>
        <p:nvGraphicFramePr>
          <p:cNvPr id="9" name="Train vs validation loss"/>
          <p:cNvGraphicFramePr>
            <a:graphicFrameLocks noGrp="1"/>
          </p:cNvGraphicFramePr>
          <p:nvPr/>
        </p:nvGraphicFramePr>
        <p:xfrm>
          <a:off x="841248" y="2697480"/>
          <a:ext cx="576072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10" name="Chart note"/>
          <p:cNvSpPr txBox="1"/>
          <p:nvPr/>
        </p:nvSpPr>
        <p:spPr>
          <a:xfrm>
            <a:off x="841248" y="5989320"/>
            <a:ext cx="5760720" cy="274320"/>
          </a:xfrm>
          <a:prstGeom prst="rect">
            <a:avLst/>
          </a:prstGeom>
          <a:noFill/>
        </p:spPr>
        <p:txBody>
          <a:bodyPr wrap="square" lIns="45720" tIns="27432" rIns="45720" bIns="27432" anchor="t">
            <a:spAutoFit/>
          </a:bodyPr>
          <a:lstStyle/>
          <a:p>
            <a:pPr algn="ctr"/>
            <a:r>
              <a:rPr sz="1200" b="0" i="0">
                <a:solidFill>
                  <a:srgbClr val="595959"/>
                </a:solidFill>
                <a:latin typeface="Times New Roman"/>
              </a:rPr>
              <a:t>Illustrative curves</a:t>
            </a:r>
          </a:p>
        </p:txBody>
      </p:sp>
      <p:sp>
        <p:nvSpPr>
          <p:cNvPr id="11" name="Regularization list"/>
          <p:cNvSpPr txBox="1"/>
          <p:nvPr/>
        </p:nvSpPr>
        <p:spPr>
          <a:xfrm>
            <a:off x="6858000" y="2743200"/>
            <a:ext cx="4526280" cy="3200400"/>
          </a:xfrm>
          <a:prstGeom prst="rect">
            <a:avLst/>
          </a:prstGeom>
          <a:noFill/>
        </p:spPr>
        <p:txBody>
          <a:bodyPr wrap="square">
            <a:spAutoFit/>
          </a:bodyPr>
          <a:lstStyle/>
          <a:p>
            <a:pPr>
              <a:spcAft>
                <a:spcPts val="800"/>
              </a:spcAft>
            </a:pPr>
            <a:r>
              <a:rPr sz="2200" b="1" i="0">
                <a:solidFill>
                  <a:schemeClr val="accent1"/>
                </a:solidFill>
                <a:latin typeface="Open Sans"/>
              </a:rPr>
              <a:t>How to fight overfitting</a:t>
            </a:r>
          </a:p>
          <a:p>
            <a:pPr marL="285750" indent="-285750">
              <a:spcAft>
                <a:spcPts val="800"/>
              </a:spcAft>
              <a:buClr>
                <a:schemeClr val="accent1"/>
              </a:buClr>
              <a:buFont typeface="Arial"/>
              <a:buChar char="•"/>
            </a:pPr>
            <a:r>
              <a:rPr sz="2000" b="0" i="0">
                <a:solidFill>
                  <a:srgbClr val="000000"/>
                </a:solidFill>
                <a:latin typeface="Times New Roman"/>
              </a:rPr>
              <a:t>Early stopping: stop when validation loss rises</a:t>
            </a:r>
          </a:p>
          <a:p>
            <a:pPr marL="285750" indent="-285750">
              <a:spcAft>
                <a:spcPts val="800"/>
              </a:spcAft>
              <a:buClr>
                <a:schemeClr val="accent1"/>
              </a:buClr>
              <a:buFont typeface="Arial"/>
              <a:buChar char="•"/>
            </a:pPr>
            <a:r>
              <a:rPr sz="2000" b="0" i="0">
                <a:solidFill>
                  <a:srgbClr val="000000"/>
                </a:solidFill>
                <a:latin typeface="Times New Roman"/>
              </a:rPr>
              <a:t>Weight decay: penalize large weights</a:t>
            </a:r>
          </a:p>
          <a:p>
            <a:pPr marL="285750" indent="-285750">
              <a:spcAft>
                <a:spcPts val="800"/>
              </a:spcAft>
              <a:buClr>
                <a:schemeClr val="accent1"/>
              </a:buClr>
              <a:buFont typeface="Arial"/>
              <a:buChar char="•"/>
            </a:pPr>
            <a:r>
              <a:rPr sz="2000" b="0" i="0">
                <a:solidFill>
                  <a:srgbClr val="000000"/>
                </a:solidFill>
                <a:latin typeface="Times New Roman"/>
              </a:rPr>
              <a:t>Dropout: randomly drop neurons in training</a:t>
            </a:r>
          </a:p>
          <a:p>
            <a:pPr marL="285750" indent="-285750">
              <a:spcAft>
                <a:spcPts val="800"/>
              </a:spcAft>
              <a:buClr>
                <a:schemeClr val="accent1"/>
              </a:buClr>
              <a:buFont typeface="Arial"/>
              <a:buChar char="•"/>
            </a:pPr>
            <a:r>
              <a:rPr sz="2000" b="0" i="0">
                <a:solidFill>
                  <a:srgbClr val="000000"/>
                </a:solidFill>
                <a:latin typeface="Times New Roman"/>
              </a:rPr>
              <a:t>Data augmentation: flips, crops, noise</a:t>
            </a:r>
          </a:p>
          <a:p>
            <a:pPr marL="285750" indent="-285750">
              <a:spcAft>
                <a:spcPts val="800"/>
              </a:spcAft>
              <a:buClr>
                <a:schemeClr val="accent1"/>
              </a:buClr>
              <a:buFont typeface="Arial"/>
              <a:buChar char="•"/>
            </a:pPr>
            <a:r>
              <a:rPr sz="2000" b="0" i="0">
                <a:solidFill>
                  <a:srgbClr val="000000"/>
                </a:solidFill>
                <a:latin typeface="Times New Roman"/>
              </a:rPr>
              <a:t>More data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CA0DB-F19D-1393-B321-2B209A2DBB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C217C5-B4F3-3EE5-B6D8-4A1C07290D54}"/>
              </a:ext>
            </a:extLst>
          </p:cNvPr>
          <p:cNvSpPr>
            <a:spLocks noGrp="1"/>
          </p:cNvSpPr>
          <p:nvPr>
            <p:ph type="title"/>
          </p:nvPr>
        </p:nvSpPr>
        <p:spPr/>
        <p:txBody>
          <a:bodyPr/>
          <a:lstStyle/>
          <a:p>
            <a:r>
              <a:rPr lang="en-US" dirty="0"/>
              <a:t>Convolutional Neural Network (CNN)</a:t>
            </a:r>
          </a:p>
        </p:txBody>
      </p:sp>
      <p:sp>
        <p:nvSpPr>
          <p:cNvPr id="3" name="Content Placeholder 2">
            <a:extLst>
              <a:ext uri="{FF2B5EF4-FFF2-40B4-BE49-F238E27FC236}">
                <a16:creationId xmlns:a16="http://schemas.microsoft.com/office/drawing/2014/main" id="{D8AFA6E6-88B9-D88A-CB99-C5DEC5D52892}"/>
              </a:ext>
            </a:extLst>
          </p:cNvPr>
          <p:cNvSpPr>
            <a:spLocks noGrp="1"/>
          </p:cNvSpPr>
          <p:nvPr>
            <p:ph idx="1"/>
          </p:nvPr>
        </p:nvSpPr>
        <p:spPr/>
        <p:txBody>
          <a:bodyPr/>
          <a:lstStyle/>
          <a:p>
            <a:r>
              <a:rPr lang="en-US" dirty="0"/>
              <a:t>Key idea: Use </a:t>
            </a:r>
            <a:r>
              <a:rPr lang="en-US" b="1" dirty="0"/>
              <a:t>local receptive fields</a:t>
            </a:r>
            <a:r>
              <a:rPr lang="en-US" dirty="0"/>
              <a:t> and </a:t>
            </a:r>
            <a:r>
              <a:rPr lang="en-US" b="1" dirty="0"/>
              <a:t>shared weights</a:t>
            </a:r>
            <a:r>
              <a:rPr lang="en-US" dirty="0"/>
              <a:t> to capture spatial patterns efficiently.</a:t>
            </a:r>
          </a:p>
          <a:p>
            <a:r>
              <a:rPr lang="en-US" dirty="0"/>
              <a:t>Why CNN?</a:t>
            </a:r>
          </a:p>
          <a:p>
            <a:pPr lvl="1"/>
            <a:r>
              <a:rPr lang="en-US" dirty="0"/>
              <a:t>Many data types have </a:t>
            </a:r>
            <a:r>
              <a:rPr lang="en-US" b="1" dirty="0"/>
              <a:t>strong spatial structure</a:t>
            </a:r>
            <a:endParaRPr lang="en-US" dirty="0"/>
          </a:p>
          <a:p>
            <a:pPr lvl="2"/>
            <a:r>
              <a:rPr lang="en-US" dirty="0"/>
              <a:t>Images, Spatial sensor data, etc.</a:t>
            </a:r>
          </a:p>
          <a:p>
            <a:pPr lvl="1"/>
            <a:r>
              <a:rPr lang="en-US" dirty="0"/>
              <a:t>Fully connected networks (MLP) ignores spatial locality and is too heavy</a:t>
            </a:r>
          </a:p>
          <a:p>
            <a:pPr lvl="1"/>
            <a:r>
              <a:rPr lang="en-US" dirty="0"/>
              <a:t>Thus, we need a model that</a:t>
            </a:r>
          </a:p>
          <a:p>
            <a:pPr lvl="2"/>
            <a:r>
              <a:rPr lang="en-US" dirty="0"/>
              <a:t>Exploits </a:t>
            </a:r>
            <a:r>
              <a:rPr lang="en-US" b="1" dirty="0"/>
              <a:t>local patterns</a:t>
            </a:r>
          </a:p>
          <a:p>
            <a:pPr lvl="2"/>
            <a:r>
              <a:rPr lang="en-US" dirty="0"/>
              <a:t>Scales to high-dimensional inputs</a:t>
            </a:r>
          </a:p>
          <a:p>
            <a:pPr lvl="2"/>
            <a:r>
              <a:rPr lang="en-US" dirty="0"/>
              <a:t>Is computationally efficient</a:t>
            </a:r>
          </a:p>
        </p:txBody>
      </p:sp>
    </p:spTree>
    <p:extLst>
      <p:ext uri="{BB962C8B-B14F-4D97-AF65-F5344CB8AC3E}">
        <p14:creationId xmlns:p14="http://schemas.microsoft.com/office/powerpoint/2010/main" val="598121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A8A8E-E360-360F-BFC8-8610817C7143}"/>
              </a:ext>
            </a:extLst>
          </p:cNvPr>
          <p:cNvSpPr>
            <a:spLocks noGrp="1"/>
          </p:cNvSpPr>
          <p:nvPr>
            <p:ph type="title"/>
          </p:nvPr>
        </p:nvSpPr>
        <p:spPr/>
        <p:txBody>
          <a:bodyPr/>
          <a:lstStyle/>
          <a:p>
            <a:r>
              <a:rPr lang="en-US" dirty="0"/>
              <a:t>Convolutional Neural Network (CNN)</a:t>
            </a:r>
          </a:p>
        </p:txBody>
      </p:sp>
      <p:pic>
        <p:nvPicPr>
          <p:cNvPr id="1028" name="Picture 4" descr="Convolutional neural networks - Introduction to Neural Networks">
            <a:extLst>
              <a:ext uri="{FF2B5EF4-FFF2-40B4-BE49-F238E27FC236}">
                <a16:creationId xmlns:a16="http://schemas.microsoft.com/office/drawing/2014/main" id="{058422AA-8253-F88F-0B64-E3FA9A7987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851" y="2167392"/>
            <a:ext cx="10864298" cy="33428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9138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6F706-158D-B8BB-87BE-0F9806A98248}"/>
              </a:ext>
            </a:extLst>
          </p:cNvPr>
          <p:cNvSpPr>
            <a:spLocks noGrp="1"/>
          </p:cNvSpPr>
          <p:nvPr>
            <p:ph type="title"/>
          </p:nvPr>
        </p:nvSpPr>
        <p:spPr/>
        <p:txBody>
          <a:bodyPr/>
          <a:lstStyle/>
          <a:p>
            <a:r>
              <a:rPr lang="en-US" dirty="0"/>
              <a:t>CNN – Core Components</a:t>
            </a:r>
          </a:p>
        </p:txBody>
      </p:sp>
      <p:sp>
        <p:nvSpPr>
          <p:cNvPr id="3" name="Content Placeholder 2">
            <a:extLst>
              <a:ext uri="{FF2B5EF4-FFF2-40B4-BE49-F238E27FC236}">
                <a16:creationId xmlns:a16="http://schemas.microsoft.com/office/drawing/2014/main" id="{2DB35EE3-0833-CBA1-3075-F4429D021AFA}"/>
              </a:ext>
            </a:extLst>
          </p:cNvPr>
          <p:cNvSpPr>
            <a:spLocks noGrp="1"/>
          </p:cNvSpPr>
          <p:nvPr>
            <p:ph idx="1"/>
          </p:nvPr>
        </p:nvSpPr>
        <p:spPr>
          <a:xfrm>
            <a:off x="838200" y="1717590"/>
            <a:ext cx="5257800" cy="4187524"/>
          </a:xfrm>
        </p:spPr>
        <p:txBody>
          <a:bodyPr>
            <a:normAutofit fontScale="92500" lnSpcReduction="10000"/>
          </a:bodyPr>
          <a:lstStyle/>
          <a:p>
            <a:r>
              <a:rPr lang="en-US" dirty="0"/>
              <a:t>Convolution Layer</a:t>
            </a:r>
          </a:p>
          <a:p>
            <a:pPr lvl="1"/>
            <a:r>
              <a:rPr lang="en-US" dirty="0"/>
              <a:t>Applies learnable filters (kernels) over local regions</a:t>
            </a:r>
          </a:p>
          <a:p>
            <a:pPr lvl="1"/>
            <a:r>
              <a:rPr lang="en-US" dirty="0"/>
              <a:t>Each filter detects a specific pattern</a:t>
            </a:r>
          </a:p>
          <a:p>
            <a:pPr lvl="2"/>
            <a:r>
              <a:rPr lang="en-US" dirty="0"/>
              <a:t>Edges, Textures and shapes</a:t>
            </a:r>
          </a:p>
          <a:p>
            <a:r>
              <a:rPr lang="en-US" dirty="0"/>
              <a:t>Pooling Layer</a:t>
            </a:r>
          </a:p>
          <a:p>
            <a:pPr lvl="1"/>
            <a:r>
              <a:rPr lang="en-US" dirty="0"/>
              <a:t>Down-samples feature maps</a:t>
            </a:r>
          </a:p>
          <a:p>
            <a:pPr lvl="1"/>
            <a:r>
              <a:rPr lang="en-US" dirty="0"/>
              <a:t>Reduces:</a:t>
            </a:r>
          </a:p>
          <a:p>
            <a:pPr lvl="2"/>
            <a:r>
              <a:rPr lang="en-US" dirty="0"/>
              <a:t>Spatial resolution and Sensitivity to small shifts</a:t>
            </a:r>
          </a:p>
          <a:p>
            <a:pPr lvl="1"/>
            <a:r>
              <a:rPr lang="en-US" dirty="0"/>
              <a:t>Common types:</a:t>
            </a:r>
          </a:p>
          <a:p>
            <a:pPr lvl="2"/>
            <a:r>
              <a:rPr lang="en-US" dirty="0"/>
              <a:t>Max pooling/Average pooling</a:t>
            </a:r>
          </a:p>
          <a:p>
            <a:endParaRPr lang="en-US" dirty="0"/>
          </a:p>
        </p:txBody>
      </p:sp>
      <p:sp>
        <p:nvSpPr>
          <p:cNvPr id="4" name="Content Placeholder 2">
            <a:extLst>
              <a:ext uri="{FF2B5EF4-FFF2-40B4-BE49-F238E27FC236}">
                <a16:creationId xmlns:a16="http://schemas.microsoft.com/office/drawing/2014/main" id="{103521D0-8EE5-3ABC-5E2F-6AC5571064DD}"/>
              </a:ext>
            </a:extLst>
          </p:cNvPr>
          <p:cNvSpPr txBox="1">
            <a:spLocks/>
          </p:cNvSpPr>
          <p:nvPr/>
        </p:nvSpPr>
        <p:spPr>
          <a:xfrm>
            <a:off x="6096000" y="1717590"/>
            <a:ext cx="5257800" cy="17114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Activation Function</a:t>
            </a:r>
          </a:p>
          <a:p>
            <a:pPr lvl="1"/>
            <a:r>
              <a:rPr lang="en-US" dirty="0"/>
              <a:t>Introduces non-linearity</a:t>
            </a:r>
          </a:p>
          <a:p>
            <a:pPr lvl="1"/>
            <a:r>
              <a:rPr lang="en-US" dirty="0"/>
              <a:t>Common choices:</a:t>
            </a:r>
          </a:p>
          <a:p>
            <a:pPr lvl="2"/>
            <a:r>
              <a:rPr lang="en-US" dirty="0" err="1"/>
              <a:t>ReLU</a:t>
            </a:r>
            <a:r>
              <a:rPr lang="en-US" dirty="0"/>
              <a:t>/Leaky </a:t>
            </a:r>
            <a:r>
              <a:rPr lang="en-US" dirty="0" err="1"/>
              <a:t>ReLU</a:t>
            </a:r>
            <a:endParaRPr lang="en-US" dirty="0"/>
          </a:p>
        </p:txBody>
      </p:sp>
      <p:pic>
        <p:nvPicPr>
          <p:cNvPr id="3074" name="Picture 2" descr="Schematic representation of a convolution-and pooling layer ...">
            <a:extLst>
              <a:ext uri="{FF2B5EF4-FFF2-40B4-BE49-F238E27FC236}">
                <a16:creationId xmlns:a16="http://schemas.microsoft.com/office/drawing/2014/main" id="{16725192-0450-D1FC-B0ED-A9ED75F5B9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539481"/>
            <a:ext cx="4113475" cy="22551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384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00BAF-F5F1-44D0-8E03-12DCAFB7902D}"/>
              </a:ext>
            </a:extLst>
          </p:cNvPr>
          <p:cNvSpPr>
            <a:spLocks noGrp="1"/>
          </p:cNvSpPr>
          <p:nvPr>
            <p:ph type="title"/>
          </p:nvPr>
        </p:nvSpPr>
        <p:spPr/>
        <p:txBody>
          <a:bodyPr/>
          <a:lstStyle/>
          <a:p>
            <a:r>
              <a:rPr lang="en-US" dirty="0"/>
              <a:t>CNN – Properties and Limitations</a:t>
            </a:r>
          </a:p>
        </p:txBody>
      </p:sp>
      <p:sp>
        <p:nvSpPr>
          <p:cNvPr id="3" name="Content Placeholder 2">
            <a:extLst>
              <a:ext uri="{FF2B5EF4-FFF2-40B4-BE49-F238E27FC236}">
                <a16:creationId xmlns:a16="http://schemas.microsoft.com/office/drawing/2014/main" id="{56133A12-48BD-3F7E-8048-107D7C5AB0BD}"/>
              </a:ext>
            </a:extLst>
          </p:cNvPr>
          <p:cNvSpPr>
            <a:spLocks noGrp="1"/>
          </p:cNvSpPr>
          <p:nvPr>
            <p:ph idx="1"/>
          </p:nvPr>
        </p:nvSpPr>
        <p:spPr>
          <a:xfrm>
            <a:off x="838200" y="1717590"/>
            <a:ext cx="5257800" cy="4187524"/>
          </a:xfrm>
        </p:spPr>
        <p:txBody>
          <a:bodyPr/>
          <a:lstStyle/>
          <a:p>
            <a:r>
              <a:rPr lang="en-US" b="1" dirty="0"/>
              <a:t>Strengths</a:t>
            </a:r>
          </a:p>
          <a:p>
            <a:pPr lvl="1"/>
            <a:r>
              <a:rPr lang="en-US" dirty="0"/>
              <a:t>Strong inductive bias for spatial data</a:t>
            </a:r>
          </a:p>
          <a:p>
            <a:pPr lvl="1"/>
            <a:r>
              <a:rPr lang="en-US" dirty="0"/>
              <a:t>Parameter-efficient due to weight sharing</a:t>
            </a:r>
          </a:p>
          <a:p>
            <a:pPr lvl="1"/>
            <a:r>
              <a:rPr lang="en-US" dirty="0"/>
              <a:t>Translation equivariance</a:t>
            </a:r>
          </a:p>
          <a:p>
            <a:pPr lvl="1"/>
            <a:r>
              <a:rPr lang="en-US" dirty="0"/>
              <a:t>Works great with:</a:t>
            </a:r>
          </a:p>
          <a:p>
            <a:pPr lvl="2"/>
            <a:r>
              <a:rPr lang="en-US" dirty="0"/>
              <a:t>Image classification</a:t>
            </a:r>
          </a:p>
          <a:p>
            <a:pPr lvl="2"/>
            <a:r>
              <a:rPr lang="en-US" dirty="0"/>
              <a:t>Object detection</a:t>
            </a:r>
          </a:p>
          <a:p>
            <a:pPr lvl="2"/>
            <a:r>
              <a:rPr lang="en-US" dirty="0"/>
              <a:t>Image-based diffusion models</a:t>
            </a:r>
          </a:p>
        </p:txBody>
      </p:sp>
      <p:sp>
        <p:nvSpPr>
          <p:cNvPr id="4" name="Content Placeholder 2">
            <a:extLst>
              <a:ext uri="{FF2B5EF4-FFF2-40B4-BE49-F238E27FC236}">
                <a16:creationId xmlns:a16="http://schemas.microsoft.com/office/drawing/2014/main" id="{2D930C6F-43C8-1067-187B-70A5228EC8EA}"/>
              </a:ext>
            </a:extLst>
          </p:cNvPr>
          <p:cNvSpPr txBox="1">
            <a:spLocks/>
          </p:cNvSpPr>
          <p:nvPr/>
        </p:nvSpPr>
        <p:spPr>
          <a:xfrm>
            <a:off x="6096000" y="1717590"/>
            <a:ext cx="5257800" cy="41875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Limitations</a:t>
            </a:r>
          </a:p>
          <a:p>
            <a:pPr lvl="1"/>
            <a:r>
              <a:rPr lang="en-US" dirty="0"/>
              <a:t>Limited ability to capture global context</a:t>
            </a:r>
          </a:p>
          <a:p>
            <a:pPr lvl="1"/>
            <a:r>
              <a:rPr lang="en-US" dirty="0"/>
              <a:t>Receptive field grows slowly with depth</a:t>
            </a:r>
          </a:p>
          <a:p>
            <a:pPr lvl="1"/>
            <a:r>
              <a:rPr lang="en-US" dirty="0"/>
              <a:t>Less suitable for:</a:t>
            </a:r>
          </a:p>
          <a:p>
            <a:pPr lvl="2"/>
            <a:r>
              <a:rPr lang="en-US" dirty="0"/>
              <a:t>Long-range dependencies</a:t>
            </a:r>
          </a:p>
          <a:p>
            <a:pPr lvl="2"/>
            <a:r>
              <a:rPr lang="en-US" dirty="0"/>
              <a:t>Sequential or symbolic data</a:t>
            </a:r>
          </a:p>
        </p:txBody>
      </p:sp>
    </p:spTree>
    <p:extLst>
      <p:ext uri="{BB962C8B-B14F-4D97-AF65-F5344CB8AC3E}">
        <p14:creationId xmlns:p14="http://schemas.microsoft.com/office/powerpoint/2010/main" val="14324908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8C5F0-5265-885D-0694-0479E58D35B1}"/>
              </a:ext>
            </a:extLst>
          </p:cNvPr>
          <p:cNvSpPr>
            <a:spLocks noGrp="1"/>
          </p:cNvSpPr>
          <p:nvPr>
            <p:ph type="title"/>
          </p:nvPr>
        </p:nvSpPr>
        <p:spPr/>
        <p:txBody>
          <a:bodyPr/>
          <a:lstStyle/>
          <a:p>
            <a:r>
              <a:rPr lang="en-US" dirty="0"/>
              <a:t>Recurrent Neural Network (RNN)</a:t>
            </a:r>
          </a:p>
        </p:txBody>
      </p:sp>
      <p:sp>
        <p:nvSpPr>
          <p:cNvPr id="3" name="Content Placeholder 2">
            <a:extLst>
              <a:ext uri="{FF2B5EF4-FFF2-40B4-BE49-F238E27FC236}">
                <a16:creationId xmlns:a16="http://schemas.microsoft.com/office/drawing/2014/main" id="{02D6F4EB-2611-D868-8544-439FC1AEF7E5}"/>
              </a:ext>
            </a:extLst>
          </p:cNvPr>
          <p:cNvSpPr>
            <a:spLocks noGrp="1"/>
          </p:cNvSpPr>
          <p:nvPr>
            <p:ph idx="1"/>
          </p:nvPr>
        </p:nvSpPr>
        <p:spPr/>
        <p:txBody>
          <a:bodyPr/>
          <a:lstStyle/>
          <a:p>
            <a:r>
              <a:rPr lang="en-US" dirty="0"/>
              <a:t>Many real-world data are </a:t>
            </a:r>
            <a:r>
              <a:rPr lang="en-US" b="1" dirty="0"/>
              <a:t>sequential</a:t>
            </a:r>
            <a:r>
              <a:rPr lang="en-US" dirty="0"/>
              <a:t>:</a:t>
            </a:r>
          </a:p>
          <a:p>
            <a:pPr lvl="1"/>
            <a:r>
              <a:rPr lang="en-US" dirty="0"/>
              <a:t>Text, Time series, Sensor signals, Motion trajectories, etc.</a:t>
            </a:r>
          </a:p>
          <a:p>
            <a:r>
              <a:rPr lang="en-US" dirty="0"/>
              <a:t>Thus, we need a model that is able to</a:t>
            </a:r>
          </a:p>
          <a:p>
            <a:pPr lvl="1"/>
            <a:r>
              <a:rPr lang="en-US" dirty="0"/>
              <a:t>Process inputs </a:t>
            </a:r>
            <a:r>
              <a:rPr lang="en-US" b="1" dirty="0"/>
              <a:t>in order</a:t>
            </a:r>
          </a:p>
          <a:p>
            <a:pPr lvl="1"/>
            <a:r>
              <a:rPr lang="en-US" dirty="0"/>
              <a:t>Maintain a notion of </a:t>
            </a:r>
            <a:r>
              <a:rPr lang="en-US" b="1" dirty="0"/>
              <a:t>memory</a:t>
            </a:r>
          </a:p>
          <a:p>
            <a:r>
              <a:rPr lang="en-US" dirty="0"/>
              <a:t>Key idea of RNN</a:t>
            </a:r>
          </a:p>
          <a:p>
            <a:pPr lvl="1"/>
            <a:r>
              <a:rPr lang="en-US" dirty="0"/>
              <a:t>Use a hidden state to summarize past information and update it step by step.</a:t>
            </a:r>
            <a:endParaRPr lang="en-US" b="1" dirty="0"/>
          </a:p>
        </p:txBody>
      </p:sp>
    </p:spTree>
    <p:extLst>
      <p:ext uri="{BB962C8B-B14F-4D97-AF65-F5344CB8AC3E}">
        <p14:creationId xmlns:p14="http://schemas.microsoft.com/office/powerpoint/2010/main" val="5808085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7E758-76C5-BFB3-8A8F-178B324B39DB}"/>
              </a:ext>
            </a:extLst>
          </p:cNvPr>
          <p:cNvSpPr>
            <a:spLocks noGrp="1"/>
          </p:cNvSpPr>
          <p:nvPr>
            <p:ph type="title"/>
          </p:nvPr>
        </p:nvSpPr>
        <p:spPr/>
        <p:txBody>
          <a:bodyPr/>
          <a:lstStyle/>
          <a:p>
            <a:r>
              <a:rPr lang="en-US" dirty="0"/>
              <a:t>Recurrent Neural Network (RNN)</a:t>
            </a:r>
          </a:p>
        </p:txBody>
      </p:sp>
      <p:pic>
        <p:nvPicPr>
          <p:cNvPr id="9218" name="Picture 2" descr="Recurrent Neural Networks (RNN)">
            <a:extLst>
              <a:ext uri="{FF2B5EF4-FFF2-40B4-BE49-F238E27FC236}">
                <a16:creationId xmlns:a16="http://schemas.microsoft.com/office/drawing/2014/main" id="{0C987D4A-E357-2DB0-89C5-BDC3F3309F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5912" y="1648653"/>
            <a:ext cx="9020175" cy="3905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44354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5AF81-0599-737C-9380-26DB2B0FF7E0}"/>
              </a:ext>
            </a:extLst>
          </p:cNvPr>
          <p:cNvSpPr>
            <a:spLocks noGrp="1"/>
          </p:cNvSpPr>
          <p:nvPr>
            <p:ph type="title"/>
          </p:nvPr>
        </p:nvSpPr>
        <p:spPr/>
        <p:txBody>
          <a:bodyPr/>
          <a:lstStyle/>
          <a:p>
            <a:r>
              <a:rPr lang="en-US" dirty="0"/>
              <a:t>RNN: Basic Structure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839AA0A-17A5-EF78-BB45-C3302271EA28}"/>
                  </a:ext>
                </a:extLst>
              </p:cNvPr>
              <p:cNvSpPr>
                <a:spLocks noGrp="1"/>
              </p:cNvSpPr>
              <p:nvPr>
                <p:ph idx="1"/>
              </p:nvPr>
            </p:nvSpPr>
            <p:spPr>
              <a:xfrm>
                <a:off x="838200" y="1717590"/>
                <a:ext cx="6132443" cy="4187524"/>
              </a:xfrm>
            </p:spPr>
            <p:txBody>
              <a:bodyPr>
                <a:normAutofit lnSpcReduction="10000"/>
              </a:bodyPr>
              <a:lstStyle/>
              <a:p>
                <a:r>
                  <a:rPr lang="en-US" dirty="0"/>
                  <a:t>At each time step </a:t>
                </a:r>
                <a14:m>
                  <m:oMath xmlns:m="http://schemas.openxmlformats.org/officeDocument/2006/math">
                    <m:r>
                      <m:rPr>
                        <m:sty m:val="p"/>
                      </m:rPr>
                      <a:rPr lang="en-US" b="0" i="1" smtClean="0">
                        <a:latin typeface="Cambria Math" panose="02040503050406030204" pitchFamily="18" charset="0"/>
                      </a:rPr>
                      <m:t>t</m:t>
                    </m:r>
                  </m:oMath>
                </a14:m>
                <a:r>
                  <a:rPr lang="en-US" dirty="0"/>
                  <a:t>:</a:t>
                </a:r>
              </a:p>
              <a:p>
                <a:endParaRPr lang="en-US" dirty="0"/>
              </a:p>
              <a:p>
                <a:pPr marL="0" indent="0">
                  <a:buNone/>
                </a:pPr>
                <a14:m>
                  <m:oMathPara xmlns:m="http://schemas.openxmlformats.org/officeDocument/2006/math">
                    <m:o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h</m:t>
                          </m:r>
                        </m:e>
                        <m:sub>
                          <m:r>
                            <m:rPr>
                              <m:sty m:val="p"/>
                            </m:rPr>
                            <a:rPr lang="en-US" b="0" i="1" smtClean="0">
                              <a:latin typeface="Cambria Math" panose="02040503050406030204" pitchFamily="18" charset="0"/>
                            </a:rPr>
                            <m:t>t</m:t>
                          </m:r>
                        </m:sub>
                      </m:sSub>
                      <m:r>
                        <a:rPr lang="en-US" b="0" i="1" smtClean="0">
                          <a:latin typeface="Cambria Math" panose="02040503050406030204" pitchFamily="18" charset="0"/>
                        </a:rPr>
                        <m:t>=</m:t>
                      </m:r>
                      <m:r>
                        <m:rPr>
                          <m:sty m:val="p"/>
                        </m:rPr>
                        <a:rPr lang="en-US" b="0" i="1" smtClean="0">
                          <a:latin typeface="Cambria Math" panose="02040503050406030204" pitchFamily="18" charset="0"/>
                        </a:rPr>
                        <m:t>f</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x</m:t>
                          </m:r>
                        </m:e>
                        <m:sub>
                          <m:r>
                            <m:rPr>
                              <m:sty m:val="p"/>
                            </m:rPr>
                            <a:rPr lang="en-US" b="0" i="1" smtClean="0">
                              <a:latin typeface="Cambria Math" panose="02040503050406030204" pitchFamily="18" charset="0"/>
                            </a:rPr>
                            <m:t>t</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h</m:t>
                          </m:r>
                        </m:e>
                        <m:sub>
                          <m:r>
                            <m:rPr>
                              <m:sty m:val="p"/>
                            </m:rPr>
                            <a:rPr lang="en-US" b="0" i="1" smtClean="0">
                              <a:latin typeface="Cambria Math" panose="02040503050406030204" pitchFamily="18" charset="0"/>
                            </a:rPr>
                            <m:t>t</m:t>
                          </m:r>
                          <m:r>
                            <a:rPr lang="en-US" b="0" i="1" smtClean="0">
                              <a:latin typeface="Cambria Math" panose="02040503050406030204" pitchFamily="18" charset="0"/>
                            </a:rPr>
                            <m:t>−1</m:t>
                          </m:r>
                        </m:sub>
                      </m:sSub>
                      <m:r>
                        <a:rPr lang="en-US" b="0" i="1" smtClean="0">
                          <a:latin typeface="Cambria Math" panose="02040503050406030204" pitchFamily="18" charset="0"/>
                        </a:rPr>
                        <m:t>)</m:t>
                      </m:r>
                    </m:oMath>
                  </m:oMathPara>
                </a14:m>
                <a:endParaRPr lang="en-US" dirty="0"/>
              </a:p>
              <a:p>
                <a:pPr marL="0" indent="0">
                  <a:buNone/>
                </a:pPr>
                <a:r>
                  <a:rPr lang="en-US" dirty="0"/>
                  <a:t>	where</a:t>
                </a:r>
              </a:p>
              <a:p>
                <a:pPr marL="0" indent="0">
                  <a:buNone/>
                </a:pPr>
                <a:r>
                  <a:rPr lang="en-US" dirty="0"/>
                  <a:t>		</a:t>
                </a:r>
                <a14:m>
                  <m:oMath xmlns:m="http://schemas.openxmlformats.org/officeDocument/2006/math">
                    <m:r>
                      <m:rPr>
                        <m:sty m:val="p"/>
                      </m:rPr>
                      <a:rPr lang="en-US" b="0" i="0" smtClean="0">
                        <a:latin typeface="Cambria Math" panose="02040503050406030204" pitchFamily="18" charset="0"/>
                      </a:rPr>
                      <m:t>x</m:t>
                    </m:r>
                  </m:oMath>
                </a14:m>
                <a:r>
                  <a:rPr lang="en-US" dirty="0"/>
                  <a:t>: input, </a:t>
                </a:r>
                <a14:m>
                  <m:oMath xmlns:m="http://schemas.openxmlformats.org/officeDocument/2006/math">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h</m:t>
                        </m:r>
                      </m:e>
                      <m:sub>
                        <m:r>
                          <m:rPr>
                            <m:sty m:val="p"/>
                          </m:rPr>
                          <a:rPr lang="en-US" b="0" i="0" smtClean="0">
                            <a:latin typeface="Cambria Math" panose="02040503050406030204" pitchFamily="18" charset="0"/>
                          </a:rPr>
                          <m:t>t</m:t>
                        </m:r>
                      </m:sub>
                    </m:sSub>
                  </m:oMath>
                </a14:m>
                <a:r>
                  <a:rPr lang="en-US" dirty="0"/>
                  <a:t>: hidden state</a:t>
                </a:r>
              </a:p>
              <a:p>
                <a:r>
                  <a:rPr lang="en-US" dirty="0"/>
                  <a:t>Characteristics</a:t>
                </a:r>
              </a:p>
              <a:p>
                <a:pPr lvl="1"/>
                <a:r>
                  <a:rPr lang="en-US" dirty="0"/>
                  <a:t>Sequential processing</a:t>
                </a:r>
              </a:p>
              <a:p>
                <a:pPr lvl="1"/>
                <a:r>
                  <a:rPr lang="en-US" dirty="0"/>
                  <a:t>Parameter sharing across time</a:t>
                </a:r>
              </a:p>
              <a:p>
                <a:pPr lvl="1"/>
                <a:r>
                  <a:rPr lang="en-US" dirty="0"/>
                  <a:t>Natural fit for time-dependent data</a:t>
                </a:r>
              </a:p>
              <a:p>
                <a:pPr lvl="1"/>
                <a:r>
                  <a:rPr lang="en-US" dirty="0"/>
                  <a:t>Data length does not matter</a:t>
                </a:r>
              </a:p>
            </p:txBody>
          </p:sp>
        </mc:Choice>
        <mc:Fallback xmlns="">
          <p:sp>
            <p:nvSpPr>
              <p:cNvPr id="3" name="Content Placeholder 2">
                <a:extLst>
                  <a:ext uri="{FF2B5EF4-FFF2-40B4-BE49-F238E27FC236}">
                    <a16:creationId xmlns:a16="http://schemas.microsoft.com/office/drawing/2014/main" id="{8839AA0A-17A5-EF78-BB45-C3302271EA28}"/>
                  </a:ext>
                </a:extLst>
              </p:cNvPr>
              <p:cNvSpPr>
                <a:spLocks noGrp="1" noRot="1" noChangeAspect="1" noMove="1" noResize="1" noEditPoints="1" noAdjustHandles="1" noChangeArrowheads="1" noChangeShapeType="1" noTextEdit="1"/>
              </p:cNvSpPr>
              <p:nvPr>
                <p:ph idx="1"/>
              </p:nvPr>
            </p:nvSpPr>
            <p:spPr>
              <a:xfrm>
                <a:off x="838200" y="1717590"/>
                <a:ext cx="6132443" cy="4187524"/>
              </a:xfrm>
              <a:blipFill>
                <a:blip r:embed="rId3"/>
                <a:stretch>
                  <a:fillRect l="-1791" t="-3639" b="-1601"/>
                </a:stretch>
              </a:blipFill>
            </p:spPr>
            <p:txBody>
              <a:bodyPr/>
              <a:lstStyle/>
              <a:p>
                <a:r>
                  <a:rPr lang="en-US">
                    <a:noFill/>
                  </a:rPr>
                  <a:t> </a:t>
                </a:r>
              </a:p>
            </p:txBody>
          </p:sp>
        </mc:Fallback>
      </mc:AlternateContent>
      <p:sp>
        <p:nvSpPr>
          <p:cNvPr id="4" name="Content Placeholder 2">
            <a:extLst>
              <a:ext uri="{FF2B5EF4-FFF2-40B4-BE49-F238E27FC236}">
                <a16:creationId xmlns:a16="http://schemas.microsoft.com/office/drawing/2014/main" id="{4A06CC08-1477-2185-B30B-7EC38419CBCD}"/>
              </a:ext>
            </a:extLst>
          </p:cNvPr>
          <p:cNvSpPr txBox="1">
            <a:spLocks/>
          </p:cNvSpPr>
          <p:nvPr/>
        </p:nvSpPr>
        <p:spPr>
          <a:xfrm>
            <a:off x="6632713" y="1717590"/>
            <a:ext cx="4721087" cy="41875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Limitations:</a:t>
            </a:r>
          </a:p>
          <a:p>
            <a:pPr lvl="1"/>
            <a:r>
              <a:rPr lang="en-US" dirty="0"/>
              <a:t>Hard to capture long-range dependencies</a:t>
            </a:r>
          </a:p>
          <a:p>
            <a:pPr lvl="1"/>
            <a:r>
              <a:rPr lang="en-US" dirty="0"/>
              <a:t>Training instability:</a:t>
            </a:r>
          </a:p>
          <a:p>
            <a:pPr lvl="2"/>
            <a:r>
              <a:rPr lang="en-US" dirty="0"/>
              <a:t>Vanishing gradients</a:t>
            </a:r>
          </a:p>
          <a:p>
            <a:pPr lvl="2"/>
            <a:r>
              <a:rPr lang="en-US" dirty="0"/>
              <a:t>Exploding gradients</a:t>
            </a:r>
          </a:p>
          <a:p>
            <a:pPr lvl="1"/>
            <a:r>
              <a:rPr lang="en-US" dirty="0"/>
              <a:t>Limited parallelism</a:t>
            </a:r>
          </a:p>
        </p:txBody>
      </p:sp>
    </p:spTree>
    <p:extLst>
      <p:ext uri="{BB962C8B-B14F-4D97-AF65-F5344CB8AC3E}">
        <p14:creationId xmlns:p14="http://schemas.microsoft.com/office/powerpoint/2010/main" val="23009036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C18C9-44FD-7C5D-6CD5-E9958B2565F9}"/>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9F83CF9A-46BA-D3A0-B5DE-CC1BC34C4FDC}"/>
              </a:ext>
            </a:extLst>
          </p:cNvPr>
          <p:cNvSpPr>
            <a:spLocks noGrp="1"/>
          </p:cNvSpPr>
          <p:nvPr>
            <p:ph idx="1"/>
          </p:nvPr>
        </p:nvSpPr>
        <p:spPr>
          <a:xfrm>
            <a:off x="838200" y="1717590"/>
            <a:ext cx="6298094" cy="4187524"/>
          </a:xfrm>
        </p:spPr>
        <p:txBody>
          <a:bodyPr>
            <a:normAutofit/>
          </a:bodyPr>
          <a:lstStyle/>
          <a:p>
            <a:r>
              <a:rPr lang="en-US" dirty="0"/>
              <a:t>RNN / LSTM suffer from:</a:t>
            </a:r>
          </a:p>
          <a:p>
            <a:pPr lvl="1"/>
            <a:r>
              <a:rPr lang="en-US" dirty="0"/>
              <a:t>Sequential dependency (hard to parallelize)</a:t>
            </a:r>
          </a:p>
          <a:p>
            <a:pPr lvl="1"/>
            <a:r>
              <a:rPr lang="en-US" dirty="0"/>
              <a:t>Vanishing / exploding gradients</a:t>
            </a:r>
          </a:p>
          <a:p>
            <a:r>
              <a:rPr lang="en-US" dirty="0"/>
              <a:t>Convolution (CNN)-based models:</a:t>
            </a:r>
          </a:p>
          <a:p>
            <a:pPr lvl="1"/>
            <a:r>
              <a:rPr lang="en-US" dirty="0"/>
              <a:t>Limited receptive field</a:t>
            </a:r>
          </a:p>
          <a:p>
            <a:r>
              <a:rPr lang="en-US" dirty="0"/>
              <a:t>Thus, we need a model that:</a:t>
            </a:r>
          </a:p>
          <a:p>
            <a:pPr lvl="1"/>
            <a:r>
              <a:rPr lang="en-US" dirty="0"/>
              <a:t>Captures </a:t>
            </a:r>
            <a:r>
              <a:rPr lang="en-US" b="1" dirty="0"/>
              <a:t>long-range dependencies</a:t>
            </a:r>
            <a:endParaRPr lang="en-US" dirty="0"/>
          </a:p>
          <a:p>
            <a:pPr lvl="1"/>
            <a:r>
              <a:rPr lang="en-US" dirty="0"/>
              <a:t>Is </a:t>
            </a:r>
            <a:r>
              <a:rPr lang="en-US" b="1" dirty="0"/>
              <a:t>highly parallelizable</a:t>
            </a:r>
            <a:endParaRPr lang="en-US" dirty="0"/>
          </a:p>
          <a:p>
            <a:pPr lvl="1"/>
            <a:r>
              <a:rPr lang="en-US" dirty="0"/>
              <a:t>Scales well with data and model size</a:t>
            </a:r>
          </a:p>
          <a:p>
            <a:endParaRPr lang="en-US" dirty="0"/>
          </a:p>
        </p:txBody>
      </p:sp>
      <p:pic>
        <p:nvPicPr>
          <p:cNvPr id="6147" name="Picture 3" descr="wallpaper: Transformers Wallpapers">
            <a:extLst>
              <a:ext uri="{FF2B5EF4-FFF2-40B4-BE49-F238E27FC236}">
                <a16:creationId xmlns:a16="http://schemas.microsoft.com/office/drawing/2014/main" id="{25BD167F-F59F-4CBD-AEB4-0F85C922FC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6294" y="1756741"/>
            <a:ext cx="4459357" cy="33445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78166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FD95A-F373-8855-06DC-3AA61B112698}"/>
              </a:ext>
            </a:extLst>
          </p:cNvPr>
          <p:cNvSpPr>
            <a:spLocks noGrp="1"/>
          </p:cNvSpPr>
          <p:nvPr>
            <p:ph type="title"/>
          </p:nvPr>
        </p:nvSpPr>
        <p:spPr/>
        <p:txBody>
          <a:bodyPr/>
          <a:lstStyle/>
          <a:p>
            <a:r>
              <a:rPr lang="en-US" dirty="0"/>
              <a:t>Transformers Model</a:t>
            </a:r>
          </a:p>
        </p:txBody>
      </p:sp>
      <p:pic>
        <p:nvPicPr>
          <p:cNvPr id="5124" name="Picture 4" descr="GitHub - dmt-zh/Deep-Learning-Transformers">
            <a:extLst>
              <a:ext uri="{FF2B5EF4-FFF2-40B4-BE49-F238E27FC236}">
                <a16:creationId xmlns:a16="http://schemas.microsoft.com/office/drawing/2014/main" id="{80A2145E-5C2A-C384-AB0C-6B1F13BCAF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2709" y="1418839"/>
            <a:ext cx="9266582" cy="49325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50802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2DA9C-C0E6-2FC0-E1FE-2E9B7AAF1D8D}"/>
              </a:ext>
            </a:extLst>
          </p:cNvPr>
          <p:cNvSpPr>
            <a:spLocks noGrp="1"/>
          </p:cNvSpPr>
          <p:nvPr>
            <p:ph type="title"/>
          </p:nvPr>
        </p:nvSpPr>
        <p:spPr/>
        <p:txBody>
          <a:bodyPr/>
          <a:lstStyle/>
          <a:p>
            <a:r>
              <a:rPr lang="en-US" dirty="0"/>
              <a:t>Key idea: Self-Attention Mechanism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8F2C3B4-F8C3-D0D8-E5DE-DCCD4010A71A}"/>
                  </a:ext>
                </a:extLst>
              </p:cNvPr>
              <p:cNvSpPr>
                <a:spLocks noGrp="1"/>
              </p:cNvSpPr>
              <p:nvPr>
                <p:ph idx="1"/>
              </p:nvPr>
            </p:nvSpPr>
            <p:spPr>
              <a:xfrm>
                <a:off x="838200" y="1717590"/>
                <a:ext cx="10515600" cy="4477801"/>
              </a:xfrm>
            </p:spPr>
            <p:txBody>
              <a:bodyPr>
                <a:normAutofit fontScale="92500" lnSpcReduction="10000"/>
              </a:bodyPr>
              <a:lstStyle/>
              <a:p>
                <a:r>
                  <a:rPr lang="en-US" dirty="0"/>
                  <a:t>What Is Self-Attention?</a:t>
                </a:r>
              </a:p>
              <a:p>
                <a:pPr lvl="1"/>
                <a:r>
                  <a:rPr lang="en-US" dirty="0"/>
                  <a:t>Each token attends to </a:t>
                </a:r>
                <a:r>
                  <a:rPr lang="en-US" b="1" dirty="0"/>
                  <a:t>all other tokens</a:t>
                </a:r>
                <a:r>
                  <a:rPr lang="en-US" dirty="0"/>
                  <a:t> in the sequence</a:t>
                </a:r>
              </a:p>
              <a:p>
                <a:pPr lvl="1"/>
                <a:r>
                  <a:rPr lang="en-US" dirty="0"/>
                  <a:t>Allows the model to:</a:t>
                </a:r>
              </a:p>
              <a:p>
                <a:pPr lvl="2"/>
                <a:r>
                  <a:rPr lang="en-US" dirty="0"/>
                  <a:t>Dynamically weigh context</a:t>
                </a:r>
              </a:p>
              <a:p>
                <a:pPr lvl="2"/>
                <a:r>
                  <a:rPr lang="en-US" dirty="0"/>
                  <a:t>Capture global dependencies</a:t>
                </a:r>
              </a:p>
              <a:p>
                <a:r>
                  <a:rPr lang="en-US" dirty="0"/>
                  <a:t>Core Computation</a:t>
                </a:r>
              </a:p>
              <a:p>
                <a:pPr lvl="1"/>
                <a:r>
                  <a:rPr lang="en-US" dirty="0"/>
                  <a:t>Given Query (Q), Key (K), Value (V):</a:t>
                </a:r>
              </a:p>
              <a:p>
                <a:pPr lvl="1"/>
                <a:endParaRPr lang="en-US" dirty="0"/>
              </a:p>
              <a:p>
                <a:pPr marL="457200" lvl="1" indent="0">
                  <a:buNone/>
                </a:pPr>
                <a14:m>
                  <m:oMathPara xmlns:m="http://schemas.openxmlformats.org/officeDocument/2006/math">
                    <m:oMath>
                      <m:r>
                        <m:rPr>
                          <m:sty m:val="p"/>
                        </m:rPr>
                        <a:rPr lang="en-US" b="0" i="1" smtClean="0">
                          <a:latin typeface="Cambria Math" panose="02040503050406030204" pitchFamily="18" charset="0"/>
                        </a:rPr>
                        <m:t>Attention</m:t>
                      </m:r>
                      <m:r>
                        <a:rPr lang="en-US" b="0" i="1" smtClean="0">
                          <a:latin typeface="Cambria Math" panose="02040503050406030204" pitchFamily="18" charset="0"/>
                        </a:rPr>
                        <m:t>(</m:t>
                      </m:r>
                      <m:r>
                        <m:rPr>
                          <m:sty m:val="p"/>
                        </m:rPr>
                        <a:rPr lang="en-US" b="0" i="1" smtClean="0">
                          <a:latin typeface="Cambria Math" panose="02040503050406030204" pitchFamily="18" charset="0"/>
                        </a:rPr>
                        <m:t>Q</m:t>
                      </m:r>
                      <m:r>
                        <a:rPr lang="en-US" b="0" i="1" smtClean="0">
                          <a:latin typeface="Cambria Math" panose="02040503050406030204" pitchFamily="18" charset="0"/>
                        </a:rPr>
                        <m:t>,</m:t>
                      </m:r>
                      <m:r>
                        <m:rPr>
                          <m:sty m:val="p"/>
                        </m:rPr>
                        <a:rPr lang="en-US" b="0" i="1" smtClean="0">
                          <a:latin typeface="Cambria Math" panose="02040503050406030204" pitchFamily="18" charset="0"/>
                        </a:rPr>
                        <m:t>K</m:t>
                      </m:r>
                      <m:r>
                        <a:rPr lang="en-US" b="0" i="1" smtClean="0">
                          <a:latin typeface="Cambria Math" panose="02040503050406030204" pitchFamily="18" charset="0"/>
                        </a:rPr>
                        <m:t>,</m:t>
                      </m:r>
                      <m:r>
                        <m:rPr>
                          <m:sty m:val="p"/>
                        </m:rPr>
                        <a:rPr lang="en-US" b="0" i="1" smtClean="0">
                          <a:latin typeface="Cambria Math" panose="02040503050406030204" pitchFamily="18" charset="0"/>
                        </a:rPr>
                        <m:t>V</m:t>
                      </m:r>
                      <m:r>
                        <a:rPr lang="en-US" b="0" i="1" smtClean="0">
                          <a:latin typeface="Cambria Math" panose="02040503050406030204" pitchFamily="18" charset="0"/>
                        </a:rPr>
                        <m:t>)=</m:t>
                      </m:r>
                      <m:r>
                        <m:rPr>
                          <m:sty m:val="p"/>
                        </m:rPr>
                        <a:rPr lang="en-US" b="0" i="1" smtClean="0">
                          <a:latin typeface="Cambria Math" panose="02040503050406030204" pitchFamily="18" charset="0"/>
                        </a:rPr>
                        <m:t>softmax</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1" smtClean="0">
                              <a:latin typeface="Cambria Math" panose="02040503050406030204" pitchFamily="18" charset="0"/>
                            </a:rPr>
                            <m:t>Q</m:t>
                          </m:r>
                          <m:sSup>
                            <m:sSupPr>
                              <m:ctrlPr>
                                <a:rPr lang="en-US" b="0" i="1" smtClean="0">
                                  <a:latin typeface="Cambria Math" panose="02040503050406030204" pitchFamily="18" charset="0"/>
                                </a:rPr>
                              </m:ctrlPr>
                            </m:sSupPr>
                            <m:e>
                              <m:r>
                                <m:rPr>
                                  <m:sty m:val="p"/>
                                </m:rPr>
                                <a:rPr lang="en-US" b="0" i="1" smtClean="0">
                                  <a:latin typeface="Cambria Math" panose="02040503050406030204" pitchFamily="18" charset="0"/>
                                </a:rPr>
                                <m:t>K</m:t>
                              </m:r>
                            </m:e>
                            <m:sup>
                              <m:r>
                                <m:rPr>
                                  <m:sty m:val="p"/>
                                </m:rPr>
                                <a:rPr lang="en-US" b="0" i="1" smtClean="0">
                                  <a:latin typeface="Cambria Math" panose="02040503050406030204" pitchFamily="18" charset="0"/>
                                </a:rPr>
                                <m:t>T</m:t>
                              </m:r>
                            </m:sup>
                          </m:sSup>
                        </m:num>
                        <m:den>
                          <m:rad>
                            <m:radPr>
                              <m:degHide m:val="on"/>
                              <m:ctrlPr>
                                <a:rPr lang="en-US" b="0" i="1" smtClean="0">
                                  <a:latin typeface="Cambria Math" panose="02040503050406030204" pitchFamily="18" charset="0"/>
                                </a:rPr>
                              </m:ctrlPr>
                            </m:radPr>
                            <m:deg/>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d</m:t>
                                  </m:r>
                                </m:e>
                                <m:sub>
                                  <m:r>
                                    <m:rPr>
                                      <m:sty m:val="p"/>
                                    </m:rPr>
                                    <a:rPr lang="en-US" b="0" i="1" smtClean="0">
                                      <a:latin typeface="Cambria Math" panose="02040503050406030204" pitchFamily="18" charset="0"/>
                                    </a:rPr>
                                    <m:t>k</m:t>
                                  </m:r>
                                </m:sub>
                              </m:sSub>
                            </m:e>
                          </m:rad>
                        </m:den>
                      </m:f>
                      <m:r>
                        <a:rPr lang="en-US" b="0" i="1" smtClean="0">
                          <a:latin typeface="Cambria Math" panose="02040503050406030204" pitchFamily="18" charset="0"/>
                        </a:rPr>
                        <m:t>)</m:t>
                      </m:r>
                      <m:r>
                        <m:rPr>
                          <m:sty m:val="p"/>
                        </m:rPr>
                        <a:rPr lang="en-US" b="0" i="1" smtClean="0">
                          <a:latin typeface="Cambria Math" panose="02040503050406030204" pitchFamily="18" charset="0"/>
                        </a:rPr>
                        <m:t>V</m:t>
                      </m:r>
                    </m:oMath>
                  </m:oMathPara>
                </a14:m>
                <a:endParaRPr lang="en-US" dirty="0"/>
              </a:p>
              <a:p>
                <a:pPr lvl="1"/>
                <a:r>
                  <a:rPr lang="en-US" dirty="0"/>
                  <a:t>Q, K and V are learned linear projections of the same input embeddings, where Q represents information needs, K represents content addressing, and V </a:t>
                </a:r>
                <a:r>
                  <a:rPr lang="en-US" dirty="0" err="1"/>
                  <a:t>carries</a:t>
                </a:r>
                <a:r>
                  <a:rPr lang="en-US" dirty="0"/>
                  <a:t> the actual information to be aggregated</a:t>
                </a:r>
              </a:p>
            </p:txBody>
          </p:sp>
        </mc:Choice>
        <mc:Fallback xmlns="">
          <p:sp>
            <p:nvSpPr>
              <p:cNvPr id="3" name="Content Placeholder 2">
                <a:extLst>
                  <a:ext uri="{FF2B5EF4-FFF2-40B4-BE49-F238E27FC236}">
                    <a16:creationId xmlns:a16="http://schemas.microsoft.com/office/drawing/2014/main" id="{68F2C3B4-F8C3-D0D8-E5DE-DCCD4010A71A}"/>
                  </a:ext>
                </a:extLst>
              </p:cNvPr>
              <p:cNvSpPr>
                <a:spLocks noGrp="1" noRot="1" noChangeAspect="1" noMove="1" noResize="1" noEditPoints="1" noAdjustHandles="1" noChangeArrowheads="1" noChangeShapeType="1" noTextEdit="1"/>
              </p:cNvSpPr>
              <p:nvPr>
                <p:ph idx="1"/>
              </p:nvPr>
            </p:nvSpPr>
            <p:spPr>
              <a:xfrm>
                <a:off x="838200" y="1717590"/>
                <a:ext cx="10515600" cy="4477801"/>
              </a:xfrm>
              <a:blipFill>
                <a:blip r:embed="rId3"/>
                <a:stretch>
                  <a:fillRect l="-928" t="-2997" r="-1217" b="-545"/>
                </a:stretch>
              </a:blipFill>
            </p:spPr>
            <p:txBody>
              <a:bodyPr/>
              <a:lstStyle/>
              <a:p>
                <a:r>
                  <a:rPr lang="en-US">
                    <a:noFill/>
                  </a:rPr>
                  <a:t> </a:t>
                </a:r>
              </a:p>
            </p:txBody>
          </p:sp>
        </mc:Fallback>
      </mc:AlternateContent>
    </p:spTree>
    <p:extLst>
      <p:ext uri="{BB962C8B-B14F-4D97-AF65-F5344CB8AC3E}">
        <p14:creationId xmlns:p14="http://schemas.microsoft.com/office/powerpoint/2010/main" val="37417725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Inside a Transformer Block</a:t>
            </a:r>
          </a:p>
        </p:txBody>
      </p:sp>
      <p:sp>
        <p:nvSpPr>
          <p:cNvPr id="3" name="Content Placeholder 2"/>
          <p:cNvSpPr>
            <a:spLocks noGrp="1"/>
          </p:cNvSpPr>
          <p:nvPr>
            <p:ph idx="1"/>
          </p:nvPr>
        </p:nvSpPr>
        <p:spPr>
          <a:xfrm>
            <a:off x="6172200" y="1645920"/>
            <a:ext cx="5257800" cy="4343400"/>
          </a:xfrm>
        </p:spPr>
        <p:txBody>
          <a:bodyPr wrap="square"/>
          <a:lstStyle/>
          <a:p>
            <a:r>
              <a:rPr sz="2200" b="1"/>
              <a:t>Multi-head attention</a:t>
            </a:r>
          </a:p>
          <a:p>
            <a:pPr lvl="1"/>
            <a:r>
              <a:rPr sz="1800"/>
              <a:t>h parallel heads, each with its own Q, K, V projections</a:t>
            </a:r>
          </a:p>
          <a:p>
            <a:pPr lvl="1"/>
            <a:r>
              <a:rPr sz="1800"/>
              <a:t>Different heads can track different relations</a:t>
            </a:r>
          </a:p>
          <a:p>
            <a:r>
              <a:rPr sz="2200" b="1"/>
              <a:t>Positional encoding</a:t>
            </a:r>
          </a:p>
          <a:p>
            <a:pPr lvl="1"/>
            <a:r>
              <a:rPr sz="1800"/>
              <a:t>Attention ignores order, so position is added to the embeddings (sinusoidal, learned, RoPE)</a:t>
            </a:r>
          </a:p>
          <a:p>
            <a:r>
              <a:rPr sz="2200" b="1"/>
              <a:t>Add &amp; LayerNorm</a:t>
            </a:r>
          </a:p>
          <a:p>
            <a:pPr lvl="1"/>
            <a:r>
              <a:rPr sz="1800"/>
              <a:t>Skip connections and normalization keep deep stacks trainable</a:t>
            </a:r>
          </a:p>
          <a:p>
            <a:r>
              <a:rPr sz="2200" b="1"/>
              <a:t>Feed-forward network</a:t>
            </a:r>
          </a:p>
          <a:p>
            <a:pPr lvl="1"/>
            <a:r>
              <a:rPr sz="1800"/>
              <a:t>Same small MLP on every token; typically about two-thirds of a block’s parameters</a:t>
            </a:r>
          </a:p>
        </p:txBody>
      </p:sp>
      <p:sp>
        <p:nvSpPr>
          <p:cNvPr id="4" name="Add &amp; LayerNorm"/>
          <p:cNvSpPr/>
          <p:nvPr/>
        </p:nvSpPr>
        <p:spPr>
          <a:xfrm>
            <a:off x="1600200" y="1645920"/>
            <a:ext cx="3200400" cy="502920"/>
          </a:xfrm>
          <a:prstGeom prst="roundRect">
            <a:avLst>
              <a:gd name="adj" fmla="val 1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600" b="1" i="0">
                <a:solidFill>
                  <a:srgbClr val="000000"/>
                </a:solidFill>
                <a:latin typeface="Open Sans"/>
              </a:rPr>
              <a:t>Add &amp; LayerNorm</a:t>
            </a:r>
          </a:p>
        </p:txBody>
      </p:sp>
      <p:sp>
        <p:nvSpPr>
          <p:cNvPr id="5" name="Feed-Forward (MLP)"/>
          <p:cNvSpPr/>
          <p:nvPr/>
        </p:nvSpPr>
        <p:spPr>
          <a:xfrm>
            <a:off x="1600200" y="2377440"/>
            <a:ext cx="3200400" cy="566928"/>
          </a:xfrm>
          <a:prstGeom prst="roundRect">
            <a:avLst>
              <a:gd name="adj" fmla="val 12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600" b="1" i="0">
                <a:solidFill>
                  <a:srgbClr val="FFFFFF"/>
                </a:solidFill>
                <a:latin typeface="Open Sans"/>
              </a:rPr>
              <a:t>Feed-Forward (MLP)</a:t>
            </a:r>
          </a:p>
        </p:txBody>
      </p:sp>
      <p:sp>
        <p:nvSpPr>
          <p:cNvPr id="6" name="Add &amp; LayerNorm"/>
          <p:cNvSpPr/>
          <p:nvPr/>
        </p:nvSpPr>
        <p:spPr>
          <a:xfrm>
            <a:off x="1600200" y="3172968"/>
            <a:ext cx="3200400" cy="502920"/>
          </a:xfrm>
          <a:prstGeom prst="roundRect">
            <a:avLst>
              <a:gd name="adj" fmla="val 1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600" b="1" i="0">
                <a:solidFill>
                  <a:srgbClr val="000000"/>
                </a:solidFill>
                <a:latin typeface="Open Sans"/>
              </a:rPr>
              <a:t>Add &amp; LayerNorm</a:t>
            </a:r>
          </a:p>
        </p:txBody>
      </p:sp>
      <p:sp>
        <p:nvSpPr>
          <p:cNvPr id="7" name="Multi-Head Self-Attention"/>
          <p:cNvSpPr/>
          <p:nvPr/>
        </p:nvSpPr>
        <p:spPr>
          <a:xfrm>
            <a:off x="1600200" y="3904487"/>
            <a:ext cx="3200400" cy="731520"/>
          </a:xfrm>
          <a:prstGeom prst="roundRect">
            <a:avLst>
              <a:gd name="adj" fmla="val 12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600" b="1" i="0">
                <a:solidFill>
                  <a:srgbClr val="FFFFFF"/>
                </a:solidFill>
                <a:latin typeface="Open Sans"/>
              </a:rPr>
              <a:t>Multi-Head</a:t>
            </a:r>
          </a:p>
          <a:p>
            <a:pPr algn="ctr"/>
            <a:r>
              <a:rPr sz="1600" b="1" i="0">
                <a:solidFill>
                  <a:srgbClr val="FFFFFF"/>
                </a:solidFill>
                <a:latin typeface="Open Sans"/>
              </a:rPr>
              <a:t>Self-Attention</a:t>
            </a:r>
          </a:p>
        </p:txBody>
      </p:sp>
      <p:sp>
        <p:nvSpPr>
          <p:cNvPr id="8" name="Token embedding + Positional encoding"/>
          <p:cNvSpPr/>
          <p:nvPr/>
        </p:nvSpPr>
        <p:spPr>
          <a:xfrm>
            <a:off x="1600200" y="5047488"/>
            <a:ext cx="3200400" cy="731520"/>
          </a:xfrm>
          <a:prstGeom prst="roundRect">
            <a:avLst>
              <a:gd name="adj" fmla="val 12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600" b="1" i="0">
                <a:solidFill>
                  <a:srgbClr val="000000"/>
                </a:solidFill>
                <a:latin typeface="Open Sans"/>
              </a:rPr>
              <a:t>Token embedding</a:t>
            </a:r>
          </a:p>
          <a:p>
            <a:pPr algn="ctr"/>
            <a:r>
              <a:rPr sz="1600" b="1" i="0">
                <a:solidFill>
                  <a:srgbClr val="000000"/>
                </a:solidFill>
                <a:latin typeface="Open Sans"/>
              </a:rPr>
              <a:t>+ Positional encoding</a:t>
            </a:r>
          </a:p>
        </p:txBody>
      </p:sp>
      <p:cxnSp>
        <p:nvCxnSpPr>
          <p:cNvPr id="9" name="Flow"/>
          <p:cNvCxnSpPr/>
          <p:nvPr/>
        </p:nvCxnSpPr>
        <p:spPr>
          <a:xfrm flipV="1">
            <a:off x="3200400" y="4654296"/>
            <a:ext cx="0" cy="374904"/>
          </a:xfrm>
          <a:prstGeom prst="line">
            <a:avLst/>
          </a:prstGeom>
          <a:ln w="285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Flow"/>
          <p:cNvCxnSpPr/>
          <p:nvPr/>
        </p:nvCxnSpPr>
        <p:spPr>
          <a:xfrm flipV="1">
            <a:off x="3200400" y="3694176"/>
            <a:ext cx="0" cy="192024"/>
          </a:xfrm>
          <a:prstGeom prst="line">
            <a:avLst/>
          </a:prstGeom>
          <a:ln w="285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Flow"/>
          <p:cNvCxnSpPr/>
          <p:nvPr/>
        </p:nvCxnSpPr>
        <p:spPr>
          <a:xfrm flipV="1">
            <a:off x="3200400" y="2962656"/>
            <a:ext cx="0" cy="192024"/>
          </a:xfrm>
          <a:prstGeom prst="line">
            <a:avLst/>
          </a:prstGeom>
          <a:ln w="285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Flow"/>
          <p:cNvCxnSpPr/>
          <p:nvPr/>
        </p:nvCxnSpPr>
        <p:spPr>
          <a:xfrm flipV="1">
            <a:off x="3200400" y="2167128"/>
            <a:ext cx="0" cy="192024"/>
          </a:xfrm>
          <a:prstGeom prst="line">
            <a:avLst/>
          </a:prstGeom>
          <a:ln w="285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Skip 1a"/>
          <p:cNvCxnSpPr/>
          <p:nvPr/>
        </p:nvCxnSpPr>
        <p:spPr>
          <a:xfrm>
            <a:off x="3200400" y="4837176"/>
            <a:ext cx="1874520" cy="0"/>
          </a:xfrm>
          <a:prstGeom prst="line">
            <a:avLst/>
          </a:prstGeom>
          <a:ln w="25400">
            <a:solidFill>
              <a:srgbClr val="595959"/>
            </a:solidFill>
            <a:prstDash val="dash"/>
          </a:ln>
        </p:spPr>
        <p:style>
          <a:lnRef idx="2">
            <a:schemeClr val="accent1"/>
          </a:lnRef>
          <a:fillRef idx="0">
            <a:schemeClr val="accent1"/>
          </a:fillRef>
          <a:effectRef idx="1">
            <a:schemeClr val="accent1"/>
          </a:effectRef>
          <a:fontRef idx="minor">
            <a:schemeClr val="tx1"/>
          </a:fontRef>
        </p:style>
      </p:cxnSp>
      <p:cxnSp>
        <p:nvCxnSpPr>
          <p:cNvPr id="14" name="Skip 1b"/>
          <p:cNvCxnSpPr/>
          <p:nvPr/>
        </p:nvCxnSpPr>
        <p:spPr>
          <a:xfrm flipV="1">
            <a:off x="5074920" y="3424428"/>
            <a:ext cx="0" cy="1412748"/>
          </a:xfrm>
          <a:prstGeom prst="line">
            <a:avLst/>
          </a:prstGeom>
          <a:ln w="25400">
            <a:solidFill>
              <a:srgbClr val="595959"/>
            </a:solidFill>
            <a:prstDash val="dash"/>
          </a:ln>
        </p:spPr>
        <p:style>
          <a:lnRef idx="2">
            <a:schemeClr val="accent1"/>
          </a:lnRef>
          <a:fillRef idx="0">
            <a:schemeClr val="accent1"/>
          </a:fillRef>
          <a:effectRef idx="1">
            <a:schemeClr val="accent1"/>
          </a:effectRef>
          <a:fontRef idx="minor">
            <a:schemeClr val="tx1"/>
          </a:fontRef>
        </p:style>
      </p:cxnSp>
      <p:cxnSp>
        <p:nvCxnSpPr>
          <p:cNvPr id="15" name="Skip 1c"/>
          <p:cNvCxnSpPr/>
          <p:nvPr/>
        </p:nvCxnSpPr>
        <p:spPr>
          <a:xfrm flipH="1">
            <a:off x="4818888" y="3424428"/>
            <a:ext cx="256032" cy="0"/>
          </a:xfrm>
          <a:prstGeom prst="line">
            <a:avLst/>
          </a:prstGeom>
          <a:ln w="25400">
            <a:solidFill>
              <a:srgbClr val="59595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Skip 2a"/>
          <p:cNvCxnSpPr/>
          <p:nvPr/>
        </p:nvCxnSpPr>
        <p:spPr>
          <a:xfrm>
            <a:off x="3200400" y="3067812"/>
            <a:ext cx="1874520" cy="0"/>
          </a:xfrm>
          <a:prstGeom prst="line">
            <a:avLst/>
          </a:prstGeom>
          <a:ln w="25400">
            <a:solidFill>
              <a:srgbClr val="595959"/>
            </a:solidFill>
            <a:prstDash val="dash"/>
          </a:ln>
        </p:spPr>
        <p:style>
          <a:lnRef idx="2">
            <a:schemeClr val="accent1"/>
          </a:lnRef>
          <a:fillRef idx="0">
            <a:schemeClr val="accent1"/>
          </a:fillRef>
          <a:effectRef idx="1">
            <a:schemeClr val="accent1"/>
          </a:effectRef>
          <a:fontRef idx="minor">
            <a:schemeClr val="tx1"/>
          </a:fontRef>
        </p:style>
      </p:cxnSp>
      <p:cxnSp>
        <p:nvCxnSpPr>
          <p:cNvPr id="17" name="Skip 2b"/>
          <p:cNvCxnSpPr/>
          <p:nvPr/>
        </p:nvCxnSpPr>
        <p:spPr>
          <a:xfrm flipV="1">
            <a:off x="5074920" y="1897380"/>
            <a:ext cx="0" cy="1170432"/>
          </a:xfrm>
          <a:prstGeom prst="line">
            <a:avLst/>
          </a:prstGeom>
          <a:ln w="25400">
            <a:solidFill>
              <a:srgbClr val="595959"/>
            </a:solidFill>
            <a:prstDash val="dash"/>
          </a:ln>
        </p:spPr>
        <p:style>
          <a:lnRef idx="2">
            <a:schemeClr val="accent1"/>
          </a:lnRef>
          <a:fillRef idx="0">
            <a:schemeClr val="accent1"/>
          </a:fillRef>
          <a:effectRef idx="1">
            <a:schemeClr val="accent1"/>
          </a:effectRef>
          <a:fontRef idx="minor">
            <a:schemeClr val="tx1"/>
          </a:fontRef>
        </p:style>
      </p:cxnSp>
      <p:cxnSp>
        <p:nvCxnSpPr>
          <p:cNvPr id="18" name="Skip 2c"/>
          <p:cNvCxnSpPr/>
          <p:nvPr/>
        </p:nvCxnSpPr>
        <p:spPr>
          <a:xfrm flipH="1">
            <a:off x="4818888" y="1897380"/>
            <a:ext cx="256032" cy="0"/>
          </a:xfrm>
          <a:prstGeom prst="line">
            <a:avLst/>
          </a:prstGeom>
          <a:ln w="25400">
            <a:solidFill>
              <a:srgbClr val="59595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9" name="Block bracket"/>
          <p:cNvSpPr/>
          <p:nvPr/>
        </p:nvSpPr>
        <p:spPr>
          <a:xfrm>
            <a:off x="1325880" y="1645920"/>
            <a:ext cx="182880" cy="2990088"/>
          </a:xfrm>
          <a:prstGeom prst="leftBracket">
            <a:avLst/>
          </a:prstGeom>
          <a:noFill/>
          <a:ln w="317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peat N"/>
          <p:cNvSpPr txBox="1"/>
          <p:nvPr/>
        </p:nvSpPr>
        <p:spPr>
          <a:xfrm>
            <a:off x="731520" y="2743200"/>
            <a:ext cx="594360" cy="457200"/>
          </a:xfrm>
          <a:prstGeom prst="rect">
            <a:avLst/>
          </a:prstGeom>
          <a:noFill/>
        </p:spPr>
        <p:txBody>
          <a:bodyPr wrap="square" lIns="45720" tIns="27432" rIns="45720" bIns="27432" anchor="t">
            <a:spAutoFit/>
          </a:bodyPr>
          <a:lstStyle/>
          <a:p>
            <a:pPr algn="ctr"/>
            <a:r>
              <a:rPr sz="2200" b="1" i="0">
                <a:solidFill>
                  <a:schemeClr val="accent1"/>
                </a:solidFill>
                <a:latin typeface="Open Sans"/>
              </a:rPr>
              <a:t>× N</a:t>
            </a:r>
          </a:p>
        </p:txBody>
      </p:sp>
      <p:sp>
        <p:nvSpPr>
          <p:cNvPr id="21" name="Skip label"/>
          <p:cNvSpPr txBox="1"/>
          <p:nvPr/>
        </p:nvSpPr>
        <p:spPr>
          <a:xfrm>
            <a:off x="5193792" y="2240280"/>
            <a:ext cx="914400" cy="457200"/>
          </a:xfrm>
          <a:prstGeom prst="rect">
            <a:avLst/>
          </a:prstGeom>
          <a:noFill/>
        </p:spPr>
        <p:txBody>
          <a:bodyPr wrap="square" lIns="0" tIns="0" rIns="0" bIns="0" anchor="t">
            <a:spAutoFit/>
          </a:bodyPr>
          <a:lstStyle/>
          <a:p>
            <a:pPr algn="l"/>
            <a:r>
              <a:rPr sz="1200" b="0" i="0">
                <a:solidFill>
                  <a:srgbClr val="595959"/>
                </a:solidFill>
                <a:latin typeface="Open Sans"/>
              </a:rPr>
              <a:t>skip</a:t>
            </a:r>
          </a:p>
          <a:p>
            <a:pPr algn="l"/>
            <a:r>
              <a:rPr sz="1200" b="0" i="0">
                <a:solidFill>
                  <a:srgbClr val="595959"/>
                </a:solidFill>
                <a:latin typeface="Open Sans"/>
              </a:rPr>
              <a:t>connection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Flavors of Transformers</a:t>
            </a:r>
          </a:p>
        </p:txBody>
      </p:sp>
      <p:sp>
        <p:nvSpPr>
          <p:cNvPr id="3" name="Encoder-only card"/>
          <p:cNvSpPr/>
          <p:nvPr/>
        </p:nvSpPr>
        <p:spPr>
          <a:xfrm>
            <a:off x="841248" y="1600200"/>
            <a:ext cx="3383280" cy="3657600"/>
          </a:xfrm>
          <a:prstGeom prst="rect">
            <a:avLst/>
          </a:prstGeom>
          <a:solidFill>
            <a:srgbClr val="F6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Encoder-only header"/>
          <p:cNvSpPr/>
          <p:nvPr/>
        </p:nvSpPr>
        <p:spPr>
          <a:xfrm>
            <a:off x="841248" y="1600200"/>
            <a:ext cx="3383280"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000" b="1" i="0">
                <a:solidFill>
                  <a:srgbClr val="FFFFFF"/>
                </a:solidFill>
                <a:latin typeface="Open Sans"/>
              </a:rPr>
              <a:t>Encoder-only</a:t>
            </a:r>
          </a:p>
        </p:txBody>
      </p:sp>
      <p:grpSp>
        <p:nvGrpSpPr>
          <p:cNvPr id="5" name="Encoder-only mask 1"/>
          <p:cNvGrpSpPr/>
          <p:nvPr/>
        </p:nvGrpSpPr>
        <p:grpSpPr>
          <a:xfrm>
            <a:off x="2075688" y="2286000"/>
            <a:ext cx="914400" cy="914400"/>
            <a:chOff x="2075688" y="2286000"/>
            <a:chExt cx="914400" cy="914400"/>
          </a:xfrm>
        </p:grpSpPr>
        <p:sp>
          <p:nvSpPr>
            <p:cNvPr id="6" name="Rectangle 5"/>
            <p:cNvSpPr/>
            <p:nvPr/>
          </p:nvSpPr>
          <p:spPr>
            <a:xfrm>
              <a:off x="2075688" y="228600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258568" y="228600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441448" y="228600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624328" y="228600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807208" y="228600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075688" y="246888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258568" y="246888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441448" y="246888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624328" y="246888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807208" y="246888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075688" y="265176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258568" y="265176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441448" y="265176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624328" y="265176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807208" y="265176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075688" y="283464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258568" y="283464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441448" y="283464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624328" y="283464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807208" y="283464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075688" y="301752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258568" y="301752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441448" y="301752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624328" y="301752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807208" y="301752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31" name="Encoder-only mask caption"/>
          <p:cNvSpPr txBox="1"/>
          <p:nvPr/>
        </p:nvSpPr>
        <p:spPr>
          <a:xfrm>
            <a:off x="932688" y="3273552"/>
            <a:ext cx="3200400" cy="502920"/>
          </a:xfrm>
          <a:prstGeom prst="rect">
            <a:avLst/>
          </a:prstGeom>
          <a:noFill/>
        </p:spPr>
        <p:txBody>
          <a:bodyPr wrap="square" lIns="45720" tIns="27432" rIns="45720" bIns="27432" anchor="t">
            <a:spAutoFit/>
          </a:bodyPr>
          <a:lstStyle/>
          <a:p>
            <a:pPr algn="ctr"/>
            <a:r>
              <a:rPr sz="1400" b="0" i="0">
                <a:solidFill>
                  <a:srgbClr val="595959"/>
                </a:solidFill>
                <a:latin typeface="Times New Roman"/>
              </a:rPr>
              <a:t>Every token sees every token</a:t>
            </a:r>
          </a:p>
        </p:txBody>
      </p:sp>
      <p:sp>
        <p:nvSpPr>
          <p:cNvPr id="32" name="Encoder-only details"/>
          <p:cNvSpPr txBox="1"/>
          <p:nvPr/>
        </p:nvSpPr>
        <p:spPr>
          <a:xfrm>
            <a:off x="932688" y="3840480"/>
            <a:ext cx="3200400" cy="1371600"/>
          </a:xfrm>
          <a:prstGeom prst="rect">
            <a:avLst/>
          </a:prstGeom>
          <a:noFill/>
        </p:spPr>
        <p:txBody>
          <a:bodyPr wrap="square" lIns="45720" tIns="27432" rIns="45720" bIns="27432" anchor="t">
            <a:spAutoFit/>
          </a:bodyPr>
          <a:lstStyle/>
          <a:p>
            <a:pPr algn="l">
              <a:spcAft>
                <a:spcPts val="400"/>
              </a:spcAft>
            </a:pPr>
            <a:r>
              <a:rPr sz="1600" b="0" i="0">
                <a:solidFill>
                  <a:srgbClr val="000000"/>
                </a:solidFill>
                <a:latin typeface="Times New Roman"/>
              </a:rPr>
              <a:t>Examples: BERT, RoBERTa</a:t>
            </a:r>
          </a:p>
          <a:p>
            <a:pPr algn="l">
              <a:spcAft>
                <a:spcPts val="400"/>
              </a:spcAft>
            </a:pPr>
            <a:r>
              <a:rPr sz="1600" b="0" i="0">
                <a:solidFill>
                  <a:srgbClr val="000000"/>
                </a:solidFill>
                <a:latin typeface="Times New Roman"/>
              </a:rPr>
              <a:t>Good at: classification, search, embeddings</a:t>
            </a:r>
          </a:p>
        </p:txBody>
      </p:sp>
      <p:sp>
        <p:nvSpPr>
          <p:cNvPr id="33" name="Decoder-only card"/>
          <p:cNvSpPr/>
          <p:nvPr/>
        </p:nvSpPr>
        <p:spPr>
          <a:xfrm>
            <a:off x="4407408" y="1600200"/>
            <a:ext cx="3383280" cy="3657600"/>
          </a:xfrm>
          <a:prstGeom prst="rect">
            <a:avLst/>
          </a:prstGeom>
          <a:solidFill>
            <a:srgbClr val="F6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ecoder-only header"/>
          <p:cNvSpPr/>
          <p:nvPr/>
        </p:nvSpPr>
        <p:spPr>
          <a:xfrm>
            <a:off x="4407408" y="1600200"/>
            <a:ext cx="3383280"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000" b="1" i="0">
                <a:solidFill>
                  <a:srgbClr val="FFFFFF"/>
                </a:solidFill>
                <a:latin typeface="Open Sans"/>
              </a:rPr>
              <a:t>Decoder-only</a:t>
            </a:r>
          </a:p>
        </p:txBody>
      </p:sp>
      <p:grpSp>
        <p:nvGrpSpPr>
          <p:cNvPr id="35" name="Decoder-only mask 1"/>
          <p:cNvGrpSpPr/>
          <p:nvPr/>
        </p:nvGrpSpPr>
        <p:grpSpPr>
          <a:xfrm>
            <a:off x="5641848" y="2286000"/>
            <a:ext cx="914400" cy="914400"/>
            <a:chOff x="5641848" y="2286000"/>
            <a:chExt cx="914400" cy="914400"/>
          </a:xfrm>
        </p:grpSpPr>
        <p:sp>
          <p:nvSpPr>
            <p:cNvPr id="36" name="Rectangle 35"/>
            <p:cNvSpPr/>
            <p:nvPr/>
          </p:nvSpPr>
          <p:spPr>
            <a:xfrm>
              <a:off x="5641848" y="228600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824728" y="2286000"/>
              <a:ext cx="182880" cy="182880"/>
            </a:xfrm>
            <a:prstGeom prst="rect">
              <a:avLst/>
            </a:prstGeom>
            <a:solidFill>
              <a:srgbClr val="E7E6E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007608" y="2286000"/>
              <a:ext cx="182880" cy="182880"/>
            </a:xfrm>
            <a:prstGeom prst="rect">
              <a:avLst/>
            </a:prstGeom>
            <a:solidFill>
              <a:srgbClr val="E7E6E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190488" y="2286000"/>
              <a:ext cx="182880" cy="182880"/>
            </a:xfrm>
            <a:prstGeom prst="rect">
              <a:avLst/>
            </a:prstGeom>
            <a:solidFill>
              <a:srgbClr val="E7E6E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373368" y="2286000"/>
              <a:ext cx="182880" cy="182880"/>
            </a:xfrm>
            <a:prstGeom prst="rect">
              <a:avLst/>
            </a:prstGeom>
            <a:solidFill>
              <a:srgbClr val="E7E6E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5641848" y="246888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824728" y="246888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007608" y="2468880"/>
              <a:ext cx="182880" cy="182880"/>
            </a:xfrm>
            <a:prstGeom prst="rect">
              <a:avLst/>
            </a:prstGeom>
            <a:solidFill>
              <a:srgbClr val="E7E6E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190488" y="2468880"/>
              <a:ext cx="182880" cy="182880"/>
            </a:xfrm>
            <a:prstGeom prst="rect">
              <a:avLst/>
            </a:prstGeom>
            <a:solidFill>
              <a:srgbClr val="E7E6E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6373368" y="2468880"/>
              <a:ext cx="182880" cy="182880"/>
            </a:xfrm>
            <a:prstGeom prst="rect">
              <a:avLst/>
            </a:prstGeom>
            <a:solidFill>
              <a:srgbClr val="E7E6E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5641848" y="265176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5824728" y="265176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007608" y="265176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6190488" y="2651760"/>
              <a:ext cx="182880" cy="182880"/>
            </a:xfrm>
            <a:prstGeom prst="rect">
              <a:avLst/>
            </a:prstGeom>
            <a:solidFill>
              <a:srgbClr val="E7E6E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6373368" y="2651760"/>
              <a:ext cx="182880" cy="182880"/>
            </a:xfrm>
            <a:prstGeom prst="rect">
              <a:avLst/>
            </a:prstGeom>
            <a:solidFill>
              <a:srgbClr val="E7E6E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5641848" y="283464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824728" y="283464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007608" y="283464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6190488" y="283464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373368" y="2834640"/>
              <a:ext cx="182880" cy="182880"/>
            </a:xfrm>
            <a:prstGeom prst="rect">
              <a:avLst/>
            </a:prstGeom>
            <a:solidFill>
              <a:srgbClr val="E7E6E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5641848" y="301752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824728" y="301752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6007608" y="301752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6190488" y="301752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6373368" y="301752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61" name="Decoder-only mask caption"/>
          <p:cNvSpPr txBox="1"/>
          <p:nvPr/>
        </p:nvSpPr>
        <p:spPr>
          <a:xfrm>
            <a:off x="4498848" y="3273552"/>
            <a:ext cx="3200400" cy="502920"/>
          </a:xfrm>
          <a:prstGeom prst="rect">
            <a:avLst/>
          </a:prstGeom>
          <a:noFill/>
        </p:spPr>
        <p:txBody>
          <a:bodyPr wrap="square" lIns="45720" tIns="27432" rIns="45720" bIns="27432" anchor="t">
            <a:spAutoFit/>
          </a:bodyPr>
          <a:lstStyle/>
          <a:p>
            <a:pPr algn="ctr"/>
            <a:r>
              <a:rPr sz="1400" b="0" i="0">
                <a:solidFill>
                  <a:srgbClr val="595959"/>
                </a:solidFill>
                <a:latin typeface="Times New Roman"/>
              </a:rPr>
              <a:t>Each token sees itself and the past</a:t>
            </a:r>
          </a:p>
        </p:txBody>
      </p:sp>
      <p:sp>
        <p:nvSpPr>
          <p:cNvPr id="62" name="Decoder-only details"/>
          <p:cNvSpPr txBox="1"/>
          <p:nvPr/>
        </p:nvSpPr>
        <p:spPr>
          <a:xfrm>
            <a:off x="4498848" y="3840480"/>
            <a:ext cx="3200400" cy="1371600"/>
          </a:xfrm>
          <a:prstGeom prst="rect">
            <a:avLst/>
          </a:prstGeom>
          <a:noFill/>
        </p:spPr>
        <p:txBody>
          <a:bodyPr wrap="square" lIns="45720" tIns="27432" rIns="45720" bIns="27432" anchor="t">
            <a:spAutoFit/>
          </a:bodyPr>
          <a:lstStyle/>
          <a:p>
            <a:pPr algn="l">
              <a:spcAft>
                <a:spcPts val="400"/>
              </a:spcAft>
            </a:pPr>
            <a:r>
              <a:rPr sz="1600" b="0" i="0">
                <a:solidFill>
                  <a:srgbClr val="000000"/>
                </a:solidFill>
                <a:latin typeface="Times New Roman"/>
              </a:rPr>
              <a:t>Examples: GPT, LLaMA</a:t>
            </a:r>
          </a:p>
          <a:p>
            <a:pPr algn="l">
              <a:spcAft>
                <a:spcPts val="400"/>
              </a:spcAft>
            </a:pPr>
            <a:r>
              <a:rPr sz="1600" b="0" i="0">
                <a:solidFill>
                  <a:srgbClr val="000000"/>
                </a:solidFill>
                <a:latin typeface="Times New Roman"/>
              </a:rPr>
              <a:t>Good at: text generation and chat (the auto-regressive LLMs)</a:t>
            </a:r>
          </a:p>
        </p:txBody>
      </p:sp>
      <p:sp>
        <p:nvSpPr>
          <p:cNvPr id="63" name="Encoder-Decoder card"/>
          <p:cNvSpPr/>
          <p:nvPr/>
        </p:nvSpPr>
        <p:spPr>
          <a:xfrm>
            <a:off x="7973568" y="1600200"/>
            <a:ext cx="3383280" cy="3657600"/>
          </a:xfrm>
          <a:prstGeom prst="rect">
            <a:avLst/>
          </a:prstGeom>
          <a:solidFill>
            <a:srgbClr val="F6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Encoder-Decoder header"/>
          <p:cNvSpPr/>
          <p:nvPr/>
        </p:nvSpPr>
        <p:spPr>
          <a:xfrm>
            <a:off x="7973568" y="1600200"/>
            <a:ext cx="3383280"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000" b="1" i="0">
                <a:solidFill>
                  <a:srgbClr val="FFFFFF"/>
                </a:solidFill>
                <a:latin typeface="Open Sans"/>
              </a:rPr>
              <a:t>Encoder-Decoder</a:t>
            </a:r>
          </a:p>
        </p:txBody>
      </p:sp>
      <p:grpSp>
        <p:nvGrpSpPr>
          <p:cNvPr id="65" name="Encoder-Decoder mask 1"/>
          <p:cNvGrpSpPr/>
          <p:nvPr/>
        </p:nvGrpSpPr>
        <p:grpSpPr>
          <a:xfrm>
            <a:off x="8590788" y="2286000"/>
            <a:ext cx="914400" cy="914400"/>
            <a:chOff x="8590788" y="2286000"/>
            <a:chExt cx="914400" cy="914400"/>
          </a:xfrm>
        </p:grpSpPr>
        <p:sp>
          <p:nvSpPr>
            <p:cNvPr id="66" name="Rectangle 65"/>
            <p:cNvSpPr/>
            <p:nvPr/>
          </p:nvSpPr>
          <p:spPr>
            <a:xfrm>
              <a:off x="8590788" y="228600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8773668" y="228600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8956548" y="228600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9139428" y="228600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9322308" y="228600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8590788" y="246888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8773668" y="246888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8956548" y="246888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9139428" y="246888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9322308" y="246888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8590788" y="265176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8773668" y="265176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8956548" y="265176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9139428" y="265176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9322308" y="265176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8590788" y="283464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8773668" y="283464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8956548" y="283464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9139428" y="283464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9322308" y="283464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8590788" y="301752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8773668" y="301752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8956548" y="301752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9139428" y="301752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9322308" y="301752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91" name="Encoder-Decoder mask 2"/>
          <p:cNvGrpSpPr/>
          <p:nvPr/>
        </p:nvGrpSpPr>
        <p:grpSpPr>
          <a:xfrm>
            <a:off x="9825228" y="2286000"/>
            <a:ext cx="914400" cy="914400"/>
            <a:chOff x="9825228" y="2286000"/>
            <a:chExt cx="914400" cy="914400"/>
          </a:xfrm>
        </p:grpSpPr>
        <p:sp>
          <p:nvSpPr>
            <p:cNvPr id="92" name="Rectangle 91"/>
            <p:cNvSpPr/>
            <p:nvPr/>
          </p:nvSpPr>
          <p:spPr>
            <a:xfrm>
              <a:off x="9825228" y="228600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10008108" y="2286000"/>
              <a:ext cx="182880" cy="182880"/>
            </a:xfrm>
            <a:prstGeom prst="rect">
              <a:avLst/>
            </a:prstGeom>
            <a:solidFill>
              <a:srgbClr val="E7E6E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10190988" y="2286000"/>
              <a:ext cx="182880" cy="182880"/>
            </a:xfrm>
            <a:prstGeom prst="rect">
              <a:avLst/>
            </a:prstGeom>
            <a:solidFill>
              <a:srgbClr val="E7E6E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10373868" y="2286000"/>
              <a:ext cx="182880" cy="182880"/>
            </a:xfrm>
            <a:prstGeom prst="rect">
              <a:avLst/>
            </a:prstGeom>
            <a:solidFill>
              <a:srgbClr val="E7E6E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ectangle 95"/>
            <p:cNvSpPr/>
            <p:nvPr/>
          </p:nvSpPr>
          <p:spPr>
            <a:xfrm>
              <a:off x="10556748" y="2286000"/>
              <a:ext cx="182880" cy="182880"/>
            </a:xfrm>
            <a:prstGeom prst="rect">
              <a:avLst/>
            </a:prstGeom>
            <a:solidFill>
              <a:srgbClr val="E7E6E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ectangle 96"/>
            <p:cNvSpPr/>
            <p:nvPr/>
          </p:nvSpPr>
          <p:spPr>
            <a:xfrm>
              <a:off x="9825228" y="246888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10008108" y="246888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ectangle 98"/>
            <p:cNvSpPr/>
            <p:nvPr/>
          </p:nvSpPr>
          <p:spPr>
            <a:xfrm>
              <a:off x="10190988" y="2468880"/>
              <a:ext cx="182880" cy="182880"/>
            </a:xfrm>
            <a:prstGeom prst="rect">
              <a:avLst/>
            </a:prstGeom>
            <a:solidFill>
              <a:srgbClr val="E7E6E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ectangle 99"/>
            <p:cNvSpPr/>
            <p:nvPr/>
          </p:nvSpPr>
          <p:spPr>
            <a:xfrm>
              <a:off x="10373868" y="2468880"/>
              <a:ext cx="182880" cy="182880"/>
            </a:xfrm>
            <a:prstGeom prst="rect">
              <a:avLst/>
            </a:prstGeom>
            <a:solidFill>
              <a:srgbClr val="E7E6E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10556748" y="2468880"/>
              <a:ext cx="182880" cy="182880"/>
            </a:xfrm>
            <a:prstGeom prst="rect">
              <a:avLst/>
            </a:prstGeom>
            <a:solidFill>
              <a:srgbClr val="E7E6E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9825228" y="265176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ectangle 102"/>
            <p:cNvSpPr/>
            <p:nvPr/>
          </p:nvSpPr>
          <p:spPr>
            <a:xfrm>
              <a:off x="10008108" y="265176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ectangle 103"/>
            <p:cNvSpPr/>
            <p:nvPr/>
          </p:nvSpPr>
          <p:spPr>
            <a:xfrm>
              <a:off x="10190988" y="265176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ectangle 104"/>
            <p:cNvSpPr/>
            <p:nvPr/>
          </p:nvSpPr>
          <p:spPr>
            <a:xfrm>
              <a:off x="10373868" y="2651760"/>
              <a:ext cx="182880" cy="182880"/>
            </a:xfrm>
            <a:prstGeom prst="rect">
              <a:avLst/>
            </a:prstGeom>
            <a:solidFill>
              <a:srgbClr val="E7E6E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ectangle 105"/>
            <p:cNvSpPr/>
            <p:nvPr/>
          </p:nvSpPr>
          <p:spPr>
            <a:xfrm>
              <a:off x="10556748" y="2651760"/>
              <a:ext cx="182880" cy="182880"/>
            </a:xfrm>
            <a:prstGeom prst="rect">
              <a:avLst/>
            </a:prstGeom>
            <a:solidFill>
              <a:srgbClr val="E7E6E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a:off x="9825228" y="283464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ectangle 107"/>
            <p:cNvSpPr/>
            <p:nvPr/>
          </p:nvSpPr>
          <p:spPr>
            <a:xfrm>
              <a:off x="10008108" y="283464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10190988" y="283464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ectangle 109"/>
            <p:cNvSpPr/>
            <p:nvPr/>
          </p:nvSpPr>
          <p:spPr>
            <a:xfrm>
              <a:off x="10373868" y="283464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0"/>
            <p:cNvSpPr/>
            <p:nvPr/>
          </p:nvSpPr>
          <p:spPr>
            <a:xfrm>
              <a:off x="10556748" y="2834640"/>
              <a:ext cx="182880" cy="182880"/>
            </a:xfrm>
            <a:prstGeom prst="rect">
              <a:avLst/>
            </a:prstGeom>
            <a:solidFill>
              <a:srgbClr val="E7E6E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ectangle 111"/>
            <p:cNvSpPr/>
            <p:nvPr/>
          </p:nvSpPr>
          <p:spPr>
            <a:xfrm>
              <a:off x="9825228" y="301752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ectangle 112"/>
            <p:cNvSpPr/>
            <p:nvPr/>
          </p:nvSpPr>
          <p:spPr>
            <a:xfrm>
              <a:off x="10008108" y="301752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ectangle 113"/>
            <p:cNvSpPr/>
            <p:nvPr/>
          </p:nvSpPr>
          <p:spPr>
            <a:xfrm>
              <a:off x="10190988" y="301752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Rectangle 114"/>
            <p:cNvSpPr/>
            <p:nvPr/>
          </p:nvSpPr>
          <p:spPr>
            <a:xfrm>
              <a:off x="10373868" y="301752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ectangle 115"/>
            <p:cNvSpPr/>
            <p:nvPr/>
          </p:nvSpPr>
          <p:spPr>
            <a:xfrm>
              <a:off x="10556748" y="3017520"/>
              <a:ext cx="182880" cy="182880"/>
            </a:xfrm>
            <a:prstGeom prst="rect">
              <a:avLst/>
            </a:prstGeom>
            <a:solidFill>
              <a:schemeClr val="accent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117" name="Encoder-Decoder mask caption"/>
          <p:cNvSpPr txBox="1"/>
          <p:nvPr/>
        </p:nvSpPr>
        <p:spPr>
          <a:xfrm>
            <a:off x="8065008" y="3273552"/>
            <a:ext cx="3200400" cy="502920"/>
          </a:xfrm>
          <a:prstGeom prst="rect">
            <a:avLst/>
          </a:prstGeom>
          <a:noFill/>
        </p:spPr>
        <p:txBody>
          <a:bodyPr wrap="square" lIns="45720" tIns="27432" rIns="45720" bIns="27432" anchor="t">
            <a:spAutoFit/>
          </a:bodyPr>
          <a:lstStyle/>
          <a:p>
            <a:pPr algn="ctr"/>
            <a:r>
              <a:rPr sz="1400" b="0" i="0">
                <a:solidFill>
                  <a:srgbClr val="595959"/>
                </a:solidFill>
                <a:latin typeface="Times New Roman"/>
              </a:rPr>
              <a:t>Encoder: full  ·  Decoder: causal</a:t>
            </a:r>
          </a:p>
        </p:txBody>
      </p:sp>
      <p:sp>
        <p:nvSpPr>
          <p:cNvPr id="118" name="Encoder-Decoder details"/>
          <p:cNvSpPr txBox="1"/>
          <p:nvPr/>
        </p:nvSpPr>
        <p:spPr>
          <a:xfrm>
            <a:off x="8065008" y="3840480"/>
            <a:ext cx="3200400" cy="1371600"/>
          </a:xfrm>
          <a:prstGeom prst="rect">
            <a:avLst/>
          </a:prstGeom>
          <a:noFill/>
        </p:spPr>
        <p:txBody>
          <a:bodyPr wrap="square" lIns="45720" tIns="27432" rIns="45720" bIns="27432" anchor="t">
            <a:spAutoFit/>
          </a:bodyPr>
          <a:lstStyle/>
          <a:p>
            <a:pPr algn="l">
              <a:spcAft>
                <a:spcPts val="400"/>
              </a:spcAft>
            </a:pPr>
            <a:r>
              <a:rPr sz="1600" b="0" i="0">
                <a:solidFill>
                  <a:srgbClr val="000000"/>
                </a:solidFill>
                <a:latin typeface="Times New Roman"/>
              </a:rPr>
              <a:t>Examples: T5, Whisper, original Transformer</a:t>
            </a:r>
          </a:p>
          <a:p>
            <a:pPr algn="l">
              <a:spcAft>
                <a:spcPts val="400"/>
              </a:spcAft>
            </a:pPr>
            <a:r>
              <a:rPr sz="1600" b="0" i="0">
                <a:solidFill>
                  <a:srgbClr val="000000"/>
                </a:solidFill>
                <a:latin typeface="Times New Roman"/>
              </a:rPr>
              <a:t>Good at: translation, summarization, speech-to-text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93B10-728D-BDC1-9F04-6AA70574F20C}"/>
              </a:ext>
            </a:extLst>
          </p:cNvPr>
          <p:cNvSpPr>
            <a:spLocks noGrp="1"/>
          </p:cNvSpPr>
          <p:nvPr>
            <p:ph type="title"/>
          </p:nvPr>
        </p:nvSpPr>
        <p:spPr/>
        <p:txBody>
          <a:bodyPr/>
          <a:lstStyle/>
          <a:p>
            <a:r>
              <a:rPr lang="en-US" dirty="0"/>
              <a:t>Transformers in Practice</a:t>
            </a:r>
          </a:p>
        </p:txBody>
      </p:sp>
      <p:sp>
        <p:nvSpPr>
          <p:cNvPr id="3" name="Content Placeholder 2">
            <a:extLst>
              <a:ext uri="{FF2B5EF4-FFF2-40B4-BE49-F238E27FC236}">
                <a16:creationId xmlns:a16="http://schemas.microsoft.com/office/drawing/2014/main" id="{4C82E090-36A0-DF56-EE95-B717F10B88AF}"/>
              </a:ext>
            </a:extLst>
          </p:cNvPr>
          <p:cNvSpPr>
            <a:spLocks noGrp="1"/>
          </p:cNvSpPr>
          <p:nvPr>
            <p:ph idx="1"/>
          </p:nvPr>
        </p:nvSpPr>
        <p:spPr>
          <a:xfrm>
            <a:off x="6248400" y="1869990"/>
            <a:ext cx="5257800" cy="4187524"/>
          </a:xfrm>
        </p:spPr>
        <p:txBody>
          <a:bodyPr/>
          <a:lstStyle/>
          <a:p>
            <a:r>
              <a:rPr lang="en-US" dirty="0"/>
              <a:t>Cons</a:t>
            </a:r>
          </a:p>
          <a:p>
            <a:pPr lvl="1"/>
            <a:r>
              <a:rPr lang="en-US" dirty="0"/>
              <a:t>Quadratic complexity </a:t>
            </a:r>
            <a:r>
              <a:rPr lang="en-US" dirty="0" err="1"/>
              <a:t>w.r.t.</a:t>
            </a:r>
            <a:r>
              <a:rPr lang="en-US" dirty="0"/>
              <a:t> sequence length</a:t>
            </a:r>
          </a:p>
          <a:p>
            <a:pPr lvl="1"/>
            <a:r>
              <a:rPr lang="en-US" dirty="0"/>
              <a:t>Memory-intensive attention computation</a:t>
            </a:r>
          </a:p>
        </p:txBody>
      </p:sp>
      <p:sp>
        <p:nvSpPr>
          <p:cNvPr id="4" name="Content Placeholder 2">
            <a:extLst>
              <a:ext uri="{FF2B5EF4-FFF2-40B4-BE49-F238E27FC236}">
                <a16:creationId xmlns:a16="http://schemas.microsoft.com/office/drawing/2014/main" id="{58A303FA-DD5E-33D9-30BA-6066AAAC2E0D}"/>
              </a:ext>
            </a:extLst>
          </p:cNvPr>
          <p:cNvSpPr txBox="1">
            <a:spLocks/>
          </p:cNvSpPr>
          <p:nvPr/>
        </p:nvSpPr>
        <p:spPr>
          <a:xfrm>
            <a:off x="990600" y="1869990"/>
            <a:ext cx="5257800" cy="41875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Pros</a:t>
            </a:r>
          </a:p>
          <a:p>
            <a:pPr lvl="1"/>
            <a:r>
              <a:rPr lang="en-US" dirty="0"/>
              <a:t>Scales well with data/parameters</a:t>
            </a:r>
          </a:p>
          <a:p>
            <a:pPr lvl="1"/>
            <a:r>
              <a:rPr lang="en-US" dirty="0"/>
              <a:t>Unified architecture across modalities:</a:t>
            </a:r>
          </a:p>
          <a:p>
            <a:pPr lvl="2"/>
            <a:r>
              <a:rPr lang="en-US" dirty="0"/>
              <a:t>Text</a:t>
            </a:r>
          </a:p>
          <a:p>
            <a:pPr lvl="2"/>
            <a:r>
              <a:rPr lang="en-US" dirty="0"/>
              <a:t>Image</a:t>
            </a:r>
          </a:p>
          <a:p>
            <a:pPr lvl="2"/>
            <a:r>
              <a:rPr lang="en-US" dirty="0"/>
              <a:t>Video</a:t>
            </a:r>
          </a:p>
          <a:p>
            <a:pPr lvl="2"/>
            <a:r>
              <a:rPr lang="en-US" dirty="0"/>
              <a:t>Motion</a:t>
            </a:r>
          </a:p>
          <a:p>
            <a:pPr lvl="1"/>
            <a:r>
              <a:rPr lang="en-US" dirty="0"/>
              <a:t>Backbone of modern LLMs and foundation models</a:t>
            </a:r>
          </a:p>
          <a:p>
            <a:pPr lvl="1"/>
            <a:endParaRPr lang="en-US" dirty="0"/>
          </a:p>
        </p:txBody>
      </p:sp>
    </p:spTree>
    <p:extLst>
      <p:ext uri="{BB962C8B-B14F-4D97-AF65-F5344CB8AC3E}">
        <p14:creationId xmlns:p14="http://schemas.microsoft.com/office/powerpoint/2010/main" val="12941342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Choosing an Architecture</a:t>
            </a:r>
          </a:p>
        </p:txBody>
      </p:sp>
      <p:graphicFrame>
        <p:nvGraphicFramePr>
          <p:cNvPr id="3" name="Architecture comparison"/>
          <p:cNvGraphicFramePr>
            <a:graphicFrameLocks noGrp="1"/>
          </p:cNvGraphicFramePr>
          <p:nvPr/>
        </p:nvGraphicFramePr>
        <p:xfrm>
          <a:off x="841248" y="1554480"/>
          <a:ext cx="10515600" cy="374904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548640">
                <a:tc>
                  <a:txBody>
                    <a:bodyPr/>
                    <a:lstStyle/>
                    <a:p>
                      <a:r>
                        <a:rPr sz="1800" b="1"/>
                        <a:t>Model</a:t>
                      </a:r>
                    </a:p>
                  </a:txBody>
                  <a:tcPr anchor="ctr"/>
                </a:tc>
                <a:tc>
                  <a:txBody>
                    <a:bodyPr/>
                    <a:lstStyle/>
                    <a:p>
                      <a:r>
                        <a:rPr sz="1800" b="1"/>
                        <a:t>Best for</a:t>
                      </a:r>
                    </a:p>
                  </a:txBody>
                  <a:tcPr anchor="ctr"/>
                </a:tc>
                <a:tc>
                  <a:txBody>
                    <a:bodyPr/>
                    <a:lstStyle/>
                    <a:p>
                      <a:r>
                        <a:rPr sz="1800" b="1"/>
                        <a:t>Core idea</a:t>
                      </a:r>
                    </a:p>
                  </a:txBody>
                  <a:tcPr anchor="ctr"/>
                </a:tc>
                <a:tc>
                  <a:txBody>
                    <a:bodyPr/>
                    <a:lstStyle/>
                    <a:p>
                      <a:r>
                        <a:rPr sz="1800" b="1"/>
                        <a:t>Long-range context</a:t>
                      </a:r>
                    </a:p>
                  </a:txBody>
                  <a:tcPr anchor="ctr"/>
                </a:tc>
                <a:tc>
                  <a:txBody>
                    <a:bodyPr/>
                    <a:lstStyle/>
                    <a:p>
                      <a:r>
                        <a:rPr sz="1800" b="1"/>
                        <a:t>Parallel training</a:t>
                      </a:r>
                    </a:p>
                  </a:txBody>
                  <a:tcPr anchor="ctr"/>
                </a:tc>
                <a:extLst>
                  <a:ext uri="{0D108BD9-81ED-4DB2-BD59-A6C34878D82A}">
                    <a16:rowId xmlns:a16="http://schemas.microsoft.com/office/drawing/2014/main" val="10000"/>
                  </a:ext>
                </a:extLst>
              </a:tr>
              <a:tr h="777240">
                <a:tc>
                  <a:txBody>
                    <a:bodyPr/>
                    <a:lstStyle/>
                    <a:p>
                      <a:r>
                        <a:rPr sz="1600" b="1"/>
                        <a:t>MLP</a:t>
                      </a:r>
                    </a:p>
                  </a:txBody>
                  <a:tcPr anchor="ctr"/>
                </a:tc>
                <a:tc>
                  <a:txBody>
                    <a:bodyPr/>
                    <a:lstStyle/>
                    <a:p>
                      <a:r>
                        <a:rPr sz="1600"/>
                        <a:t>Small tabular inputs</a:t>
                      </a:r>
                    </a:p>
                  </a:txBody>
                  <a:tcPr anchor="ctr"/>
                </a:tc>
                <a:tc>
                  <a:txBody>
                    <a:bodyPr/>
                    <a:lstStyle/>
                    <a:p>
                      <a:r>
                        <a:rPr sz="1600"/>
                        <a:t>Every input connects to every neuron</a:t>
                      </a:r>
                    </a:p>
                  </a:txBody>
                  <a:tcPr anchor="ctr"/>
                </a:tc>
                <a:tc>
                  <a:txBody>
                    <a:bodyPr/>
                    <a:lstStyle/>
                    <a:p>
                      <a:r>
                        <a:rPr sz="1600"/>
                        <a:t>None (fixed-size input)</a:t>
                      </a:r>
                    </a:p>
                  </a:txBody>
                  <a:tcPr anchor="ctr"/>
                </a:tc>
                <a:tc>
                  <a:txBody>
                    <a:bodyPr/>
                    <a:lstStyle/>
                    <a:p>
                      <a:r>
                        <a:rPr sz="1600"/>
                        <a:t>Yes</a:t>
                      </a:r>
                    </a:p>
                  </a:txBody>
                  <a:tcPr anchor="ctr"/>
                </a:tc>
                <a:extLst>
                  <a:ext uri="{0D108BD9-81ED-4DB2-BD59-A6C34878D82A}">
                    <a16:rowId xmlns:a16="http://schemas.microsoft.com/office/drawing/2014/main" val="10001"/>
                  </a:ext>
                </a:extLst>
              </a:tr>
              <a:tr h="777240">
                <a:tc>
                  <a:txBody>
                    <a:bodyPr/>
                    <a:lstStyle/>
                    <a:p>
                      <a:r>
                        <a:rPr sz="1600" b="1"/>
                        <a:t>CNN</a:t>
                      </a:r>
                    </a:p>
                  </a:txBody>
                  <a:tcPr anchor="ctr"/>
                </a:tc>
                <a:tc>
                  <a:txBody>
                    <a:bodyPr/>
                    <a:lstStyle/>
                    <a:p>
                      <a:r>
                        <a:rPr sz="1600"/>
                        <a:t>Images, spatial data</a:t>
                      </a:r>
                    </a:p>
                  </a:txBody>
                  <a:tcPr anchor="ctr"/>
                </a:tc>
                <a:tc>
                  <a:txBody>
                    <a:bodyPr/>
                    <a:lstStyle/>
                    <a:p>
                      <a:r>
                        <a:rPr sz="1600"/>
                        <a:t>Local filters with shared weights</a:t>
                      </a:r>
                    </a:p>
                  </a:txBody>
                  <a:tcPr anchor="ctr"/>
                </a:tc>
                <a:tc>
                  <a:txBody>
                    <a:bodyPr/>
                    <a:lstStyle/>
                    <a:p>
                      <a:r>
                        <a:rPr sz="1600"/>
                        <a:t>Limited, grows with depth</a:t>
                      </a:r>
                    </a:p>
                  </a:txBody>
                  <a:tcPr anchor="ctr"/>
                </a:tc>
                <a:tc>
                  <a:txBody>
                    <a:bodyPr/>
                    <a:lstStyle/>
                    <a:p>
                      <a:r>
                        <a:rPr sz="1600"/>
                        <a:t>Yes</a:t>
                      </a:r>
                    </a:p>
                  </a:txBody>
                  <a:tcPr anchor="ctr"/>
                </a:tc>
                <a:extLst>
                  <a:ext uri="{0D108BD9-81ED-4DB2-BD59-A6C34878D82A}">
                    <a16:rowId xmlns:a16="http://schemas.microsoft.com/office/drawing/2014/main" val="10002"/>
                  </a:ext>
                </a:extLst>
              </a:tr>
              <a:tr h="777240">
                <a:tc>
                  <a:txBody>
                    <a:bodyPr/>
                    <a:lstStyle/>
                    <a:p>
                      <a:r>
                        <a:rPr sz="1600" b="1"/>
                        <a:t>RNN / LSTM</a:t>
                      </a:r>
                    </a:p>
                  </a:txBody>
                  <a:tcPr anchor="ctr"/>
                </a:tc>
                <a:tc>
                  <a:txBody>
                    <a:bodyPr/>
                    <a:lstStyle/>
                    <a:p>
                      <a:r>
                        <a:rPr sz="1600"/>
                        <a:t>Sequences, time series</a:t>
                      </a:r>
                    </a:p>
                  </a:txBody>
                  <a:tcPr anchor="ctr"/>
                </a:tc>
                <a:tc>
                  <a:txBody>
                    <a:bodyPr/>
                    <a:lstStyle/>
                    <a:p>
                      <a:r>
                        <a:rPr sz="1600"/>
                        <a:t>Hidden state carried step by step</a:t>
                      </a:r>
                    </a:p>
                  </a:txBody>
                  <a:tcPr anchor="ctr"/>
                </a:tc>
                <a:tc>
                  <a:txBody>
                    <a:bodyPr/>
                    <a:lstStyle/>
                    <a:p>
                      <a:r>
                        <a:rPr sz="1600"/>
                        <a:t>Weak (vanishing gradients)</a:t>
                      </a:r>
                    </a:p>
                  </a:txBody>
                  <a:tcPr anchor="ctr"/>
                </a:tc>
                <a:tc>
                  <a:txBody>
                    <a:bodyPr/>
                    <a:lstStyle/>
                    <a:p>
                      <a:r>
                        <a:rPr sz="1600"/>
                        <a:t>No (sequential)</a:t>
                      </a:r>
                    </a:p>
                  </a:txBody>
                  <a:tcPr anchor="ctr"/>
                </a:tc>
                <a:extLst>
                  <a:ext uri="{0D108BD9-81ED-4DB2-BD59-A6C34878D82A}">
                    <a16:rowId xmlns:a16="http://schemas.microsoft.com/office/drawing/2014/main" val="10003"/>
                  </a:ext>
                </a:extLst>
              </a:tr>
              <a:tr h="777240">
                <a:tc>
                  <a:txBody>
                    <a:bodyPr/>
                    <a:lstStyle/>
                    <a:p>
                      <a:r>
                        <a:rPr sz="1600" b="1"/>
                        <a:t>Transformer</a:t>
                      </a:r>
                    </a:p>
                  </a:txBody>
                  <a:tcPr anchor="ctr"/>
                </a:tc>
                <a:tc>
                  <a:txBody>
                    <a:bodyPr/>
                    <a:lstStyle/>
                    <a:p>
                      <a:r>
                        <a:rPr sz="1600"/>
                        <a:t>Text, image, video, motion</a:t>
                      </a:r>
                    </a:p>
                  </a:txBody>
                  <a:tcPr anchor="ctr"/>
                </a:tc>
                <a:tc>
                  <a:txBody>
                    <a:bodyPr/>
                    <a:lstStyle/>
                    <a:p>
                      <a:r>
                        <a:rPr sz="1600"/>
                        <a:t>Self-attention between all token pairs</a:t>
                      </a:r>
                    </a:p>
                  </a:txBody>
                  <a:tcPr anchor="ctr"/>
                </a:tc>
                <a:tc>
                  <a:txBody>
                    <a:bodyPr/>
                    <a:lstStyle/>
                    <a:p>
                      <a:r>
                        <a:rPr sz="1600"/>
                        <a:t>Strong (global)</a:t>
                      </a:r>
                    </a:p>
                  </a:txBody>
                  <a:tcPr anchor="ctr"/>
                </a:tc>
                <a:tc>
                  <a:txBody>
                    <a:bodyPr/>
                    <a:lstStyle/>
                    <a:p>
                      <a:r>
                        <a:rPr sz="1600"/>
                        <a:t>Yes (cost grows with n²)</a:t>
                      </a:r>
                    </a:p>
                  </a:txBody>
                  <a:tcPr anchor="ctr"/>
                </a:tc>
                <a:extLst>
                  <a:ext uri="{0D108BD9-81ED-4DB2-BD59-A6C34878D82A}">
                    <a16:rowId xmlns:a16="http://schemas.microsoft.com/office/drawing/2014/main" val="10004"/>
                  </a:ext>
                </a:extLst>
              </a:tr>
            </a:tbl>
          </a:graphicData>
        </a:graphic>
      </p:graphicFrame>
      <p:sp>
        <p:nvSpPr>
          <p:cNvPr id="4" name="Combination note"/>
          <p:cNvSpPr txBox="1"/>
          <p:nvPr/>
        </p:nvSpPr>
        <p:spPr>
          <a:xfrm>
            <a:off x="841248" y="5440680"/>
            <a:ext cx="10515600" cy="640080"/>
          </a:xfrm>
          <a:prstGeom prst="rect">
            <a:avLst/>
          </a:prstGeom>
          <a:noFill/>
        </p:spPr>
        <p:txBody>
          <a:bodyPr wrap="square" lIns="45720" tIns="27432" rIns="45720" bIns="27432" anchor="t">
            <a:spAutoFit/>
          </a:bodyPr>
          <a:lstStyle/>
          <a:p>
            <a:pPr algn="l"/>
            <a:r>
              <a:rPr sz="2000" b="0" i="0">
                <a:solidFill>
                  <a:srgbClr val="000000"/>
                </a:solidFill>
                <a:latin typeface="Times New Roman"/>
              </a:rPr>
              <a:t>The families are often mixed: diffusion backbones combine a CNN (U-Net) with Transformer layers.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3FFB3-8589-D6F1-5228-1F6DA4F0CAC7}"/>
              </a:ext>
            </a:extLst>
          </p:cNvPr>
          <p:cNvSpPr>
            <a:spLocks noGrp="1"/>
          </p:cNvSpPr>
          <p:nvPr>
            <p:ph type="title"/>
          </p:nvPr>
        </p:nvSpPr>
        <p:spPr/>
        <p:txBody>
          <a:bodyPr/>
          <a:lstStyle/>
          <a:p>
            <a:r>
              <a:rPr lang="en-US" dirty="0"/>
              <a:t>Diffusion Model</a:t>
            </a:r>
          </a:p>
        </p:txBody>
      </p:sp>
      <p:pic>
        <p:nvPicPr>
          <p:cNvPr id="1026" name="Picture 2" descr="Mastering Denoising Diffusion Probabilistic Models (DDPMs ...">
            <a:extLst>
              <a:ext uri="{FF2B5EF4-FFF2-40B4-BE49-F238E27FC236}">
                <a16:creationId xmlns:a16="http://schemas.microsoft.com/office/drawing/2014/main" id="{882BCCC8-9C85-8455-320A-C82903B904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18839"/>
            <a:ext cx="12192000" cy="4467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00699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2A0B5-FF7E-497E-5EF2-898A700F55EB}"/>
              </a:ext>
            </a:extLst>
          </p:cNvPr>
          <p:cNvSpPr>
            <a:spLocks noGrp="1"/>
          </p:cNvSpPr>
          <p:nvPr>
            <p:ph type="title"/>
          </p:nvPr>
        </p:nvSpPr>
        <p:spPr/>
        <p:txBody>
          <a:bodyPr/>
          <a:lstStyle/>
          <a:p>
            <a:r>
              <a:rPr lang="en-US" dirty="0"/>
              <a:t>Common Neural Network Modelling Approaches </a:t>
            </a:r>
          </a:p>
        </p:txBody>
      </p:sp>
      <p:sp>
        <p:nvSpPr>
          <p:cNvPr id="3" name="Text Placeholder 2">
            <a:extLst>
              <a:ext uri="{FF2B5EF4-FFF2-40B4-BE49-F238E27FC236}">
                <a16:creationId xmlns:a16="http://schemas.microsoft.com/office/drawing/2014/main" id="{2C40BBA1-14B6-9905-0CA6-A7BC865EA5E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265392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7C1BF-8105-6A53-DFD7-E161694AF8A6}"/>
              </a:ext>
            </a:extLst>
          </p:cNvPr>
          <p:cNvSpPr>
            <a:spLocks noGrp="1"/>
          </p:cNvSpPr>
          <p:nvPr>
            <p:ph type="title"/>
          </p:nvPr>
        </p:nvSpPr>
        <p:spPr/>
        <p:txBody>
          <a:bodyPr/>
          <a:lstStyle/>
          <a:p>
            <a:r>
              <a:rPr lang="en-US" dirty="0"/>
              <a:t>Diffusion Model</a:t>
            </a:r>
          </a:p>
        </p:txBody>
      </p:sp>
      <p:sp>
        <p:nvSpPr>
          <p:cNvPr id="3" name="Content Placeholder 2">
            <a:extLst>
              <a:ext uri="{FF2B5EF4-FFF2-40B4-BE49-F238E27FC236}">
                <a16:creationId xmlns:a16="http://schemas.microsoft.com/office/drawing/2014/main" id="{12110D7B-2438-5038-2937-FA2F5510584D}"/>
              </a:ext>
            </a:extLst>
          </p:cNvPr>
          <p:cNvSpPr>
            <a:spLocks noGrp="1"/>
          </p:cNvSpPr>
          <p:nvPr>
            <p:ph idx="1"/>
          </p:nvPr>
        </p:nvSpPr>
        <p:spPr/>
        <p:txBody>
          <a:bodyPr/>
          <a:lstStyle/>
          <a:p>
            <a:r>
              <a:rPr lang="en-US" dirty="0"/>
              <a:t>Many generative tasks require modeling </a:t>
            </a:r>
            <a:r>
              <a:rPr lang="en-US" b="1" dirty="0"/>
              <a:t>complex, high-dimensional data distributions</a:t>
            </a:r>
          </a:p>
          <a:p>
            <a:pPr lvl="1"/>
            <a:r>
              <a:rPr lang="en-US" dirty="0"/>
              <a:t>Hard to optimize, Sensitive to modeling assumptions</a:t>
            </a:r>
          </a:p>
          <a:p>
            <a:r>
              <a:rPr lang="en-US" dirty="0"/>
              <a:t>Diffusion transforms generation into a </a:t>
            </a:r>
            <a:r>
              <a:rPr lang="en-US" b="1" dirty="0"/>
              <a:t>progressive denoising process</a:t>
            </a:r>
          </a:p>
          <a:p>
            <a:r>
              <a:rPr lang="en-US" b="1" dirty="0"/>
              <a:t>Core Concept</a:t>
            </a:r>
          </a:p>
          <a:p>
            <a:pPr lvl="1"/>
            <a:r>
              <a:rPr lang="en-US" dirty="0"/>
              <a:t>Diffusion models consist of two processes:</a:t>
            </a:r>
          </a:p>
          <a:p>
            <a:pPr lvl="2"/>
            <a:r>
              <a:rPr lang="en-US" b="1" dirty="0"/>
              <a:t>Forward diffusion</a:t>
            </a:r>
            <a:r>
              <a:rPr lang="en-US" dirty="0"/>
              <a:t>: gradually corrupt data by adding Gaussian noise</a:t>
            </a:r>
          </a:p>
          <a:p>
            <a:pPr lvl="2"/>
            <a:r>
              <a:rPr lang="en-US" b="1" dirty="0"/>
              <a:t>Reverse diffusion</a:t>
            </a:r>
            <a:r>
              <a:rPr lang="en-US" dirty="0"/>
              <a:t>: learn to remove noise step by step to generate samples</a:t>
            </a:r>
          </a:p>
          <a:p>
            <a:pPr lvl="1"/>
            <a:r>
              <a:rPr lang="en-US" dirty="0"/>
              <a:t>The generation process starts from </a:t>
            </a:r>
            <a:r>
              <a:rPr lang="en-US" b="1" dirty="0"/>
              <a:t>pure noise</a:t>
            </a:r>
            <a:r>
              <a:rPr lang="en-US" dirty="0"/>
              <a:t> and gradually produces a realistic sample</a:t>
            </a:r>
          </a:p>
          <a:p>
            <a:endParaRPr lang="en-US" dirty="0"/>
          </a:p>
        </p:txBody>
      </p:sp>
    </p:spTree>
    <p:extLst>
      <p:ext uri="{BB962C8B-B14F-4D97-AF65-F5344CB8AC3E}">
        <p14:creationId xmlns:p14="http://schemas.microsoft.com/office/powerpoint/2010/main" val="32773511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0353B-A52C-CC75-2DE8-F20F5FC9C219}"/>
              </a:ext>
            </a:extLst>
          </p:cNvPr>
          <p:cNvSpPr>
            <a:spLocks noGrp="1"/>
          </p:cNvSpPr>
          <p:nvPr>
            <p:ph type="title"/>
          </p:nvPr>
        </p:nvSpPr>
        <p:spPr/>
        <p:txBody>
          <a:bodyPr/>
          <a:lstStyle/>
          <a:p>
            <a:r>
              <a:rPr lang="en-US" dirty="0"/>
              <a:t>Forward Diffusion Process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5A824A3-2545-4F2B-208D-40C7DF20E5C7}"/>
                  </a:ext>
                </a:extLst>
              </p:cNvPr>
              <p:cNvSpPr>
                <a:spLocks noGrp="1"/>
              </p:cNvSpPr>
              <p:nvPr>
                <p:ph idx="1"/>
              </p:nvPr>
            </p:nvSpPr>
            <p:spPr/>
            <p:txBody>
              <a:bodyPr/>
              <a:lstStyle/>
              <a:p>
                <a:r>
                  <a:rPr lang="en-US" dirty="0"/>
                  <a:t>Given a clean data sample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x</m:t>
                        </m:r>
                      </m:e>
                      <m:sub>
                        <m:r>
                          <a:rPr lang="en-US" b="0" i="1" smtClean="0">
                            <a:latin typeface="Cambria Math" panose="02040503050406030204" pitchFamily="18" charset="0"/>
                          </a:rPr>
                          <m:t>0</m:t>
                        </m:r>
                      </m:sub>
                    </m:sSub>
                  </m:oMath>
                </a14:m>
                <a:endParaRPr lang="en-US" dirty="0"/>
              </a:p>
              <a:p>
                <a:r>
                  <a:rPr lang="en-US" dirty="0"/>
                  <a:t>Noise is added over multiple time steps:</a:t>
                </a:r>
              </a:p>
              <a:p>
                <a:pPr marL="0" indent="0">
                  <a:buNone/>
                </a:pPr>
                <a14:m>
                  <m:oMathPara xmlns:m="http://schemas.openxmlformats.org/officeDocument/2006/math">
                    <m:o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x</m:t>
                          </m:r>
                        </m:e>
                        <m:sub>
                          <m:r>
                            <m:rPr>
                              <m:sty m:val="p"/>
                            </m:rPr>
                            <a:rPr lang="en-US" b="0" i="1" smtClean="0">
                              <a:latin typeface="Cambria Math" panose="02040503050406030204" pitchFamily="18" charset="0"/>
                            </a:rPr>
                            <m:t>t</m:t>
                          </m:r>
                        </m:sub>
                      </m:sSub>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m:rPr>
                                  <m:sty m:val="p"/>
                                </m:rPr>
                                <a:rPr lang="en-US" b="0" i="1" smtClean="0">
                                  <a:latin typeface="Cambria Math" panose="02040503050406030204" pitchFamily="18" charset="0"/>
                                </a:rPr>
                                <m:t>t</m:t>
                              </m:r>
                            </m:sub>
                          </m:sSub>
                        </m:e>
                      </m:rad>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x</m:t>
                          </m:r>
                        </m:e>
                        <m:sub>
                          <m:r>
                            <a:rPr lang="en-US" b="0" i="1" smtClean="0">
                              <a:latin typeface="Cambria Math" panose="02040503050406030204" pitchFamily="18" charset="0"/>
                            </a:rPr>
                            <m:t>0</m:t>
                          </m:r>
                        </m:sub>
                      </m:sSub>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1−</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m:rPr>
                                  <m:sty m:val="p"/>
                                </m:rPr>
                                <a:rPr lang="en-US" b="0" i="1" smtClean="0">
                                  <a:latin typeface="Cambria Math" panose="02040503050406030204" pitchFamily="18" charset="0"/>
                                </a:rPr>
                                <m:t>t</m:t>
                              </m:r>
                            </m:sub>
                          </m:sSub>
                        </m:e>
                      </m:rad>
                      <m:r>
                        <a:rPr lang="en-US" b="0" i="1" smtClean="0">
                          <a:latin typeface="Cambria Math" panose="02040503050406030204" pitchFamily="18" charset="0"/>
                          <a:ea typeface="Cambria Math" panose="02040503050406030204" pitchFamily="18" charset="0"/>
                        </a:rPr>
                        <m:t>𝜖</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𝜖</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ℕ</m:t>
                      </m:r>
                      <m:r>
                        <a:rPr lang="en-US" b="0" i="1" smtClean="0">
                          <a:latin typeface="Cambria Math" panose="02040503050406030204" pitchFamily="18" charset="0"/>
                          <a:ea typeface="Cambria Math" panose="02040503050406030204" pitchFamily="18" charset="0"/>
                        </a:rPr>
                        <m:t>(0, </m:t>
                      </m:r>
                      <m:r>
                        <m:rPr>
                          <m:sty m:val="p"/>
                        </m:rPr>
                        <a:rPr lang="en-US" b="0" i="1" smtClean="0">
                          <a:latin typeface="Cambria Math" panose="02040503050406030204" pitchFamily="18" charset="0"/>
                          <a:ea typeface="Cambria Math" panose="02040503050406030204" pitchFamily="18" charset="0"/>
                        </a:rPr>
                        <m:t>I</m:t>
                      </m:r>
                      <m:r>
                        <a:rPr lang="en-US" b="0" i="1" smtClean="0">
                          <a:latin typeface="Cambria Math" panose="02040503050406030204" pitchFamily="18" charset="0"/>
                          <a:ea typeface="Cambria Math" panose="02040503050406030204" pitchFamily="18" charset="0"/>
                        </a:rPr>
                        <m:t>)</m:t>
                      </m:r>
                    </m:oMath>
                  </m:oMathPara>
                </a14:m>
                <a:endParaRPr lang="en-US" dirty="0"/>
              </a:p>
              <a:p>
                <a:r>
                  <a:rPr lang="en-US" dirty="0"/>
                  <a:t>After sufficient steps:</a:t>
                </a:r>
              </a:p>
              <a:p>
                <a:pPr lvl="1"/>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x</m:t>
                        </m:r>
                      </m:e>
                      <m:sub>
                        <m:r>
                          <m:rPr>
                            <m:sty m:val="p"/>
                          </m:rPr>
                          <a:rPr lang="en-US" b="0" i="1" smtClean="0">
                            <a:latin typeface="Cambria Math" panose="02040503050406030204" pitchFamily="18" charset="0"/>
                          </a:rPr>
                          <m:t>T</m:t>
                        </m:r>
                      </m:sub>
                    </m:sSub>
                  </m:oMath>
                </a14:m>
                <a:r>
                  <a:rPr lang="en-US" dirty="0"/>
                  <a:t> becomes nearly indistinguishable from Gaussian noise</a:t>
                </a:r>
              </a:p>
              <a:p>
                <a:r>
                  <a:rPr lang="en-US" dirty="0"/>
                  <a:t>This process is fixed and non-learnable</a:t>
                </a:r>
              </a:p>
            </p:txBody>
          </p:sp>
        </mc:Choice>
        <mc:Fallback xmlns="">
          <p:sp>
            <p:nvSpPr>
              <p:cNvPr id="3" name="Content Placeholder 2">
                <a:extLst>
                  <a:ext uri="{FF2B5EF4-FFF2-40B4-BE49-F238E27FC236}">
                    <a16:creationId xmlns:a16="http://schemas.microsoft.com/office/drawing/2014/main" id="{E5A824A3-2545-4F2B-208D-40C7DF20E5C7}"/>
                  </a:ext>
                </a:extLst>
              </p:cNvPr>
              <p:cNvSpPr>
                <a:spLocks noGrp="1" noRot="1" noChangeAspect="1" noMove="1" noResize="1" noEditPoints="1" noAdjustHandles="1" noChangeArrowheads="1" noChangeShapeType="1" noTextEdit="1"/>
              </p:cNvSpPr>
              <p:nvPr>
                <p:ph idx="1"/>
              </p:nvPr>
            </p:nvSpPr>
            <p:spPr>
              <a:blipFill>
                <a:blip r:embed="rId3"/>
                <a:stretch>
                  <a:fillRect l="-1043" t="-2620"/>
                </a:stretch>
              </a:blipFill>
            </p:spPr>
            <p:txBody>
              <a:bodyPr/>
              <a:lstStyle/>
              <a:p>
                <a:r>
                  <a:rPr lang="en-US">
                    <a:noFill/>
                  </a:rPr>
                  <a:t> </a:t>
                </a:r>
              </a:p>
            </p:txBody>
          </p:sp>
        </mc:Fallback>
      </mc:AlternateContent>
    </p:spTree>
    <p:extLst>
      <p:ext uri="{BB962C8B-B14F-4D97-AF65-F5344CB8AC3E}">
        <p14:creationId xmlns:p14="http://schemas.microsoft.com/office/powerpoint/2010/main" val="1995001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2FC5D-338E-E7A7-4752-D75C165A3A30}"/>
              </a:ext>
            </a:extLst>
          </p:cNvPr>
          <p:cNvSpPr>
            <a:spLocks noGrp="1"/>
          </p:cNvSpPr>
          <p:nvPr>
            <p:ph type="title"/>
          </p:nvPr>
        </p:nvSpPr>
        <p:spPr/>
        <p:txBody>
          <a:bodyPr>
            <a:normAutofit/>
          </a:bodyPr>
          <a:lstStyle/>
          <a:p>
            <a:r>
              <a:rPr lang="en-US" b="1" dirty="0"/>
              <a:t>Reverse Denoising Process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AD2D844-84E7-70D2-5640-8AE26C12E23B}"/>
                  </a:ext>
                </a:extLst>
              </p:cNvPr>
              <p:cNvSpPr>
                <a:spLocks noGrp="1"/>
              </p:cNvSpPr>
              <p:nvPr>
                <p:ph idx="1"/>
              </p:nvPr>
            </p:nvSpPr>
            <p:spPr/>
            <p:txBody>
              <a:bodyPr/>
              <a:lstStyle/>
              <a:p>
                <a:r>
                  <a:rPr lang="en-US" dirty="0"/>
                  <a:t>The model learns to approximate:</a:t>
                </a:r>
              </a:p>
              <a:p>
                <a:pPr marL="0" indent="0">
                  <a:buNone/>
                </a:pPr>
                <a14:m>
                  <m:oMathPara xmlns:m="http://schemas.openxmlformats.org/officeDocument/2006/math">
                    <m:o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p</m:t>
                          </m:r>
                        </m:e>
                        <m:sub>
                          <m:r>
                            <a:rPr lang="en-US" i="1" smtClean="0">
                              <a:latin typeface="Cambria Math" panose="02040503050406030204" pitchFamily="18" charset="0"/>
                              <a:ea typeface="Cambria Math" panose="02040503050406030204" pitchFamily="18" charset="0"/>
                            </a:rPr>
                            <m:t>𝜃</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x</m:t>
                          </m:r>
                        </m:e>
                        <m:sub>
                          <m:r>
                            <m:rPr>
                              <m:sty m:val="p"/>
                            </m:rPr>
                            <a:rPr lang="en-US" b="0" i="1" smtClean="0">
                              <a:latin typeface="Cambria Math" panose="02040503050406030204" pitchFamily="18" charset="0"/>
                            </a:rPr>
                            <m:t>t</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x</m:t>
                          </m:r>
                        </m:e>
                        <m:sub>
                          <m:r>
                            <m:rPr>
                              <m:sty m:val="p"/>
                            </m:rPr>
                            <a:rPr lang="en-US" b="0" i="1" smtClean="0">
                              <a:latin typeface="Cambria Math" panose="02040503050406030204" pitchFamily="18" charset="0"/>
                            </a:rPr>
                            <m:t>t</m:t>
                          </m:r>
                        </m:sub>
                      </m:sSub>
                      <m:r>
                        <a:rPr lang="en-US" b="0" i="1" smtClean="0">
                          <a:latin typeface="Cambria Math" panose="02040503050406030204" pitchFamily="18" charset="0"/>
                        </a:rPr>
                        <m:t>)</m:t>
                      </m:r>
                    </m:oMath>
                  </m:oMathPara>
                </a14:m>
                <a:endParaRPr lang="en-US" dirty="0"/>
              </a:p>
              <a:p>
                <a:r>
                  <a:rPr lang="en-US" dirty="0"/>
                  <a:t>At each step:</a:t>
                </a:r>
              </a:p>
              <a:p>
                <a:pPr lvl="1"/>
                <a:r>
                  <a:rPr lang="en-US" dirty="0"/>
                  <a:t>Predicts how to remove noise from the current sample</a:t>
                </a:r>
              </a:p>
              <a:p>
                <a:r>
                  <a:rPr lang="en-US" dirty="0"/>
                  <a:t>Repeating this process transforms noise into a realistic sample</a:t>
                </a:r>
              </a:p>
              <a:p>
                <a:r>
                  <a:rPr lang="en-US" dirty="0"/>
                  <a:t>The final output is </a:t>
                </a:r>
                <a:r>
                  <a:rPr lang="en-US" b="1" dirty="0"/>
                  <a:t>a new sample drawn from the data distribution</a:t>
                </a:r>
                <a:r>
                  <a:rPr lang="en-US" dirty="0"/>
                  <a:t>, not a reconstruction of any specific training example</a:t>
                </a:r>
              </a:p>
            </p:txBody>
          </p:sp>
        </mc:Choice>
        <mc:Fallback xmlns="">
          <p:sp>
            <p:nvSpPr>
              <p:cNvPr id="3" name="Content Placeholder 2">
                <a:extLst>
                  <a:ext uri="{FF2B5EF4-FFF2-40B4-BE49-F238E27FC236}">
                    <a16:creationId xmlns:a16="http://schemas.microsoft.com/office/drawing/2014/main" id="{DAD2D844-84E7-70D2-5640-8AE26C12E23B}"/>
                  </a:ext>
                </a:extLst>
              </p:cNvPr>
              <p:cNvSpPr>
                <a:spLocks noGrp="1" noRot="1" noChangeAspect="1" noMove="1" noResize="1" noEditPoints="1" noAdjustHandles="1" noChangeArrowheads="1" noChangeShapeType="1" noTextEdit="1"/>
              </p:cNvSpPr>
              <p:nvPr>
                <p:ph idx="1"/>
              </p:nvPr>
            </p:nvSpPr>
            <p:spPr>
              <a:blipFill>
                <a:blip r:embed="rId3"/>
                <a:stretch>
                  <a:fillRect l="-1043" t="-2620" r="-580"/>
                </a:stretch>
              </a:blipFill>
            </p:spPr>
            <p:txBody>
              <a:bodyPr/>
              <a:lstStyle/>
              <a:p>
                <a:r>
                  <a:rPr lang="en-US">
                    <a:noFill/>
                  </a:rPr>
                  <a:t> </a:t>
                </a:r>
              </a:p>
            </p:txBody>
          </p:sp>
        </mc:Fallback>
      </mc:AlternateContent>
    </p:spTree>
    <p:extLst>
      <p:ext uri="{BB962C8B-B14F-4D97-AF65-F5344CB8AC3E}">
        <p14:creationId xmlns:p14="http://schemas.microsoft.com/office/powerpoint/2010/main" val="26129004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0E40B-FCAE-4662-6854-09664D3B3D03}"/>
              </a:ext>
            </a:extLst>
          </p:cNvPr>
          <p:cNvSpPr>
            <a:spLocks noGrp="1"/>
          </p:cNvSpPr>
          <p:nvPr>
            <p:ph type="title"/>
          </p:nvPr>
        </p:nvSpPr>
        <p:spPr/>
        <p:txBody>
          <a:bodyPr/>
          <a:lstStyle/>
          <a:p>
            <a:r>
              <a:rPr lang="en-US" dirty="0"/>
              <a:t>Diffusion Model Overview</a:t>
            </a:r>
          </a:p>
        </p:txBody>
      </p:sp>
      <p:pic>
        <p:nvPicPr>
          <p:cNvPr id="11" name="Picture 10">
            <a:extLst>
              <a:ext uri="{FF2B5EF4-FFF2-40B4-BE49-F238E27FC236}">
                <a16:creationId xmlns:a16="http://schemas.microsoft.com/office/drawing/2014/main" id="{C957CB5E-BE2A-6664-BBE2-41C9C6ADBC76}"/>
              </a:ext>
            </a:extLst>
          </p:cNvPr>
          <p:cNvPicPr>
            <a:picLocks noChangeAspect="1"/>
          </p:cNvPicPr>
          <p:nvPr/>
        </p:nvPicPr>
        <p:blipFill>
          <a:blip r:embed="rId3"/>
          <a:stretch>
            <a:fillRect/>
          </a:stretch>
        </p:blipFill>
        <p:spPr>
          <a:xfrm>
            <a:off x="1371462" y="1418839"/>
            <a:ext cx="9449075" cy="4724538"/>
          </a:xfrm>
          <a:prstGeom prst="rect">
            <a:avLst/>
          </a:prstGeom>
        </p:spPr>
      </p:pic>
    </p:spTree>
    <p:extLst>
      <p:ext uri="{BB962C8B-B14F-4D97-AF65-F5344CB8AC3E}">
        <p14:creationId xmlns:p14="http://schemas.microsoft.com/office/powerpoint/2010/main" val="41855030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11523-6E46-9628-94E8-4B440053E868}"/>
              </a:ext>
            </a:extLst>
          </p:cNvPr>
          <p:cNvSpPr>
            <a:spLocks noGrp="1"/>
          </p:cNvSpPr>
          <p:nvPr>
            <p:ph type="title"/>
          </p:nvPr>
        </p:nvSpPr>
        <p:spPr/>
        <p:txBody>
          <a:bodyPr/>
          <a:lstStyle/>
          <a:p>
            <a:r>
              <a:rPr lang="en-US" dirty="0"/>
              <a:t>Backbones for Diffusion Models</a:t>
            </a:r>
          </a:p>
        </p:txBody>
      </p:sp>
      <p:graphicFrame>
        <p:nvGraphicFramePr>
          <p:cNvPr id="4" name="Table 3">
            <a:extLst>
              <a:ext uri="{FF2B5EF4-FFF2-40B4-BE49-F238E27FC236}">
                <a16:creationId xmlns:a16="http://schemas.microsoft.com/office/drawing/2014/main" id="{41D8696C-AB68-8A9E-4BA5-78F9C174B3B9}"/>
              </a:ext>
            </a:extLst>
          </p:cNvPr>
          <p:cNvGraphicFramePr>
            <a:graphicFrameLocks noGrp="1"/>
          </p:cNvGraphicFramePr>
          <p:nvPr>
            <p:extLst>
              <p:ext uri="{D42A27DB-BD31-4B8C-83A1-F6EECF244321}">
                <p14:modId xmlns:p14="http://schemas.microsoft.com/office/powerpoint/2010/main" val="3030110886"/>
              </p:ext>
            </p:extLst>
          </p:nvPr>
        </p:nvGraphicFramePr>
        <p:xfrm>
          <a:off x="838200" y="1488292"/>
          <a:ext cx="10515600" cy="446856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201025487"/>
                    </a:ext>
                  </a:extLst>
                </a:gridCol>
                <a:gridCol w="5257800">
                  <a:extLst>
                    <a:ext uri="{9D8B030D-6E8A-4147-A177-3AD203B41FA5}">
                      <a16:colId xmlns:a16="http://schemas.microsoft.com/office/drawing/2014/main" val="2283931127"/>
                    </a:ext>
                  </a:extLst>
                </a:gridCol>
              </a:tblGrid>
              <a:tr h="744760">
                <a:tc>
                  <a:txBody>
                    <a:bodyPr/>
                    <a:lstStyle/>
                    <a:p>
                      <a:r>
                        <a:rPr lang="en-US" sz="2400" dirty="0"/>
                        <a:t>Usage Scene</a:t>
                      </a:r>
                    </a:p>
                  </a:txBody>
                  <a:tcPr anchor="ctr"/>
                </a:tc>
                <a:tc>
                  <a:txBody>
                    <a:bodyPr/>
                    <a:lstStyle/>
                    <a:p>
                      <a:r>
                        <a:rPr lang="en-US" sz="2400" dirty="0"/>
                        <a:t>Frequently Used Backbone(s)</a:t>
                      </a:r>
                    </a:p>
                  </a:txBody>
                  <a:tcPr anchor="ctr"/>
                </a:tc>
                <a:extLst>
                  <a:ext uri="{0D108BD9-81ED-4DB2-BD59-A6C34878D82A}">
                    <a16:rowId xmlns:a16="http://schemas.microsoft.com/office/drawing/2014/main" val="328955193"/>
                  </a:ext>
                </a:extLst>
              </a:tr>
              <a:tr h="744760">
                <a:tc>
                  <a:txBody>
                    <a:bodyPr/>
                    <a:lstStyle/>
                    <a:p>
                      <a:r>
                        <a:rPr lang="en-US" sz="2400" dirty="0"/>
                        <a:t>Image Diffusion</a:t>
                      </a:r>
                    </a:p>
                  </a:txBody>
                  <a:tcPr anchor="ctr"/>
                </a:tc>
                <a:tc>
                  <a:txBody>
                    <a:bodyPr/>
                    <a:lstStyle/>
                    <a:p>
                      <a:r>
                        <a:rPr lang="en-US" sz="2400" dirty="0"/>
                        <a:t>U-Net (CNN)</a:t>
                      </a:r>
                    </a:p>
                  </a:txBody>
                  <a:tcPr anchor="ctr"/>
                </a:tc>
                <a:extLst>
                  <a:ext uri="{0D108BD9-81ED-4DB2-BD59-A6C34878D82A}">
                    <a16:rowId xmlns:a16="http://schemas.microsoft.com/office/drawing/2014/main" val="4005745478"/>
                  </a:ext>
                </a:extLst>
              </a:tr>
              <a:tr h="744760">
                <a:tc>
                  <a:txBody>
                    <a:bodyPr/>
                    <a:lstStyle/>
                    <a:p>
                      <a:r>
                        <a:rPr lang="en-US" sz="2400" dirty="0"/>
                        <a:t>Latent Diffusion</a:t>
                      </a:r>
                    </a:p>
                  </a:txBody>
                  <a:tcPr anchor="ctr"/>
                </a:tc>
                <a:tc>
                  <a:txBody>
                    <a:bodyPr/>
                    <a:lstStyle/>
                    <a:p>
                      <a:r>
                        <a:rPr lang="en-US" sz="2400" dirty="0"/>
                        <a:t>U-Net + Transformer</a:t>
                      </a:r>
                    </a:p>
                  </a:txBody>
                  <a:tcPr anchor="ctr"/>
                </a:tc>
                <a:extLst>
                  <a:ext uri="{0D108BD9-81ED-4DB2-BD59-A6C34878D82A}">
                    <a16:rowId xmlns:a16="http://schemas.microsoft.com/office/drawing/2014/main" val="1686074595"/>
                  </a:ext>
                </a:extLst>
              </a:tr>
              <a:tr h="744760">
                <a:tc>
                  <a:txBody>
                    <a:bodyPr/>
                    <a:lstStyle/>
                    <a:p>
                      <a:r>
                        <a:rPr lang="en-US" sz="2400" dirty="0"/>
                        <a:t>Text/Token Diffusion</a:t>
                      </a:r>
                    </a:p>
                  </a:txBody>
                  <a:tcPr anchor="ctr"/>
                </a:tc>
                <a:tc>
                  <a:txBody>
                    <a:bodyPr/>
                    <a:lstStyle/>
                    <a:p>
                      <a:r>
                        <a:rPr lang="en-US" sz="2400" dirty="0"/>
                        <a:t>Transformer</a:t>
                      </a:r>
                    </a:p>
                  </a:txBody>
                  <a:tcPr anchor="ctr"/>
                </a:tc>
                <a:extLst>
                  <a:ext uri="{0D108BD9-81ED-4DB2-BD59-A6C34878D82A}">
                    <a16:rowId xmlns:a16="http://schemas.microsoft.com/office/drawing/2014/main" val="1741429234"/>
                  </a:ext>
                </a:extLst>
              </a:tr>
              <a:tr h="744760">
                <a:tc>
                  <a:txBody>
                    <a:bodyPr/>
                    <a:lstStyle/>
                    <a:p>
                      <a:r>
                        <a:rPr lang="en-US" sz="2400" dirty="0"/>
                        <a:t>Motion Diffusion</a:t>
                      </a:r>
                    </a:p>
                  </a:txBody>
                  <a:tcPr anchor="ctr"/>
                </a:tc>
                <a:tc>
                  <a:txBody>
                    <a:bodyPr/>
                    <a:lstStyle/>
                    <a:p>
                      <a:r>
                        <a:rPr lang="en-US" sz="2400" dirty="0"/>
                        <a:t>Transformer/Hybrid</a:t>
                      </a:r>
                    </a:p>
                  </a:txBody>
                  <a:tcPr anchor="ctr"/>
                </a:tc>
                <a:extLst>
                  <a:ext uri="{0D108BD9-81ED-4DB2-BD59-A6C34878D82A}">
                    <a16:rowId xmlns:a16="http://schemas.microsoft.com/office/drawing/2014/main" val="1917812112"/>
                  </a:ext>
                </a:extLst>
              </a:tr>
              <a:tr h="744760">
                <a:tc>
                  <a:txBody>
                    <a:bodyPr/>
                    <a:lstStyle/>
                    <a:p>
                      <a:r>
                        <a:rPr lang="en-US" sz="2400" dirty="0"/>
                        <a:t>Video Diffusion</a:t>
                      </a:r>
                    </a:p>
                  </a:txBody>
                  <a:tcPr anchor="ctr"/>
                </a:tc>
                <a:tc>
                  <a:txBody>
                    <a:bodyPr/>
                    <a:lstStyle/>
                    <a:p>
                      <a:r>
                        <a:rPr lang="en-US" sz="2400" dirty="0"/>
                        <a:t>U-Net + Transformer</a:t>
                      </a:r>
                    </a:p>
                  </a:txBody>
                  <a:tcPr anchor="ctr"/>
                </a:tc>
                <a:extLst>
                  <a:ext uri="{0D108BD9-81ED-4DB2-BD59-A6C34878D82A}">
                    <a16:rowId xmlns:a16="http://schemas.microsoft.com/office/drawing/2014/main" val="2649867700"/>
                  </a:ext>
                </a:extLst>
              </a:tr>
            </a:tbl>
          </a:graphicData>
        </a:graphic>
      </p:graphicFrame>
    </p:spTree>
    <p:extLst>
      <p:ext uri="{BB962C8B-B14F-4D97-AF65-F5344CB8AC3E}">
        <p14:creationId xmlns:p14="http://schemas.microsoft.com/office/powerpoint/2010/main" val="12184500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3C9D6-64C3-73FF-644E-AA2F74502F6F}"/>
              </a:ext>
            </a:extLst>
          </p:cNvPr>
          <p:cNvSpPr>
            <a:spLocks noGrp="1"/>
          </p:cNvSpPr>
          <p:nvPr>
            <p:ph type="title"/>
          </p:nvPr>
        </p:nvSpPr>
        <p:spPr/>
        <p:txBody>
          <a:bodyPr/>
          <a:lstStyle/>
          <a:p>
            <a:r>
              <a:rPr lang="en-US" dirty="0"/>
              <a:t>Auto-Regressive (AR) Models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7E2B50E-17D0-6341-D1E5-F029FC4598AE}"/>
                  </a:ext>
                </a:extLst>
              </p:cNvPr>
              <p:cNvSpPr>
                <a:spLocks noGrp="1"/>
              </p:cNvSpPr>
              <p:nvPr>
                <p:ph idx="1"/>
              </p:nvPr>
            </p:nvSpPr>
            <p:spPr/>
            <p:txBody>
              <a:bodyPr>
                <a:normAutofit fontScale="92500" lnSpcReduction="10000"/>
              </a:bodyPr>
              <a:lstStyle/>
              <a:p>
                <a:r>
                  <a:rPr lang="en-US" dirty="0"/>
                  <a:t>Key idea: model the </a:t>
                </a:r>
                <a:r>
                  <a:rPr lang="en-US" b="1" dirty="0"/>
                  <a:t>joint probability</a:t>
                </a:r>
                <a:r>
                  <a:rPr lang="en-US" dirty="0"/>
                  <a:t> of a sequence</a:t>
                </a:r>
              </a:p>
              <a:p>
                <a:endParaRPr lang="en-US" dirty="0"/>
              </a:p>
              <a:p>
                <a:pPr marL="0" indent="0">
                  <a:buNone/>
                </a:pPr>
                <a14:m>
                  <m:oMathPara xmlns:m="http://schemas.openxmlformats.org/officeDocument/2006/math">
                    <m:oMath>
                      <m:r>
                        <a:rPr lang="en-US" b="0" i="1" smtClean="0">
                          <a:latin typeface="Cambria Math" panose="02040503050406030204" pitchFamily="18" charset="0"/>
                        </a:rPr>
                        <m:t>𝑝</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𝑇</m:t>
                          </m:r>
                        </m:sub>
                      </m:sSub>
                      <m:r>
                        <a:rPr lang="en-US" b="0" i="1" smtClean="0">
                          <a:latin typeface="Cambria Math" panose="02040503050406030204" pitchFamily="18" charset="0"/>
                        </a:rPr>
                        <m:t>)</m:t>
                      </m:r>
                    </m:oMath>
                  </m:oMathPara>
                </a14:m>
                <a:endParaRPr lang="en-US" dirty="0"/>
              </a:p>
              <a:p>
                <a:pPr marL="0" indent="0">
                  <a:buNone/>
                </a:pPr>
                <a:endParaRPr lang="en-US" dirty="0"/>
              </a:p>
              <a:p>
                <a:r>
                  <a:rPr lang="en-US" dirty="0"/>
                  <a:t>Thus, every round of generation, we have</a:t>
                </a:r>
              </a:p>
              <a:p>
                <a:endParaRPr lang="en-US" dirty="0"/>
              </a:p>
              <a:p>
                <a:pPr marL="0" indent="0">
                  <a:buNone/>
                </a:pPr>
                <a14:m>
                  <m:oMathPara xmlns:m="http://schemas.openxmlformats.org/officeDocument/2006/math">
                    <m:oMath>
                      <m:r>
                        <a:rPr lang="en-US" i="1">
                          <a:latin typeface="Cambria Math" panose="02040503050406030204" pitchFamily="18" charset="0"/>
                        </a:rPr>
                        <m:t>𝑝</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𝑇</m:t>
                              </m:r>
                            </m:sub>
                          </m:sSub>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𝑡</m:t>
                          </m:r>
                          <m:r>
                            <a:rPr lang="en-US" b="0" i="1" smtClean="0">
                              <a:latin typeface="Cambria Math" panose="02040503050406030204" pitchFamily="18" charset="0"/>
                            </a:rPr>
                            <m:t>=1</m:t>
                          </m:r>
                        </m:sub>
                        <m:sup>
                          <m:r>
                            <a:rPr lang="en-US" b="0" i="1" smtClean="0">
                              <a:latin typeface="Cambria Math" panose="02040503050406030204" pitchFamily="18" charset="0"/>
                            </a:rPr>
                            <m:t>𝑇</m:t>
                          </m:r>
                        </m:sup>
                        <m:e>
                          <m:r>
                            <a:rPr lang="en-US" i="1">
                              <a:latin typeface="Cambria Math" panose="02040503050406030204" pitchFamily="18" charset="0"/>
                            </a:rPr>
                            <m:t>𝑝</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𝑡</m:t>
                                  </m:r>
                                  <m:r>
                                    <a:rPr lang="en-US" b="0" i="1" smtClean="0">
                                      <a:latin typeface="Cambria Math" panose="02040503050406030204" pitchFamily="18" charset="0"/>
                                    </a:rPr>
                                    <m:t>−1</m:t>
                                  </m:r>
                                </m:sub>
                              </m:sSub>
                            </m:e>
                          </m:d>
                        </m:e>
                      </m:nary>
                    </m:oMath>
                  </m:oMathPara>
                </a14:m>
                <a:endParaRPr lang="en-US" dirty="0"/>
              </a:p>
              <a:p>
                <a:pPr marL="0" indent="0">
                  <a:buNone/>
                </a:pPr>
                <a:r>
                  <a:rPr lang="en-US" dirty="0"/>
                  <a:t>Simple introduction </a:t>
                </a:r>
                <a:r>
                  <a:rPr lang="en-US" dirty="0">
                    <a:hlinkClick r:id="rId3"/>
                  </a:rPr>
                  <a:t>video</a:t>
                </a: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B7E2B50E-17D0-6341-D1E5-F029FC4598AE}"/>
                  </a:ext>
                </a:extLst>
              </p:cNvPr>
              <p:cNvSpPr>
                <a:spLocks noGrp="1" noRot="1" noChangeAspect="1" noMove="1" noResize="1" noEditPoints="1" noAdjustHandles="1" noChangeArrowheads="1" noChangeShapeType="1" noTextEdit="1"/>
              </p:cNvSpPr>
              <p:nvPr>
                <p:ph idx="1"/>
              </p:nvPr>
            </p:nvSpPr>
            <p:spPr>
              <a:blipFill>
                <a:blip r:embed="rId4"/>
                <a:stretch>
                  <a:fillRect l="-1043" t="-3202"/>
                </a:stretch>
              </a:blipFill>
            </p:spPr>
            <p:txBody>
              <a:bodyPr/>
              <a:lstStyle/>
              <a:p>
                <a:r>
                  <a:rPr lang="en-US">
                    <a:noFill/>
                  </a:rPr>
                  <a:t> </a:t>
                </a:r>
              </a:p>
            </p:txBody>
          </p:sp>
        </mc:Fallback>
      </mc:AlternateContent>
    </p:spTree>
    <p:extLst>
      <p:ext uri="{BB962C8B-B14F-4D97-AF65-F5344CB8AC3E}">
        <p14:creationId xmlns:p14="http://schemas.microsoft.com/office/powerpoint/2010/main" val="40477977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506D3-DC82-C3D5-2D0B-AEB5155FEACD}"/>
              </a:ext>
            </a:extLst>
          </p:cNvPr>
          <p:cNvSpPr>
            <a:spLocks noGrp="1"/>
          </p:cNvSpPr>
          <p:nvPr>
            <p:ph type="title"/>
          </p:nvPr>
        </p:nvSpPr>
        <p:spPr/>
        <p:txBody>
          <a:bodyPr>
            <a:normAutofit/>
          </a:bodyPr>
          <a:lstStyle/>
          <a:p>
            <a:r>
              <a:rPr lang="en-US" dirty="0"/>
              <a:t>AR Example: LLMs</a:t>
            </a:r>
          </a:p>
        </p:txBody>
      </p:sp>
      <p:sp>
        <p:nvSpPr>
          <p:cNvPr id="3" name="Content Placeholder 2">
            <a:extLst>
              <a:ext uri="{FF2B5EF4-FFF2-40B4-BE49-F238E27FC236}">
                <a16:creationId xmlns:a16="http://schemas.microsoft.com/office/drawing/2014/main" id="{F8E54755-790B-ACA1-6E8A-B9DB56FE6139}"/>
              </a:ext>
            </a:extLst>
          </p:cNvPr>
          <p:cNvSpPr>
            <a:spLocks noGrp="1"/>
          </p:cNvSpPr>
          <p:nvPr>
            <p:ph idx="1"/>
          </p:nvPr>
        </p:nvSpPr>
        <p:spPr>
          <a:xfrm>
            <a:off x="838200" y="1717590"/>
            <a:ext cx="5096792" cy="4187524"/>
          </a:xfrm>
        </p:spPr>
        <p:txBody>
          <a:bodyPr/>
          <a:lstStyle/>
          <a:p>
            <a:r>
              <a:rPr lang="en-US" dirty="0"/>
              <a:t>Input shape </a:t>
            </a:r>
          </a:p>
          <a:p>
            <a:pPr lvl="1"/>
            <a:r>
              <a:rPr lang="en-US" dirty="0"/>
              <a:t>1 * token length</a:t>
            </a:r>
          </a:p>
          <a:p>
            <a:pPr lvl="1"/>
            <a:r>
              <a:rPr lang="en-US" dirty="0"/>
              <a:t>Add 1 token for each iteration (answer from the previous iteration)</a:t>
            </a:r>
          </a:p>
          <a:p>
            <a:r>
              <a:rPr lang="en-US" dirty="0"/>
              <a:t>Output shape</a:t>
            </a:r>
          </a:p>
          <a:p>
            <a:pPr lvl="1"/>
            <a:r>
              <a:rPr lang="en-US" dirty="0"/>
              <a:t>1 token for each iteration</a:t>
            </a:r>
          </a:p>
          <a:p>
            <a:pPr lvl="1"/>
            <a:r>
              <a:rPr lang="en-US" dirty="0"/>
              <a:t>1 * 1 * vocab size</a:t>
            </a:r>
          </a:p>
          <a:p>
            <a:pPr lvl="1"/>
            <a:r>
              <a:rPr lang="en-US" dirty="0"/>
              <a:t>Predicted token: argmax(output)</a:t>
            </a:r>
          </a:p>
          <a:p>
            <a:pPr lvl="1"/>
            <a:endParaRPr lang="en-US" dirty="0"/>
          </a:p>
        </p:txBody>
      </p:sp>
      <p:pic>
        <p:nvPicPr>
          <p:cNvPr id="1026" name="Picture 2" descr="The Art of Prediction: How LLMs Master Next-Token Generation | by Everton  Gomede, PhD | Python in Plain English">
            <a:extLst>
              <a:ext uri="{FF2B5EF4-FFF2-40B4-BE49-F238E27FC236}">
                <a16:creationId xmlns:a16="http://schemas.microsoft.com/office/drawing/2014/main" id="{F5A93796-7F22-C963-153A-10BCF3A92B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7010" y="2032042"/>
            <a:ext cx="5324573" cy="27939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09785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784BD-E891-8F83-848D-B3163274FFBD}"/>
              </a:ext>
            </a:extLst>
          </p:cNvPr>
          <p:cNvSpPr>
            <a:spLocks noGrp="1"/>
          </p:cNvSpPr>
          <p:nvPr>
            <p:ph type="title"/>
          </p:nvPr>
        </p:nvSpPr>
        <p:spPr/>
        <p:txBody>
          <a:bodyPr/>
          <a:lstStyle/>
          <a:p>
            <a:r>
              <a:rPr lang="en-US"/>
              <a:t>Basic LLM Components</a:t>
            </a:r>
          </a:p>
        </p:txBody>
      </p:sp>
      <p:sp>
        <p:nvSpPr>
          <p:cNvPr id="3" name="Content Placeholder 2">
            <a:extLst>
              <a:ext uri="{FF2B5EF4-FFF2-40B4-BE49-F238E27FC236}">
                <a16:creationId xmlns:a16="http://schemas.microsoft.com/office/drawing/2014/main" id="{CA523C10-A1CA-5A70-82DF-D4E640468CCC}"/>
              </a:ext>
            </a:extLst>
          </p:cNvPr>
          <p:cNvSpPr>
            <a:spLocks noGrp="1"/>
          </p:cNvSpPr>
          <p:nvPr>
            <p:ph idx="1"/>
          </p:nvPr>
        </p:nvSpPr>
        <p:spPr>
          <a:xfrm>
            <a:off x="838200" y="1717590"/>
            <a:ext cx="5257800" cy="4187524"/>
          </a:xfrm>
        </p:spPr>
        <p:txBody>
          <a:bodyPr/>
          <a:lstStyle/>
          <a:p>
            <a:r>
              <a:rPr lang="en-US"/>
              <a:t>Tokenizer (encoder/decoder)</a:t>
            </a:r>
          </a:p>
          <a:p>
            <a:pPr lvl="1"/>
            <a:r>
              <a:rPr lang="en-US"/>
              <a:t>LLM model does not take strings directly. All input needs to be converted into tokens.</a:t>
            </a:r>
          </a:p>
          <a:p>
            <a:r>
              <a:rPr lang="en-US"/>
              <a:t>Processor (for multi-modal)</a:t>
            </a:r>
          </a:p>
          <a:p>
            <a:pPr lvl="1"/>
            <a:r>
              <a:rPr lang="en-US"/>
              <a:t>Tokenizer for image/video</a:t>
            </a:r>
          </a:p>
          <a:p>
            <a:r>
              <a:rPr lang="en-US"/>
              <a:t>LLM Model</a:t>
            </a:r>
          </a:p>
          <a:p>
            <a:pPr lvl="1"/>
            <a:r>
              <a:rPr lang="en-US"/>
              <a:t>Transformer layers that converts input tokens to output tokens</a:t>
            </a:r>
          </a:p>
          <a:p>
            <a:endParaRPr lang="en-US"/>
          </a:p>
          <a:p>
            <a:endParaRPr lang="en-US"/>
          </a:p>
        </p:txBody>
      </p:sp>
      <p:pic>
        <p:nvPicPr>
          <p:cNvPr id="1026" name="Picture 2" descr="LLM fine-tuning step: Tokenizing. Tokenization is a crucial phase in ...">
            <a:extLst>
              <a:ext uri="{FF2B5EF4-FFF2-40B4-BE49-F238E27FC236}">
                <a16:creationId xmlns:a16="http://schemas.microsoft.com/office/drawing/2014/main" id="{D4F730E6-157F-F469-7036-BBCC18DE0B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4125" y="1717590"/>
            <a:ext cx="5019675" cy="3095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57605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32434-EDB2-46BE-AAD8-B662604F41F7}"/>
              </a:ext>
            </a:extLst>
          </p:cNvPr>
          <p:cNvSpPr>
            <a:spLocks noGrp="1"/>
          </p:cNvSpPr>
          <p:nvPr>
            <p:ph type="title"/>
          </p:nvPr>
        </p:nvSpPr>
        <p:spPr/>
        <p:txBody>
          <a:bodyPr/>
          <a:lstStyle/>
          <a:p>
            <a:r>
              <a:rPr lang="en-US"/>
              <a:t>Some Parameters</a:t>
            </a:r>
          </a:p>
        </p:txBody>
      </p:sp>
      <p:sp>
        <p:nvSpPr>
          <p:cNvPr id="3" name="Content Placeholder 2">
            <a:extLst>
              <a:ext uri="{FF2B5EF4-FFF2-40B4-BE49-F238E27FC236}">
                <a16:creationId xmlns:a16="http://schemas.microsoft.com/office/drawing/2014/main" id="{58B4AE90-EE8F-C2F4-01DD-05ED19A62DAA}"/>
              </a:ext>
            </a:extLst>
          </p:cNvPr>
          <p:cNvSpPr>
            <a:spLocks noGrp="1"/>
          </p:cNvSpPr>
          <p:nvPr>
            <p:ph idx="1"/>
          </p:nvPr>
        </p:nvSpPr>
        <p:spPr/>
        <p:txBody>
          <a:bodyPr/>
          <a:lstStyle/>
          <a:p>
            <a:r>
              <a:rPr lang="en-US" dirty="0" err="1"/>
              <a:t>max_length</a:t>
            </a:r>
            <a:r>
              <a:rPr lang="en-US" dirty="0"/>
              <a:t>: Total length of the sequence.</a:t>
            </a:r>
          </a:p>
          <a:p>
            <a:r>
              <a:rPr lang="en-US" dirty="0"/>
              <a:t>temperature: Sampling temperature (</a:t>
            </a:r>
            <a:r>
              <a:rPr lang="en-US" dirty="0" err="1"/>
              <a:t>lower→more</a:t>
            </a:r>
            <a:r>
              <a:rPr lang="en-US" dirty="0"/>
              <a:t> conservative)</a:t>
            </a:r>
          </a:p>
          <a:p>
            <a:r>
              <a:rPr lang="en-US" dirty="0" err="1"/>
              <a:t>repetition_penalty</a:t>
            </a:r>
            <a:r>
              <a:rPr lang="en-US" dirty="0"/>
              <a:t>: Penalize repeated tokens.</a:t>
            </a:r>
          </a:p>
          <a:p>
            <a:r>
              <a:rPr lang="en-US" dirty="0" err="1">
                <a:solidFill>
                  <a:srgbClr val="FF0000"/>
                </a:solidFill>
              </a:rPr>
              <a:t>bad_words_ids</a:t>
            </a:r>
            <a:r>
              <a:rPr lang="en-US" dirty="0">
                <a:solidFill>
                  <a:srgbClr val="FF0000"/>
                </a:solidFill>
              </a:rPr>
              <a:t>: Lists of token IDs to forbid.</a:t>
            </a:r>
          </a:p>
          <a:p>
            <a:r>
              <a:rPr lang="en-US" dirty="0" err="1"/>
              <a:t>num_beams</a:t>
            </a:r>
            <a:r>
              <a:rPr lang="en-US" dirty="0"/>
              <a:t>:</a:t>
            </a:r>
            <a:r>
              <a:rPr lang="en-US" dirty="0">
                <a:solidFill>
                  <a:srgbClr val="FF0000"/>
                </a:solidFill>
              </a:rPr>
              <a:t> </a:t>
            </a:r>
            <a:r>
              <a:rPr lang="en-US" dirty="0"/>
              <a:t>Number of beams for beam search.</a:t>
            </a:r>
          </a:p>
        </p:txBody>
      </p:sp>
    </p:spTree>
    <p:extLst>
      <p:ext uri="{BB962C8B-B14F-4D97-AF65-F5344CB8AC3E}">
        <p14:creationId xmlns:p14="http://schemas.microsoft.com/office/powerpoint/2010/main" val="27064560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B6D8D-830A-93B3-C395-8982B14D45D4}"/>
              </a:ext>
            </a:extLst>
          </p:cNvPr>
          <p:cNvSpPr>
            <a:spLocks noGrp="1"/>
          </p:cNvSpPr>
          <p:nvPr>
            <p:ph type="title"/>
          </p:nvPr>
        </p:nvSpPr>
        <p:spPr/>
        <p:txBody>
          <a:bodyPr/>
          <a:lstStyle/>
          <a:p>
            <a:r>
              <a:rPr lang="en-US"/>
              <a:t>SOTA LLM Lookup</a:t>
            </a:r>
          </a:p>
        </p:txBody>
      </p:sp>
      <p:sp>
        <p:nvSpPr>
          <p:cNvPr id="3" name="Content Placeholder 2">
            <a:extLst>
              <a:ext uri="{FF2B5EF4-FFF2-40B4-BE49-F238E27FC236}">
                <a16:creationId xmlns:a16="http://schemas.microsoft.com/office/drawing/2014/main" id="{EE2AC9E7-F30F-6020-6B03-E8FEBC7D25F4}"/>
              </a:ext>
            </a:extLst>
          </p:cNvPr>
          <p:cNvSpPr>
            <a:spLocks noGrp="1"/>
          </p:cNvSpPr>
          <p:nvPr>
            <p:ph idx="1"/>
          </p:nvPr>
        </p:nvSpPr>
        <p:spPr/>
        <p:txBody>
          <a:bodyPr/>
          <a:lstStyle/>
          <a:p>
            <a:r>
              <a:rPr lang="en-US">
                <a:hlinkClick r:id="rId3"/>
              </a:rPr>
              <a:t>https://huggingface.co/models</a:t>
            </a:r>
            <a:endParaRPr lang="en-US"/>
          </a:p>
          <a:p>
            <a:endParaRPr lang="en-US"/>
          </a:p>
        </p:txBody>
      </p:sp>
      <p:pic>
        <p:nvPicPr>
          <p:cNvPr id="5" name="Picture 4">
            <a:extLst>
              <a:ext uri="{FF2B5EF4-FFF2-40B4-BE49-F238E27FC236}">
                <a16:creationId xmlns:a16="http://schemas.microsoft.com/office/drawing/2014/main" id="{F70FB95A-DDE4-115E-DB04-697803D7017A}"/>
              </a:ext>
            </a:extLst>
          </p:cNvPr>
          <p:cNvPicPr>
            <a:picLocks noChangeAspect="1"/>
          </p:cNvPicPr>
          <p:nvPr/>
        </p:nvPicPr>
        <p:blipFill>
          <a:blip r:embed="rId4"/>
          <a:stretch>
            <a:fillRect/>
          </a:stretch>
        </p:blipFill>
        <p:spPr>
          <a:xfrm>
            <a:off x="838200" y="2298195"/>
            <a:ext cx="8152634" cy="4036431"/>
          </a:xfrm>
          <a:prstGeom prst="rect">
            <a:avLst/>
          </a:prstGeom>
        </p:spPr>
      </p:pic>
    </p:spTree>
    <p:extLst>
      <p:ext uri="{BB962C8B-B14F-4D97-AF65-F5344CB8AC3E}">
        <p14:creationId xmlns:p14="http://schemas.microsoft.com/office/powerpoint/2010/main" val="15139455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AB45-4387-6029-37ED-4E6FC29FECD1}"/>
              </a:ext>
            </a:extLst>
          </p:cNvPr>
          <p:cNvSpPr>
            <a:spLocks noGrp="1"/>
          </p:cNvSpPr>
          <p:nvPr>
            <p:ph type="title"/>
          </p:nvPr>
        </p:nvSpPr>
        <p:spPr/>
        <p:txBody>
          <a:bodyPr/>
          <a:lstStyle/>
          <a:p>
            <a:r>
              <a:rPr lang="en-US" dirty="0"/>
              <a:t>LLM - Agent</a:t>
            </a:r>
          </a:p>
        </p:txBody>
      </p:sp>
      <p:sp>
        <p:nvSpPr>
          <p:cNvPr id="3" name="Content Placeholder 2">
            <a:extLst>
              <a:ext uri="{FF2B5EF4-FFF2-40B4-BE49-F238E27FC236}">
                <a16:creationId xmlns:a16="http://schemas.microsoft.com/office/drawing/2014/main" id="{440D0034-C6DA-3823-B717-C629D322887F}"/>
              </a:ext>
            </a:extLst>
          </p:cNvPr>
          <p:cNvSpPr>
            <a:spLocks noGrp="1"/>
          </p:cNvSpPr>
          <p:nvPr>
            <p:ph idx="1"/>
          </p:nvPr>
        </p:nvSpPr>
        <p:spPr/>
        <p:txBody>
          <a:bodyPr/>
          <a:lstStyle/>
          <a:p>
            <a:r>
              <a:rPr lang="en-US" dirty="0"/>
              <a:t>An LLM Agent is a system that uses a Large Language Model as a reasoning core to perceive, decide, and act in an environment through iterative interaction.</a:t>
            </a:r>
          </a:p>
          <a:p>
            <a:r>
              <a:rPr lang="en-US" dirty="0"/>
              <a:t>Standard LLM:</a:t>
            </a:r>
          </a:p>
          <a:p>
            <a:pPr lvl="1"/>
            <a:r>
              <a:rPr lang="en-US" dirty="0"/>
              <a:t>Input → Text generation → Output</a:t>
            </a:r>
          </a:p>
          <a:p>
            <a:pPr lvl="1"/>
            <a:r>
              <a:rPr lang="en-US" dirty="0"/>
              <a:t>Does not affect the real world (</a:t>
            </a:r>
            <a:r>
              <a:rPr lang="en-US" dirty="0" err="1"/>
              <a:t>i</a:t>
            </a:r>
            <a:r>
              <a:rPr lang="en-US" dirty="0"/>
              <a:t>. e. the codebase)</a:t>
            </a:r>
          </a:p>
          <a:p>
            <a:r>
              <a:rPr lang="en-US" dirty="0"/>
              <a:t>LLM Agent:</a:t>
            </a:r>
          </a:p>
          <a:p>
            <a:pPr lvl="1"/>
            <a:r>
              <a:rPr lang="en-US" dirty="0"/>
              <a:t>Observation → Reasoning → Action → Feedback → (Loop)</a:t>
            </a:r>
          </a:p>
        </p:txBody>
      </p:sp>
    </p:spTree>
    <p:extLst>
      <p:ext uri="{BB962C8B-B14F-4D97-AF65-F5344CB8AC3E}">
        <p14:creationId xmlns:p14="http://schemas.microsoft.com/office/powerpoint/2010/main" val="37691854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F5E01-D125-3AF4-FA76-09041F7DFA05}"/>
              </a:ext>
            </a:extLst>
          </p:cNvPr>
          <p:cNvSpPr>
            <a:spLocks noGrp="1"/>
          </p:cNvSpPr>
          <p:nvPr>
            <p:ph type="title"/>
          </p:nvPr>
        </p:nvSpPr>
        <p:spPr/>
        <p:txBody>
          <a:bodyPr/>
          <a:lstStyle/>
          <a:p>
            <a:r>
              <a:rPr lang="en-US" dirty="0"/>
              <a:t>LLM Agent</a:t>
            </a:r>
          </a:p>
        </p:txBody>
      </p:sp>
      <p:sp>
        <p:nvSpPr>
          <p:cNvPr id="3" name="Task"/>
          <p:cNvSpPr/>
          <p:nvPr/>
        </p:nvSpPr>
        <p:spPr>
          <a:xfrm>
            <a:off x="841248" y="3154680"/>
            <a:ext cx="1645920" cy="1005840"/>
          </a:xfrm>
          <a:prstGeom prst="roundRect">
            <a:avLst>
              <a:gd name="adj" fmla="val 12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000" b="1" i="0">
                <a:solidFill>
                  <a:srgbClr val="FFFFFF"/>
                </a:solidFill>
                <a:latin typeface="Open Sans"/>
              </a:rPr>
              <a:t>Task</a:t>
            </a:r>
          </a:p>
          <a:p>
            <a:pPr algn="ctr"/>
            <a:r>
              <a:rPr sz="1400" b="0" i="0">
                <a:solidFill>
                  <a:srgbClr val="FFFFFF"/>
                </a:solidFill>
                <a:latin typeface="Open Sans"/>
              </a:rPr>
              <a:t>user goal or question</a:t>
            </a:r>
          </a:p>
        </p:txBody>
      </p:sp>
      <p:sp>
        <p:nvSpPr>
          <p:cNvPr id="4" name="LLM"/>
          <p:cNvSpPr/>
          <p:nvPr/>
        </p:nvSpPr>
        <p:spPr>
          <a:xfrm>
            <a:off x="3291840" y="2880360"/>
            <a:ext cx="2286000" cy="1554480"/>
          </a:xfrm>
          <a:prstGeom prst="roundRect">
            <a:avLst>
              <a:gd name="adj" fmla="val 12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3000" b="1" i="0">
                <a:solidFill>
                  <a:srgbClr val="FFFFFF"/>
                </a:solidFill>
                <a:latin typeface="Open Sans"/>
              </a:rPr>
              <a:t>LLM</a:t>
            </a:r>
          </a:p>
          <a:p>
            <a:pPr algn="ctr"/>
            <a:r>
              <a:rPr sz="1400" b="0" i="0">
                <a:solidFill>
                  <a:srgbClr val="FFFFFF"/>
                </a:solidFill>
                <a:latin typeface="Open Sans"/>
              </a:rPr>
              <a:t>reasons and picks the next action</a:t>
            </a:r>
          </a:p>
        </p:txBody>
      </p:sp>
      <p:sp>
        <p:nvSpPr>
          <p:cNvPr id="5" name="Tools container"/>
          <p:cNvSpPr/>
          <p:nvPr/>
        </p:nvSpPr>
        <p:spPr>
          <a:xfrm>
            <a:off x="6355080" y="2743200"/>
            <a:ext cx="2286000" cy="1828800"/>
          </a:xfrm>
          <a:prstGeom prst="roundRect">
            <a:avLst>
              <a:gd name="adj" fmla="val 8000"/>
            </a:avLst>
          </a:prstGeom>
          <a:solidFill>
            <a:srgbClr val="F6F1F2"/>
          </a:solidFill>
          <a:ln w="317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ools label"/>
          <p:cNvSpPr txBox="1"/>
          <p:nvPr/>
        </p:nvSpPr>
        <p:spPr>
          <a:xfrm>
            <a:off x="6355080" y="2788920"/>
            <a:ext cx="2286000" cy="411480"/>
          </a:xfrm>
          <a:prstGeom prst="rect">
            <a:avLst/>
          </a:prstGeom>
          <a:noFill/>
        </p:spPr>
        <p:txBody>
          <a:bodyPr wrap="square" lIns="45720" tIns="27432" rIns="45720" bIns="27432" anchor="t">
            <a:spAutoFit/>
          </a:bodyPr>
          <a:lstStyle/>
          <a:p>
            <a:pPr algn="ctr"/>
            <a:r>
              <a:rPr sz="2200" b="1" i="0">
                <a:solidFill>
                  <a:schemeClr val="accent1"/>
                </a:solidFill>
                <a:latin typeface="Open Sans"/>
              </a:rPr>
              <a:t>Tools</a:t>
            </a:r>
          </a:p>
        </p:txBody>
      </p:sp>
      <p:sp>
        <p:nvSpPr>
          <p:cNvPr id="7" name="Tool chip Search"/>
          <p:cNvSpPr/>
          <p:nvPr/>
        </p:nvSpPr>
        <p:spPr>
          <a:xfrm>
            <a:off x="6492240" y="3291840"/>
            <a:ext cx="987552" cy="457200"/>
          </a:xfrm>
          <a:prstGeom prst="roundRect">
            <a:avLst>
              <a:gd name="adj" fmla="val 1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000000"/>
                </a:solidFill>
                <a:latin typeface="Open Sans"/>
              </a:rPr>
              <a:t>Search</a:t>
            </a:r>
          </a:p>
        </p:txBody>
      </p:sp>
      <p:sp>
        <p:nvSpPr>
          <p:cNvPr id="8" name="Tool chip Code"/>
          <p:cNvSpPr/>
          <p:nvPr/>
        </p:nvSpPr>
        <p:spPr>
          <a:xfrm>
            <a:off x="7516367" y="3291840"/>
            <a:ext cx="987552" cy="457200"/>
          </a:xfrm>
          <a:prstGeom prst="roundRect">
            <a:avLst>
              <a:gd name="adj" fmla="val 1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000000"/>
                </a:solidFill>
                <a:latin typeface="Open Sans"/>
              </a:rPr>
              <a:t>Code</a:t>
            </a:r>
          </a:p>
        </p:txBody>
      </p:sp>
      <p:sp>
        <p:nvSpPr>
          <p:cNvPr id="9" name="Tool chip Database"/>
          <p:cNvSpPr/>
          <p:nvPr/>
        </p:nvSpPr>
        <p:spPr>
          <a:xfrm>
            <a:off x="6492240" y="3858768"/>
            <a:ext cx="987552" cy="457200"/>
          </a:xfrm>
          <a:prstGeom prst="roundRect">
            <a:avLst>
              <a:gd name="adj" fmla="val 1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000000"/>
                </a:solidFill>
                <a:latin typeface="Open Sans"/>
              </a:rPr>
              <a:t>Database</a:t>
            </a:r>
          </a:p>
        </p:txBody>
      </p:sp>
      <p:sp>
        <p:nvSpPr>
          <p:cNvPr id="10" name="Tool chip APIs"/>
          <p:cNvSpPr/>
          <p:nvPr/>
        </p:nvSpPr>
        <p:spPr>
          <a:xfrm>
            <a:off x="7516367" y="3858768"/>
            <a:ext cx="987552" cy="457200"/>
          </a:xfrm>
          <a:prstGeom prst="roundRect">
            <a:avLst>
              <a:gd name="adj" fmla="val 1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000000"/>
                </a:solidFill>
                <a:latin typeface="Open Sans"/>
              </a:rPr>
              <a:t>APIs</a:t>
            </a:r>
          </a:p>
        </p:txBody>
      </p:sp>
      <p:sp>
        <p:nvSpPr>
          <p:cNvPr id="11" name="Observation"/>
          <p:cNvSpPr/>
          <p:nvPr/>
        </p:nvSpPr>
        <p:spPr>
          <a:xfrm>
            <a:off x="9326880" y="3154680"/>
            <a:ext cx="2011680" cy="1005840"/>
          </a:xfrm>
          <a:prstGeom prst="roundRect">
            <a:avLst>
              <a:gd name="adj" fmla="val 12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000000"/>
                </a:solidFill>
                <a:latin typeface="Open Sans"/>
              </a:rPr>
              <a:t>Observation</a:t>
            </a:r>
          </a:p>
          <a:p>
            <a:pPr algn="ctr"/>
            <a:r>
              <a:rPr sz="1400" b="0" i="0">
                <a:solidFill>
                  <a:srgbClr val="000000"/>
                </a:solidFill>
                <a:latin typeface="Open Sans"/>
              </a:rPr>
              <a:t>tool result</a:t>
            </a:r>
          </a:p>
        </p:txBody>
      </p:sp>
      <p:cxnSp>
        <p:nvCxnSpPr>
          <p:cNvPr id="12" name="Task to LLM"/>
          <p:cNvCxnSpPr/>
          <p:nvPr/>
        </p:nvCxnSpPr>
        <p:spPr>
          <a:xfrm>
            <a:off x="2532888" y="3657600"/>
            <a:ext cx="713232" cy="0"/>
          </a:xfrm>
          <a:prstGeom prst="line">
            <a:avLst/>
          </a:prstGeom>
          <a:ln w="3810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LLM to Tools"/>
          <p:cNvCxnSpPr/>
          <p:nvPr/>
        </p:nvCxnSpPr>
        <p:spPr>
          <a:xfrm>
            <a:off x="5623560" y="3657600"/>
            <a:ext cx="685800" cy="0"/>
          </a:xfrm>
          <a:prstGeom prst="line">
            <a:avLst/>
          </a:prstGeom>
          <a:ln w="3810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Tools to Observation"/>
          <p:cNvCxnSpPr/>
          <p:nvPr/>
        </p:nvCxnSpPr>
        <p:spPr>
          <a:xfrm>
            <a:off x="8686800" y="3657600"/>
            <a:ext cx="594360" cy="0"/>
          </a:xfrm>
          <a:prstGeom prst="line">
            <a:avLst/>
          </a:prstGeom>
          <a:ln w="3810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Action label"/>
          <p:cNvSpPr txBox="1"/>
          <p:nvPr/>
        </p:nvSpPr>
        <p:spPr>
          <a:xfrm>
            <a:off x="5577840" y="3273552"/>
            <a:ext cx="777240" cy="320040"/>
          </a:xfrm>
          <a:prstGeom prst="rect">
            <a:avLst/>
          </a:prstGeom>
          <a:noFill/>
        </p:spPr>
        <p:txBody>
          <a:bodyPr wrap="square" lIns="0" tIns="0" rIns="0" bIns="0" anchor="t">
            <a:spAutoFit/>
          </a:bodyPr>
          <a:lstStyle/>
          <a:p>
            <a:pPr algn="ctr"/>
            <a:r>
              <a:rPr sz="1400" b="0" i="0">
                <a:solidFill>
                  <a:srgbClr val="595959"/>
                </a:solidFill>
                <a:latin typeface="Times New Roman"/>
              </a:rPr>
              <a:t>Action</a:t>
            </a:r>
          </a:p>
        </p:txBody>
      </p:sp>
      <p:sp>
        <p:nvSpPr>
          <p:cNvPr id="16" name="Result label"/>
          <p:cNvSpPr txBox="1"/>
          <p:nvPr/>
        </p:nvSpPr>
        <p:spPr>
          <a:xfrm>
            <a:off x="8641080" y="3273552"/>
            <a:ext cx="685800" cy="320040"/>
          </a:xfrm>
          <a:prstGeom prst="rect">
            <a:avLst/>
          </a:prstGeom>
          <a:noFill/>
        </p:spPr>
        <p:txBody>
          <a:bodyPr wrap="square" lIns="0" tIns="0" rIns="0" bIns="0" anchor="t">
            <a:spAutoFit/>
          </a:bodyPr>
          <a:lstStyle/>
          <a:p>
            <a:pPr algn="ctr"/>
            <a:r>
              <a:rPr sz="1400" b="0" i="0">
                <a:solidFill>
                  <a:srgbClr val="595959"/>
                </a:solidFill>
                <a:latin typeface="Times New Roman"/>
              </a:rPr>
              <a:t>Result</a:t>
            </a:r>
          </a:p>
        </p:txBody>
      </p:sp>
      <p:sp>
        <p:nvSpPr>
          <p:cNvPr id="17" name="Final answer"/>
          <p:cNvSpPr/>
          <p:nvPr/>
        </p:nvSpPr>
        <p:spPr>
          <a:xfrm>
            <a:off x="9326880" y="1783080"/>
            <a:ext cx="2011680" cy="822960"/>
          </a:xfrm>
          <a:prstGeom prst="roundRect">
            <a:avLst>
              <a:gd name="adj" fmla="val 12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000" b="1" i="0">
                <a:solidFill>
                  <a:srgbClr val="FFFFFF"/>
                </a:solidFill>
                <a:latin typeface="Open Sans"/>
              </a:rPr>
              <a:t>Final answer</a:t>
            </a:r>
          </a:p>
        </p:txBody>
      </p:sp>
      <p:sp>
        <p:nvSpPr>
          <p:cNvPr id="18" name="Final answer path"/>
          <p:cNvSpPr/>
          <p:nvPr/>
        </p:nvSpPr>
        <p:spPr>
          <a:xfrm>
            <a:off x="4434840" y="2194560"/>
            <a:ext cx="4846320" cy="658368"/>
          </a:xfrm>
          <a:custGeom>
            <a:avLst/>
            <a:gdLst/>
            <a:ahLst/>
            <a:cxnLst/>
            <a:rect l="l" t="t" r="r" b="b"/>
            <a:pathLst>
              <a:path w="4846320" h="658368">
                <a:moveTo>
                  <a:pt x="0" y="658368"/>
                </a:moveTo>
                <a:lnTo>
                  <a:pt x="0" y="0"/>
                </a:lnTo>
                <a:lnTo>
                  <a:pt x="4846320" y="0"/>
                </a:lnTo>
              </a:path>
            </a:pathLst>
          </a:custGeom>
          <a:noFill/>
          <a:ln w="38100">
            <a:solidFill>
              <a:schemeClr val="accent3"/>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inal answer label"/>
          <p:cNvSpPr txBox="1"/>
          <p:nvPr/>
        </p:nvSpPr>
        <p:spPr>
          <a:xfrm>
            <a:off x="4572000" y="1783080"/>
            <a:ext cx="4663440" cy="365760"/>
          </a:xfrm>
          <a:prstGeom prst="rect">
            <a:avLst/>
          </a:prstGeom>
          <a:noFill/>
        </p:spPr>
        <p:txBody>
          <a:bodyPr wrap="square" lIns="0" tIns="0" rIns="0" bIns="0" anchor="t">
            <a:spAutoFit/>
          </a:bodyPr>
          <a:lstStyle/>
          <a:p>
            <a:pPr algn="ctr"/>
            <a:r>
              <a:rPr sz="1600" b="0" i="0">
                <a:solidFill>
                  <a:srgbClr val="595959"/>
                </a:solidFill>
                <a:latin typeface="Times New Roman"/>
              </a:rPr>
              <a:t>when the model decides the task is done</a:t>
            </a:r>
          </a:p>
        </p:txBody>
      </p:sp>
      <p:sp>
        <p:nvSpPr>
          <p:cNvPr id="20" name="Agent loop"/>
          <p:cNvSpPr/>
          <p:nvPr/>
        </p:nvSpPr>
        <p:spPr>
          <a:xfrm>
            <a:off x="4434840" y="4187952"/>
            <a:ext cx="5897880" cy="1069848"/>
          </a:xfrm>
          <a:custGeom>
            <a:avLst/>
            <a:gdLst/>
            <a:ahLst/>
            <a:cxnLst/>
            <a:rect l="l" t="t" r="r" b="b"/>
            <a:pathLst>
              <a:path w="5897880" h="1069848">
                <a:moveTo>
                  <a:pt x="5897880" y="0"/>
                </a:moveTo>
                <a:lnTo>
                  <a:pt x="5897880" y="1069848"/>
                </a:lnTo>
                <a:lnTo>
                  <a:pt x="0" y="1069848"/>
                </a:lnTo>
                <a:lnTo>
                  <a:pt x="0" y="274320"/>
                </a:lnTo>
              </a:path>
            </a:pathLst>
          </a:custGeom>
          <a:noFill/>
          <a:ln w="38100">
            <a:solidFill>
              <a:schemeClr val="accent1"/>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Loop label"/>
          <p:cNvSpPr txBox="1"/>
          <p:nvPr/>
        </p:nvSpPr>
        <p:spPr>
          <a:xfrm>
            <a:off x="4434840" y="5330952"/>
            <a:ext cx="5897880" cy="365760"/>
          </a:xfrm>
          <a:prstGeom prst="rect">
            <a:avLst/>
          </a:prstGeom>
          <a:noFill/>
        </p:spPr>
        <p:txBody>
          <a:bodyPr wrap="square" lIns="0" tIns="0" rIns="0" bIns="0" anchor="t">
            <a:spAutoFit/>
          </a:bodyPr>
          <a:lstStyle/>
          <a:p>
            <a:pPr algn="ctr"/>
            <a:r>
              <a:rPr sz="1800" b="1" i="0">
                <a:solidFill>
                  <a:schemeClr val="accent1"/>
                </a:solidFill>
                <a:latin typeface="Times New Roman"/>
              </a:rPr>
              <a:t>Loop: </a:t>
            </a:r>
            <a:r>
              <a:rPr sz="1800" b="0" i="0">
                <a:solidFill>
                  <a:srgbClr val="000000"/>
                </a:solidFill>
                <a:latin typeface="Times New Roman"/>
              </a:rPr>
              <a:t>the result goes back into the LLM’s context</a:t>
            </a:r>
          </a:p>
        </p:txBody>
      </p:sp>
    </p:spTree>
    <p:extLst>
      <p:ext uri="{BB962C8B-B14F-4D97-AF65-F5344CB8AC3E}">
        <p14:creationId xmlns:p14="http://schemas.microsoft.com/office/powerpoint/2010/main" val="17364260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4C7D-7DD2-CFBC-EE98-FFEDDA2F35E3}"/>
              </a:ext>
            </a:extLst>
          </p:cNvPr>
          <p:cNvSpPr>
            <a:spLocks noGrp="1"/>
          </p:cNvSpPr>
          <p:nvPr>
            <p:ph type="title"/>
          </p:nvPr>
        </p:nvSpPr>
        <p:spPr/>
        <p:txBody>
          <a:bodyPr>
            <a:normAutofit fontScale="90000"/>
          </a:bodyPr>
          <a:lstStyle/>
          <a:p>
            <a:r>
              <a:rPr lang="en-US" b="1" dirty="0"/>
              <a:t>LLM Agent – What Makes It an “Agent”?</a:t>
            </a:r>
            <a:endParaRPr lang="en-US" dirty="0"/>
          </a:p>
        </p:txBody>
      </p:sp>
      <p:sp>
        <p:nvSpPr>
          <p:cNvPr id="3" name="Content Placeholder 2">
            <a:extLst>
              <a:ext uri="{FF2B5EF4-FFF2-40B4-BE49-F238E27FC236}">
                <a16:creationId xmlns:a16="http://schemas.microsoft.com/office/drawing/2014/main" id="{6F531F4C-0168-04DA-DBF8-3B1E6837CA11}"/>
              </a:ext>
            </a:extLst>
          </p:cNvPr>
          <p:cNvSpPr>
            <a:spLocks noGrp="1"/>
          </p:cNvSpPr>
          <p:nvPr>
            <p:ph idx="1"/>
          </p:nvPr>
        </p:nvSpPr>
        <p:spPr/>
        <p:txBody>
          <a:bodyPr/>
          <a:lstStyle/>
          <a:p>
            <a:r>
              <a:rPr lang="en-US" dirty="0"/>
              <a:t>An LLM-based system is typically called an </a:t>
            </a:r>
            <a:r>
              <a:rPr lang="en-US" b="1" dirty="0"/>
              <a:t>Agent</a:t>
            </a:r>
            <a:r>
              <a:rPr lang="en-US" dirty="0"/>
              <a:t> if it satisfies:</a:t>
            </a:r>
          </a:p>
          <a:p>
            <a:pPr lvl="1"/>
            <a:r>
              <a:rPr lang="en-US" dirty="0"/>
              <a:t>Autonomy</a:t>
            </a:r>
          </a:p>
          <a:p>
            <a:pPr lvl="2"/>
            <a:r>
              <a:rPr lang="en-US" dirty="0"/>
              <a:t>Can make decisions without step-by-step human instructions</a:t>
            </a:r>
          </a:p>
          <a:p>
            <a:pPr lvl="1"/>
            <a:r>
              <a:rPr lang="en-US" dirty="0"/>
              <a:t>Goal-directed behavior</a:t>
            </a:r>
          </a:p>
          <a:p>
            <a:pPr lvl="2"/>
            <a:r>
              <a:rPr lang="en-US" dirty="0"/>
              <a:t>Acts to maximize task success</a:t>
            </a:r>
          </a:p>
          <a:p>
            <a:pPr lvl="1"/>
            <a:r>
              <a:rPr lang="en-US" dirty="0"/>
              <a:t>Iterative interaction</a:t>
            </a:r>
          </a:p>
          <a:p>
            <a:pPr lvl="2"/>
            <a:r>
              <a:rPr lang="en-US" dirty="0"/>
              <a:t>Uses feedback to adjust actions</a:t>
            </a:r>
          </a:p>
          <a:p>
            <a:pPr lvl="1"/>
            <a:r>
              <a:rPr lang="en-US" dirty="0"/>
              <a:t>Tool use</a:t>
            </a:r>
          </a:p>
          <a:p>
            <a:pPr lvl="2"/>
            <a:r>
              <a:rPr lang="en-US" dirty="0"/>
              <a:t>Can call external functions or systems</a:t>
            </a:r>
          </a:p>
          <a:p>
            <a:pPr lvl="1"/>
            <a:endParaRPr lang="en-US" dirty="0"/>
          </a:p>
          <a:p>
            <a:pPr lvl="1"/>
            <a:endParaRPr lang="en-US" dirty="0"/>
          </a:p>
        </p:txBody>
      </p:sp>
    </p:spTree>
    <p:extLst>
      <p:ext uri="{BB962C8B-B14F-4D97-AF65-F5344CB8AC3E}">
        <p14:creationId xmlns:p14="http://schemas.microsoft.com/office/powerpoint/2010/main" val="16360935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Takeaways</a:t>
            </a:r>
          </a:p>
        </p:txBody>
      </p:sp>
      <p:sp>
        <p:nvSpPr>
          <p:cNvPr id="3" name="Number 1"/>
          <p:cNvSpPr/>
          <p:nvPr/>
        </p:nvSpPr>
        <p:spPr>
          <a:xfrm>
            <a:off x="841248" y="1673352"/>
            <a:ext cx="566928" cy="56692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200" b="1" i="0">
                <a:solidFill>
                  <a:srgbClr val="FFFFFF"/>
                </a:solidFill>
                <a:latin typeface="Open Sans"/>
              </a:rPr>
              <a:t>1</a:t>
            </a:r>
          </a:p>
        </p:txBody>
      </p:sp>
      <p:sp>
        <p:nvSpPr>
          <p:cNvPr id="4" name="Takeaway 1"/>
          <p:cNvSpPr txBox="1"/>
          <p:nvPr/>
        </p:nvSpPr>
        <p:spPr>
          <a:xfrm>
            <a:off x="1600200" y="1600200"/>
            <a:ext cx="9784080" cy="731520"/>
          </a:xfrm>
          <a:prstGeom prst="rect">
            <a:avLst/>
          </a:prstGeom>
          <a:noFill/>
        </p:spPr>
        <p:txBody>
          <a:bodyPr wrap="square" lIns="45720" tIns="27432" rIns="45720" bIns="27432" anchor="ctr">
            <a:spAutoFit/>
          </a:bodyPr>
          <a:lstStyle/>
          <a:p>
            <a:pPr algn="l"/>
            <a:r>
              <a:rPr sz="2000" b="0" i="0">
                <a:solidFill>
                  <a:srgbClr val="000000"/>
                </a:solidFill>
                <a:latin typeface="Times New Roman"/>
              </a:rPr>
              <a:t>Training means minimizing the loss. Gradient descent updates the parameters, and backpropagation supplies the gradients.</a:t>
            </a:r>
          </a:p>
        </p:txBody>
      </p:sp>
      <p:sp>
        <p:nvSpPr>
          <p:cNvPr id="5" name="Number 2"/>
          <p:cNvSpPr/>
          <p:nvPr/>
        </p:nvSpPr>
        <p:spPr>
          <a:xfrm>
            <a:off x="841248" y="2560320"/>
            <a:ext cx="566928" cy="56692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200" b="1" i="0">
                <a:solidFill>
                  <a:srgbClr val="FFFFFF"/>
                </a:solidFill>
                <a:latin typeface="Open Sans"/>
              </a:rPr>
              <a:t>2</a:t>
            </a:r>
          </a:p>
        </p:txBody>
      </p:sp>
      <p:sp>
        <p:nvSpPr>
          <p:cNvPr id="6" name="Takeaway 2"/>
          <p:cNvSpPr txBox="1"/>
          <p:nvPr/>
        </p:nvSpPr>
        <p:spPr>
          <a:xfrm>
            <a:off x="1600200" y="2487168"/>
            <a:ext cx="9784080" cy="731520"/>
          </a:xfrm>
          <a:prstGeom prst="rect">
            <a:avLst/>
          </a:prstGeom>
          <a:noFill/>
        </p:spPr>
        <p:txBody>
          <a:bodyPr wrap="square" lIns="45720" tIns="27432" rIns="45720" bIns="27432" anchor="ctr">
            <a:spAutoFit/>
          </a:bodyPr>
          <a:lstStyle/>
          <a:p>
            <a:pPr algn="l"/>
            <a:r>
              <a:rPr sz="2000" b="0" i="0">
                <a:solidFill>
                  <a:srgbClr val="000000"/>
                </a:solidFill>
                <a:latin typeface="Times New Roman"/>
              </a:rPr>
              <a:t>Without activation functions, extra layers add nothing: the whole network collapses into one linear map.</a:t>
            </a:r>
          </a:p>
        </p:txBody>
      </p:sp>
      <p:sp>
        <p:nvSpPr>
          <p:cNvPr id="7" name="Number 3"/>
          <p:cNvSpPr/>
          <p:nvPr/>
        </p:nvSpPr>
        <p:spPr>
          <a:xfrm>
            <a:off x="841248" y="3447288"/>
            <a:ext cx="566928" cy="56692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200" b="1" i="0">
                <a:solidFill>
                  <a:srgbClr val="FFFFFF"/>
                </a:solidFill>
                <a:latin typeface="Open Sans"/>
              </a:rPr>
              <a:t>3</a:t>
            </a:r>
          </a:p>
        </p:txBody>
      </p:sp>
      <p:sp>
        <p:nvSpPr>
          <p:cNvPr id="8" name="Takeaway 3"/>
          <p:cNvSpPr txBox="1"/>
          <p:nvPr/>
        </p:nvSpPr>
        <p:spPr>
          <a:xfrm>
            <a:off x="1600200" y="3374136"/>
            <a:ext cx="9784080" cy="731520"/>
          </a:xfrm>
          <a:prstGeom prst="rect">
            <a:avLst/>
          </a:prstGeom>
          <a:noFill/>
        </p:spPr>
        <p:txBody>
          <a:bodyPr wrap="square" lIns="45720" tIns="27432" rIns="45720" bIns="27432" anchor="ctr">
            <a:spAutoFit/>
          </a:bodyPr>
          <a:lstStyle/>
          <a:p>
            <a:pPr algn="l"/>
            <a:r>
              <a:rPr sz="2000" b="0" i="0">
                <a:solidFill>
                  <a:srgbClr val="000000"/>
                </a:solidFill>
                <a:latin typeface="Times New Roman"/>
              </a:rPr>
              <a:t>Fitting the training set is not enough. Check a validation set, and reach for early stopping, dropout or more data when the two diverge.</a:t>
            </a:r>
          </a:p>
        </p:txBody>
      </p:sp>
      <p:sp>
        <p:nvSpPr>
          <p:cNvPr id="9" name="Number 4"/>
          <p:cNvSpPr/>
          <p:nvPr/>
        </p:nvSpPr>
        <p:spPr>
          <a:xfrm>
            <a:off x="841248" y="4334256"/>
            <a:ext cx="566928" cy="56692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200" b="1" i="0">
                <a:solidFill>
                  <a:srgbClr val="FFFFFF"/>
                </a:solidFill>
                <a:latin typeface="Open Sans"/>
              </a:rPr>
              <a:t>4</a:t>
            </a:r>
          </a:p>
        </p:txBody>
      </p:sp>
      <p:sp>
        <p:nvSpPr>
          <p:cNvPr id="10" name="Takeaway 4"/>
          <p:cNvSpPr txBox="1"/>
          <p:nvPr/>
        </p:nvSpPr>
        <p:spPr>
          <a:xfrm>
            <a:off x="1600200" y="4261104"/>
            <a:ext cx="9784080" cy="731520"/>
          </a:xfrm>
          <a:prstGeom prst="rect">
            <a:avLst/>
          </a:prstGeom>
          <a:noFill/>
        </p:spPr>
        <p:txBody>
          <a:bodyPr wrap="square" lIns="45720" tIns="27432" rIns="45720" bIns="27432" anchor="ctr">
            <a:spAutoFit/>
          </a:bodyPr>
          <a:lstStyle/>
          <a:p>
            <a:pPr algn="l"/>
            <a:r>
              <a:rPr sz="2000" b="0" i="0">
                <a:solidFill>
                  <a:srgbClr val="000000"/>
                </a:solidFill>
                <a:latin typeface="Times New Roman"/>
              </a:rPr>
              <a:t>Choose the architecture to match the data: CNNs for spatial structure, RNNs for sequences, Transformers for global context.</a:t>
            </a:r>
          </a:p>
        </p:txBody>
      </p:sp>
      <p:sp>
        <p:nvSpPr>
          <p:cNvPr id="11" name="Number 5"/>
          <p:cNvSpPr/>
          <p:nvPr/>
        </p:nvSpPr>
        <p:spPr>
          <a:xfrm>
            <a:off x="841248" y="5221224"/>
            <a:ext cx="566928" cy="56692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200" b="1" i="0">
                <a:solidFill>
                  <a:srgbClr val="FFFFFF"/>
                </a:solidFill>
                <a:latin typeface="Open Sans"/>
              </a:rPr>
              <a:t>5</a:t>
            </a:r>
          </a:p>
        </p:txBody>
      </p:sp>
      <p:sp>
        <p:nvSpPr>
          <p:cNvPr id="12" name="Takeaway 5"/>
          <p:cNvSpPr txBox="1"/>
          <p:nvPr/>
        </p:nvSpPr>
        <p:spPr>
          <a:xfrm>
            <a:off x="1600200" y="5148072"/>
            <a:ext cx="9784080" cy="731520"/>
          </a:xfrm>
          <a:prstGeom prst="rect">
            <a:avLst/>
          </a:prstGeom>
          <a:noFill/>
        </p:spPr>
        <p:txBody>
          <a:bodyPr wrap="square" lIns="45720" tIns="27432" rIns="45720" bIns="27432" anchor="ctr">
            <a:spAutoFit/>
          </a:bodyPr>
          <a:lstStyle/>
          <a:p>
            <a:pPr algn="l"/>
            <a:r>
              <a:rPr sz="2000" b="0" i="0">
                <a:solidFill>
                  <a:srgbClr val="000000"/>
                </a:solidFill>
                <a:latin typeface="Times New Roman"/>
              </a:rPr>
              <a:t>Diffusion generates by denoising, autoregressive models by predicting the next token. Give an LLM tools and a feedback loop and you have an agent.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Quick Quiz</a:t>
            </a:r>
          </a:p>
        </p:txBody>
      </p:sp>
      <p:sp>
        <p:nvSpPr>
          <p:cNvPr id="3" name="Content Placeholder 2"/>
          <p:cNvSpPr>
            <a:spLocks noGrp="1"/>
          </p:cNvSpPr>
          <p:nvPr>
            <p:ph idx="1"/>
          </p:nvPr>
        </p:nvSpPr>
        <p:spPr>
          <a:xfrm>
            <a:off x="841248" y="1554480"/>
            <a:ext cx="10515600" cy="4023360"/>
          </a:xfrm>
        </p:spPr>
        <p:txBody>
          <a:bodyPr wrap="square"/>
          <a:lstStyle/>
          <a:p>
            <a:pPr marL="0" indent="0">
              <a:spcBef>
                <a:spcPts val="0"/>
              </a:spcBef>
              <a:buNone/>
            </a:pPr>
            <a:r>
              <a:rPr sz="2000" b="1">
                <a:solidFill>
                  <a:schemeClr val="accent1"/>
                </a:solidFill>
              </a:rPr>
              <a:t>Q1. </a:t>
            </a:r>
            <a:r>
              <a:rPr sz="2000" b="1"/>
              <a:t>Remove every activation function from a deep MLP. What happens?</a:t>
            </a:r>
          </a:p>
          <a:p>
            <a:pPr marL="457200" lvl="1" indent="0">
              <a:spcBef>
                <a:spcPts val="200"/>
              </a:spcBef>
              <a:buNone/>
            </a:pPr>
            <a:r>
              <a:rPr sz="1800"/>
              <a:t>A) It cannot be trained    B) It collapses to one linear model    C) It needs more memory</a:t>
            </a:r>
          </a:p>
          <a:p>
            <a:pPr marL="0" indent="0">
              <a:spcBef>
                <a:spcPts val="1000"/>
              </a:spcBef>
              <a:buNone/>
            </a:pPr>
            <a:r>
              <a:rPr sz="2000" b="1">
                <a:solidFill>
                  <a:schemeClr val="accent1"/>
                </a:solidFill>
              </a:rPr>
              <a:t>Q2. </a:t>
            </a:r>
            <a:r>
              <a:rPr sz="2000" b="1"/>
              <a:t>Training loss keeps falling but validation loss rises. Most likely:</a:t>
            </a:r>
          </a:p>
          <a:p>
            <a:pPr marL="457200" lvl="1" indent="0">
              <a:spcBef>
                <a:spcPts val="200"/>
              </a:spcBef>
              <a:buNone/>
            </a:pPr>
            <a:r>
              <a:rPr sz="1800"/>
              <a:t>A) Underfitting    B) Overfitting    C) The learning rate is zero</a:t>
            </a:r>
          </a:p>
          <a:p>
            <a:pPr marL="0" indent="0">
              <a:spcBef>
                <a:spcPts val="1000"/>
              </a:spcBef>
              <a:buNone/>
            </a:pPr>
            <a:r>
              <a:rPr sz="2000" b="1">
                <a:solidFill>
                  <a:schemeClr val="accent1"/>
                </a:solidFill>
              </a:rPr>
              <a:t>Q3. </a:t>
            </a:r>
            <a:r>
              <a:rPr sz="2000" b="1"/>
              <a:t>The learning rate η is far too large. Expect:</a:t>
            </a:r>
          </a:p>
          <a:p>
            <a:pPr marL="457200" lvl="1" indent="0">
              <a:spcBef>
                <a:spcPts val="200"/>
              </a:spcBef>
              <a:buNone/>
            </a:pPr>
            <a:r>
              <a:rPr sz="1800"/>
              <a:t>A) Faster, smoother convergence    B) Overshooting, possibly divergence    C) No change</a:t>
            </a:r>
          </a:p>
          <a:p>
            <a:pPr marL="0" indent="0">
              <a:spcBef>
                <a:spcPts val="1000"/>
              </a:spcBef>
              <a:buNone/>
            </a:pPr>
            <a:r>
              <a:rPr sz="2000" b="1">
                <a:solidFill>
                  <a:schemeClr val="accent1"/>
                </a:solidFill>
              </a:rPr>
              <a:t>Q4. </a:t>
            </a:r>
            <a:r>
              <a:rPr sz="2000" b="1"/>
              <a:t>Which model links any two tokens directly and trains in parallel?</a:t>
            </a:r>
          </a:p>
          <a:p>
            <a:pPr marL="457200" lvl="1" indent="0">
              <a:spcBef>
                <a:spcPts val="200"/>
              </a:spcBef>
              <a:buNone/>
            </a:pPr>
            <a:r>
              <a:rPr sz="1800"/>
              <a:t>A) RNN    B) CNN    C) Transformer</a:t>
            </a:r>
          </a:p>
          <a:p>
            <a:pPr marL="0" indent="0">
              <a:spcBef>
                <a:spcPts val="1000"/>
              </a:spcBef>
              <a:buNone/>
            </a:pPr>
            <a:r>
              <a:rPr sz="2000" b="1">
                <a:solidFill>
                  <a:schemeClr val="accent1"/>
                </a:solidFill>
              </a:rPr>
              <a:t>Q5. </a:t>
            </a:r>
            <a:r>
              <a:rPr sz="2000" b="1"/>
              <a:t>GPT-style LLMs belong to which Transformer family?</a:t>
            </a:r>
          </a:p>
          <a:p>
            <a:pPr marL="457200" lvl="1" indent="0">
              <a:spcBef>
                <a:spcPts val="200"/>
              </a:spcBef>
              <a:buNone/>
            </a:pPr>
            <a:r>
              <a:rPr sz="1800"/>
              <a:t>A) Encoder-only    B) Decoder-only    C) Encoder-Decoder</a:t>
            </a:r>
          </a:p>
        </p:txBody>
      </p:sp>
      <p:sp>
        <p:nvSpPr>
          <p:cNvPr id="4" name="Quiz timer"/>
          <p:cNvSpPr/>
          <p:nvPr/>
        </p:nvSpPr>
        <p:spPr>
          <a:xfrm>
            <a:off x="841248" y="5623560"/>
            <a:ext cx="4206240" cy="457200"/>
          </a:xfrm>
          <a:prstGeom prst="roundRect">
            <a:avLst>
              <a:gd name="adj" fmla="val 12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600" b="1" i="0">
                <a:solidFill>
                  <a:srgbClr val="FFFFFF"/>
                </a:solidFill>
                <a:latin typeface="Open Sans"/>
              </a:rPr>
              <a:t>Discuss with your neighbor · 5 min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Quiz Answers</a:t>
            </a:r>
          </a:p>
        </p:txBody>
      </p:sp>
      <p:graphicFrame>
        <p:nvGraphicFramePr>
          <p:cNvPr id="3" name="Answers"/>
          <p:cNvGraphicFramePr>
            <a:graphicFrameLocks noGrp="1"/>
          </p:cNvGraphicFramePr>
          <p:nvPr/>
        </p:nvGraphicFramePr>
        <p:xfrm>
          <a:off x="841248" y="1554480"/>
          <a:ext cx="10515600" cy="4206240"/>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8321040">
                  <a:extLst>
                    <a:ext uri="{9D8B030D-6E8A-4147-A177-3AD203B41FA5}">
                      <a16:colId xmlns:a16="http://schemas.microsoft.com/office/drawing/2014/main" val="20002"/>
                    </a:ext>
                  </a:extLst>
                </a:gridCol>
              </a:tblGrid>
              <a:tr h="548640">
                <a:tc>
                  <a:txBody>
                    <a:bodyPr/>
                    <a:lstStyle/>
                    <a:p>
                      <a:pPr algn="ctr"/>
                      <a:r>
                        <a:rPr sz="2000" b="1"/>
                        <a:t>Q</a:t>
                      </a:r>
                    </a:p>
                  </a:txBody>
                  <a:tcPr marL="109728" marR="109728" anchor="ctr"/>
                </a:tc>
                <a:tc>
                  <a:txBody>
                    <a:bodyPr/>
                    <a:lstStyle/>
                    <a:p>
                      <a:pPr algn="ctr"/>
                      <a:r>
                        <a:rPr sz="2000" b="1"/>
                        <a:t>Answer</a:t>
                      </a:r>
                    </a:p>
                  </a:txBody>
                  <a:tcPr marL="109728" marR="109728" anchor="ctr"/>
                </a:tc>
                <a:tc>
                  <a:txBody>
                    <a:bodyPr/>
                    <a:lstStyle/>
                    <a:p>
                      <a:r>
                        <a:rPr sz="2000" b="1"/>
                        <a:t>Why</a:t>
                      </a:r>
                    </a:p>
                  </a:txBody>
                  <a:tcPr marL="109728" marR="109728" anchor="ctr"/>
                </a:tc>
                <a:extLst>
                  <a:ext uri="{0D108BD9-81ED-4DB2-BD59-A6C34878D82A}">
                    <a16:rowId xmlns:a16="http://schemas.microsoft.com/office/drawing/2014/main" val="10000"/>
                  </a:ext>
                </a:extLst>
              </a:tr>
              <a:tr h="731520">
                <a:tc>
                  <a:txBody>
                    <a:bodyPr/>
                    <a:lstStyle/>
                    <a:p>
                      <a:pPr algn="ctr"/>
                      <a:r>
                        <a:rPr sz="1800" b="1"/>
                        <a:t>1</a:t>
                      </a:r>
                    </a:p>
                  </a:txBody>
                  <a:tcPr marL="109728" marR="109728" anchor="ctr"/>
                </a:tc>
                <a:tc>
                  <a:txBody>
                    <a:bodyPr/>
                    <a:lstStyle/>
                    <a:p>
                      <a:pPr algn="ctr"/>
                      <a:r>
                        <a:rPr sz="1800" b="1"/>
                        <a:t>B</a:t>
                      </a:r>
                    </a:p>
                  </a:txBody>
                  <a:tcPr marL="109728" marR="109728" anchor="ctr"/>
                </a:tc>
                <a:tc>
                  <a:txBody>
                    <a:bodyPr/>
                    <a:lstStyle/>
                    <a:p>
                      <a:r>
                        <a:rPr sz="1800" b="0"/>
                        <a:t>Stacked linear maps are still linear: W₂(W₁x) = (W₂W₁)x</a:t>
                      </a:r>
                    </a:p>
                  </a:txBody>
                  <a:tcPr marL="109728" marR="109728" anchor="ctr"/>
                </a:tc>
                <a:extLst>
                  <a:ext uri="{0D108BD9-81ED-4DB2-BD59-A6C34878D82A}">
                    <a16:rowId xmlns:a16="http://schemas.microsoft.com/office/drawing/2014/main" val="10001"/>
                  </a:ext>
                </a:extLst>
              </a:tr>
              <a:tr h="731520">
                <a:tc>
                  <a:txBody>
                    <a:bodyPr/>
                    <a:lstStyle/>
                    <a:p>
                      <a:pPr algn="ctr"/>
                      <a:r>
                        <a:rPr sz="1800" b="1"/>
                        <a:t>2</a:t>
                      </a:r>
                    </a:p>
                  </a:txBody>
                  <a:tcPr marL="109728" marR="109728" anchor="ctr"/>
                </a:tc>
                <a:tc>
                  <a:txBody>
                    <a:bodyPr/>
                    <a:lstStyle/>
                    <a:p>
                      <a:pPr algn="ctr"/>
                      <a:r>
                        <a:rPr sz="1800" b="1"/>
                        <a:t>B</a:t>
                      </a:r>
                    </a:p>
                  </a:txBody>
                  <a:tcPr marL="109728" marR="109728" anchor="ctr"/>
                </a:tc>
                <a:tc>
                  <a:txBody>
                    <a:bodyPr/>
                    <a:lstStyle/>
                    <a:p>
                      <a:r>
                        <a:rPr sz="1800" b="0"/>
                        <a:t>The model memorizes the training set; stop early or regularize</a:t>
                      </a:r>
                    </a:p>
                  </a:txBody>
                  <a:tcPr marL="109728" marR="109728" anchor="ctr"/>
                </a:tc>
                <a:extLst>
                  <a:ext uri="{0D108BD9-81ED-4DB2-BD59-A6C34878D82A}">
                    <a16:rowId xmlns:a16="http://schemas.microsoft.com/office/drawing/2014/main" val="10002"/>
                  </a:ext>
                </a:extLst>
              </a:tr>
              <a:tr h="731520">
                <a:tc>
                  <a:txBody>
                    <a:bodyPr/>
                    <a:lstStyle/>
                    <a:p>
                      <a:pPr algn="ctr"/>
                      <a:r>
                        <a:rPr sz="1800" b="1"/>
                        <a:t>3</a:t>
                      </a:r>
                    </a:p>
                  </a:txBody>
                  <a:tcPr marL="109728" marR="109728" anchor="ctr"/>
                </a:tc>
                <a:tc>
                  <a:txBody>
                    <a:bodyPr/>
                    <a:lstStyle/>
                    <a:p>
                      <a:pPr algn="ctr"/>
                      <a:r>
                        <a:rPr sz="1800" b="1"/>
                        <a:t>B</a:t>
                      </a:r>
                    </a:p>
                  </a:txBody>
                  <a:tcPr marL="109728" marR="109728" anchor="ctr"/>
                </a:tc>
                <a:tc>
                  <a:txBody>
                    <a:bodyPr/>
                    <a:lstStyle/>
                    <a:p>
                      <a:r>
                        <a:rPr sz="1800" b="0"/>
                        <a:t>Steps jump past the minimum, so the loss oscillates or diverges</a:t>
                      </a:r>
                    </a:p>
                  </a:txBody>
                  <a:tcPr marL="109728" marR="109728" anchor="ctr"/>
                </a:tc>
                <a:extLst>
                  <a:ext uri="{0D108BD9-81ED-4DB2-BD59-A6C34878D82A}">
                    <a16:rowId xmlns:a16="http://schemas.microsoft.com/office/drawing/2014/main" val="10003"/>
                  </a:ext>
                </a:extLst>
              </a:tr>
              <a:tr h="731520">
                <a:tc>
                  <a:txBody>
                    <a:bodyPr/>
                    <a:lstStyle/>
                    <a:p>
                      <a:pPr algn="ctr"/>
                      <a:r>
                        <a:rPr sz="1800" b="1"/>
                        <a:t>4</a:t>
                      </a:r>
                    </a:p>
                  </a:txBody>
                  <a:tcPr marL="109728" marR="109728" anchor="ctr"/>
                </a:tc>
                <a:tc>
                  <a:txBody>
                    <a:bodyPr/>
                    <a:lstStyle/>
                    <a:p>
                      <a:pPr algn="ctr"/>
                      <a:r>
                        <a:rPr sz="1800" b="1"/>
                        <a:t>C</a:t>
                      </a:r>
                    </a:p>
                  </a:txBody>
                  <a:tcPr marL="109728" marR="109728" anchor="ctr"/>
                </a:tc>
                <a:tc>
                  <a:txBody>
                    <a:bodyPr/>
                    <a:lstStyle/>
                    <a:p>
                      <a:r>
                        <a:rPr sz="1800" b="0"/>
                        <a:t>Self-attention connects every pair of tokens and has no sequential dependency</a:t>
                      </a:r>
                    </a:p>
                  </a:txBody>
                  <a:tcPr marL="109728" marR="109728" anchor="ctr"/>
                </a:tc>
                <a:extLst>
                  <a:ext uri="{0D108BD9-81ED-4DB2-BD59-A6C34878D82A}">
                    <a16:rowId xmlns:a16="http://schemas.microsoft.com/office/drawing/2014/main" val="10004"/>
                  </a:ext>
                </a:extLst>
              </a:tr>
              <a:tr h="731520">
                <a:tc>
                  <a:txBody>
                    <a:bodyPr/>
                    <a:lstStyle/>
                    <a:p>
                      <a:pPr algn="ctr"/>
                      <a:r>
                        <a:rPr sz="1800" b="1"/>
                        <a:t>5</a:t>
                      </a:r>
                    </a:p>
                  </a:txBody>
                  <a:tcPr marL="109728" marR="109728" anchor="ctr"/>
                </a:tc>
                <a:tc>
                  <a:txBody>
                    <a:bodyPr/>
                    <a:lstStyle/>
                    <a:p>
                      <a:pPr algn="ctr"/>
                      <a:r>
                        <a:rPr sz="1800" b="1"/>
                        <a:t>B</a:t>
                      </a:r>
                    </a:p>
                  </a:txBody>
                  <a:tcPr marL="109728" marR="109728" anchor="ctr"/>
                </a:tc>
                <a:tc>
                  <a:txBody>
                    <a:bodyPr/>
                    <a:lstStyle/>
                    <a:p>
                      <a:r>
                        <a:rPr sz="1800" b="0"/>
                        <a:t>A causal mask hides future tokens, so it predicts each token from the past only</a:t>
                      </a:r>
                    </a:p>
                  </a:txBody>
                  <a:tcPr marL="109728" marR="109728"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Further Reading</a:t>
            </a:r>
          </a:p>
        </p:txBody>
      </p:sp>
      <p:sp>
        <p:nvSpPr>
          <p:cNvPr id="3" name="Courses and videos"/>
          <p:cNvSpPr txBox="1"/>
          <p:nvPr/>
        </p:nvSpPr>
        <p:spPr>
          <a:xfrm>
            <a:off x="841248" y="1600200"/>
            <a:ext cx="5120640" cy="4389120"/>
          </a:xfrm>
          <a:prstGeom prst="rect">
            <a:avLst/>
          </a:prstGeom>
          <a:noFill/>
        </p:spPr>
        <p:txBody>
          <a:bodyPr wrap="square">
            <a:spAutoFit/>
          </a:bodyPr>
          <a:lstStyle/>
          <a:p>
            <a:pPr>
              <a:spcAft>
                <a:spcPts val="800"/>
              </a:spcAft>
            </a:pPr>
            <a:r>
              <a:rPr sz="2200" b="1" i="0">
                <a:solidFill>
                  <a:schemeClr val="accent1"/>
                </a:solidFill>
                <a:latin typeface="Open Sans"/>
              </a:rPr>
              <a:t>Courses and videos</a:t>
            </a:r>
          </a:p>
          <a:p>
            <a:pPr>
              <a:spcBef>
                <a:spcPts val="1600"/>
              </a:spcBef>
            </a:pPr>
            <a:r>
              <a:rPr sz="2000" b="1" i="0">
                <a:solidFill>
                  <a:srgbClr val="000000"/>
                </a:solidFill>
                <a:latin typeface="Times New Roman"/>
              </a:rPr>
              <a:t>3Blue1Brown</a:t>
            </a:r>
            <a:r>
              <a:rPr sz="1800" b="0" i="0">
                <a:solidFill>
                  <a:srgbClr val="000000"/>
                </a:solidFill>
                <a:latin typeface="Times New Roman"/>
              </a:rPr>
              <a:t>: Neural Networks series</a:t>
            </a:r>
          </a:p>
          <a:p>
            <a:r>
              <a:rPr sz="1600" b="0" i="0">
                <a:solidFill>
                  <a:schemeClr val="accent1"/>
                </a:solidFill>
                <a:latin typeface="Times New Roman"/>
                <a:hlinkClick r:id="rId3"/>
              </a:rPr>
              <a:t>www.3blue1brown.com/topics/neural-networks</a:t>
            </a:r>
          </a:p>
          <a:p>
            <a:pPr>
              <a:spcBef>
                <a:spcPts val="1600"/>
              </a:spcBef>
            </a:pPr>
            <a:r>
              <a:rPr sz="2000" b="1" i="0">
                <a:solidFill>
                  <a:srgbClr val="000000"/>
                </a:solidFill>
                <a:latin typeface="Times New Roman"/>
              </a:rPr>
              <a:t>Andrej Karpathy</a:t>
            </a:r>
            <a:r>
              <a:rPr sz="1800" b="0" i="0">
                <a:solidFill>
                  <a:srgbClr val="000000"/>
                </a:solidFill>
                <a:latin typeface="Times New Roman"/>
              </a:rPr>
              <a:t>: Zero to Hero series</a:t>
            </a:r>
          </a:p>
          <a:p>
            <a:r>
              <a:rPr sz="1600" b="0" i="0">
                <a:solidFill>
                  <a:schemeClr val="accent1"/>
                </a:solidFill>
                <a:latin typeface="Times New Roman"/>
                <a:hlinkClick r:id="rId4"/>
              </a:rPr>
              <a:t>karpathy.ai/zero-to-hero.html</a:t>
            </a:r>
          </a:p>
          <a:p>
            <a:pPr>
              <a:spcBef>
                <a:spcPts val="1600"/>
              </a:spcBef>
            </a:pPr>
            <a:r>
              <a:rPr sz="2000" b="1" i="0">
                <a:solidFill>
                  <a:srgbClr val="000000"/>
                </a:solidFill>
                <a:latin typeface="Times New Roman"/>
              </a:rPr>
              <a:t>Stanford CS231n</a:t>
            </a:r>
            <a:r>
              <a:rPr sz="1800" b="0" i="0">
                <a:solidFill>
                  <a:srgbClr val="000000"/>
                </a:solidFill>
                <a:latin typeface="Times New Roman"/>
              </a:rPr>
              <a:t>: CNNs</a:t>
            </a:r>
          </a:p>
          <a:p>
            <a:r>
              <a:rPr sz="1600" b="0" i="0">
                <a:solidFill>
                  <a:schemeClr val="accent1"/>
                </a:solidFill>
                <a:latin typeface="Times New Roman"/>
                <a:hlinkClick r:id="rId5"/>
              </a:rPr>
              <a:t>cs231n.stanford.edu</a:t>
            </a:r>
          </a:p>
          <a:p>
            <a:pPr>
              <a:spcBef>
                <a:spcPts val="1600"/>
              </a:spcBef>
            </a:pPr>
            <a:r>
              <a:rPr sz="2000" b="1" i="0">
                <a:solidFill>
                  <a:srgbClr val="000000"/>
                </a:solidFill>
                <a:latin typeface="Times New Roman"/>
              </a:rPr>
              <a:t>Stanford CS224n</a:t>
            </a:r>
            <a:r>
              <a:rPr sz="1800" b="0" i="0">
                <a:solidFill>
                  <a:srgbClr val="000000"/>
                </a:solidFill>
                <a:latin typeface="Times New Roman"/>
              </a:rPr>
              <a:t>: NLP with deep learning</a:t>
            </a:r>
          </a:p>
          <a:p>
            <a:r>
              <a:rPr sz="1600" b="0" i="0">
                <a:solidFill>
                  <a:schemeClr val="accent1"/>
                </a:solidFill>
                <a:latin typeface="Times New Roman"/>
                <a:hlinkClick r:id="rId6"/>
              </a:rPr>
              <a:t>web.stanford.edu/class/cs224n/</a:t>
            </a:r>
          </a:p>
        </p:txBody>
      </p:sp>
      <p:sp>
        <p:nvSpPr>
          <p:cNvPr id="4" name="Reading and tools"/>
          <p:cNvSpPr txBox="1"/>
          <p:nvPr/>
        </p:nvSpPr>
        <p:spPr>
          <a:xfrm>
            <a:off x="6263640" y="1600200"/>
            <a:ext cx="5120640" cy="4389120"/>
          </a:xfrm>
          <a:prstGeom prst="rect">
            <a:avLst/>
          </a:prstGeom>
          <a:noFill/>
        </p:spPr>
        <p:txBody>
          <a:bodyPr wrap="square">
            <a:spAutoFit/>
          </a:bodyPr>
          <a:lstStyle/>
          <a:p>
            <a:pPr>
              <a:spcAft>
                <a:spcPts val="800"/>
              </a:spcAft>
            </a:pPr>
            <a:r>
              <a:rPr sz="2200" b="1" i="0">
                <a:solidFill>
                  <a:schemeClr val="accent1"/>
                </a:solidFill>
                <a:latin typeface="Open Sans"/>
              </a:rPr>
              <a:t>Reading and tools</a:t>
            </a:r>
          </a:p>
          <a:p>
            <a:pPr>
              <a:spcBef>
                <a:spcPts val="1600"/>
              </a:spcBef>
            </a:pPr>
            <a:r>
              <a:rPr sz="2000" b="1" i="0">
                <a:solidFill>
                  <a:srgbClr val="000000"/>
                </a:solidFill>
                <a:latin typeface="Times New Roman"/>
              </a:rPr>
              <a:t>Dive into Deep Learning</a:t>
            </a:r>
            <a:r>
              <a:rPr sz="1800" b="0" i="0">
                <a:solidFill>
                  <a:srgbClr val="000000"/>
                </a:solidFill>
                <a:latin typeface="Times New Roman"/>
              </a:rPr>
              <a:t>: free textbook</a:t>
            </a:r>
          </a:p>
          <a:p>
            <a:r>
              <a:rPr sz="1600" b="0" i="0">
                <a:solidFill>
                  <a:schemeClr val="accent1"/>
                </a:solidFill>
                <a:latin typeface="Times New Roman"/>
                <a:hlinkClick r:id="rId7"/>
              </a:rPr>
              <a:t>d2l.ai</a:t>
            </a:r>
          </a:p>
          <a:p>
            <a:pPr>
              <a:spcBef>
                <a:spcPts val="1600"/>
              </a:spcBef>
            </a:pPr>
            <a:r>
              <a:rPr sz="2000" b="1" i="0">
                <a:solidFill>
                  <a:srgbClr val="000000"/>
                </a:solidFill>
                <a:latin typeface="Times New Roman"/>
              </a:rPr>
              <a:t>The Illustrated Transformer</a:t>
            </a:r>
            <a:r>
              <a:rPr sz="1800" b="0" i="0">
                <a:solidFill>
                  <a:srgbClr val="000000"/>
                </a:solidFill>
                <a:latin typeface="Times New Roman"/>
              </a:rPr>
              <a:t>: Jay Alammar</a:t>
            </a:r>
          </a:p>
          <a:p>
            <a:r>
              <a:rPr sz="1600" b="0" i="0">
                <a:solidFill>
                  <a:schemeClr val="accent1"/>
                </a:solidFill>
                <a:latin typeface="Times New Roman"/>
                <a:hlinkClick r:id="rId8"/>
              </a:rPr>
              <a:t>jalammar.github.io/illustrated-transformer/</a:t>
            </a:r>
          </a:p>
          <a:p>
            <a:pPr>
              <a:spcBef>
                <a:spcPts val="1600"/>
              </a:spcBef>
            </a:pPr>
            <a:r>
              <a:rPr sz="2000" b="1" i="0">
                <a:solidFill>
                  <a:srgbClr val="000000"/>
                </a:solidFill>
                <a:latin typeface="Times New Roman"/>
              </a:rPr>
              <a:t>TensorFlow Playground</a:t>
            </a:r>
            <a:r>
              <a:rPr sz="1800" b="0" i="0">
                <a:solidFill>
                  <a:srgbClr val="000000"/>
                </a:solidFill>
                <a:latin typeface="Times New Roman"/>
              </a:rPr>
              <a:t>: in-browser demo</a:t>
            </a:r>
          </a:p>
          <a:p>
            <a:r>
              <a:rPr sz="1600" b="0" i="0">
                <a:solidFill>
                  <a:schemeClr val="accent1"/>
                </a:solidFill>
                <a:latin typeface="Times New Roman"/>
                <a:hlinkClick r:id="rId9"/>
              </a:rPr>
              <a:t>playground.tensorflow.org</a:t>
            </a:r>
          </a:p>
        </p:txBody>
      </p:sp>
    </p:spTree>
  </p:cSld>
  <p:clrMapOvr>
    <a:masterClrMapping/>
  </p:clrMapOvr>
</p:sld>
</file>

<file path=ppt/theme/theme1.xml><?xml version="1.0" encoding="utf-8"?>
<a:theme xmlns:a="http://schemas.openxmlformats.org/drawingml/2006/main" name="FSU_Creative_Theme">
  <a:themeElements>
    <a:clrScheme name="FSU">
      <a:dk1>
        <a:srgbClr val="000000"/>
      </a:dk1>
      <a:lt1>
        <a:srgbClr val="FFFFFF"/>
      </a:lt1>
      <a:dk2>
        <a:srgbClr val="782F40"/>
      </a:dk2>
      <a:lt2>
        <a:srgbClr val="E7E6E6"/>
      </a:lt2>
      <a:accent1>
        <a:srgbClr val="782F40"/>
      </a:accent1>
      <a:accent2>
        <a:srgbClr val="CEB888"/>
      </a:accent2>
      <a:accent3>
        <a:srgbClr val="415563"/>
      </a:accent3>
      <a:accent4>
        <a:srgbClr val="5BB8B2"/>
      </a:accent4>
      <a:accent5>
        <a:srgbClr val="FFC72C"/>
      </a:accent5>
      <a:accent6>
        <a:srgbClr val="A6192E"/>
      </a:accent6>
      <a:hlink>
        <a:srgbClr val="782F40"/>
      </a:hlink>
      <a:folHlink>
        <a:srgbClr val="000000"/>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SU_Presentation_Institutional_Garnet" id="{8C464DED-7DD0-394D-BE06-B2E02C00A74A}" vid="{88337355-537C-7B48-A4DD-743288D140F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4BC055646C9834786D5D1D07B672473" ma:contentTypeVersion="4" ma:contentTypeDescription="Create a new document." ma:contentTypeScope="" ma:versionID="522017b4c5402070f2e0eabba8dc28f6">
  <xsd:schema xmlns:xsd="http://www.w3.org/2001/XMLSchema" xmlns:xs="http://www.w3.org/2001/XMLSchema" xmlns:p="http://schemas.microsoft.com/office/2006/metadata/properties" xmlns:ns2="b79a929a-3d7c-4dba-8a00-4b3dbe931dd1" targetNamespace="http://schemas.microsoft.com/office/2006/metadata/properties" ma:root="true" ma:fieldsID="519d4e80918d33f5ff7fbfe56aa091a4" ns2:_="">
    <xsd:import namespace="b79a929a-3d7c-4dba-8a00-4b3dbe931dd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9a929a-3d7c-4dba-8a00-4b3dbe931d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3F13CBC-58BD-47F8-AC0B-6954B3115E1F}">
  <ds:schemaRefs>
    <ds:schemaRef ds:uri="b79a929a-3d7c-4dba-8a00-4b3dbe931dd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DF226833-84EB-46B9-B534-782F87EB1EFD}">
  <ds:schemaRefs>
    <ds:schemaRef ds:uri="b79a929a-3d7c-4dba-8a00-4b3dbe931dd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276FACF-8F13-4066-97A0-6AC481EC5BA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FSU_Presentation_Institutional_Garnet</Template>
  <TotalTime>265</TotalTime>
  <Words>9612</Words>
  <Application>Microsoft Office PowerPoint</Application>
  <PresentationFormat>Widescreen</PresentationFormat>
  <Paragraphs>624</Paragraphs>
  <Slides>45</Slides>
  <Notes>45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Inter</vt:lpstr>
      <vt:lpstr>Arial</vt:lpstr>
      <vt:lpstr>Cambria Math</vt:lpstr>
      <vt:lpstr>Consolas</vt:lpstr>
      <vt:lpstr>Open Sans</vt:lpstr>
      <vt:lpstr>Open Sans SemiBold</vt:lpstr>
      <vt:lpstr>Times New Roman</vt:lpstr>
      <vt:lpstr>FSU_Creative_Theme</vt:lpstr>
      <vt:lpstr>Introduction to Neural Networks</vt:lpstr>
      <vt:lpstr>Today’s Outline</vt:lpstr>
      <vt:lpstr>NN Basics: Key Concepts</vt:lpstr>
      <vt:lpstr>Deep Neural Network </vt:lpstr>
      <vt:lpstr>Activation Functions</vt:lpstr>
      <vt:lpstr>Common Machine Learning Procedure</vt:lpstr>
      <vt:lpstr>Common Machine Learning Procedure</vt:lpstr>
      <vt:lpstr>Gradient Descent</vt:lpstr>
      <vt:lpstr>Backpropagation</vt:lpstr>
      <vt:lpstr>Hands-On: Training in PyTorch</vt:lpstr>
      <vt:lpstr>Underfitting vs. Overfitting</vt:lpstr>
      <vt:lpstr>Data Splits and Regularization</vt:lpstr>
      <vt:lpstr>Convolutional Neural Network (CNN)</vt:lpstr>
      <vt:lpstr>Convolutional Neural Network (CNN)</vt:lpstr>
      <vt:lpstr>CNN – Core Components</vt:lpstr>
      <vt:lpstr>CNN – Properties and Limitations</vt:lpstr>
      <vt:lpstr>Recurrent Neural Network (RNN)</vt:lpstr>
      <vt:lpstr>Recurrent Neural Network (RNN)</vt:lpstr>
      <vt:lpstr>RNN: Basic Structure</vt:lpstr>
      <vt:lpstr>Transformers</vt:lpstr>
      <vt:lpstr>Transformers Model</vt:lpstr>
      <vt:lpstr>Key idea: Self-Attention Mechanism</vt:lpstr>
      <vt:lpstr>Inside a Transformer Block</vt:lpstr>
      <vt:lpstr>Three Flavors of Transformers</vt:lpstr>
      <vt:lpstr>Transformers in Practice</vt:lpstr>
      <vt:lpstr>Choosing an Architecture</vt:lpstr>
      <vt:lpstr>Diffusion Model</vt:lpstr>
      <vt:lpstr>Common Neural Network Modelling Approaches </vt:lpstr>
      <vt:lpstr>Diffusion Model</vt:lpstr>
      <vt:lpstr>Forward Diffusion Process</vt:lpstr>
      <vt:lpstr>Reverse Denoising Process</vt:lpstr>
      <vt:lpstr>Diffusion Model Overview</vt:lpstr>
      <vt:lpstr>Backbones for Diffusion Models</vt:lpstr>
      <vt:lpstr>Auto-Regressive (AR) Models</vt:lpstr>
      <vt:lpstr>AR Example: LLMs</vt:lpstr>
      <vt:lpstr>Basic LLM Components</vt:lpstr>
      <vt:lpstr>Some Parameters</vt:lpstr>
      <vt:lpstr>SOTA LLM Lookup</vt:lpstr>
      <vt:lpstr>LLM - Agent</vt:lpstr>
      <vt:lpstr>LLM Agent</vt:lpstr>
      <vt:lpstr>LLM Agent – What Makes It an “Agent”?</vt:lpstr>
      <vt:lpstr>Key Takeaways</vt:lpstr>
      <vt:lpstr>Quick Quiz</vt:lpstr>
      <vt:lpstr>Quiz Answers</vt:lpstr>
      <vt:lpstr>Further 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Jackie Ye</dc:creator>
  <cp:lastModifiedBy>Jackie Ye</cp:lastModifiedBy>
  <cp:revision>7</cp:revision>
  <dcterms:created xsi:type="dcterms:W3CDTF">2025-04-28T20:47:10Z</dcterms:created>
  <dcterms:modified xsi:type="dcterms:W3CDTF">2026-10-13T20:10:20Z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0x010100E4BC055646C9834786D5D1D07B672473</vt:lpwstr>
  </property>
</Properties>
</file>