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71d3c6e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c71d3c6e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c71d3c6ee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c71d3c6ee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rPr>
              <a:t>"To start, we are looking at the massive infrastructure that powers the modern cloud. Major providers invest billions of dollars to build and operate these planet-scale Wide-Area Networks (WANs).</a:t>
            </a:r>
            <a:endParaRPr sz="1050">
              <a:solidFill>
                <a:schemeClr val="dk1"/>
              </a:solidFill>
            </a:endParaRPr>
          </a:p>
          <a:p>
            <a:pPr indent="0" lvl="0" marL="0" rtl="0" algn="l">
              <a:spcBef>
                <a:spcPts val="0"/>
              </a:spcBef>
              <a:spcAft>
                <a:spcPts val="0"/>
              </a:spcAft>
              <a:buNone/>
            </a:pPr>
            <a:r>
              <a:t/>
            </a:r>
            <a:endParaRPr sz="1050">
              <a:solidFill>
                <a:schemeClr val="dk1"/>
              </a:solidFill>
            </a:endParaRPr>
          </a:p>
          <a:p>
            <a:pPr indent="0" lvl="0" marL="0" rtl="0" algn="l">
              <a:spcBef>
                <a:spcPts val="0"/>
              </a:spcBef>
              <a:spcAft>
                <a:spcPts val="0"/>
              </a:spcAft>
              <a:buNone/>
            </a:pPr>
            <a:r>
              <a:rPr lang="en" sz="1050">
                <a:solidFill>
                  <a:schemeClr val="dk1"/>
                </a:solidFill>
              </a:rPr>
              <a:t>They interconnect geographically distributed datacenters across the globe, scaling up to thousands of nodes and edges</a:t>
            </a:r>
            <a:endParaRPr sz="1050">
              <a:solidFill>
                <a:schemeClr val="dk1"/>
              </a:solidFill>
            </a:endParaRPr>
          </a:p>
          <a:p>
            <a:pPr indent="0" lvl="0" marL="0" rtl="0" algn="l">
              <a:spcBef>
                <a:spcPts val="0"/>
              </a:spcBef>
              <a:spcAft>
                <a:spcPts val="0"/>
              </a:spcAft>
              <a:buNone/>
            </a:pPr>
            <a:r>
              <a:t/>
            </a:r>
            <a:endParaRPr sz="1050">
              <a:solidFill>
                <a:schemeClr val="dk1"/>
              </a:solidFill>
            </a:endParaRPr>
          </a:p>
          <a:p>
            <a:pPr indent="0" lvl="0" marL="0" rtl="0" algn="l">
              <a:spcBef>
                <a:spcPts val="0"/>
              </a:spcBef>
              <a:spcAft>
                <a:spcPts val="0"/>
              </a:spcAft>
              <a:buNone/>
            </a:pPr>
            <a:r>
              <a:rPr lang="en" sz="1050">
                <a:solidFill>
                  <a:schemeClr val="dk1"/>
                </a:solidFill>
              </a:rPr>
              <a:t>The role of these WANs has evolved. While they used to carry mostly first-party discretionary traffic—like background data backups—today they carry real-time, user-facing traffic.</a:t>
            </a:r>
            <a:endParaRPr sz="1050">
              <a:solidFill>
                <a:schemeClr val="dk1"/>
              </a:solidFill>
            </a:endParaRPr>
          </a:p>
          <a:p>
            <a:pPr indent="0" lvl="0" marL="0" rtl="0" algn="l">
              <a:spcBef>
                <a:spcPts val="0"/>
              </a:spcBef>
              <a:spcAft>
                <a:spcPts val="0"/>
              </a:spcAft>
              <a:buNone/>
            </a:pPr>
            <a:r>
              <a:t/>
            </a:r>
            <a:endParaRPr sz="105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71d3c6ee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71d3c6ee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last ten years, major cloud providers like Google and Microsoft have moved away from decentralized routing protocols. Instead, they have implemented centralized TE systems based on Software-Defined Networking (SDN)</a:t>
            </a:r>
            <a:endParaRPr/>
          </a:p>
          <a:p>
            <a:pPr indent="0" lvl="0" marL="0" rtl="0" algn="l">
              <a:spcBef>
                <a:spcPts val="0"/>
              </a:spcBef>
              <a:spcAft>
                <a:spcPts val="0"/>
              </a:spcAft>
              <a:buNone/>
            </a:pPr>
            <a:r>
              <a:rPr lang="en"/>
              <a:t>This shift allows for a global view of the network. A centralized 'TE Controller' can see the entire topology and all traffic demands at once, allowing it to make much smarter decisions than individual routers could make on their 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have three specific goals here:</a:t>
            </a:r>
            <a:endParaRPr/>
          </a:p>
          <a:p>
            <a:pPr indent="0" lvl="0" marL="0" rtl="0" algn="l">
              <a:spcBef>
                <a:spcPts val="0"/>
              </a:spcBef>
              <a:spcAft>
                <a:spcPts val="0"/>
              </a:spcAft>
              <a:buNone/>
            </a:pPr>
            <a:r>
              <a:rPr lang="en"/>
              <a:t>    ◦ High Link Utilization: These WANs cost billions to build. We need to fill the fiber cables as efficiently as possible to get a return on that investment,.</a:t>
            </a:r>
            <a:endParaRPr/>
          </a:p>
          <a:p>
            <a:pPr indent="0" lvl="0" marL="0" rtl="0" algn="l">
              <a:spcBef>
                <a:spcPts val="0"/>
              </a:spcBef>
              <a:spcAft>
                <a:spcPts val="0"/>
              </a:spcAft>
              <a:buNone/>
            </a:pPr>
            <a:r>
              <a:rPr lang="en"/>
              <a:t>    ◦ Fairness: We need to ensure that no single flow starves others, maintaining fairness among different network services.</a:t>
            </a:r>
            <a:endParaRPr/>
          </a:p>
          <a:p>
            <a:pPr indent="0" lvl="0" marL="0" rtl="0" algn="l">
              <a:spcBef>
                <a:spcPts val="0"/>
              </a:spcBef>
              <a:spcAft>
                <a:spcPts val="0"/>
              </a:spcAft>
              <a:buNone/>
            </a:pPr>
            <a:r>
              <a:rPr lang="en"/>
              <a:t>    ◦ Resilience: The allocation must be robust. If a link fails, the system needs to have a plan to reroute traffic immediately so the network survives.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Mathematically, we treat this as a Multi-Commodity Flow problem. The controller receives a matrix of demands and solves a complex optimization algorithm.</a:t>
            </a:r>
            <a:endParaRPr/>
          </a:p>
          <a:p>
            <a:pPr indent="0" lvl="0" marL="0" rtl="0" algn="l">
              <a:spcBef>
                <a:spcPts val="0"/>
              </a:spcBef>
              <a:spcAft>
                <a:spcPts val="0"/>
              </a:spcAft>
              <a:buNone/>
            </a:pPr>
            <a:r>
              <a:rPr lang="en"/>
              <a:t>The objective is usually to maximize total throughput while keeping latency to a minimum. Traditionally, this is solved using Linear Programming (LP) solvers, which calculate the exact 'split ratios' to divide traffic across available paths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71d3c6ee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c71d3c6ee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rPr>
              <a:t>The Bandwidth Broker: This component monitors the Cloud WAN to gather the current "network state." It estimates the volume of traffic (demand) that needs to move between datacenters for the upcoming time window and passes this information, along with the current network topology, to the controller.</a:t>
            </a:r>
            <a:endParaRPr sz="1050">
              <a:solidFill>
                <a:schemeClr val="dk1"/>
              </a:solidFill>
            </a:endParaRPr>
          </a:p>
          <a:p>
            <a:pPr indent="0" lvl="0" marL="0" rtl="0" algn="l">
              <a:spcBef>
                <a:spcPts val="0"/>
              </a:spcBef>
              <a:spcAft>
                <a:spcPts val="0"/>
              </a:spcAft>
              <a:buNone/>
            </a:pPr>
            <a:r>
              <a:t/>
            </a:r>
            <a:endParaRPr sz="1050">
              <a:solidFill>
                <a:schemeClr val="dk1"/>
              </a:solidFill>
            </a:endParaRPr>
          </a:p>
          <a:p>
            <a:pPr indent="0" lvl="0" marL="0" rtl="0" algn="l">
              <a:spcBef>
                <a:spcPts val="0"/>
              </a:spcBef>
              <a:spcAft>
                <a:spcPts val="0"/>
              </a:spcAft>
              <a:buNone/>
            </a:pPr>
            <a:r>
              <a:rPr lang="en" sz="1050">
                <a:solidFill>
                  <a:schemeClr val="dk1"/>
                </a:solidFill>
              </a:rPr>
              <a:t>The TE Controller: Serving as the system's "brain," this controller receives the topology and traffic demands. It solves a complex optimization problem to determine the optimal traffic allocations (i.e., how to split traffic across available paths to avoid congestion).</a:t>
            </a:r>
            <a:endParaRPr sz="1050">
              <a:solidFill>
                <a:schemeClr val="dk1"/>
              </a:solidFill>
            </a:endParaRPr>
          </a:p>
          <a:p>
            <a:pPr indent="0" lvl="0" marL="0" rtl="0" algn="l">
              <a:spcBef>
                <a:spcPts val="0"/>
              </a:spcBef>
              <a:spcAft>
                <a:spcPts val="0"/>
              </a:spcAft>
              <a:buNone/>
            </a:pPr>
            <a:r>
              <a:t/>
            </a:r>
            <a:endParaRPr sz="1050">
              <a:solidFill>
                <a:schemeClr val="dk1"/>
              </a:solidFill>
            </a:endParaRPr>
          </a:p>
          <a:p>
            <a:pPr indent="0" lvl="0" marL="0" rtl="0" algn="l">
              <a:spcBef>
                <a:spcPts val="0"/>
              </a:spcBef>
              <a:spcAft>
                <a:spcPts val="0"/>
              </a:spcAft>
              <a:buNone/>
            </a:pPr>
            <a:r>
              <a:rPr lang="en" sz="1050">
                <a:solidFill>
                  <a:schemeClr val="dk1"/>
                </a:solidFill>
              </a:rPr>
              <a:t>SDN (Software-Defined Networking): Once the allocations are decided, the SDN layer translates them into specific router configurations. It then executes an "update routing" command to deploy these changes back to the physical Cloud WAN, completing the loop.</a:t>
            </a:r>
            <a:endParaRPr sz="105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71d3c6ee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71d3c6ee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major challenge we face is simply the sheer scale of modern infrastructure. We aren't managing a few dozen sites anymore; we are looking at topologies with over 1,700 nodes and thousands of edges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traditional control systems were designed to run every 5 minutes. The math cannot keep up with the growth. On these large networks, the standard Linear Programming solvers—which used to work quickly—can now take over five hours to finish a single calculation.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Thus, routing lags behind real time traffic needs. By the time the system figures out where to send the traffic, the real-world conditions have already changed. We are effectively driving the network using a map from hours ago, which leads to congestion and reliability issues.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71d3c6ee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c71d3c6ee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why not throw more compute at the problem? T</a:t>
            </a:r>
            <a:r>
              <a:rPr lang="en"/>
              <a:t>raditional solvers struggle with scale due to the underlying mathematics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Standard Linear Programming solvers rely on sequential algorithms. Because step n+1 depends on step n, you can't just split the work across cores.</a:t>
            </a:r>
            <a:endParaRPr/>
          </a:p>
          <a:p>
            <a:pPr indent="0" lvl="0" marL="0" rtl="0" algn="l">
              <a:spcBef>
                <a:spcPts val="0"/>
              </a:spcBef>
              <a:spcAft>
                <a:spcPts val="0"/>
              </a:spcAft>
              <a:buNone/>
            </a:pPr>
            <a:r>
              <a:rPr lang="en"/>
              <a:t>Instead, solvers use a 'racing strategy': they launch different algorithms on different threads and simply use the result from whichever one finishes first. However, the Result is Diminishing returns—increasing threads from 1 to 16 only yields a 3.8× speedup.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other hand, we have specific tools designed to force parallelism by decomposing the network into smaller chunks. While this does make the calculation faster, it introduces a severe penalty in quality. Because these sub-problems don't see the 'big picture' of the global network, they make inefficient decisions. Data shows that these strategies end up satisfying significantly less user demand—up to 30% less—compared to a global solver.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Thus, fast computation of the global network is critical.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71d3c6ee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71d3c6ee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71d3c6eea_5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c71d3c6eea_5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if linear programming is the bottleneck, what is the solution? The answer lies in Machine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judicious design, we can use ML to accelerate optimization significantly. Because Deep Learning consists mainly of matrix multiplications, we can unlock massive parallelism—leveraging thousands of threads on modern GPUs rather than being stuck on sequential CPU processes."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we can't just throw a standard neural network at this problem. We face three distinct challenges:</a:t>
            </a:r>
            <a:endParaRPr/>
          </a:p>
          <a:p>
            <a:pPr indent="0" lvl="0" marL="0" rtl="0" algn="l">
              <a:spcBef>
                <a:spcPts val="0"/>
              </a:spcBef>
              <a:spcAft>
                <a:spcPts val="0"/>
              </a:spcAft>
              <a:buNone/>
            </a:pPr>
            <a:r>
              <a:rPr lang="en"/>
              <a:t>    1. Topology: A vanilla neural network doesn't understand that a network is a graph with connected edges and paths.</a:t>
            </a:r>
            <a:endParaRPr/>
          </a:p>
          <a:p>
            <a:pPr indent="0" lvl="0" marL="0" rtl="0" algn="l">
              <a:spcBef>
                <a:spcPts val="0"/>
              </a:spcBef>
              <a:spcAft>
                <a:spcPts val="0"/>
              </a:spcAft>
              <a:buNone/>
            </a:pPr>
            <a:r>
              <a:rPr lang="en"/>
              <a:t>    2. Dimensionality: The solution space is massive. For a 1,000-node network, a single model would need to output 4 million split ratios. That is simply too complex to train effectively.</a:t>
            </a:r>
            <a:endParaRPr/>
          </a:p>
          <a:p>
            <a:pPr indent="0" lvl="0" marL="0" rtl="0" algn="l">
              <a:spcBef>
                <a:spcPts val="0"/>
              </a:spcBef>
              <a:spcAft>
                <a:spcPts val="0"/>
              </a:spcAft>
              <a:buNone/>
            </a:pPr>
            <a:r>
              <a:rPr lang="en"/>
              <a:t>    3. Safety: This is critical. Neural networks make approximations. If a model tries to push 20 gigs of data through a 10-gig cable, the network fails. Unlike math solvers, standard NNs cannot guarantee they will respect these physical limits."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71d3c6eea_5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71d3c6eea_5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solve the first challenge—topology awareness—Teal introduces a custom architecture called FlowGNN."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"Instead of feeding the model a flat list of numbers, FlowGNN explicitly models the network structure. It treats the physical fiber cables and the traffic routes as interacting nodes in a graph."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works by alternating between two specific layers:</a:t>
            </a:r>
            <a:endParaRPr/>
          </a:p>
          <a:p>
            <a:pPr indent="0" lvl="0" marL="0" rtl="0" algn="l">
              <a:spcBef>
                <a:spcPts val="0"/>
              </a:spcBef>
              <a:spcAft>
                <a:spcPts val="0"/>
              </a:spcAft>
              <a:buNone/>
            </a:pPr>
            <a:r>
              <a:rPr lang="en"/>
              <a:t>   	First, the GNN Layers handle capacity. The physical links 'talk' to the routes that use them, allowing the model to learn exactly where congestion is happening.</a:t>
            </a:r>
            <a:endParaRPr/>
          </a:p>
          <a:p>
            <a:pPr indent="457200" lvl="0" marL="0" rtl="0" algn="l">
              <a:spcBef>
                <a:spcPts val="0"/>
              </a:spcBef>
              <a:spcAft>
                <a:spcPts val="0"/>
              </a:spcAft>
              <a:buNone/>
            </a:pPr>
            <a:r>
              <a:rPr lang="en"/>
              <a:t>Second, the DNN Layers handle demand. They look at all the different paths available for a specific user request and coordinate how to split the traffic."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output of this process is what we call 'flow embeddings.' These are rich, compact digital summaries that encode everything the system needs to know about the current state of the network."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71d3c6eea_5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71d3c6eea_5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If we tried to build one giant neural network to control the whole WAN, it would never work. The 'Curse of Dimensionality' means we'd have millions of outputs to train.”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"Teal solves this by using Multi-Agent Reinforcement Learning. Instead of one brain controlling everything, we treat every single traffic demand as its own agent."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"Crucially, these agents share a 'brain'—a single, small policy network. This shrinks our problem down massively. Instead of calculating the whole world at once, we just calculate the best move for one agent, repeated thousands of times in parallel."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ensure they don't act greedily and clog the network, we train them together. They learn that making a 'selfish' choice might hurt the global reward, so they learn to cooperate”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71d3c6eea_5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71d3c6eea_5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This leads us to the final major challenge: Safety. Neural networks are probabilistic; they don't naturally respect hard rules. A 99% accurate model is great for image recognition, but in networking, that 1% is no good.”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"Teal bridges this gap with a mathematical layer called ADMM."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think of ADMM as a 'clean-up' crew. The neural network suggests a routing plan that is almost perfect. ADMM takes that suggestion and mathematically tweaks it to ensure it fits strictly within the cable capacities."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"Normally, this math would be slow. But because our neural network gives such a good starting point—what we call a 'warm start'—ADMM only needs a few milliseconds to finish the job. It gives us the safety of a traditional solver with the speed of AI."</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71d3c6eea_5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71d3c6eea_5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1. FlowGNN (Input Processing): The system takes traffic demands and link capacities and passes them through a Graph Neural Network to learn "flow embeddings" that capture the network's structure and congestion state.</a:t>
            </a:r>
            <a:endParaRPr/>
          </a:p>
          <a:p>
            <a:pPr indent="0" lvl="0" marL="0" rtl="0" algn="l">
              <a:spcBef>
                <a:spcPts val="0"/>
              </a:spcBef>
              <a:spcAft>
                <a:spcPts val="0"/>
              </a:spcAft>
              <a:buNone/>
            </a:pPr>
            <a:r>
              <a:rPr lang="en"/>
              <a:t>2. Multi-Agent RL (Allocation): These embeddings are fed into a Policy Network, which treats each demand as an independent agent to generate initial traffic splits (allocations) in parallel.</a:t>
            </a:r>
            <a:endParaRPr/>
          </a:p>
          <a:p>
            <a:pPr indent="0" lvl="0" marL="0" rtl="0" algn="l">
              <a:spcBef>
                <a:spcPts val="0"/>
              </a:spcBef>
              <a:spcAft>
                <a:spcPts val="0"/>
              </a:spcAft>
              <a:buNone/>
            </a:pPr>
            <a:r>
              <a:rPr lang="en"/>
              <a:t>3. ADMM (Fine-Tuning): The initial allocations are passed through ADMM (Alternating Direction Method of Multipliers), a mathematical layer that corrects any safety violations (like overutilized links) to produce the final, feasible traffic allocations.”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c71d3c6eea_5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c71d3c6eea_5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The results are compelling. Using real traffic data from Microsoft, Teal was tested against the best existing TE schemes.”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largest networks, Teal isn't just a little faster; it's orders of magnitude faster—up to 600 times faster than the competition.”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speed usually costs quality. In this case, it didn't. Because Teal optimizes the global network rather than chopping it into pieces, it satisfied significantly more user demand—up to 30% more than other accelerators.”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“Essentially, Teal gives us the 'best of both worlds': the optimality of a mathematical solver and the real-time speed of a GPU.”</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71d3c6eea_5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71d3c6eea_5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71d3c6eea_5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71d3c6eea_5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wrap up, the scalability crisis in Traffic Engineering is real. As our cloud infrastructure grows, our old control systems are falling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"Teal represents a fundamental shift in how we solve these problems. By moving from sequential CPU math to parallel GPU learning, we can manage massive networks in real-time."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"Through a carefully designed architecture that handles topology, scale, and safety, Teal proves that Machine Learning is ready to handle the backbone of the internet."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place my name Ian Spence and the date Feb 10 " id="54" name="Google Shape;54;p1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
        <p:nvSpPr>
          <p:cNvPr id="60" name="Google Shape;60;p14"/>
          <p:cNvSpPr txBox="1"/>
          <p:nvPr>
            <p:ph idx="1" type="body"/>
          </p:nvPr>
        </p:nvSpPr>
        <p:spPr>
          <a:xfrm>
            <a:off x="311700" y="1242450"/>
            <a:ext cx="4962000" cy="332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Cloud providers operate planet-scale WANs.</a:t>
            </a:r>
            <a:endParaRPr/>
          </a:p>
          <a:p>
            <a:pPr indent="-317500" lvl="1" marL="914400" rtl="0" algn="l">
              <a:spcBef>
                <a:spcPts val="0"/>
              </a:spcBef>
              <a:spcAft>
                <a:spcPts val="0"/>
              </a:spcAft>
              <a:buSzPts val="1400"/>
              <a:buChar char="○"/>
            </a:pPr>
            <a:r>
              <a:rPr lang="en"/>
              <a:t>Must </a:t>
            </a:r>
            <a:r>
              <a:rPr lang="en"/>
              <a:t>enable low-latency and high-throughput applications.</a:t>
            </a:r>
            <a:endParaRPr/>
          </a:p>
          <a:p>
            <a:pPr indent="-342900" lvl="0" marL="457200" rtl="0" algn="l">
              <a:spcBef>
                <a:spcPts val="0"/>
              </a:spcBef>
              <a:spcAft>
                <a:spcPts val="0"/>
              </a:spcAft>
              <a:buSzPts val="1800"/>
              <a:buChar char="●"/>
            </a:pPr>
            <a:r>
              <a:rPr lang="en"/>
              <a:t>In order to route traffic efficiently, Traffic Engineering (TE) systems are put in place.</a:t>
            </a:r>
            <a:endParaRPr/>
          </a:p>
        </p:txBody>
      </p:sp>
      <p:pic>
        <p:nvPicPr>
          <p:cNvPr id="61" name="Google Shape;61;p14"/>
          <p:cNvPicPr preferRelativeResize="0"/>
          <p:nvPr/>
        </p:nvPicPr>
        <p:blipFill>
          <a:blip r:embed="rId3">
            <a:alphaModFix/>
          </a:blip>
          <a:stretch>
            <a:fillRect/>
          </a:stretch>
        </p:blipFill>
        <p:spPr>
          <a:xfrm>
            <a:off x="5382338" y="2762225"/>
            <a:ext cx="3184425" cy="1080775"/>
          </a:xfrm>
          <a:prstGeom prst="rect">
            <a:avLst/>
          </a:prstGeom>
          <a:noFill/>
          <a:ln>
            <a:noFill/>
          </a:ln>
        </p:spPr>
      </p:pic>
      <p:pic>
        <p:nvPicPr>
          <p:cNvPr id="62" name="Google Shape;62;p14"/>
          <p:cNvPicPr preferRelativeResize="0"/>
          <p:nvPr/>
        </p:nvPicPr>
        <p:blipFill>
          <a:blip r:embed="rId4">
            <a:alphaModFix/>
          </a:blip>
          <a:stretch>
            <a:fillRect/>
          </a:stretch>
        </p:blipFill>
        <p:spPr>
          <a:xfrm>
            <a:off x="5405997" y="1551800"/>
            <a:ext cx="3137103" cy="943750"/>
          </a:xfrm>
          <a:prstGeom prst="rect">
            <a:avLst/>
          </a:prstGeom>
          <a:noFill/>
          <a:ln>
            <a:noFill/>
          </a:ln>
        </p:spPr>
      </p:pic>
      <p:pic>
        <p:nvPicPr>
          <p:cNvPr id="63" name="Google Shape;63;p14"/>
          <p:cNvPicPr preferRelativeResize="0"/>
          <p:nvPr/>
        </p:nvPicPr>
        <p:blipFill>
          <a:blip r:embed="rId5">
            <a:alphaModFix/>
          </a:blip>
          <a:stretch>
            <a:fillRect/>
          </a:stretch>
        </p:blipFill>
        <p:spPr>
          <a:xfrm>
            <a:off x="5336500" y="393568"/>
            <a:ext cx="3276100" cy="848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Traffic Engineering (TE)?</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Over the past decade, companies have used software </a:t>
            </a:r>
            <a:r>
              <a:rPr lang="en"/>
              <a:t>defined</a:t>
            </a:r>
            <a:r>
              <a:rPr lang="en"/>
              <a:t> networking (SDN).</a:t>
            </a:r>
            <a:endParaRPr/>
          </a:p>
          <a:p>
            <a:pPr indent="-342900" lvl="0" marL="457200" rtl="0" algn="l">
              <a:spcBef>
                <a:spcPts val="0"/>
              </a:spcBef>
              <a:spcAft>
                <a:spcPts val="0"/>
              </a:spcAft>
              <a:buSzPts val="1800"/>
              <a:buChar char="●"/>
            </a:pPr>
            <a:r>
              <a:rPr lang="en"/>
              <a:t>Demands are allocated to achieve</a:t>
            </a:r>
            <a:endParaRPr/>
          </a:p>
          <a:p>
            <a:pPr indent="0" lvl="0" marL="0" rtl="0" algn="l">
              <a:spcBef>
                <a:spcPts val="1200"/>
              </a:spcBef>
              <a:spcAft>
                <a:spcPts val="0"/>
              </a:spcAft>
              <a:buNone/>
            </a:pPr>
            <a:r>
              <a:rPr lang="en"/>
              <a:t>		a) High link utilization </a:t>
            </a:r>
            <a:endParaRPr/>
          </a:p>
          <a:p>
            <a:pPr indent="0" lvl="0" marL="0" rtl="0" algn="l">
              <a:spcBef>
                <a:spcPts val="1200"/>
              </a:spcBef>
              <a:spcAft>
                <a:spcPts val="0"/>
              </a:spcAft>
              <a:buNone/>
            </a:pPr>
            <a:r>
              <a:rPr lang="en"/>
              <a:t>		b) Fairness among network flows </a:t>
            </a:r>
            <a:endParaRPr/>
          </a:p>
          <a:p>
            <a:pPr indent="0" lvl="0" marL="0" rtl="0" algn="l">
              <a:spcBef>
                <a:spcPts val="1200"/>
              </a:spcBef>
              <a:spcAft>
                <a:spcPts val="0"/>
              </a:spcAft>
              <a:buNone/>
            </a:pPr>
            <a:r>
              <a:rPr lang="en"/>
              <a:t>		c) Resilience to link failures in WANs</a:t>
            </a:r>
            <a:endParaRPr/>
          </a:p>
          <a:p>
            <a:pPr indent="-342900" lvl="0" marL="457200" rtl="0" algn="l">
              <a:spcBef>
                <a:spcPts val="1200"/>
              </a:spcBef>
              <a:spcAft>
                <a:spcPts val="0"/>
              </a:spcAft>
              <a:buSzPts val="1800"/>
              <a:buChar char="●"/>
            </a:pPr>
            <a:r>
              <a:rPr lang="en"/>
              <a:t>This is typically viewed as an optimization problem (minimum latency + maximum throughput).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6" name="Google Shape;76;p16"/>
          <p:cNvPicPr preferRelativeResize="0"/>
          <p:nvPr/>
        </p:nvPicPr>
        <p:blipFill>
          <a:blip r:embed="rId3">
            <a:alphaModFix/>
          </a:blip>
          <a:stretch>
            <a:fillRect/>
          </a:stretch>
        </p:blipFill>
        <p:spPr>
          <a:xfrm>
            <a:off x="0" y="372814"/>
            <a:ext cx="9144003" cy="43978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of Current TE: Scalability Crisis</a:t>
            </a:r>
            <a:endParaRPr/>
          </a:p>
        </p:txBody>
      </p:sp>
      <p:sp>
        <p:nvSpPr>
          <p:cNvPr id="82" name="Google Shape;82;p17"/>
          <p:cNvSpPr txBox="1"/>
          <p:nvPr>
            <p:ph idx="1" type="body"/>
          </p:nvPr>
        </p:nvSpPr>
        <p:spPr>
          <a:xfrm>
            <a:off x="311700" y="1152475"/>
            <a:ext cx="8520600" cy="38133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Explosive Network Growth:</a:t>
            </a:r>
            <a:endParaRPr sz="1900"/>
          </a:p>
          <a:p>
            <a:pPr indent="-323850" lvl="1" marL="914400" rtl="0" algn="l">
              <a:spcBef>
                <a:spcPts val="0"/>
              </a:spcBef>
              <a:spcAft>
                <a:spcPts val="0"/>
              </a:spcAft>
              <a:buSzPts val="1500"/>
              <a:buChar char="○"/>
            </a:pPr>
            <a:r>
              <a:rPr lang="en" sz="1500"/>
              <a:t>Cloud WANs have expanded from tens of datacenters to massive topologies with thousands of nodes.</a:t>
            </a:r>
            <a:endParaRPr sz="1500"/>
          </a:p>
          <a:p>
            <a:pPr indent="-323850" lvl="1" marL="914400" rtl="0" algn="l">
              <a:spcBef>
                <a:spcPts val="0"/>
              </a:spcBef>
              <a:spcAft>
                <a:spcPts val="0"/>
              </a:spcAft>
              <a:buSzPts val="1500"/>
              <a:buChar char="○"/>
            </a:pPr>
            <a:r>
              <a:rPr lang="en" sz="1500"/>
              <a:t>Increased complexity makes optimization problems </a:t>
            </a:r>
            <a:r>
              <a:rPr b="1" i="1" lang="en" sz="1500"/>
              <a:t>exponentially</a:t>
            </a:r>
            <a:r>
              <a:rPr lang="en" sz="1500"/>
              <a:t> harder to solve.</a:t>
            </a:r>
            <a:endParaRPr sz="1500"/>
          </a:p>
          <a:p>
            <a:pPr indent="-349250" lvl="0" marL="457200" rtl="0" algn="l">
              <a:spcBef>
                <a:spcPts val="0"/>
              </a:spcBef>
              <a:spcAft>
                <a:spcPts val="0"/>
              </a:spcAft>
              <a:buSzPts val="1900"/>
              <a:buChar char="●"/>
            </a:pPr>
            <a:r>
              <a:rPr lang="en" sz="1900"/>
              <a:t>The 5-Minute Bottleneck:</a:t>
            </a:r>
            <a:endParaRPr sz="1900"/>
          </a:p>
          <a:p>
            <a:pPr indent="-323850" lvl="1" marL="914400" rtl="0" algn="l">
              <a:spcBef>
                <a:spcPts val="0"/>
              </a:spcBef>
              <a:spcAft>
                <a:spcPts val="0"/>
              </a:spcAft>
              <a:buSzPts val="1500"/>
              <a:buChar char="○"/>
            </a:pPr>
            <a:r>
              <a:rPr lang="en" sz="1500"/>
              <a:t>TE control loops ideally update every 5 minutes to match traffic shifts.</a:t>
            </a:r>
            <a:endParaRPr sz="1500"/>
          </a:p>
          <a:p>
            <a:pPr indent="-323850" lvl="1" marL="914400" rtl="0" algn="l">
              <a:spcBef>
                <a:spcPts val="0"/>
              </a:spcBef>
              <a:spcAft>
                <a:spcPts val="0"/>
              </a:spcAft>
              <a:buSzPts val="1500"/>
              <a:buChar char="○"/>
            </a:pPr>
            <a:r>
              <a:rPr lang="en" sz="1500"/>
              <a:t>Traditional Linear Programming (LP) solvers can now take up to 5.5 hours to compute a single</a:t>
            </a:r>
            <a:r>
              <a:rPr lang="en" sz="1500"/>
              <a:t> </a:t>
            </a:r>
            <a:r>
              <a:rPr lang="en" sz="1500"/>
              <a:t>allocation for large networks.</a:t>
            </a:r>
            <a:endParaRPr sz="1500"/>
          </a:p>
          <a:p>
            <a:pPr indent="-349250" lvl="0" marL="457200" rtl="0" algn="l">
              <a:spcBef>
                <a:spcPts val="0"/>
              </a:spcBef>
              <a:spcAft>
                <a:spcPts val="0"/>
              </a:spcAft>
              <a:buSzPts val="1900"/>
              <a:buChar char="●"/>
            </a:pPr>
            <a:r>
              <a:rPr lang="en" sz="1900"/>
              <a:t>Operational Consequences:</a:t>
            </a:r>
            <a:endParaRPr sz="1900"/>
          </a:p>
          <a:p>
            <a:pPr indent="-323850" lvl="1" marL="914400" rtl="0" algn="l">
              <a:spcBef>
                <a:spcPts val="0"/>
              </a:spcBef>
              <a:spcAft>
                <a:spcPts val="0"/>
              </a:spcAft>
              <a:buSzPts val="1500"/>
              <a:buChar char="○"/>
            </a:pPr>
            <a:r>
              <a:rPr lang="en" sz="1500"/>
              <a:t>Stale Routing: The network is forced to use outdated configurations that don't match current traffic.</a:t>
            </a:r>
            <a:endParaRPr sz="1500"/>
          </a:p>
          <a:p>
            <a:pPr indent="-323850" lvl="1" marL="914400" rtl="0" algn="l">
              <a:spcBef>
                <a:spcPts val="0"/>
              </a:spcBef>
              <a:spcAft>
                <a:spcPts val="0"/>
              </a:spcAft>
              <a:buSzPts val="1500"/>
              <a:buChar char="○"/>
            </a:pPr>
            <a:r>
              <a:rPr lang="en" sz="1500"/>
              <a:t>Poor Reactivity: Inability to respond instantly to sudden traffic bursts or fiber cuts, leading to packet loss</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9543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 of Traditional Solutions</a:t>
            </a:r>
            <a:endParaRPr/>
          </a:p>
        </p:txBody>
      </p:sp>
      <p:sp>
        <p:nvSpPr>
          <p:cNvPr id="88" name="Google Shape;88;p18"/>
          <p:cNvSpPr txBox="1"/>
          <p:nvPr>
            <p:ph idx="1" type="body"/>
          </p:nvPr>
        </p:nvSpPr>
        <p:spPr>
          <a:xfrm>
            <a:off x="311700" y="1152475"/>
            <a:ext cx="8520600" cy="3838500"/>
          </a:xfrm>
          <a:prstGeom prst="rect">
            <a:avLst/>
          </a:prstGeom>
        </p:spPr>
        <p:txBody>
          <a:bodyPr anchorCtr="0" anchor="t" bIns="91425" lIns="91425" spcFirstLastPara="1" rIns="91425" wrap="square" tIns="91425">
            <a:normAutofit fontScale="92500" lnSpcReduction="20000"/>
          </a:bodyPr>
          <a:lstStyle/>
          <a:p>
            <a:pPr indent="-340201" lvl="0" marL="457200" rtl="0" algn="l">
              <a:spcBef>
                <a:spcPts val="0"/>
              </a:spcBef>
              <a:spcAft>
                <a:spcPts val="0"/>
              </a:spcAft>
              <a:buSzPct val="100000"/>
              <a:buChar char="●"/>
            </a:pPr>
            <a:r>
              <a:rPr lang="en" sz="1900"/>
              <a:t>Inefficient Parallelism in Standard LP Solver</a:t>
            </a:r>
            <a:r>
              <a:rPr lang="en" sz="1900"/>
              <a:t>s:</a:t>
            </a:r>
            <a:endParaRPr sz="1900"/>
          </a:p>
          <a:p>
            <a:pPr indent="-340201" lvl="1" marL="914400" rtl="0" algn="l">
              <a:spcBef>
                <a:spcPts val="0"/>
              </a:spcBef>
              <a:spcAft>
                <a:spcPts val="0"/>
              </a:spcAft>
              <a:buSzPct val="100000"/>
              <a:buChar char="○"/>
            </a:pPr>
            <a:r>
              <a:rPr lang="en" sz="1900"/>
              <a:t>Core algorithms (like Simplex) are inherently sequential, taking step-by-step improvements.</a:t>
            </a:r>
            <a:endParaRPr sz="1900"/>
          </a:p>
          <a:p>
            <a:pPr indent="-340201" lvl="1" marL="914400" rtl="0" algn="l">
              <a:spcBef>
                <a:spcPts val="0"/>
              </a:spcBef>
              <a:spcAft>
                <a:spcPts val="0"/>
              </a:spcAft>
              <a:buSzPct val="100000"/>
              <a:buChar char="○"/>
            </a:pPr>
            <a:r>
              <a:rPr lang="en" sz="1900"/>
              <a:t>The "Racing" Strategy: Solvers cannot easily split the math, so they run different algorithms on separate threads to see which finishes first.</a:t>
            </a:r>
            <a:endParaRPr sz="1900"/>
          </a:p>
          <a:p>
            <a:pPr indent="-340201" lvl="1" marL="914400" rtl="0" algn="l">
              <a:spcBef>
                <a:spcPts val="0"/>
              </a:spcBef>
              <a:spcAft>
                <a:spcPts val="0"/>
              </a:spcAft>
              <a:buSzPct val="100000"/>
              <a:buChar char="○"/>
            </a:pPr>
            <a:r>
              <a:rPr lang="en" sz="1900"/>
              <a:t>Result: Diminishing returns—increasing threads from 1 to 16 only yields a 3.8× speedup.</a:t>
            </a:r>
            <a:endParaRPr sz="1900"/>
          </a:p>
          <a:p>
            <a:pPr indent="-340201" lvl="0" marL="457200" rtl="0" algn="l">
              <a:spcBef>
                <a:spcPts val="0"/>
              </a:spcBef>
              <a:spcAft>
                <a:spcPts val="0"/>
              </a:spcAft>
              <a:buSzPct val="100000"/>
              <a:buChar char="●"/>
            </a:pPr>
            <a:r>
              <a:rPr lang="en" sz="1900"/>
              <a:t>Tradeoffs in "Decomposition" Strategies:</a:t>
            </a:r>
            <a:endParaRPr sz="1900"/>
          </a:p>
          <a:p>
            <a:pPr indent="-340201" lvl="1" marL="914400" rtl="0" algn="l">
              <a:spcBef>
                <a:spcPts val="0"/>
              </a:spcBef>
              <a:spcAft>
                <a:spcPts val="0"/>
              </a:spcAft>
              <a:buSzPct val="100000"/>
              <a:buChar char="○"/>
            </a:pPr>
            <a:r>
              <a:rPr lang="en" sz="1900"/>
              <a:t>Tools like NCFlow and POP explicitly break the network into smaller sub-problems to force parallelism.</a:t>
            </a:r>
            <a:endParaRPr sz="1900"/>
          </a:p>
          <a:p>
            <a:pPr indent="-340201" lvl="1" marL="914400" rtl="0" algn="l">
              <a:spcBef>
                <a:spcPts val="0"/>
              </a:spcBef>
              <a:spcAft>
                <a:spcPts val="0"/>
              </a:spcAft>
              <a:buSzPct val="100000"/>
              <a:buChar char="○"/>
            </a:pPr>
            <a:r>
              <a:rPr lang="en" sz="1900"/>
              <a:t>Speed vs. Quality: By losing the global view, these methods produce lower-quality routes, satisfying 6–32% less traffic than optimal solutions.</a:t>
            </a:r>
            <a:endParaRPr sz="1900"/>
          </a:p>
          <a:p>
            <a:pPr indent="-340201" lvl="1" marL="914400" rtl="0" algn="l">
              <a:spcBef>
                <a:spcPts val="0"/>
              </a:spcBef>
              <a:spcAft>
                <a:spcPts val="0"/>
              </a:spcAft>
              <a:buSzPct val="100000"/>
              <a:buChar char="○"/>
            </a:pPr>
            <a:r>
              <a:rPr lang="en" sz="1900"/>
              <a:t>Coordination Overhead: Merging results from these sub-problems is complex and limits maximum speed</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5" name="Google Shape;95;p19"/>
          <p:cNvPicPr preferRelativeResize="0"/>
          <p:nvPr/>
        </p:nvPicPr>
        <p:blipFill>
          <a:blip r:embed="rId3">
            <a:alphaModFix/>
          </a:blip>
          <a:stretch>
            <a:fillRect/>
          </a:stretch>
        </p:blipFill>
        <p:spPr>
          <a:xfrm>
            <a:off x="294238" y="0"/>
            <a:ext cx="8555526" cy="5143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293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Introducing TEAL</a:t>
            </a:r>
            <a:endParaRPr/>
          </a:p>
          <a:p>
            <a:pPr indent="0" lvl="0" marL="0" rtl="0" algn="l">
              <a:spcBef>
                <a:spcPts val="0"/>
              </a:spcBef>
              <a:spcAft>
                <a:spcPts val="0"/>
              </a:spcAft>
              <a:buNone/>
            </a:pPr>
            <a:r>
              <a:rPr b="1" lang="en" sz="2022">
                <a:solidFill>
                  <a:srgbClr val="FF0000"/>
                </a:solidFill>
              </a:rPr>
              <a:t>T</a:t>
            </a:r>
            <a:r>
              <a:rPr lang="en" sz="2022"/>
              <a:t>raffic </a:t>
            </a:r>
            <a:r>
              <a:rPr b="1" lang="en" sz="2022">
                <a:solidFill>
                  <a:srgbClr val="FF0000"/>
                </a:solidFill>
              </a:rPr>
              <a:t>E</a:t>
            </a:r>
            <a:r>
              <a:rPr lang="en" sz="2022"/>
              <a:t>ngineering </a:t>
            </a:r>
            <a:r>
              <a:rPr b="1" lang="en" sz="2022">
                <a:solidFill>
                  <a:srgbClr val="FF0000"/>
                </a:solidFill>
              </a:rPr>
              <a:t>A</a:t>
            </a:r>
            <a:r>
              <a:rPr lang="en" sz="2022"/>
              <a:t>ccelerated by </a:t>
            </a:r>
            <a:r>
              <a:rPr b="1" lang="en" sz="2022">
                <a:solidFill>
                  <a:srgbClr val="FF0000"/>
                </a:solidFill>
              </a:rPr>
              <a:t>L</a:t>
            </a:r>
            <a:r>
              <a:rPr lang="en" sz="2022"/>
              <a:t>earning</a:t>
            </a:r>
            <a:endParaRPr sz="2022"/>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ML Advantage: Massive Parallelism</a:t>
            </a:r>
            <a:endParaRPr/>
          </a:p>
          <a:p>
            <a:pPr indent="-317500" lvl="1" marL="914400" rtl="0" algn="l">
              <a:spcBef>
                <a:spcPts val="0"/>
              </a:spcBef>
              <a:spcAft>
                <a:spcPts val="0"/>
              </a:spcAft>
              <a:buSzPts val="1400"/>
              <a:buChar char="○"/>
            </a:pPr>
            <a:r>
              <a:rPr lang="en"/>
              <a:t>Unlike sequential LP solvers, Deep Learning relies on matrix multiplications, unlocking the power of thousands of GPU threads.</a:t>
            </a:r>
            <a:endParaRPr/>
          </a:p>
          <a:p>
            <a:pPr indent="-317500" lvl="1" marL="914400" rtl="0" algn="l">
              <a:spcBef>
                <a:spcPts val="0"/>
              </a:spcBef>
              <a:spcAft>
                <a:spcPts val="0"/>
              </a:spcAft>
              <a:buSzPts val="1400"/>
              <a:buChar char="○"/>
            </a:pPr>
            <a:r>
              <a:rPr lang="en"/>
              <a:t>Leverages vast historical WAN data to train models that achieve near-optimal allocation performance.</a:t>
            </a:r>
            <a:endParaRPr/>
          </a:p>
          <a:p>
            <a:pPr indent="-342900" lvl="0" marL="457200" rtl="0" algn="l">
              <a:spcBef>
                <a:spcPts val="0"/>
              </a:spcBef>
              <a:spcAft>
                <a:spcPts val="0"/>
              </a:spcAft>
              <a:buSzPts val="1800"/>
              <a:buChar char="●"/>
            </a:pPr>
            <a:r>
              <a:rPr lang="en"/>
              <a:t>Key Challenges in Application:</a:t>
            </a:r>
            <a:endParaRPr/>
          </a:p>
          <a:p>
            <a:pPr indent="-317500" lvl="1" marL="914400" rtl="0" algn="l">
              <a:spcBef>
                <a:spcPts val="0"/>
              </a:spcBef>
              <a:spcAft>
                <a:spcPts val="0"/>
              </a:spcAft>
              <a:buSzPts val="1400"/>
              <a:buChar char="○"/>
            </a:pPr>
            <a:r>
              <a:rPr lang="en"/>
              <a:t>Topology Ignorance: Naive neural networks ignore the complex connectivity of WANs.</a:t>
            </a:r>
            <a:endParaRPr/>
          </a:p>
          <a:p>
            <a:pPr indent="-317500" lvl="1" marL="914400" rtl="0" algn="l">
              <a:spcBef>
                <a:spcPts val="0"/>
              </a:spcBef>
              <a:spcAft>
                <a:spcPts val="0"/>
              </a:spcAft>
              <a:buSzPts val="1400"/>
              <a:buChar char="○"/>
            </a:pPr>
            <a:r>
              <a:rPr lang="en"/>
              <a:t>The "Curse of Dimensionality": A 1,000-node network requires up to 4 million decision variables. Training a single "monolithic" model for this is intractable.</a:t>
            </a:r>
            <a:endParaRPr/>
          </a:p>
          <a:p>
            <a:pPr indent="-317500" lvl="1" marL="914400" rtl="0" algn="l">
              <a:spcBef>
                <a:spcPts val="0"/>
              </a:spcBef>
              <a:spcAft>
                <a:spcPts val="0"/>
              </a:spcAft>
              <a:buSzPts val="1400"/>
              <a:buChar char="○"/>
            </a:pPr>
            <a:r>
              <a:rPr lang="en"/>
              <a:t>Safety &amp; Constraints: Neural networks are "soft" processors; they cannot strictly enforce hard constraints (e.g., link capacity), risking packet drops and network failure.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 FlowGNN</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Problem: Standard NNs view networks as simple lists of numbers, missing the graph structure.</a:t>
            </a:r>
            <a:endParaRPr/>
          </a:p>
          <a:p>
            <a:pPr indent="-317500" lvl="1" marL="914400" rtl="0" algn="l">
              <a:spcBef>
                <a:spcPts val="0"/>
              </a:spcBef>
              <a:spcAft>
                <a:spcPts val="0"/>
              </a:spcAft>
              <a:buSzPts val="1400"/>
              <a:buChar char="○"/>
            </a:pPr>
            <a:r>
              <a:rPr lang="en"/>
              <a:t>Solution: FlowGNN (Custom Graph Neural Network)</a:t>
            </a:r>
            <a:endParaRPr/>
          </a:p>
          <a:p>
            <a:pPr indent="-317500" lvl="1" marL="914400" rtl="0" algn="l">
              <a:spcBef>
                <a:spcPts val="0"/>
              </a:spcBef>
              <a:spcAft>
                <a:spcPts val="0"/>
              </a:spcAft>
              <a:buSzPts val="1400"/>
              <a:buChar char="○"/>
            </a:pPr>
            <a:r>
              <a:rPr lang="en"/>
              <a:t>Models the network explicitly, treating both physical links (edges) and traffic routes (paths) as nodes in a graph.</a:t>
            </a:r>
            <a:endParaRPr/>
          </a:p>
          <a:p>
            <a:pPr indent="-342900" lvl="0" marL="457200" rtl="0" algn="l">
              <a:spcBef>
                <a:spcPts val="0"/>
              </a:spcBef>
              <a:spcAft>
                <a:spcPts val="0"/>
              </a:spcAft>
              <a:buSzPts val="1800"/>
              <a:buChar char="●"/>
            </a:pPr>
            <a:r>
              <a:rPr lang="en"/>
              <a:t>The Mechanism: Alternating Layers</a:t>
            </a:r>
            <a:endParaRPr/>
          </a:p>
          <a:p>
            <a:pPr indent="-317500" lvl="1" marL="914400" rtl="0" algn="l">
              <a:spcBef>
                <a:spcPts val="0"/>
              </a:spcBef>
              <a:spcAft>
                <a:spcPts val="0"/>
              </a:spcAft>
              <a:buSzPts val="1400"/>
              <a:buChar char="○"/>
            </a:pPr>
            <a:r>
              <a:rPr lang="en"/>
              <a:t>GNN Layers (Capacity): "EdgeNodes" exchange info with "PathNodes" to identify congestion on physical cables.</a:t>
            </a:r>
            <a:endParaRPr/>
          </a:p>
          <a:p>
            <a:pPr indent="-317500" lvl="1" marL="914400" rtl="0" algn="l">
              <a:spcBef>
                <a:spcPts val="0"/>
              </a:spcBef>
              <a:spcAft>
                <a:spcPts val="0"/>
              </a:spcAft>
              <a:buSzPts val="1400"/>
              <a:buChar char="○"/>
            </a:pPr>
            <a:r>
              <a:rPr lang="en"/>
              <a:t>DNN Layers (Demand): Coordinates all available paths for a single demand to split traffic effectively.</a:t>
            </a:r>
            <a:endParaRPr/>
          </a:p>
          <a:p>
            <a:pPr indent="-342900" lvl="0" marL="457200" rtl="0" algn="l">
              <a:spcBef>
                <a:spcPts val="0"/>
              </a:spcBef>
              <a:spcAft>
                <a:spcPts val="0"/>
              </a:spcAft>
              <a:buSzPts val="1800"/>
              <a:buChar char="●"/>
            </a:pPr>
            <a:r>
              <a:rPr lang="en"/>
              <a:t>The Result: Transforms raw data into rich "flow embeddings"—compact summaries of network state and flow interference.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 Divide and Conquer with Multi-Agent RL</a:t>
            </a:r>
            <a:endParaRPr/>
          </a:p>
        </p:txBody>
      </p:sp>
      <p:sp>
        <p:nvSpPr>
          <p:cNvPr id="113" name="Google Shape;113;p22"/>
          <p:cNvSpPr txBox="1"/>
          <p:nvPr>
            <p:ph idx="1" type="body"/>
          </p:nvPr>
        </p:nvSpPr>
        <p:spPr>
          <a:xfrm>
            <a:off x="311700" y="1152475"/>
            <a:ext cx="8520600" cy="3852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 The "Curse of Dimensionality"</a:t>
            </a:r>
            <a:endParaRPr/>
          </a:p>
          <a:p>
            <a:pPr indent="-342900" lvl="0" marL="457200" rtl="0" algn="l">
              <a:spcBef>
                <a:spcPts val="0"/>
              </a:spcBef>
              <a:spcAft>
                <a:spcPts val="0"/>
              </a:spcAft>
              <a:buSzPts val="1800"/>
              <a:buChar char="●"/>
            </a:pPr>
            <a:r>
              <a:rPr lang="en"/>
              <a:t>Independent Agents: TEAL treats each traffic demand as an independent agent.</a:t>
            </a:r>
            <a:endParaRPr/>
          </a:p>
          <a:p>
            <a:pPr indent="-342900" lvl="0" marL="457200" rtl="0" algn="l">
              <a:spcBef>
                <a:spcPts val="0"/>
              </a:spcBef>
              <a:spcAft>
                <a:spcPts val="0"/>
              </a:spcAft>
              <a:buSzPts val="1800"/>
              <a:buChar char="●"/>
            </a:pPr>
            <a:r>
              <a:rPr lang="en"/>
              <a:t>Shared Knowledge: All agents share a single, lightweight "policy network" (just 4 split ratios per agent).</a:t>
            </a:r>
            <a:endParaRPr/>
          </a:p>
          <a:p>
            <a:pPr indent="-342900" lvl="0" marL="457200" rtl="0" algn="l">
              <a:spcBef>
                <a:spcPts val="0"/>
              </a:spcBef>
              <a:spcAft>
                <a:spcPts val="0"/>
              </a:spcAft>
              <a:buSzPts val="1800"/>
              <a:buChar char="●"/>
            </a:pPr>
            <a:r>
              <a:rPr lang="en"/>
              <a:t>Global Objective: Agents are trained using Centralized Training, Decentralized Execution. They make local decisions that optimize a global reward (e.g., total network throughput)</a:t>
            </a:r>
            <a:r>
              <a:rPr lang="en"/>
              <a:t>.</a:t>
            </a:r>
            <a:endParaRPr/>
          </a:p>
          <a:p>
            <a:pPr indent="-342900" lvl="0" marL="457200" rtl="0" algn="l">
              <a:spcBef>
                <a:spcPts val="0"/>
              </a:spcBef>
              <a:spcAft>
                <a:spcPts val="0"/>
              </a:spcAft>
              <a:buSzPts val="1800"/>
              <a:buChar char="●"/>
            </a:pPr>
            <a:r>
              <a:rPr lang="en"/>
              <a:t>Benefit:</a:t>
            </a:r>
            <a:endParaRPr/>
          </a:p>
          <a:p>
            <a:pPr indent="-317500" lvl="1" marL="914400" rtl="0" algn="l">
              <a:spcBef>
                <a:spcPts val="0"/>
              </a:spcBef>
              <a:spcAft>
                <a:spcPts val="0"/>
              </a:spcAft>
              <a:buSzPts val="1400"/>
              <a:buChar char="○"/>
            </a:pPr>
            <a:r>
              <a:rPr lang="en"/>
              <a:t>Reduces the problem scale from millions of variables to a handful.</a:t>
            </a:r>
            <a:endParaRPr/>
          </a:p>
          <a:p>
            <a:pPr indent="-317500" lvl="1" marL="914400" rtl="0" algn="l">
              <a:spcBef>
                <a:spcPts val="0"/>
              </a:spcBef>
              <a:spcAft>
                <a:spcPts val="0"/>
              </a:spcAft>
              <a:buSzPts val="1400"/>
              <a:buChar char="○"/>
            </a:pPr>
            <a:r>
              <a:rPr lang="en"/>
              <a:t>Allows the system to scale indefinitely with network size without retraining.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 Safety via ADMM</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61950" lvl="0" marL="457200" rtl="0" algn="l">
              <a:lnSpc>
                <a:spcPct val="95000"/>
              </a:lnSpc>
              <a:spcBef>
                <a:spcPts val="0"/>
              </a:spcBef>
              <a:spcAft>
                <a:spcPts val="0"/>
              </a:spcAft>
              <a:buSzPts val="2100"/>
              <a:buChar char="●"/>
            </a:pPr>
            <a:r>
              <a:rPr lang="en" sz="2100"/>
              <a:t>Problem: Neural Networks are "Soft"</a:t>
            </a:r>
            <a:endParaRPr sz="2100"/>
          </a:p>
          <a:p>
            <a:pPr indent="-336550" lvl="1" marL="914400" rtl="0" algn="l">
              <a:lnSpc>
                <a:spcPct val="95000"/>
              </a:lnSpc>
              <a:spcBef>
                <a:spcPts val="0"/>
              </a:spcBef>
              <a:spcAft>
                <a:spcPts val="0"/>
              </a:spcAft>
              <a:buSzPts val="1700"/>
              <a:buChar char="○"/>
            </a:pPr>
            <a:r>
              <a:rPr lang="en" sz="1700"/>
              <a:t>Deep Learning provides approximations, not exact answers.</a:t>
            </a:r>
            <a:endParaRPr sz="1700"/>
          </a:p>
          <a:p>
            <a:pPr indent="-361950" lvl="0" marL="457200" rtl="0" algn="l">
              <a:lnSpc>
                <a:spcPct val="95000"/>
              </a:lnSpc>
              <a:spcBef>
                <a:spcPts val="0"/>
              </a:spcBef>
              <a:spcAft>
                <a:spcPts val="0"/>
              </a:spcAft>
              <a:buSzPts val="2100"/>
              <a:buChar char="●"/>
            </a:pPr>
            <a:r>
              <a:rPr lang="en" sz="2100"/>
              <a:t>A "Safety Net": The output of the neural network is passed through ADMM (Alternating Direction Method of Multipliers).</a:t>
            </a:r>
            <a:endParaRPr sz="2100"/>
          </a:p>
          <a:p>
            <a:pPr indent="-361950" lvl="0" marL="457200" rtl="0" algn="l">
              <a:lnSpc>
                <a:spcPct val="95000"/>
              </a:lnSpc>
              <a:spcBef>
                <a:spcPts val="0"/>
              </a:spcBef>
              <a:spcAft>
                <a:spcPts val="0"/>
              </a:spcAft>
              <a:buSzPts val="2100"/>
              <a:buChar char="●"/>
            </a:pPr>
            <a:r>
              <a:rPr lang="en" sz="2100"/>
              <a:t>Mathematical Projection: ADMM takes the "unsafe" approximate solution and mathematically projects it into the "feasible" region.</a:t>
            </a:r>
            <a:endParaRPr sz="2100"/>
          </a:p>
          <a:p>
            <a:pPr indent="-361950" lvl="0" marL="457200" rtl="0" algn="l">
              <a:lnSpc>
                <a:spcPct val="95000"/>
              </a:lnSpc>
              <a:spcBef>
                <a:spcPts val="0"/>
              </a:spcBef>
              <a:spcAft>
                <a:spcPts val="0"/>
              </a:spcAft>
              <a:buSzPts val="2100"/>
              <a:buChar char="●"/>
            </a:pPr>
            <a:r>
              <a:rPr lang="en" sz="2100"/>
              <a:t>Speed: Because the neural network provides a high-quality "warm start," ADMM converges in just 2–5 iterations (milliseconds)</a:t>
            </a:r>
            <a:endParaRPr sz="2100"/>
          </a:p>
          <a:p>
            <a:pPr indent="-361950" lvl="0" marL="457200" rtl="0" algn="l">
              <a:lnSpc>
                <a:spcPct val="95000"/>
              </a:lnSpc>
              <a:spcBef>
                <a:spcPts val="0"/>
              </a:spcBef>
              <a:spcAft>
                <a:spcPts val="0"/>
              </a:spcAft>
              <a:buSzPts val="2100"/>
              <a:buChar char="●"/>
            </a:pPr>
            <a:r>
              <a:rPr lang="en" sz="2100"/>
              <a:t>Benefit:</a:t>
            </a:r>
            <a:endParaRPr sz="2100"/>
          </a:p>
          <a:p>
            <a:pPr indent="-336550" lvl="1" marL="914400" rtl="0" algn="l">
              <a:lnSpc>
                <a:spcPct val="95000"/>
              </a:lnSpc>
              <a:spcBef>
                <a:spcPts val="0"/>
              </a:spcBef>
              <a:spcAft>
                <a:spcPts val="0"/>
              </a:spcAft>
              <a:buSzPts val="1700"/>
              <a:buChar char="○"/>
            </a:pPr>
            <a:r>
              <a:rPr lang="en" sz="1700"/>
              <a:t>Strictly enforces hard constraints.</a:t>
            </a:r>
            <a:endParaRPr sz="1700"/>
          </a:p>
          <a:p>
            <a:pPr indent="-336550" lvl="1" marL="914400" rtl="0" algn="l">
              <a:lnSpc>
                <a:spcPct val="95000"/>
              </a:lnSpc>
              <a:spcBef>
                <a:spcPts val="0"/>
              </a:spcBef>
              <a:spcAft>
                <a:spcPts val="0"/>
              </a:spcAft>
              <a:buSzPts val="1700"/>
              <a:buChar char="○"/>
            </a:pPr>
            <a:r>
              <a:rPr lang="en" sz="1700"/>
              <a:t>Ensures zero violations without the long runtime of a full solver.</a:t>
            </a:r>
            <a:endParaRPr sz="1700"/>
          </a:p>
          <a:p>
            <a:pPr indent="0" lvl="0" marL="0" rtl="0" algn="l">
              <a:lnSpc>
                <a:spcPct val="95000"/>
              </a:lnSpc>
              <a:spcBef>
                <a:spcPts val="1200"/>
              </a:spcBef>
              <a:spcAft>
                <a:spcPts val="1200"/>
              </a:spcAft>
              <a:buNone/>
            </a:pPr>
            <a:r>
              <a:t/>
            </a:r>
            <a:endParaRPr sz="2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6" name="Google Shape;126;p24"/>
          <p:cNvPicPr preferRelativeResize="0"/>
          <p:nvPr/>
        </p:nvPicPr>
        <p:blipFill>
          <a:blip r:embed="rId3">
            <a:alphaModFix/>
          </a:blip>
          <a:stretch>
            <a:fillRect/>
          </a:stretch>
        </p:blipFill>
        <p:spPr>
          <a:xfrm>
            <a:off x="542925" y="314325"/>
            <a:ext cx="8058150" cy="451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 &amp; Results</a:t>
            </a:r>
            <a:endParaRPr/>
          </a:p>
          <a:p>
            <a:pPr indent="0" lvl="0" marL="0" rtl="0" algn="l">
              <a:spcBef>
                <a:spcPts val="0"/>
              </a:spcBef>
              <a:spcAft>
                <a:spcPts val="0"/>
              </a:spcAft>
              <a:buNone/>
            </a:pPr>
            <a:r>
              <a:t/>
            </a:r>
            <a:endParaRPr/>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Real-World Testing:</a:t>
            </a:r>
            <a:endParaRPr sz="2100"/>
          </a:p>
          <a:p>
            <a:pPr indent="-336550" lvl="1" marL="914400" rtl="0" algn="l">
              <a:spcBef>
                <a:spcPts val="0"/>
              </a:spcBef>
              <a:spcAft>
                <a:spcPts val="0"/>
              </a:spcAft>
              <a:buSzPts val="1700"/>
              <a:buChar char="○"/>
            </a:pPr>
            <a:r>
              <a:rPr lang="en" sz="1700"/>
              <a:t>Evaluated using </a:t>
            </a:r>
            <a:r>
              <a:rPr lang="en" sz="1700"/>
              <a:t>traffic matrices from Microsoft’s production WAN.</a:t>
            </a:r>
            <a:endParaRPr sz="1700"/>
          </a:p>
          <a:p>
            <a:pPr indent="-336550" lvl="1" marL="914400" rtl="0" algn="l">
              <a:spcBef>
                <a:spcPts val="0"/>
              </a:spcBef>
              <a:spcAft>
                <a:spcPts val="0"/>
              </a:spcAft>
              <a:buSzPts val="1700"/>
              <a:buChar char="○"/>
            </a:pPr>
            <a:r>
              <a:rPr lang="en" sz="1700"/>
              <a:t>Tested on massiv</a:t>
            </a:r>
            <a:r>
              <a:rPr lang="en" sz="1700"/>
              <a:t>e topologies (&gt;1,700 nodes).</a:t>
            </a:r>
            <a:endParaRPr sz="1700"/>
          </a:p>
          <a:p>
            <a:pPr indent="-361950" lvl="0" marL="457200" rtl="0" algn="l">
              <a:spcBef>
                <a:spcPts val="0"/>
              </a:spcBef>
              <a:spcAft>
                <a:spcPts val="0"/>
              </a:spcAft>
              <a:buSzPts val="2100"/>
              <a:buChar char="●"/>
            </a:pPr>
            <a:r>
              <a:rPr lang="en" sz="2100"/>
              <a:t>Speed vs. Quality:</a:t>
            </a:r>
            <a:endParaRPr sz="2100"/>
          </a:p>
          <a:p>
            <a:pPr indent="-336550" lvl="1" marL="914400" rtl="0" algn="l">
              <a:spcBef>
                <a:spcPts val="0"/>
              </a:spcBef>
              <a:spcAft>
                <a:spcPts val="0"/>
              </a:spcAft>
              <a:buSzPts val="1700"/>
              <a:buChar char="○"/>
            </a:pPr>
            <a:r>
              <a:rPr lang="en" sz="1700"/>
              <a:t>Speed: TEAL runs 197–625× faster than other acceleration schemes (NCFlow, POP).</a:t>
            </a:r>
            <a:endParaRPr sz="1700"/>
          </a:p>
          <a:p>
            <a:pPr indent="-336550" lvl="1" marL="914400" rtl="0" algn="l">
              <a:spcBef>
                <a:spcPts val="0"/>
              </a:spcBef>
              <a:spcAft>
                <a:spcPts val="0"/>
              </a:spcAft>
              <a:buSzPts val="1700"/>
              <a:buChar char="○"/>
            </a:pPr>
            <a:r>
              <a:rPr lang="en" sz="1700"/>
              <a:t>Quality: Satisfies 6–32% more traffic demand than those same schemes.</a:t>
            </a:r>
            <a:endParaRPr sz="1700"/>
          </a:p>
          <a:p>
            <a:pPr indent="-336550" lvl="1" marL="914400" rtl="0" algn="l">
              <a:spcBef>
                <a:spcPts val="0"/>
              </a:spcBef>
              <a:spcAft>
                <a:spcPts val="0"/>
              </a:spcAft>
              <a:buSzPts val="1700"/>
              <a:buChar char="○"/>
            </a:pPr>
            <a:r>
              <a:rPr lang="en" sz="1700"/>
              <a:t>Latency: Computes global routing in &lt;1 second, enabling real-time reaction to failures</a:t>
            </a:r>
            <a:r>
              <a:rPr lang="en" sz="1700"/>
              <a:t>.</a:t>
            </a:r>
            <a:endParaRPr sz="1700"/>
          </a:p>
          <a:p>
            <a:pPr indent="-361950" lvl="0" marL="457200" rtl="0" algn="l">
              <a:spcBef>
                <a:spcPts val="0"/>
              </a:spcBef>
              <a:spcAft>
                <a:spcPts val="0"/>
              </a:spcAft>
              <a:buSzPts val="2100"/>
              <a:buChar char="●"/>
            </a:pPr>
            <a:r>
              <a:rPr lang="en" sz="2100"/>
              <a:t>Conclusion: TEAL achieves near-optimal performance (matching full LP solvers) but does so in milliseconds rather than hours.</a:t>
            </a:r>
            <a:endParaRPr sz="2100"/>
          </a:p>
          <a:p>
            <a:pPr indent="0" lvl="0" marL="0" rtl="0" algn="l">
              <a:spcBef>
                <a:spcPts val="1200"/>
              </a:spcBef>
              <a:spcAft>
                <a:spcPts val="1200"/>
              </a:spcAft>
              <a:buNone/>
            </a:pPr>
            <a:r>
              <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8" name="Google Shape;13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9" name="Google Shape;139;p26"/>
          <p:cNvPicPr preferRelativeResize="0"/>
          <p:nvPr/>
        </p:nvPicPr>
        <p:blipFill>
          <a:blip r:embed="rId3">
            <a:alphaModFix/>
          </a:blip>
          <a:stretch>
            <a:fillRect/>
          </a:stretch>
        </p:blipFill>
        <p:spPr>
          <a:xfrm>
            <a:off x="0" y="698500"/>
            <a:ext cx="9144001" cy="3746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45" name="Google Shape;145;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Scalability Crisis is Solved?</a:t>
            </a:r>
            <a:endParaRPr sz="2200"/>
          </a:p>
          <a:p>
            <a:pPr indent="-368300" lvl="0" marL="457200" rtl="0" algn="l">
              <a:spcBef>
                <a:spcPts val="0"/>
              </a:spcBef>
              <a:spcAft>
                <a:spcPts val="0"/>
              </a:spcAft>
              <a:buSzPts val="2200"/>
              <a:buChar char="●"/>
            </a:pPr>
            <a:r>
              <a:rPr lang="en" sz="2200"/>
              <a:t>TEAL’s Contribution:</a:t>
            </a:r>
            <a:endParaRPr sz="2200"/>
          </a:p>
          <a:p>
            <a:pPr indent="-342900" lvl="1" marL="914400" rtl="0" algn="l">
              <a:spcBef>
                <a:spcPts val="0"/>
              </a:spcBef>
              <a:spcAft>
                <a:spcPts val="0"/>
              </a:spcAft>
              <a:buSzPts val="1800"/>
              <a:buChar char="○"/>
            </a:pPr>
            <a:r>
              <a:rPr lang="en" sz="1800"/>
              <a:t>Parallelism: Unlocks GPU power for Traffic Engineering.</a:t>
            </a:r>
            <a:endParaRPr sz="1800"/>
          </a:p>
          <a:p>
            <a:pPr indent="-342900" lvl="1" marL="914400" rtl="0" algn="l">
              <a:spcBef>
                <a:spcPts val="0"/>
              </a:spcBef>
              <a:spcAft>
                <a:spcPts val="0"/>
              </a:spcAft>
              <a:buSzPts val="1800"/>
              <a:buChar char="○"/>
            </a:pPr>
            <a:r>
              <a:rPr lang="en" sz="1800"/>
              <a:t>Architecture: Combines Graph Neural Networks (topology), Multi-Agent RL (scale), and ADMM (safety)</a:t>
            </a:r>
            <a:r>
              <a:rPr lang="en" sz="1800"/>
              <a:t>.</a:t>
            </a:r>
            <a:endParaRPr sz="1800"/>
          </a:p>
          <a:p>
            <a:pPr indent="-368300" lvl="0" marL="457200" rtl="0" algn="l">
              <a:spcBef>
                <a:spcPts val="0"/>
              </a:spcBef>
              <a:spcAft>
                <a:spcPts val="0"/>
              </a:spcAft>
              <a:buSzPts val="2200"/>
              <a:buChar char="●"/>
            </a:pPr>
            <a:r>
              <a:rPr lang="en" sz="2200"/>
              <a:t>Impact:</a:t>
            </a:r>
            <a:endParaRPr sz="2200"/>
          </a:p>
          <a:p>
            <a:pPr indent="-342900" lvl="1" marL="914400" rtl="0" algn="l">
              <a:spcBef>
                <a:spcPts val="0"/>
              </a:spcBef>
              <a:spcAft>
                <a:spcPts val="0"/>
              </a:spcAft>
              <a:buSzPts val="1800"/>
              <a:buChar char="○"/>
            </a:pPr>
            <a:r>
              <a:rPr lang="en" sz="1800"/>
              <a:t>Enables real-time control for planet-scale networks</a:t>
            </a:r>
            <a:r>
              <a:rPr lang="en" sz="1800"/>
              <a:t>.</a:t>
            </a:r>
            <a:endParaRPr sz="1800"/>
          </a:p>
          <a:p>
            <a:pPr indent="-342900" lvl="1" marL="914400" rtl="0" algn="l">
              <a:spcBef>
                <a:spcPts val="0"/>
              </a:spcBef>
              <a:spcAft>
                <a:spcPts val="0"/>
              </a:spcAft>
              <a:buSzPts val="1800"/>
              <a:buChar char="○"/>
            </a:pPr>
            <a:r>
              <a:rPr lang="en" sz="1800"/>
              <a:t>Ensures high throughput and reliability even as networks grow to thousands of nodes.</a:t>
            </a:r>
            <a:endParaRPr sz="1800"/>
          </a:p>
          <a:p>
            <a:pPr indent="0" lvl="0" marL="0" rtl="0" algn="l">
              <a:spcBef>
                <a:spcPts val="1200"/>
              </a:spcBef>
              <a:spcAft>
                <a:spcPts val="1200"/>
              </a:spcAft>
              <a:buNone/>
            </a:pPr>
            <a:r>
              <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