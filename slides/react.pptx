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roxima Nova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Open Sans SemiBold"/>
      <p:regular r:id="rId28"/>
      <p:bold r:id="rId29"/>
      <p:italic r:id="rId30"/>
      <p:boldItalic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B2B06B-7442-41D6-917E-37BFE632D0B3}">
  <a:tblStyle styleId="{32B2B06B-7442-41D6-917E-37BFE632D0B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regular.fntdata"/><Relationship Id="rId22" Type="http://schemas.openxmlformats.org/officeDocument/2006/relationships/font" Target="fonts/ProximaNova-italic.fntdata"/><Relationship Id="rId21" Type="http://schemas.openxmlformats.org/officeDocument/2006/relationships/font" Target="fonts/ProximaNova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ProximaNov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OpenSansSemiBold-regular.fntdata"/><Relationship Id="rId27" Type="http://schemas.openxmlformats.org/officeDocument/2006/relationships/font" Target="fonts/Montserra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SemiBold-boldItalic.fntdata"/><Relationship Id="rId30" Type="http://schemas.openxmlformats.org/officeDocument/2006/relationships/font" Target="fonts/OpenSansSemiBold-italic.fntdata"/><Relationship Id="rId11" Type="http://schemas.openxmlformats.org/officeDocument/2006/relationships/slide" Target="slides/slide5.xml"/><Relationship Id="rId33" Type="http://schemas.openxmlformats.org/officeDocument/2006/relationships/font" Target="fonts/OpenSans-bold.fntdata"/><Relationship Id="rId10" Type="http://schemas.openxmlformats.org/officeDocument/2006/relationships/slide" Target="slides/slide4.xml"/><Relationship Id="rId32" Type="http://schemas.openxmlformats.org/officeDocument/2006/relationships/font" Target="fonts/OpenSans-regular.fntdata"/><Relationship Id="rId13" Type="http://schemas.openxmlformats.org/officeDocument/2006/relationships/slide" Target="slides/slide7.xml"/><Relationship Id="rId35" Type="http://schemas.openxmlformats.org/officeDocument/2006/relationships/font" Target="fonts/OpenSans-boldItalic.fntdata"/><Relationship Id="rId12" Type="http://schemas.openxmlformats.org/officeDocument/2006/relationships/slide" Target="slides/slide6.xml"/><Relationship Id="rId34" Type="http://schemas.openxmlformats.org/officeDocument/2006/relationships/font" Target="fonts/OpenSans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34e680150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34e68015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3997533"/>
            <a:ext cx="12192000" cy="0"/>
          </a:xfrm>
          <a:prstGeom prst="straightConnector1">
            <a:avLst/>
          </a:prstGeom>
          <a:noFill/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680600" y="1676400"/>
            <a:ext cx="10830900" cy="2118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680600" y="4243083"/>
            <a:ext cx="10830900" cy="840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3997533"/>
            <a:ext cx="12192000" cy="0"/>
          </a:xfrm>
          <a:prstGeom prst="straightConnector1">
            <a:avLst/>
          </a:prstGeom>
          <a:noFill/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680600" y="2743200"/>
            <a:ext cx="10830900" cy="10383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653667" y="701800"/>
            <a:ext cx="77301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6096000" y="10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354000" y="1607767"/>
            <a:ext cx="5393700" cy="2012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354000" y="3692001"/>
            <a:ext cx="5393700" cy="179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415600" y="5649100"/>
            <a:ext cx="7998300" cy="79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415600" y="1321967"/>
            <a:ext cx="11360700" cy="255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415600" y="4095067"/>
            <a:ext cx="11360700" cy="1202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/>
              <a:buNone/>
              <a:defRPr sz="3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/>
              <a:buNone/>
              <a:defRPr sz="3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/>
              <a:buNone/>
              <a:defRPr sz="3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/>
              <a:buNone/>
              <a:defRPr sz="3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/>
              <a:buNone/>
              <a:defRPr sz="3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/>
              <a:buNone/>
              <a:defRPr sz="3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/>
              <a:buNone/>
              <a:defRPr sz="3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/>
              <a:buNone/>
              <a:defRPr sz="3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/>
              <a:buNone/>
              <a:defRPr sz="3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Proxima Nova"/>
              <a:buChar char="●"/>
              <a:defRPr sz="24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/>
              <a:buChar char="○"/>
              <a:defRPr sz="19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/>
              <a:buChar char="■"/>
              <a:defRPr sz="19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/>
              <a:buChar char="●"/>
              <a:defRPr sz="19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/>
              <a:buChar char="○"/>
              <a:defRPr sz="19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/>
              <a:buChar char="■"/>
              <a:defRPr sz="19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/>
              <a:buChar char="●"/>
              <a:defRPr sz="19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/>
              <a:buChar char="○"/>
              <a:defRPr sz="19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/>
              <a:buChar char="■"/>
              <a:defRPr sz="19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Relationship Id="rId5" Type="http://schemas.openxmlformats.org/officeDocument/2006/relationships/image" Target="../media/image1.png"/><Relationship Id="rId6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5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8.jpg"/><Relationship Id="rId4" Type="http://schemas.openxmlformats.org/officeDocument/2006/relationships/image" Target="../media/image3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Relationship Id="rId4" Type="http://schemas.openxmlformats.org/officeDocument/2006/relationships/image" Target="../media/image28.png"/><Relationship Id="rId5" Type="http://schemas.openxmlformats.org/officeDocument/2006/relationships/image" Target="../media/image37.png"/><Relationship Id="rId6" Type="http://schemas.openxmlformats.org/officeDocument/2006/relationships/image" Target="../media/image29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Relationship Id="rId4" Type="http://schemas.openxmlformats.org/officeDocument/2006/relationships/image" Target="../media/image33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FF5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9" name="Google Shape;5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0" y="3986212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295275" y="585787"/>
            <a:ext cx="1160145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E4D48"/>
                </a:solidFill>
                <a:latin typeface="Montserrat"/>
                <a:ea typeface="Montserrat"/>
                <a:cs typeface="Montserrat"/>
                <a:sym typeface="Montserrat"/>
              </a:rPr>
              <a:t>ReAct: Synergizing Reasoning and Acting in Language Models</a:t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571500" y="2357437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77DDAA"/>
                </a:solidFill>
                <a:latin typeface="Open Sans"/>
                <a:ea typeface="Open Sans"/>
                <a:cs typeface="Open Sans"/>
                <a:sym typeface="Open Sans"/>
              </a:rPr>
              <a:t>CIS4930-0001 | Florida State University</a:t>
            </a:r>
            <a:endParaRPr/>
          </a:p>
        </p:txBody>
      </p:sp>
      <p:sp>
        <p:nvSpPr>
          <p:cNvPr id="62" name="Google Shape;62;p13"/>
          <p:cNvSpPr txBox="1"/>
          <p:nvPr/>
        </p:nvSpPr>
        <p:spPr>
          <a:xfrm>
            <a:off x="571500" y="329088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Research Paper Analysis: Yao et al. (2022)</a:t>
            </a:r>
            <a:endParaRPr/>
          </a:p>
        </p:txBody>
      </p:sp>
      <p:pic>
        <p:nvPicPr>
          <p:cNvPr descr="image.png" id="63" name="Google Shape;6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3500" y="3986212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FF5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8" name="Google Shape;6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147887"/>
            <a:ext cx="5238750" cy="35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571500" y="1797150"/>
            <a:ext cx="52389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Prior to ReAct, Large Language Models (LLMs) operated in two isolated modes:</a:t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571500" y="5073750"/>
            <a:ext cx="5238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Result: </a:t>
            </a:r>
            <a:r>
              <a:rPr lang="en-US" sz="1650">
                <a:solidFill>
                  <a:srgbClr val="2C3E5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An agent can think about a task, and an agent can manipulate a tool, but it cannot do both at the same time.</a:t>
            </a:r>
            <a:endParaRPr/>
          </a:p>
        </p:txBody>
      </p:sp>
      <p:pic>
        <p:nvPicPr>
          <p:cNvPr descr="image.png" id="71" name="Google Shape;7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9850" y="2185987"/>
            <a:ext cx="5162550" cy="35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/>
        </p:nvSpPr>
        <p:spPr>
          <a:xfrm>
            <a:off x="952500" y="2711550"/>
            <a:ext cx="4857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Reasoning (Chain-of-Thought):</a:t>
            </a: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50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Breaks down prompts into a series of thoughts, improving reasoning ability</a:t>
            </a: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952500" y="3845025"/>
            <a:ext cx="4857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Acting (Interaction):</a:t>
            </a: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50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Generates tool calls to services like a search engine API, enabling interaction with the external environment.</a:t>
            </a:r>
            <a:endParaRPr/>
          </a:p>
        </p:txBody>
      </p:sp>
      <p:pic>
        <p:nvPicPr>
          <p:cNvPr descr="image.png" id="74" name="Google Shape;7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496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" name="Google Shape;7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83125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 txBox="1"/>
          <p:nvPr/>
        </p:nvSpPr>
        <p:spPr>
          <a:xfrm>
            <a:off x="571500" y="571500"/>
            <a:ext cx="67808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E4D48"/>
                </a:solidFill>
                <a:latin typeface="Montserrat"/>
                <a:ea typeface="Montserrat"/>
                <a:cs typeface="Montserrat"/>
                <a:sym typeface="Montserrat"/>
              </a:rPr>
              <a:t>The Problem: LLM Logic Gaps</a:t>
            </a:r>
            <a:endParaRPr/>
          </a:p>
        </p:txBody>
      </p:sp>
      <p:sp>
        <p:nvSpPr>
          <p:cNvPr id="77" name="Google Shape;77;p14"/>
          <p:cNvSpPr/>
          <p:nvPr/>
        </p:nvSpPr>
        <p:spPr>
          <a:xfrm>
            <a:off x="571500" y="1181100"/>
            <a:ext cx="6457950" cy="38100"/>
          </a:xfrm>
          <a:prstGeom prst="rect">
            <a:avLst/>
          </a:prstGeom>
          <a:solidFill>
            <a:srgbClr val="77DD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FF5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2" name="Google Shape;8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62150"/>
            <a:ext cx="110490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/>
        </p:nvSpPr>
        <p:spPr>
          <a:xfrm>
            <a:off x="933450" y="2257425"/>
            <a:ext cx="103917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The "Multi-Hop" Difficulty:</a:t>
            </a: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 Most real-world questions (e.g., "What is the capital of the country where the inventor of X was born?") require several steps of info retrieval.</a:t>
            </a:r>
            <a:endParaRPr/>
          </a:p>
        </p:txBody>
      </p:sp>
      <p:sp>
        <p:nvSpPr>
          <p:cNvPr id="84" name="Google Shape;84;p15"/>
          <p:cNvSpPr txBox="1"/>
          <p:nvPr/>
        </p:nvSpPr>
        <p:spPr>
          <a:xfrm>
            <a:off x="952500" y="3467100"/>
            <a:ext cx="106680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Error </a:t>
            </a:r>
            <a:r>
              <a:rPr b="1" lang="en-US" sz="1650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Handling</a:t>
            </a:r>
            <a:r>
              <a:rPr b="1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 In "Action-only" models, a single bad search query leads to a total failure as there is no reasoning to catch the error.</a:t>
            </a:r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952500" y="4286250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Hallucination:</a:t>
            </a: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 "Reasoning-only" models confidently invent facts because they have no "window" to the current world state.</a:t>
            </a:r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952500" y="5105400"/>
            <a:ext cx="106680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Isolated Training:</a:t>
            </a: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 Previous attempts at combining reasoning and acting required fine-tuning models on specific task actions, which didn't generalize well.</a:t>
            </a:r>
            <a:endParaRPr/>
          </a:p>
        </p:txBody>
      </p:sp>
      <p:pic>
        <p:nvPicPr>
          <p:cNvPr descr="image.png" id="87" name="Google Shape;8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052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324350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143500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/>
          <p:nvPr/>
        </p:nvSpPr>
        <p:spPr>
          <a:xfrm>
            <a:off x="571500" y="571500"/>
            <a:ext cx="1005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E4D48"/>
                </a:solidFill>
                <a:latin typeface="Montserrat"/>
                <a:ea typeface="Montserrat"/>
                <a:cs typeface="Montserrat"/>
                <a:sym typeface="Montserrat"/>
              </a:rPr>
              <a:t>Main Challenges in Prior </a:t>
            </a:r>
            <a:r>
              <a:rPr b="1" lang="en-US" sz="3300">
                <a:solidFill>
                  <a:srgbClr val="2E4D48"/>
                </a:solidFill>
                <a:latin typeface="Montserrat"/>
                <a:ea typeface="Montserrat"/>
                <a:cs typeface="Montserrat"/>
                <a:sym typeface="Montserrat"/>
              </a:rPr>
              <a:t>LLMs</a:t>
            </a: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571500" y="1181100"/>
            <a:ext cx="6629400" cy="38100"/>
          </a:xfrm>
          <a:prstGeom prst="rect">
            <a:avLst/>
          </a:prstGeom>
          <a:solidFill>
            <a:srgbClr val="77DD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FF5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470800"/>
            <a:ext cx="5238750" cy="5276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1508900"/>
            <a:ext cx="5162550" cy="52006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 txBox="1"/>
          <p:nvPr/>
        </p:nvSpPr>
        <p:spPr>
          <a:xfrm>
            <a:off x="6381750" y="2352675"/>
            <a:ext cx="550068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2E4D48"/>
                </a:solidFill>
                <a:latin typeface="Montserrat"/>
                <a:ea typeface="Montserrat"/>
                <a:cs typeface="Montserrat"/>
                <a:sym typeface="Montserrat"/>
              </a:rPr>
              <a:t>Bridging Thought and Action</a:t>
            </a:r>
            <a:endParaRPr/>
          </a:p>
        </p:txBody>
      </p:sp>
      <p:sp>
        <p:nvSpPr>
          <p:cNvPr id="99" name="Google Shape;99;p16"/>
          <p:cNvSpPr txBox="1"/>
          <p:nvPr/>
        </p:nvSpPr>
        <p:spPr>
          <a:xfrm>
            <a:off x="6381750" y="2847975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ReAct mimics human behavior: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we talk to ourselves as we solve tasks.</a:t>
            </a:r>
            <a:endParaRPr/>
          </a:p>
        </p:txBody>
      </p:sp>
      <p:sp>
        <p:nvSpPr>
          <p:cNvPr id="100" name="Google Shape;100;p16"/>
          <p:cNvSpPr txBox="1"/>
          <p:nvPr/>
        </p:nvSpPr>
        <p:spPr>
          <a:xfrm>
            <a:off x="6762750" y="3667125"/>
            <a:ext cx="48579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Interleaving:</a:t>
            </a: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 Reasoning helps to plan and adjust actions effectively.</a:t>
            </a:r>
            <a:endParaRPr/>
          </a:p>
        </p:txBody>
      </p:sp>
      <p:sp>
        <p:nvSpPr>
          <p:cNvPr id="101" name="Google Shape;101;p16"/>
          <p:cNvSpPr txBox="1"/>
          <p:nvPr/>
        </p:nvSpPr>
        <p:spPr>
          <a:xfrm>
            <a:off x="6762750" y="4486275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Grounding:</a:t>
            </a: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 Actions provide real-world facts to support reasoning.</a:t>
            </a: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6762750" y="5305425"/>
            <a:ext cx="48579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Reliability:</a:t>
            </a: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 Reduces "hallucination" by </a:t>
            </a:r>
            <a:r>
              <a:rPr lang="en-US" sz="1650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enabling</a:t>
            </a: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 models to cite external observations.</a:t>
            </a:r>
            <a:endParaRPr/>
          </a:p>
        </p:txBody>
      </p:sp>
      <p:pic>
        <p:nvPicPr>
          <p:cNvPr descr="image.png" id="103" name="Google Shape;10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7052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5243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5343525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/>
        </p:nvSpPr>
        <p:spPr>
          <a:xfrm>
            <a:off x="571500" y="571500"/>
            <a:ext cx="5050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E4D48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b="1" lang="en-US" sz="3300">
                <a:solidFill>
                  <a:srgbClr val="2E4D48"/>
                </a:solidFill>
                <a:latin typeface="Montserrat"/>
                <a:ea typeface="Montserrat"/>
                <a:cs typeface="Montserrat"/>
                <a:sym typeface="Montserrat"/>
              </a:rPr>
              <a:t>Solution</a:t>
            </a:r>
            <a:r>
              <a:rPr b="1" i="0" lang="en-US" sz="3300" u="none" cap="none" strike="noStrike">
                <a:solidFill>
                  <a:srgbClr val="2E4D48"/>
                </a:solidFill>
                <a:latin typeface="Montserrat"/>
                <a:ea typeface="Montserrat"/>
                <a:cs typeface="Montserrat"/>
                <a:sym typeface="Montserrat"/>
              </a:rPr>
              <a:t>: Synergy</a:t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571500" y="1181100"/>
            <a:ext cx="4810125" cy="38100"/>
          </a:xfrm>
          <a:prstGeom prst="rect">
            <a:avLst/>
          </a:prstGeom>
          <a:solidFill>
            <a:srgbClr val="77DD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FF5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967037"/>
            <a:ext cx="3492400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2967037"/>
            <a:ext cx="3492549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2967037"/>
            <a:ext cx="3492400" cy="286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7"/>
          <p:cNvSpPr txBox="1"/>
          <p:nvPr/>
        </p:nvSpPr>
        <p:spPr>
          <a:xfrm>
            <a:off x="571500" y="2052637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ReAct </a:t>
            </a:r>
            <a:r>
              <a:rPr lang="en-US" sz="1650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is</a:t>
            </a: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unified paradigm</a:t>
            </a: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 where an LLM generates reasoning traces and actions in an interleaved manner.</a:t>
            </a:r>
            <a:endParaRPr/>
          </a:p>
        </p:txBody>
      </p:sp>
      <p:pic>
        <p:nvPicPr>
          <p:cNvPr descr="image.png" id="116" name="Google Shape;11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32623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 txBox="1"/>
          <p:nvPr/>
        </p:nvSpPr>
        <p:spPr>
          <a:xfrm>
            <a:off x="866775" y="3786187"/>
            <a:ext cx="304694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2E4D48"/>
                </a:solidFill>
                <a:latin typeface="Montserrat"/>
                <a:ea typeface="Montserrat"/>
                <a:cs typeface="Montserrat"/>
                <a:sym typeface="Montserrat"/>
              </a:rPr>
              <a:t>Thought</a:t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866775" y="4281487"/>
            <a:ext cx="29018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The model writes down its plan, synthesizes observations, and tracks what remains to be done.</a:t>
            </a:r>
            <a:endParaRPr/>
          </a:p>
        </p:txBody>
      </p:sp>
      <p:pic>
        <p:nvPicPr>
          <p:cNvPr descr="image.png" id="119" name="Google Shape;11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4925" y="326231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 txBox="1"/>
          <p:nvPr/>
        </p:nvSpPr>
        <p:spPr>
          <a:xfrm>
            <a:off x="4644925" y="3786187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2E4D48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4644925" y="4281487"/>
            <a:ext cx="2901900" cy="13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The model executes a command (e.g., Search, Lookup, Finish) to interact with an external environment.</a:t>
            </a:r>
            <a:endParaRPr sz="1300"/>
          </a:p>
        </p:txBody>
      </p:sp>
      <p:pic>
        <p:nvPicPr>
          <p:cNvPr descr="image.png" id="122" name="Google Shape;12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3225" y="3262312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/>
        </p:nvSpPr>
        <p:spPr>
          <a:xfrm>
            <a:off x="8423225" y="3786187"/>
            <a:ext cx="304694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2E4D48"/>
                </a:solidFill>
                <a:latin typeface="Montserrat"/>
                <a:ea typeface="Montserrat"/>
                <a:cs typeface="Montserrat"/>
                <a:sym typeface="Montserrat"/>
              </a:rPr>
              <a:t>Observation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8423225" y="4281487"/>
            <a:ext cx="29018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The model receives feedback from the environment, which informs the next step of reasoning.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571500" y="571500"/>
            <a:ext cx="7300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E4D48"/>
                </a:solidFill>
                <a:latin typeface="Montserrat"/>
                <a:ea typeface="Montserrat"/>
                <a:cs typeface="Montserrat"/>
                <a:sym typeface="Montserrat"/>
              </a:rPr>
              <a:t>High-Level Overview</a:t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571500" y="1181100"/>
            <a:ext cx="6953250" cy="38100"/>
          </a:xfrm>
          <a:prstGeom prst="rect">
            <a:avLst/>
          </a:prstGeom>
          <a:solidFill>
            <a:srgbClr val="77DD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FF5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/>
        </p:nvSpPr>
        <p:spPr>
          <a:xfrm>
            <a:off x="571500" y="952500"/>
            <a:ext cx="4790598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E4D48"/>
                </a:solidFill>
                <a:latin typeface="Montserrat"/>
                <a:ea typeface="Montserrat"/>
                <a:cs typeface="Montserrat"/>
                <a:sym typeface="Montserrat"/>
              </a:rPr>
              <a:t>A Clever Interleaving</a:t>
            </a:r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571500" y="1847850"/>
            <a:ext cx="49530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ReAct </a:t>
            </a:r>
            <a:r>
              <a:rPr lang="en-US" sz="1650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enables simultaneous </a:t>
            </a:r>
            <a:r>
              <a:rPr lang="en-US" sz="1650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reasoning</a:t>
            </a:r>
            <a:r>
              <a:rPr lang="en-US" sz="1650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 and acting via</a:t>
            </a: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Few-Shot Prompting</a:t>
            </a: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133" name="Google Shape;133;p18"/>
          <p:cNvSpPr txBox="1"/>
          <p:nvPr/>
        </p:nvSpPr>
        <p:spPr>
          <a:xfrm>
            <a:off x="571500" y="5314950"/>
            <a:ext cx="49530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E4D4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ReAct is not just better reasoning; it is </a:t>
            </a:r>
            <a:r>
              <a:rPr b="0" i="0" lang="en-US" sz="1650" u="sng" cap="none" strike="noStrike">
                <a:solidFill>
                  <a:srgbClr val="2E4D4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reasoning that responds to the environment</a:t>
            </a:r>
            <a:r>
              <a:rPr b="0" i="0" lang="en-US" sz="1650" u="none" cap="none" strike="noStrike">
                <a:solidFill>
                  <a:srgbClr val="2E4D4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.</a:t>
            </a:r>
            <a:endParaRPr/>
          </a:p>
        </p:txBody>
      </p:sp>
      <p:pic>
        <p:nvPicPr>
          <p:cNvPr descr="image.png" id="134" name="Google Shape;13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3550" y="241450"/>
            <a:ext cx="5319626" cy="598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/>
          <p:nvPr/>
        </p:nvSpPr>
        <p:spPr>
          <a:xfrm>
            <a:off x="952500" y="2762250"/>
            <a:ext cx="4572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In-Context Learning:</a:t>
            </a: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 By showing the model 3-4 examples of a Thought-Action-Observation loop, it learns to mimic this structure.</a:t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952500" y="3895725"/>
            <a:ext cx="4572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Feedback Loops:</a:t>
            </a: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 If an </a:t>
            </a:r>
            <a:r>
              <a:rPr b="0" i="1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Action</a:t>
            </a: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 returns an error, the next </a:t>
            </a:r>
            <a:r>
              <a:rPr b="0" i="1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Thought</a:t>
            </a: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 recognizes this and reformulates the query.</a:t>
            </a:r>
            <a:endParaRPr/>
          </a:p>
        </p:txBody>
      </p:sp>
      <p:pic>
        <p:nvPicPr>
          <p:cNvPr descr="image.png" id="137" name="Google Shape;13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003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3382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FF5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119437"/>
            <a:ext cx="3492400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3119437"/>
            <a:ext cx="3492549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3119437"/>
            <a:ext cx="349240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/>
        </p:nvSpPr>
        <p:spPr>
          <a:xfrm>
            <a:off x="571500" y="2424112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Prior to ReAct, the field lacked a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dynamic error-correction mechanism</a:t>
            </a: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 that combined the following three traits:</a:t>
            </a:r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866775" y="3414712"/>
            <a:ext cx="304694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2E4D48"/>
                </a:solidFill>
                <a:latin typeface="Montserrat"/>
                <a:ea typeface="Montserrat"/>
                <a:cs typeface="Montserrat"/>
                <a:sym typeface="Montserrat"/>
              </a:rPr>
              <a:t>Traceability</a:t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866775" y="3910012"/>
            <a:ext cx="29018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The ability to see </a:t>
            </a:r>
            <a:r>
              <a:rPr b="0" i="1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why</a:t>
            </a: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 an agent chose a specific action based on its internal logic.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4644925" y="3414712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2E4D48"/>
                </a:solidFill>
                <a:latin typeface="Montserrat"/>
                <a:ea typeface="Montserrat"/>
                <a:cs typeface="Montserrat"/>
                <a:sym typeface="Montserrat"/>
              </a:rPr>
              <a:t>Adaptability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4644925" y="3910012"/>
            <a:ext cx="2901999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The ability to change the search strategy mid-flight if the first search result is "Not Found."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8423225" y="3414712"/>
            <a:ext cx="304694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2E4D48"/>
                </a:solidFill>
                <a:latin typeface="Montserrat"/>
                <a:ea typeface="Montserrat"/>
                <a:cs typeface="Montserrat"/>
                <a:sym typeface="Montserrat"/>
              </a:rPr>
              <a:t>Generalization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8423225" y="3910012"/>
            <a:ext cx="29018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A method that works across different domains (QA, Web-browsing, Games) without retraining.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571500" y="571500"/>
            <a:ext cx="452056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E4D48"/>
                </a:solidFill>
                <a:latin typeface="Montserrat"/>
                <a:ea typeface="Montserrat"/>
                <a:cs typeface="Montserrat"/>
                <a:sym typeface="Montserrat"/>
              </a:rPr>
              <a:t>What Was Missing?</a:t>
            </a:r>
            <a:endParaRPr/>
          </a:p>
        </p:txBody>
      </p:sp>
      <p:sp>
        <p:nvSpPr>
          <p:cNvPr id="154" name="Google Shape;154;p19"/>
          <p:cNvSpPr/>
          <p:nvPr/>
        </p:nvSpPr>
        <p:spPr>
          <a:xfrm>
            <a:off x="571500" y="1181100"/>
            <a:ext cx="4305300" cy="38100"/>
          </a:xfrm>
          <a:prstGeom prst="rect">
            <a:avLst/>
          </a:prstGeom>
          <a:solidFill>
            <a:srgbClr val="77DD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7625" y="-2788"/>
            <a:ext cx="12287250" cy="6863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0" title="Screenshot 2026-02-03 at 5.04.2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525" y="1615050"/>
            <a:ext cx="11572951" cy="4803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FF5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00200"/>
            <a:ext cx="11049000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1"/>
          <p:cNvSpPr txBox="1"/>
          <p:nvPr/>
        </p:nvSpPr>
        <p:spPr>
          <a:xfrm>
            <a:off x="571500" y="2200275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Task: Multi-hop Knowledge Question Answering (Exact Match %)</a:t>
            </a:r>
            <a:endParaRPr/>
          </a:p>
        </p:txBody>
      </p:sp>
      <p:sp>
        <p:nvSpPr>
          <p:cNvPr id="167" name="Google Shape;167;p21"/>
          <p:cNvSpPr txBox="1"/>
          <p:nvPr/>
        </p:nvSpPr>
        <p:spPr>
          <a:xfrm>
            <a:off x="571500" y="537210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Note: ReAct significantly reduces hallucination and improves success in multi-step retrieval.</a:t>
            </a:r>
            <a:endParaRPr/>
          </a:p>
        </p:txBody>
      </p:sp>
      <p:sp>
        <p:nvSpPr>
          <p:cNvPr id="168" name="Google Shape;168;p21"/>
          <p:cNvSpPr txBox="1"/>
          <p:nvPr/>
        </p:nvSpPr>
        <p:spPr>
          <a:xfrm>
            <a:off x="571500" y="571500"/>
            <a:ext cx="7230903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E4D48"/>
                </a:solidFill>
                <a:latin typeface="Montserrat"/>
                <a:ea typeface="Montserrat"/>
                <a:cs typeface="Montserrat"/>
                <a:sym typeface="Montserrat"/>
              </a:rPr>
              <a:t>Quantitative Results: HotpotQA</a:t>
            </a:r>
            <a:endParaRPr/>
          </a:p>
        </p:txBody>
      </p:sp>
      <p:sp>
        <p:nvSpPr>
          <p:cNvPr id="169" name="Google Shape;169;p21"/>
          <p:cNvSpPr/>
          <p:nvPr/>
        </p:nvSpPr>
        <p:spPr>
          <a:xfrm>
            <a:off x="571500" y="1181100"/>
            <a:ext cx="6886575" cy="38100"/>
          </a:xfrm>
          <a:prstGeom prst="rect">
            <a:avLst/>
          </a:prstGeom>
          <a:solidFill>
            <a:srgbClr val="77DD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FF5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809875"/>
            <a:ext cx="3492400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2809875"/>
            <a:ext cx="3492549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2809875"/>
            <a:ext cx="3492400" cy="286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2"/>
          <p:cNvSpPr txBox="1"/>
          <p:nvPr/>
        </p:nvSpPr>
        <p:spPr>
          <a:xfrm>
            <a:off x="571500" y="220980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ReAct is the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foundational design</a:t>
            </a: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 for modern LLM agents used in industry today:</a:t>
            </a:r>
            <a:endParaRPr/>
          </a:p>
        </p:txBody>
      </p:sp>
      <p:pic>
        <p:nvPicPr>
          <p:cNvPr descr="image.png" id="178" name="Google Shape;17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310515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2"/>
          <p:cNvSpPr txBox="1"/>
          <p:nvPr/>
        </p:nvSpPr>
        <p:spPr>
          <a:xfrm>
            <a:off x="866775" y="3629025"/>
            <a:ext cx="304694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2E4D48"/>
                </a:solidFill>
                <a:latin typeface="Montserrat"/>
                <a:ea typeface="Montserrat"/>
                <a:cs typeface="Montserrat"/>
                <a:sym typeface="Montserrat"/>
              </a:rPr>
              <a:t>LangChain</a:t>
            </a:r>
            <a:endParaRPr/>
          </a:p>
        </p:txBody>
      </p:sp>
      <p:sp>
        <p:nvSpPr>
          <p:cNvPr id="180" name="Google Shape;180;p22"/>
          <p:cNvSpPr txBox="1"/>
          <p:nvPr/>
        </p:nvSpPr>
        <p:spPr>
          <a:xfrm>
            <a:off x="866775" y="4124325"/>
            <a:ext cx="29018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The most popular framework for LLM apps uses "ReAct Agents" as the default for tool-using tasks.</a:t>
            </a:r>
            <a:endParaRPr/>
          </a:p>
        </p:txBody>
      </p:sp>
      <p:pic>
        <p:nvPicPr>
          <p:cNvPr descr="image.png" id="181" name="Google Shape;18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4925" y="310515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2"/>
          <p:cNvSpPr txBox="1"/>
          <p:nvPr/>
        </p:nvSpPr>
        <p:spPr>
          <a:xfrm>
            <a:off x="4644925" y="3629025"/>
            <a:ext cx="3047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2E4D48"/>
                </a:solidFill>
                <a:latin typeface="Montserrat"/>
                <a:ea typeface="Montserrat"/>
                <a:cs typeface="Montserrat"/>
                <a:sym typeface="Montserrat"/>
              </a:rPr>
              <a:t>Coding Agents</a:t>
            </a:r>
            <a:endParaRPr/>
          </a:p>
        </p:txBody>
      </p:sp>
      <p:sp>
        <p:nvSpPr>
          <p:cNvPr id="183" name="Google Shape;183;p22"/>
          <p:cNvSpPr txBox="1"/>
          <p:nvPr/>
        </p:nvSpPr>
        <p:spPr>
          <a:xfrm>
            <a:off x="4644925" y="4124325"/>
            <a:ext cx="290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Services like Cursor use the ReAct loop to carry out tasks by exploring relevant information, reasoning out a plan, and executing tool calls</a:t>
            </a:r>
            <a:endParaRPr sz="1100"/>
          </a:p>
        </p:txBody>
      </p:sp>
      <p:pic>
        <p:nvPicPr>
          <p:cNvPr descr="image.png" id="184" name="Google Shape;184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3225" y="31051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2"/>
          <p:cNvSpPr txBox="1"/>
          <p:nvPr/>
        </p:nvSpPr>
        <p:spPr>
          <a:xfrm>
            <a:off x="8423225" y="3629025"/>
            <a:ext cx="304694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2E4D48"/>
                </a:solidFill>
                <a:latin typeface="Montserrat"/>
                <a:ea typeface="Montserrat"/>
                <a:cs typeface="Montserrat"/>
                <a:sym typeface="Montserrat"/>
              </a:rPr>
              <a:t>Search Engines</a:t>
            </a:r>
            <a:endParaRPr/>
          </a:p>
        </p:txBody>
      </p:sp>
      <p:sp>
        <p:nvSpPr>
          <p:cNvPr id="186" name="Google Shape;186;p22"/>
          <p:cNvSpPr txBox="1"/>
          <p:nvPr/>
        </p:nvSpPr>
        <p:spPr>
          <a:xfrm>
            <a:off x="8423225" y="4124325"/>
            <a:ext cx="2901900" cy="13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Modern "AI Overviews" in search engines use ReAct logic to decide when to stop searching and start answering.</a:t>
            </a:r>
            <a:endParaRPr sz="1300"/>
          </a:p>
        </p:txBody>
      </p:sp>
      <p:sp>
        <p:nvSpPr>
          <p:cNvPr id="187" name="Google Shape;187;p22"/>
          <p:cNvSpPr txBox="1"/>
          <p:nvPr/>
        </p:nvSpPr>
        <p:spPr>
          <a:xfrm>
            <a:off x="571500" y="571500"/>
            <a:ext cx="614076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E4D48"/>
                </a:solidFill>
                <a:latin typeface="Montserrat"/>
                <a:ea typeface="Montserrat"/>
                <a:cs typeface="Montserrat"/>
                <a:sym typeface="Montserrat"/>
              </a:rPr>
              <a:t>Industry Impact: AI Agents</a:t>
            </a:r>
            <a:endParaRPr/>
          </a:p>
        </p:txBody>
      </p:sp>
      <p:sp>
        <p:nvSpPr>
          <p:cNvPr id="188" name="Google Shape;188;p22"/>
          <p:cNvSpPr/>
          <p:nvPr/>
        </p:nvSpPr>
        <p:spPr>
          <a:xfrm>
            <a:off x="571500" y="1181100"/>
            <a:ext cx="5848350" cy="38100"/>
          </a:xfrm>
          <a:prstGeom prst="rect">
            <a:avLst/>
          </a:prstGeom>
          <a:solidFill>
            <a:srgbClr val="77DD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FF5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/>
          <p:nvPr/>
        </p:nvSpPr>
        <p:spPr>
          <a:xfrm>
            <a:off x="571500" y="2157412"/>
            <a:ext cx="11049000" cy="357187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4" name="Google Shape;194;p23"/>
          <p:cNvGraphicFramePr/>
          <p:nvPr/>
        </p:nvGraphicFramePr>
        <p:xfrm>
          <a:off x="571500" y="21574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{32B2B06B-7442-41D6-917E-37BFE632D0B3}</a:tableStyleId>
              </a:tblPr>
              <a:tblGrid>
                <a:gridCol w="2320975"/>
                <a:gridCol w="8728025"/>
              </a:tblGrid>
              <a:tr h="71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Constraint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4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Details / Challenges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4D48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C3E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Base Model Capability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2C3E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Models must</a:t>
                      </a:r>
                      <a:r>
                        <a:rPr b="0" i="0" lang="en-US" sz="1500" u="none" cap="none" strike="noStrike">
                          <a:solidFill>
                            <a:srgbClr val="2C3E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500">
                          <a:solidFill>
                            <a:srgbClr val="2C3E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be</a:t>
                      </a:r>
                      <a:r>
                        <a:rPr b="0" i="0" lang="en-US" sz="1500" u="none" cap="none" strike="noStrike">
                          <a:solidFill>
                            <a:srgbClr val="2C3E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"smart" enough to follow complex few-shot instructions (usually 70B+ parameters).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C3E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Token Cost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C3E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Generating long reasoning traces increases costs per request significantly.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C3E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Latency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2C3E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Greater numbers of</a:t>
                      </a:r>
                      <a:r>
                        <a:rPr b="0" i="0" lang="en-US" sz="1500" u="none" cap="none" strike="noStrike">
                          <a:solidFill>
                            <a:srgbClr val="2C3E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actions and observations creates multiple round-trips to APIs, slowing down the final response.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C3E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Loop Toxicity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C3E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Open Question: How do we stop a model that gets stuck in an infinite search loop for a non-existent fact?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5" name="Google Shape;195;p23"/>
          <p:cNvSpPr/>
          <p:nvPr/>
        </p:nvSpPr>
        <p:spPr>
          <a:xfrm>
            <a:off x="571500" y="3562350"/>
            <a:ext cx="2320974" cy="9525"/>
          </a:xfrm>
          <a:prstGeom prst="rect">
            <a:avLst/>
          </a:prstGeom>
          <a:solidFill>
            <a:srgbClr val="D1E8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3"/>
          <p:cNvSpPr/>
          <p:nvPr/>
        </p:nvSpPr>
        <p:spPr>
          <a:xfrm>
            <a:off x="2892474" y="3562350"/>
            <a:ext cx="8728025" cy="9525"/>
          </a:xfrm>
          <a:prstGeom prst="rect">
            <a:avLst/>
          </a:prstGeom>
          <a:solidFill>
            <a:srgbClr val="D1E8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3"/>
          <p:cNvSpPr/>
          <p:nvPr/>
        </p:nvSpPr>
        <p:spPr>
          <a:xfrm>
            <a:off x="571500" y="4133850"/>
            <a:ext cx="2320974" cy="9525"/>
          </a:xfrm>
          <a:prstGeom prst="rect">
            <a:avLst/>
          </a:prstGeom>
          <a:solidFill>
            <a:srgbClr val="D1E8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3"/>
          <p:cNvSpPr/>
          <p:nvPr/>
        </p:nvSpPr>
        <p:spPr>
          <a:xfrm>
            <a:off x="2892474" y="4133850"/>
            <a:ext cx="8728025" cy="9525"/>
          </a:xfrm>
          <a:prstGeom prst="rect">
            <a:avLst/>
          </a:prstGeom>
          <a:solidFill>
            <a:srgbClr val="D1E8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571500" y="4924425"/>
            <a:ext cx="2320974" cy="9525"/>
          </a:xfrm>
          <a:prstGeom prst="rect">
            <a:avLst/>
          </a:prstGeom>
          <a:solidFill>
            <a:srgbClr val="D1E8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2892474" y="4924425"/>
            <a:ext cx="8728025" cy="9525"/>
          </a:xfrm>
          <a:prstGeom prst="rect">
            <a:avLst/>
          </a:prstGeom>
          <a:solidFill>
            <a:srgbClr val="D1E8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571500" y="5715000"/>
            <a:ext cx="2320974" cy="9525"/>
          </a:xfrm>
          <a:prstGeom prst="rect">
            <a:avLst/>
          </a:prstGeom>
          <a:solidFill>
            <a:srgbClr val="D1E8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2892474" y="5715000"/>
            <a:ext cx="8728025" cy="9525"/>
          </a:xfrm>
          <a:prstGeom prst="rect">
            <a:avLst/>
          </a:prstGeom>
          <a:solidFill>
            <a:srgbClr val="D1E8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571500" y="571500"/>
            <a:ext cx="614076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E4D48"/>
                </a:solidFill>
                <a:latin typeface="Montserrat"/>
                <a:ea typeface="Montserrat"/>
                <a:cs typeface="Montserrat"/>
                <a:sym typeface="Montserrat"/>
              </a:rPr>
              <a:t>Assumptions &amp; Limitations</a:t>
            </a:r>
            <a:endParaRPr/>
          </a:p>
        </p:txBody>
      </p:sp>
      <p:sp>
        <p:nvSpPr>
          <p:cNvPr id="204" name="Google Shape;204;p23"/>
          <p:cNvSpPr/>
          <p:nvPr/>
        </p:nvSpPr>
        <p:spPr>
          <a:xfrm>
            <a:off x="571500" y="1181100"/>
            <a:ext cx="5848350" cy="38100"/>
          </a:xfrm>
          <a:prstGeom prst="rect">
            <a:avLst/>
          </a:prstGeom>
          <a:solidFill>
            <a:srgbClr val="77DD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4D48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/>
          <p:cNvSpPr txBox="1"/>
          <p:nvPr/>
        </p:nvSpPr>
        <p:spPr>
          <a:xfrm>
            <a:off x="295275" y="1738312"/>
            <a:ext cx="116014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77DDAA"/>
                </a:solidFill>
                <a:latin typeface="Montserrat"/>
                <a:ea typeface="Montserrat"/>
                <a:cs typeface="Montserrat"/>
                <a:sym typeface="Montserrat"/>
              </a:rPr>
              <a:t>Questions?</a:t>
            </a:r>
            <a:endParaRPr/>
          </a:p>
        </p:txBody>
      </p:sp>
      <p:sp>
        <p:nvSpPr>
          <p:cNvPr id="210" name="Google Shape;210;p24"/>
          <p:cNvSpPr txBox="1"/>
          <p:nvPr/>
        </p:nvSpPr>
        <p:spPr>
          <a:xfrm>
            <a:off x="571500" y="2767012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ReAct: Bridging Thought and Action</a:t>
            </a:r>
            <a:endParaRPr/>
          </a:p>
        </p:txBody>
      </p:sp>
      <p:sp>
        <p:nvSpPr>
          <p:cNvPr id="211" name="Google Shape;211;p24"/>
          <p:cNvSpPr txBox="1"/>
          <p:nvPr/>
        </p:nvSpPr>
        <p:spPr>
          <a:xfrm>
            <a:off x="571500" y="3595937"/>
            <a:ext cx="110490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E8E2"/>
                </a:solidFill>
                <a:latin typeface="Open Sans"/>
                <a:ea typeface="Open Sans"/>
                <a:cs typeface="Open Sans"/>
                <a:sym typeface="Open Sans"/>
              </a:rPr>
              <a:t>Key Takeaway:</a:t>
            </a:r>
            <a:r>
              <a:rPr b="0" i="0" lang="en-US" sz="1650" u="none" cap="none" strike="noStrike">
                <a:solidFill>
                  <a:srgbClr val="D1E8E2"/>
                </a:solidFill>
                <a:latin typeface="Open Sans"/>
                <a:ea typeface="Open Sans"/>
                <a:cs typeface="Open Sans"/>
                <a:sym typeface="Open Sans"/>
              </a:rPr>
              <a:t> Reasoning plans </a:t>
            </a:r>
            <a:r>
              <a:rPr lang="en-US" sz="1650">
                <a:solidFill>
                  <a:srgbClr val="D1E8E2"/>
                </a:solidFill>
                <a:latin typeface="Open Sans"/>
                <a:ea typeface="Open Sans"/>
                <a:cs typeface="Open Sans"/>
                <a:sym typeface="Open Sans"/>
              </a:rPr>
              <a:t>the</a:t>
            </a:r>
            <a:r>
              <a:rPr b="0" i="0" lang="en-US" sz="1650" u="none" cap="none" strike="noStrike">
                <a:solidFill>
                  <a:srgbClr val="D1E8E2"/>
                </a:solidFill>
                <a:latin typeface="Open Sans"/>
                <a:ea typeface="Open Sans"/>
                <a:cs typeface="Open Sans"/>
                <a:sym typeface="Open Sans"/>
              </a:rPr>
              <a:t> journey; Action executes the steps. ReAct is the synergy that </a:t>
            </a:r>
            <a:r>
              <a:rPr lang="en-US" sz="1650">
                <a:solidFill>
                  <a:srgbClr val="D1E8E2"/>
                </a:solidFill>
                <a:latin typeface="Open Sans"/>
                <a:ea typeface="Open Sans"/>
                <a:cs typeface="Open Sans"/>
                <a:sym typeface="Open Sans"/>
              </a:rPr>
              <a:t>enables real autonomy in agents</a:t>
            </a:r>
            <a:r>
              <a:rPr b="0" i="0" lang="en-US" sz="1650" u="none" cap="none" strike="noStrike">
                <a:solidFill>
                  <a:srgbClr val="D1E8E2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>
              <a:solidFill>
                <a:srgbClr val="D1E8E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FF5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/>
          <p:nvPr/>
        </p:nvSpPr>
        <p:spPr>
          <a:xfrm>
            <a:off x="571500" y="20193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5"/>
          <p:cNvSpPr/>
          <p:nvPr/>
        </p:nvSpPr>
        <p:spPr>
          <a:xfrm>
            <a:off x="571500" y="27908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5"/>
          <p:cNvSpPr/>
          <p:nvPr/>
        </p:nvSpPr>
        <p:spPr>
          <a:xfrm>
            <a:off x="571500" y="35623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5"/>
          <p:cNvSpPr/>
          <p:nvPr/>
        </p:nvSpPr>
        <p:spPr>
          <a:xfrm>
            <a:off x="571500" y="43338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5"/>
          <p:cNvSpPr/>
          <p:nvPr/>
        </p:nvSpPr>
        <p:spPr>
          <a:xfrm>
            <a:off x="571500" y="2781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5"/>
          <p:cNvSpPr/>
          <p:nvPr/>
        </p:nvSpPr>
        <p:spPr>
          <a:xfrm>
            <a:off x="571500" y="2781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571500" y="3552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571500" y="3552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5"/>
          <p:cNvSpPr/>
          <p:nvPr/>
        </p:nvSpPr>
        <p:spPr>
          <a:xfrm>
            <a:off x="571500" y="43243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5"/>
          <p:cNvSpPr/>
          <p:nvPr/>
        </p:nvSpPr>
        <p:spPr>
          <a:xfrm>
            <a:off x="571500" y="43243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5"/>
          <p:cNvSpPr/>
          <p:nvPr/>
        </p:nvSpPr>
        <p:spPr>
          <a:xfrm>
            <a:off x="571500" y="50958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5"/>
          <p:cNvSpPr/>
          <p:nvPr/>
        </p:nvSpPr>
        <p:spPr>
          <a:xfrm>
            <a:off x="571500" y="50958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8" name="Google Shape;22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621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5"/>
          <p:cNvSpPr txBox="1"/>
          <p:nvPr/>
        </p:nvSpPr>
        <p:spPr>
          <a:xfrm>
            <a:off x="1666875" y="21693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https://legacywalk.fsu.edu/sites/default/files/media/slides/westcott-1-700.jpg</a:t>
            </a:r>
            <a:endParaRPr/>
          </a:p>
        </p:txBody>
      </p:sp>
      <p:sp>
        <p:nvSpPr>
          <p:cNvPr id="230" name="Google Shape;230;p25"/>
          <p:cNvSpPr txBox="1"/>
          <p:nvPr/>
        </p:nvSpPr>
        <p:spPr>
          <a:xfrm>
            <a:off x="1666875" y="24026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legacywalk.fsu.edu</a:t>
            </a:r>
            <a:endParaRPr/>
          </a:p>
        </p:txBody>
      </p:sp>
      <p:pic>
        <p:nvPicPr>
          <p:cNvPr descr="image.png" id="231" name="Google Shape;23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337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/>
        </p:nvSpPr>
        <p:spPr>
          <a:xfrm>
            <a:off x="1666875" y="294084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https://media.geeksforgeeks.org/wp-content/uploads/20250813103427075673/simple.webp</a:t>
            </a:r>
            <a:endParaRPr/>
          </a:p>
        </p:txBody>
      </p:sp>
      <p:sp>
        <p:nvSpPr>
          <p:cNvPr id="233" name="Google Shape;233;p25"/>
          <p:cNvSpPr txBox="1"/>
          <p:nvPr/>
        </p:nvSpPr>
        <p:spPr>
          <a:xfrm>
            <a:off x="1666875" y="317420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www.geeksforgeeks.org</a:t>
            </a:r>
            <a:endParaRPr/>
          </a:p>
        </p:txBody>
      </p:sp>
      <p:pic>
        <p:nvPicPr>
          <p:cNvPr descr="image.png" id="234" name="Google Shape;23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052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5"/>
          <p:cNvSpPr txBox="1"/>
          <p:nvPr/>
        </p:nvSpPr>
        <p:spPr>
          <a:xfrm>
            <a:off x="1666875" y="371236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https://cdn.prod.website-files.com/645a411baa30ca12b39891d5/671df6accc65d8e321eec821_Neradot-ReAct.png</a:t>
            </a:r>
            <a:endParaRPr/>
          </a:p>
        </p:txBody>
      </p:sp>
      <p:sp>
        <p:nvSpPr>
          <p:cNvPr id="236" name="Google Shape;236;p25"/>
          <p:cNvSpPr txBox="1"/>
          <p:nvPr/>
        </p:nvSpPr>
        <p:spPr>
          <a:xfrm>
            <a:off x="1666875" y="394573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www.neradot.com</a:t>
            </a:r>
            <a:endParaRPr/>
          </a:p>
        </p:txBody>
      </p:sp>
      <p:pic>
        <p:nvPicPr>
          <p:cNvPr descr="image.png" id="237" name="Google Shape;23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767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5"/>
          <p:cNvSpPr txBox="1"/>
          <p:nvPr/>
        </p:nvSpPr>
        <p:spPr>
          <a:xfrm>
            <a:off x="1666875" y="448389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https://miro.medium.com/1*B-xl5kNgpnLld4_xmqJ1bw.png</a:t>
            </a:r>
            <a:endParaRPr/>
          </a:p>
        </p:txBody>
      </p:sp>
      <p:sp>
        <p:nvSpPr>
          <p:cNvPr id="239" name="Google Shape;239;p25"/>
          <p:cNvSpPr txBox="1"/>
          <p:nvPr/>
        </p:nvSpPr>
        <p:spPr>
          <a:xfrm>
            <a:off x="1666875" y="471725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abdullahalsazib.medium.com</a:t>
            </a:r>
            <a:endParaRPr/>
          </a:p>
        </p:txBody>
      </p:sp>
      <p:sp>
        <p:nvSpPr>
          <p:cNvPr id="240" name="Google Shape;240;p25"/>
          <p:cNvSpPr txBox="1"/>
          <p:nvPr/>
        </p:nvSpPr>
        <p:spPr>
          <a:xfrm>
            <a:off x="571500" y="571500"/>
            <a:ext cx="341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E4D48"/>
                </a:solidFill>
                <a:latin typeface="Montserrat"/>
                <a:ea typeface="Montserrat"/>
                <a:cs typeface="Montserrat"/>
                <a:sym typeface="Montserrat"/>
              </a:rPr>
              <a:t>Sources</a:t>
            </a:r>
            <a:endParaRPr/>
          </a:p>
        </p:txBody>
      </p:sp>
      <p:sp>
        <p:nvSpPr>
          <p:cNvPr id="241" name="Google Shape;241;p25"/>
          <p:cNvSpPr/>
          <p:nvPr/>
        </p:nvSpPr>
        <p:spPr>
          <a:xfrm>
            <a:off x="571500" y="1181100"/>
            <a:ext cx="3248025" cy="38100"/>
          </a:xfrm>
          <a:prstGeom prst="rect">
            <a:avLst/>
          </a:prstGeom>
          <a:solidFill>
            <a:srgbClr val="77DD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